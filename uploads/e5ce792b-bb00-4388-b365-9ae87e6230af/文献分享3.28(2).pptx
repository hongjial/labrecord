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8" r:id="rId3"/>
    <p:sldId id="362" r:id="rId4"/>
    <p:sldId id="364" r:id="rId5"/>
    <p:sldId id="365" r:id="rId6"/>
    <p:sldId id="366" r:id="rId7"/>
    <p:sldId id="367" r:id="rId8"/>
    <p:sldId id="368" r:id="rId9"/>
    <p:sldId id="370" r:id="rId10"/>
    <p:sldId id="369" r:id="rId11"/>
    <p:sldId id="371" r:id="rId12"/>
    <p:sldId id="363" r:id="rId13"/>
    <p:sldId id="373" r:id="rId14"/>
    <p:sldId id="372" r:id="rId15"/>
    <p:sldId id="377" r:id="rId16"/>
    <p:sldId id="376" r:id="rId17"/>
    <p:sldId id="375" r:id="rId18"/>
    <p:sldId id="374" r:id="rId19"/>
    <p:sldId id="301" r:id="rId20"/>
    <p:sldId id="350" r:id="rId21"/>
    <p:sldId id="361" r:id="rId22"/>
    <p:sldId id="360" r:id="rId23"/>
    <p:sldId id="359" r:id="rId24"/>
    <p:sldId id="293"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B0261"/>
    <a:srgbClr val="0C49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28" autoAdjust="0"/>
    <p:restoredTop sz="93389" autoAdjust="0"/>
  </p:normalViewPr>
  <p:slideViewPr>
    <p:cSldViewPr snapToGrid="0">
      <p:cViewPr varScale="1">
        <p:scale>
          <a:sx n="100" d="100"/>
          <a:sy n="100" d="100"/>
        </p:scale>
        <p:origin x="48" y="4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CDA091-5E86-4B9D-AE11-2D8491152894}" type="datetimeFigureOut">
              <a:rPr lang="zh-CN" altLang="en-US" smtClean="0"/>
              <a:t>2026/3/28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C4A6FA-00D0-432F-B192-056FB3412767}" type="slidenum">
              <a:rPr lang="zh-CN" altLang="en-US" smtClean="0"/>
              <a:t>‹#›</a:t>
            </a:fld>
            <a:endParaRPr lang="zh-CN" altLang="en-US"/>
          </a:p>
        </p:txBody>
      </p:sp>
    </p:spTree>
    <p:extLst>
      <p:ext uri="{BB962C8B-B14F-4D97-AF65-F5344CB8AC3E}">
        <p14:creationId xmlns:p14="http://schemas.microsoft.com/office/powerpoint/2010/main" val="39066374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作者为计算机背景，论文也没有实验验证的部分，所以发表在了计算机的顶会而不是期刊</a:t>
            </a:r>
          </a:p>
        </p:txBody>
      </p:sp>
      <p:sp>
        <p:nvSpPr>
          <p:cNvPr id="4" name="灯片编号占位符 3"/>
          <p:cNvSpPr>
            <a:spLocks noGrp="1"/>
          </p:cNvSpPr>
          <p:nvPr>
            <p:ph type="sldNum" sz="quarter" idx="5"/>
          </p:nvPr>
        </p:nvSpPr>
        <p:spPr/>
        <p:txBody>
          <a:bodyPr/>
          <a:lstStyle/>
          <a:p>
            <a:fld id="{5CC4A6FA-00D0-432F-B192-056FB3412767}" type="slidenum">
              <a:rPr lang="zh-CN" altLang="en-US" smtClean="0"/>
              <a:t>13</a:t>
            </a:fld>
            <a:endParaRPr lang="zh-CN" altLang="en-US"/>
          </a:p>
        </p:txBody>
      </p:sp>
    </p:spTree>
    <p:extLst>
      <p:ext uri="{BB962C8B-B14F-4D97-AF65-F5344CB8AC3E}">
        <p14:creationId xmlns:p14="http://schemas.microsoft.com/office/powerpoint/2010/main" val="37816556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E2490A-F26F-4176-B83D-2F7E3E47472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755226B-E233-478B-BF61-B0CDEBA84A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3CD8AF58-04B4-4F42-B3AD-FD06C04D38DE}"/>
              </a:ext>
            </a:extLst>
          </p:cNvPr>
          <p:cNvSpPr>
            <a:spLocks noGrp="1"/>
          </p:cNvSpPr>
          <p:nvPr>
            <p:ph type="dt" sz="half" idx="10"/>
          </p:nvPr>
        </p:nvSpPr>
        <p:spPr/>
        <p:txBody>
          <a:bodyPr/>
          <a:lstStyle/>
          <a:p>
            <a:fld id="{1981B521-2E2E-41B2-9433-69364D5DDA0F}" type="datetimeFigureOut">
              <a:rPr lang="zh-CN" altLang="en-US" smtClean="0"/>
              <a:t>2026/3/28</a:t>
            </a:fld>
            <a:endParaRPr lang="zh-CN" altLang="en-US"/>
          </a:p>
        </p:txBody>
      </p:sp>
      <p:sp>
        <p:nvSpPr>
          <p:cNvPr id="5" name="页脚占位符 4">
            <a:extLst>
              <a:ext uri="{FF2B5EF4-FFF2-40B4-BE49-F238E27FC236}">
                <a16:creationId xmlns:a16="http://schemas.microsoft.com/office/drawing/2014/main" id="{837FCC7C-0599-4D89-9E2C-6EDF4BAF23B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7B39D0F-EE9E-4A38-9A0C-DC6370E797EB}"/>
              </a:ext>
            </a:extLst>
          </p:cNvPr>
          <p:cNvSpPr>
            <a:spLocks noGrp="1"/>
          </p:cNvSpPr>
          <p:nvPr>
            <p:ph type="sldNum" sz="quarter" idx="12"/>
          </p:nvPr>
        </p:nvSpPr>
        <p:spPr/>
        <p:txBody>
          <a:bodyPr/>
          <a:lstStyle/>
          <a:p>
            <a:fld id="{FE1282D0-AAD4-45D4-BBB1-9C369370A4D1}" type="slidenum">
              <a:rPr lang="zh-CN" altLang="en-US" smtClean="0"/>
              <a:t>‹#›</a:t>
            </a:fld>
            <a:endParaRPr lang="zh-CN" altLang="en-US"/>
          </a:p>
        </p:txBody>
      </p:sp>
    </p:spTree>
    <p:extLst>
      <p:ext uri="{BB962C8B-B14F-4D97-AF65-F5344CB8AC3E}">
        <p14:creationId xmlns:p14="http://schemas.microsoft.com/office/powerpoint/2010/main" val="1681623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056CEC-A2BE-4292-8BB4-94EF1A2E407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A7E4ABD-4345-42B7-9D27-211331B76B2E}"/>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863CB67-7CA0-4646-A3DA-E3C8C89FD9FD}"/>
              </a:ext>
            </a:extLst>
          </p:cNvPr>
          <p:cNvSpPr>
            <a:spLocks noGrp="1"/>
          </p:cNvSpPr>
          <p:nvPr>
            <p:ph type="dt" sz="half" idx="10"/>
          </p:nvPr>
        </p:nvSpPr>
        <p:spPr/>
        <p:txBody>
          <a:bodyPr/>
          <a:lstStyle/>
          <a:p>
            <a:fld id="{1981B521-2E2E-41B2-9433-69364D5DDA0F}" type="datetimeFigureOut">
              <a:rPr lang="zh-CN" altLang="en-US" smtClean="0"/>
              <a:t>2026/3/28</a:t>
            </a:fld>
            <a:endParaRPr lang="zh-CN" altLang="en-US"/>
          </a:p>
        </p:txBody>
      </p:sp>
      <p:sp>
        <p:nvSpPr>
          <p:cNvPr id="5" name="页脚占位符 4">
            <a:extLst>
              <a:ext uri="{FF2B5EF4-FFF2-40B4-BE49-F238E27FC236}">
                <a16:creationId xmlns:a16="http://schemas.microsoft.com/office/drawing/2014/main" id="{54D03C3D-2A22-48D4-8D6C-44CE76873CE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9C35C81-C3E9-45A7-B16B-1A54D0BFFB38}"/>
              </a:ext>
            </a:extLst>
          </p:cNvPr>
          <p:cNvSpPr>
            <a:spLocks noGrp="1"/>
          </p:cNvSpPr>
          <p:nvPr>
            <p:ph type="sldNum" sz="quarter" idx="12"/>
          </p:nvPr>
        </p:nvSpPr>
        <p:spPr/>
        <p:txBody>
          <a:bodyPr/>
          <a:lstStyle/>
          <a:p>
            <a:fld id="{FE1282D0-AAD4-45D4-BBB1-9C369370A4D1}" type="slidenum">
              <a:rPr lang="zh-CN" altLang="en-US" smtClean="0"/>
              <a:t>‹#›</a:t>
            </a:fld>
            <a:endParaRPr lang="zh-CN" altLang="en-US"/>
          </a:p>
        </p:txBody>
      </p:sp>
    </p:spTree>
    <p:extLst>
      <p:ext uri="{BB962C8B-B14F-4D97-AF65-F5344CB8AC3E}">
        <p14:creationId xmlns:p14="http://schemas.microsoft.com/office/powerpoint/2010/main" val="10957848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000C4E-12E6-4E17-B5F7-2611BD1E1B5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C5A4E0F-DD2F-47A9-8A06-91B983C8269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50B395CF-810D-4775-9926-A55C9B0EAE77}"/>
              </a:ext>
            </a:extLst>
          </p:cNvPr>
          <p:cNvSpPr>
            <a:spLocks noGrp="1"/>
          </p:cNvSpPr>
          <p:nvPr>
            <p:ph type="dt" sz="half" idx="10"/>
          </p:nvPr>
        </p:nvSpPr>
        <p:spPr/>
        <p:txBody>
          <a:bodyPr/>
          <a:lstStyle/>
          <a:p>
            <a:fld id="{1981B521-2E2E-41B2-9433-69364D5DDA0F}" type="datetimeFigureOut">
              <a:rPr lang="zh-CN" altLang="en-US" smtClean="0"/>
              <a:t>2026/3/28</a:t>
            </a:fld>
            <a:endParaRPr lang="zh-CN" altLang="en-US"/>
          </a:p>
        </p:txBody>
      </p:sp>
      <p:sp>
        <p:nvSpPr>
          <p:cNvPr id="5" name="页脚占位符 4">
            <a:extLst>
              <a:ext uri="{FF2B5EF4-FFF2-40B4-BE49-F238E27FC236}">
                <a16:creationId xmlns:a16="http://schemas.microsoft.com/office/drawing/2014/main" id="{4262A654-9F1B-4AEF-88CB-D67BDD6BB98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F7CB231-8D18-4A6E-B9E8-0FB3348A00E1}"/>
              </a:ext>
            </a:extLst>
          </p:cNvPr>
          <p:cNvSpPr>
            <a:spLocks noGrp="1"/>
          </p:cNvSpPr>
          <p:nvPr>
            <p:ph type="sldNum" sz="quarter" idx="12"/>
          </p:nvPr>
        </p:nvSpPr>
        <p:spPr/>
        <p:txBody>
          <a:bodyPr/>
          <a:lstStyle/>
          <a:p>
            <a:fld id="{FE1282D0-AAD4-45D4-BBB1-9C369370A4D1}" type="slidenum">
              <a:rPr lang="zh-CN" altLang="en-US" smtClean="0"/>
              <a:t>‹#›</a:t>
            </a:fld>
            <a:endParaRPr lang="zh-CN" altLang="en-US"/>
          </a:p>
        </p:txBody>
      </p:sp>
    </p:spTree>
    <p:extLst>
      <p:ext uri="{BB962C8B-B14F-4D97-AF65-F5344CB8AC3E}">
        <p14:creationId xmlns:p14="http://schemas.microsoft.com/office/powerpoint/2010/main" val="12343190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74587A-7999-4840-80F0-D5106EC7AD3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B23B723-CB5C-482F-A247-3C2CB44C1257}"/>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54E0870-504E-4081-88AB-2DC6160A5541}"/>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AE1EF4AD-6091-461E-B302-6964347018FA}"/>
              </a:ext>
            </a:extLst>
          </p:cNvPr>
          <p:cNvSpPr>
            <a:spLocks noGrp="1"/>
          </p:cNvSpPr>
          <p:nvPr>
            <p:ph type="dt" sz="half" idx="10"/>
          </p:nvPr>
        </p:nvSpPr>
        <p:spPr/>
        <p:txBody>
          <a:bodyPr/>
          <a:lstStyle/>
          <a:p>
            <a:fld id="{1981B521-2E2E-41B2-9433-69364D5DDA0F}" type="datetimeFigureOut">
              <a:rPr lang="zh-CN" altLang="en-US" smtClean="0"/>
              <a:t>2026/3/28</a:t>
            </a:fld>
            <a:endParaRPr lang="zh-CN" altLang="en-US"/>
          </a:p>
        </p:txBody>
      </p:sp>
      <p:sp>
        <p:nvSpPr>
          <p:cNvPr id="6" name="页脚占位符 5">
            <a:extLst>
              <a:ext uri="{FF2B5EF4-FFF2-40B4-BE49-F238E27FC236}">
                <a16:creationId xmlns:a16="http://schemas.microsoft.com/office/drawing/2014/main" id="{C76589DB-B18A-478B-A567-1EF7DD1D0D5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483D92D-3404-4C31-90EC-01EE9DC4954F}"/>
              </a:ext>
            </a:extLst>
          </p:cNvPr>
          <p:cNvSpPr>
            <a:spLocks noGrp="1"/>
          </p:cNvSpPr>
          <p:nvPr>
            <p:ph type="sldNum" sz="quarter" idx="12"/>
          </p:nvPr>
        </p:nvSpPr>
        <p:spPr/>
        <p:txBody>
          <a:bodyPr/>
          <a:lstStyle/>
          <a:p>
            <a:fld id="{FE1282D0-AAD4-45D4-BBB1-9C369370A4D1}" type="slidenum">
              <a:rPr lang="zh-CN" altLang="en-US" smtClean="0"/>
              <a:t>‹#›</a:t>
            </a:fld>
            <a:endParaRPr lang="zh-CN" altLang="en-US"/>
          </a:p>
        </p:txBody>
      </p:sp>
    </p:spTree>
    <p:extLst>
      <p:ext uri="{BB962C8B-B14F-4D97-AF65-F5344CB8AC3E}">
        <p14:creationId xmlns:p14="http://schemas.microsoft.com/office/powerpoint/2010/main" val="11460873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0EF713-F2C6-4D9E-8412-141A9F8C32D5}"/>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666FCDC-295F-4A2C-AB93-1616132846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7164591-66F2-494A-ADC0-5D570352C827}"/>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343D662-F709-4C01-9EAA-2F1E5E7E897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57CBA5B3-D778-4709-9903-0C6A95481D3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F2A1BF6-61FD-472B-9FFD-E76E835461DD}"/>
              </a:ext>
            </a:extLst>
          </p:cNvPr>
          <p:cNvSpPr>
            <a:spLocks noGrp="1"/>
          </p:cNvSpPr>
          <p:nvPr>
            <p:ph type="dt" sz="half" idx="10"/>
          </p:nvPr>
        </p:nvSpPr>
        <p:spPr/>
        <p:txBody>
          <a:bodyPr/>
          <a:lstStyle/>
          <a:p>
            <a:fld id="{1981B521-2E2E-41B2-9433-69364D5DDA0F}" type="datetimeFigureOut">
              <a:rPr lang="zh-CN" altLang="en-US" smtClean="0"/>
              <a:t>2026/3/28</a:t>
            </a:fld>
            <a:endParaRPr lang="zh-CN" altLang="en-US"/>
          </a:p>
        </p:txBody>
      </p:sp>
      <p:sp>
        <p:nvSpPr>
          <p:cNvPr id="8" name="页脚占位符 7">
            <a:extLst>
              <a:ext uri="{FF2B5EF4-FFF2-40B4-BE49-F238E27FC236}">
                <a16:creationId xmlns:a16="http://schemas.microsoft.com/office/drawing/2014/main" id="{C8AC188A-87BC-49A5-A498-2DE720A086E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CC651EB-AEE6-461C-B640-C6EC42E3CDF5}"/>
              </a:ext>
            </a:extLst>
          </p:cNvPr>
          <p:cNvSpPr>
            <a:spLocks noGrp="1"/>
          </p:cNvSpPr>
          <p:nvPr>
            <p:ph type="sldNum" sz="quarter" idx="12"/>
          </p:nvPr>
        </p:nvSpPr>
        <p:spPr/>
        <p:txBody>
          <a:bodyPr/>
          <a:lstStyle/>
          <a:p>
            <a:fld id="{FE1282D0-AAD4-45D4-BBB1-9C369370A4D1}" type="slidenum">
              <a:rPr lang="zh-CN" altLang="en-US" smtClean="0"/>
              <a:t>‹#›</a:t>
            </a:fld>
            <a:endParaRPr lang="zh-CN" altLang="en-US"/>
          </a:p>
        </p:txBody>
      </p:sp>
    </p:spTree>
    <p:extLst>
      <p:ext uri="{BB962C8B-B14F-4D97-AF65-F5344CB8AC3E}">
        <p14:creationId xmlns:p14="http://schemas.microsoft.com/office/powerpoint/2010/main" val="16965806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29EB1D-8C58-4521-B77B-2C55CD75C571}"/>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B256D7F-3EAF-41BD-9836-D7085234C630}"/>
              </a:ext>
            </a:extLst>
          </p:cNvPr>
          <p:cNvSpPr>
            <a:spLocks noGrp="1"/>
          </p:cNvSpPr>
          <p:nvPr>
            <p:ph type="dt" sz="half" idx="10"/>
          </p:nvPr>
        </p:nvSpPr>
        <p:spPr/>
        <p:txBody>
          <a:bodyPr/>
          <a:lstStyle/>
          <a:p>
            <a:fld id="{1981B521-2E2E-41B2-9433-69364D5DDA0F}" type="datetimeFigureOut">
              <a:rPr lang="zh-CN" altLang="en-US" smtClean="0"/>
              <a:t>2026/3/28</a:t>
            </a:fld>
            <a:endParaRPr lang="zh-CN" altLang="en-US"/>
          </a:p>
        </p:txBody>
      </p:sp>
      <p:sp>
        <p:nvSpPr>
          <p:cNvPr id="4" name="页脚占位符 3">
            <a:extLst>
              <a:ext uri="{FF2B5EF4-FFF2-40B4-BE49-F238E27FC236}">
                <a16:creationId xmlns:a16="http://schemas.microsoft.com/office/drawing/2014/main" id="{E212CCC3-36A5-49F0-87D5-377500D2853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BACC84A-A4FE-43CD-A9DD-42AA412808BA}"/>
              </a:ext>
            </a:extLst>
          </p:cNvPr>
          <p:cNvSpPr>
            <a:spLocks noGrp="1"/>
          </p:cNvSpPr>
          <p:nvPr>
            <p:ph type="sldNum" sz="quarter" idx="12"/>
          </p:nvPr>
        </p:nvSpPr>
        <p:spPr/>
        <p:txBody>
          <a:bodyPr/>
          <a:lstStyle/>
          <a:p>
            <a:fld id="{FE1282D0-AAD4-45D4-BBB1-9C369370A4D1}" type="slidenum">
              <a:rPr lang="zh-CN" altLang="en-US" smtClean="0"/>
              <a:t>‹#›</a:t>
            </a:fld>
            <a:endParaRPr lang="zh-CN" altLang="en-US"/>
          </a:p>
        </p:txBody>
      </p:sp>
    </p:spTree>
    <p:extLst>
      <p:ext uri="{BB962C8B-B14F-4D97-AF65-F5344CB8AC3E}">
        <p14:creationId xmlns:p14="http://schemas.microsoft.com/office/powerpoint/2010/main" val="6331189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BFEECFC-B7BE-4F68-A056-64490920DDA2}"/>
              </a:ext>
            </a:extLst>
          </p:cNvPr>
          <p:cNvSpPr>
            <a:spLocks noGrp="1"/>
          </p:cNvSpPr>
          <p:nvPr>
            <p:ph type="dt" sz="half" idx="10"/>
          </p:nvPr>
        </p:nvSpPr>
        <p:spPr/>
        <p:txBody>
          <a:bodyPr/>
          <a:lstStyle/>
          <a:p>
            <a:fld id="{1981B521-2E2E-41B2-9433-69364D5DDA0F}" type="datetimeFigureOut">
              <a:rPr lang="zh-CN" altLang="en-US" smtClean="0"/>
              <a:t>2026/3/28</a:t>
            </a:fld>
            <a:endParaRPr lang="zh-CN" altLang="en-US"/>
          </a:p>
        </p:txBody>
      </p:sp>
      <p:sp>
        <p:nvSpPr>
          <p:cNvPr id="3" name="页脚占位符 2">
            <a:extLst>
              <a:ext uri="{FF2B5EF4-FFF2-40B4-BE49-F238E27FC236}">
                <a16:creationId xmlns:a16="http://schemas.microsoft.com/office/drawing/2014/main" id="{4CDECD1D-6910-4D30-906B-547DCF9D6FE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24B31B21-A2E1-4F10-89AD-2B174ECA0D0F}"/>
              </a:ext>
            </a:extLst>
          </p:cNvPr>
          <p:cNvSpPr>
            <a:spLocks noGrp="1"/>
          </p:cNvSpPr>
          <p:nvPr>
            <p:ph type="sldNum" sz="quarter" idx="12"/>
          </p:nvPr>
        </p:nvSpPr>
        <p:spPr/>
        <p:txBody>
          <a:bodyPr/>
          <a:lstStyle/>
          <a:p>
            <a:fld id="{FE1282D0-AAD4-45D4-BBB1-9C369370A4D1}" type="slidenum">
              <a:rPr lang="zh-CN" altLang="en-US" smtClean="0"/>
              <a:t>‹#›</a:t>
            </a:fld>
            <a:endParaRPr lang="zh-CN" altLang="en-US"/>
          </a:p>
        </p:txBody>
      </p:sp>
    </p:spTree>
    <p:extLst>
      <p:ext uri="{BB962C8B-B14F-4D97-AF65-F5344CB8AC3E}">
        <p14:creationId xmlns:p14="http://schemas.microsoft.com/office/powerpoint/2010/main" val="3543015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C5D388-5AC7-410C-B9D1-87DE8D4BA48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E616188-E603-4B0D-8DEE-EB47FB5420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3C4D345-0307-49A8-BCB3-E27F910A5D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6D3371C-49A0-4C25-85FB-A6CDD50DF108}"/>
              </a:ext>
            </a:extLst>
          </p:cNvPr>
          <p:cNvSpPr>
            <a:spLocks noGrp="1"/>
          </p:cNvSpPr>
          <p:nvPr>
            <p:ph type="dt" sz="half" idx="10"/>
          </p:nvPr>
        </p:nvSpPr>
        <p:spPr/>
        <p:txBody>
          <a:bodyPr/>
          <a:lstStyle/>
          <a:p>
            <a:fld id="{1981B521-2E2E-41B2-9433-69364D5DDA0F}" type="datetimeFigureOut">
              <a:rPr lang="zh-CN" altLang="en-US" smtClean="0"/>
              <a:t>2026/3/28</a:t>
            </a:fld>
            <a:endParaRPr lang="zh-CN" altLang="en-US"/>
          </a:p>
        </p:txBody>
      </p:sp>
      <p:sp>
        <p:nvSpPr>
          <p:cNvPr id="6" name="页脚占位符 5">
            <a:extLst>
              <a:ext uri="{FF2B5EF4-FFF2-40B4-BE49-F238E27FC236}">
                <a16:creationId xmlns:a16="http://schemas.microsoft.com/office/drawing/2014/main" id="{67B0A081-209E-473C-B729-0BE0464C190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74DDD5F-3AE9-4FAA-85A4-6CC9C5234C2E}"/>
              </a:ext>
            </a:extLst>
          </p:cNvPr>
          <p:cNvSpPr>
            <a:spLocks noGrp="1"/>
          </p:cNvSpPr>
          <p:nvPr>
            <p:ph type="sldNum" sz="quarter" idx="12"/>
          </p:nvPr>
        </p:nvSpPr>
        <p:spPr/>
        <p:txBody>
          <a:bodyPr/>
          <a:lstStyle/>
          <a:p>
            <a:fld id="{FE1282D0-AAD4-45D4-BBB1-9C369370A4D1}" type="slidenum">
              <a:rPr lang="zh-CN" altLang="en-US" smtClean="0"/>
              <a:t>‹#›</a:t>
            </a:fld>
            <a:endParaRPr lang="zh-CN" altLang="en-US"/>
          </a:p>
        </p:txBody>
      </p:sp>
    </p:spTree>
    <p:extLst>
      <p:ext uri="{BB962C8B-B14F-4D97-AF65-F5344CB8AC3E}">
        <p14:creationId xmlns:p14="http://schemas.microsoft.com/office/powerpoint/2010/main" val="23568887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C2ECF7-3704-4FB0-BD5A-5477DE810F8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E8B92F3F-FD6B-4E7F-8D24-18E97CAD6F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6AF755CF-A23A-45A9-8293-38AF7221CD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B537D60-4536-4E79-8664-DEFAA5F1F8EF}"/>
              </a:ext>
            </a:extLst>
          </p:cNvPr>
          <p:cNvSpPr>
            <a:spLocks noGrp="1"/>
          </p:cNvSpPr>
          <p:nvPr>
            <p:ph type="dt" sz="half" idx="10"/>
          </p:nvPr>
        </p:nvSpPr>
        <p:spPr/>
        <p:txBody>
          <a:bodyPr/>
          <a:lstStyle/>
          <a:p>
            <a:fld id="{1981B521-2E2E-41B2-9433-69364D5DDA0F}" type="datetimeFigureOut">
              <a:rPr lang="zh-CN" altLang="en-US" smtClean="0"/>
              <a:t>2026/3/28</a:t>
            </a:fld>
            <a:endParaRPr lang="zh-CN" altLang="en-US"/>
          </a:p>
        </p:txBody>
      </p:sp>
      <p:sp>
        <p:nvSpPr>
          <p:cNvPr id="6" name="页脚占位符 5">
            <a:extLst>
              <a:ext uri="{FF2B5EF4-FFF2-40B4-BE49-F238E27FC236}">
                <a16:creationId xmlns:a16="http://schemas.microsoft.com/office/drawing/2014/main" id="{67E7972B-35C5-4B8E-8E12-159CADB5D24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A84809D-DDBE-4022-A34C-4C05E51545E5}"/>
              </a:ext>
            </a:extLst>
          </p:cNvPr>
          <p:cNvSpPr>
            <a:spLocks noGrp="1"/>
          </p:cNvSpPr>
          <p:nvPr>
            <p:ph type="sldNum" sz="quarter" idx="12"/>
          </p:nvPr>
        </p:nvSpPr>
        <p:spPr/>
        <p:txBody>
          <a:bodyPr/>
          <a:lstStyle/>
          <a:p>
            <a:fld id="{FE1282D0-AAD4-45D4-BBB1-9C369370A4D1}" type="slidenum">
              <a:rPr lang="zh-CN" altLang="en-US" smtClean="0"/>
              <a:t>‹#›</a:t>
            </a:fld>
            <a:endParaRPr lang="zh-CN" altLang="en-US"/>
          </a:p>
        </p:txBody>
      </p:sp>
    </p:spTree>
    <p:extLst>
      <p:ext uri="{BB962C8B-B14F-4D97-AF65-F5344CB8AC3E}">
        <p14:creationId xmlns:p14="http://schemas.microsoft.com/office/powerpoint/2010/main" val="3847712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9048F4-A02A-440A-87E2-4E04815C90E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66DB8AED-2327-4612-9EF2-7A552B16C57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4E9800F-5D47-461A-8EB4-DC9C129F2C42}"/>
              </a:ext>
            </a:extLst>
          </p:cNvPr>
          <p:cNvSpPr>
            <a:spLocks noGrp="1"/>
          </p:cNvSpPr>
          <p:nvPr>
            <p:ph type="dt" sz="half" idx="10"/>
          </p:nvPr>
        </p:nvSpPr>
        <p:spPr/>
        <p:txBody>
          <a:bodyPr/>
          <a:lstStyle/>
          <a:p>
            <a:fld id="{1981B521-2E2E-41B2-9433-69364D5DDA0F}" type="datetimeFigureOut">
              <a:rPr lang="zh-CN" altLang="en-US" smtClean="0"/>
              <a:t>2026/3/28</a:t>
            </a:fld>
            <a:endParaRPr lang="zh-CN" altLang="en-US"/>
          </a:p>
        </p:txBody>
      </p:sp>
      <p:sp>
        <p:nvSpPr>
          <p:cNvPr id="5" name="页脚占位符 4">
            <a:extLst>
              <a:ext uri="{FF2B5EF4-FFF2-40B4-BE49-F238E27FC236}">
                <a16:creationId xmlns:a16="http://schemas.microsoft.com/office/drawing/2014/main" id="{40F9D154-46B3-4D1A-AAD0-2E19CD64008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A947DA4-2015-4A6D-A79E-241E83CF012E}"/>
              </a:ext>
            </a:extLst>
          </p:cNvPr>
          <p:cNvSpPr>
            <a:spLocks noGrp="1"/>
          </p:cNvSpPr>
          <p:nvPr>
            <p:ph type="sldNum" sz="quarter" idx="12"/>
          </p:nvPr>
        </p:nvSpPr>
        <p:spPr/>
        <p:txBody>
          <a:bodyPr/>
          <a:lstStyle/>
          <a:p>
            <a:fld id="{FE1282D0-AAD4-45D4-BBB1-9C369370A4D1}" type="slidenum">
              <a:rPr lang="zh-CN" altLang="en-US" smtClean="0"/>
              <a:t>‹#›</a:t>
            </a:fld>
            <a:endParaRPr lang="zh-CN" altLang="en-US"/>
          </a:p>
        </p:txBody>
      </p:sp>
    </p:spTree>
    <p:extLst>
      <p:ext uri="{BB962C8B-B14F-4D97-AF65-F5344CB8AC3E}">
        <p14:creationId xmlns:p14="http://schemas.microsoft.com/office/powerpoint/2010/main" val="33460408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13D43D3-61F7-4769-8C09-D76826FFF4F3}"/>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74EA0FAB-BAAB-4180-9AE8-D87664279491}"/>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A210239-D428-41DC-AB13-B48256B454D9}"/>
              </a:ext>
            </a:extLst>
          </p:cNvPr>
          <p:cNvSpPr>
            <a:spLocks noGrp="1"/>
          </p:cNvSpPr>
          <p:nvPr>
            <p:ph type="dt" sz="half" idx="10"/>
          </p:nvPr>
        </p:nvSpPr>
        <p:spPr/>
        <p:txBody>
          <a:bodyPr/>
          <a:lstStyle/>
          <a:p>
            <a:fld id="{1981B521-2E2E-41B2-9433-69364D5DDA0F}" type="datetimeFigureOut">
              <a:rPr lang="zh-CN" altLang="en-US" smtClean="0"/>
              <a:t>2026/3/28</a:t>
            </a:fld>
            <a:endParaRPr lang="zh-CN" altLang="en-US"/>
          </a:p>
        </p:txBody>
      </p:sp>
      <p:sp>
        <p:nvSpPr>
          <p:cNvPr id="5" name="页脚占位符 4">
            <a:extLst>
              <a:ext uri="{FF2B5EF4-FFF2-40B4-BE49-F238E27FC236}">
                <a16:creationId xmlns:a16="http://schemas.microsoft.com/office/drawing/2014/main" id="{37880BCB-0349-451E-BA1C-544863D0313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1CA7DBE-1141-4285-86D1-564617A0C560}"/>
              </a:ext>
            </a:extLst>
          </p:cNvPr>
          <p:cNvSpPr>
            <a:spLocks noGrp="1"/>
          </p:cNvSpPr>
          <p:nvPr>
            <p:ph type="sldNum" sz="quarter" idx="12"/>
          </p:nvPr>
        </p:nvSpPr>
        <p:spPr/>
        <p:txBody>
          <a:bodyPr/>
          <a:lstStyle/>
          <a:p>
            <a:fld id="{FE1282D0-AAD4-45D4-BBB1-9C369370A4D1}" type="slidenum">
              <a:rPr lang="zh-CN" altLang="en-US" smtClean="0"/>
              <a:t>‹#›</a:t>
            </a:fld>
            <a:endParaRPr lang="zh-CN" altLang="en-US"/>
          </a:p>
        </p:txBody>
      </p:sp>
    </p:spTree>
    <p:extLst>
      <p:ext uri="{BB962C8B-B14F-4D97-AF65-F5344CB8AC3E}">
        <p14:creationId xmlns:p14="http://schemas.microsoft.com/office/powerpoint/2010/main" val="41460739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467B1DC-F0E7-4B66-B8C4-BA37235CFC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9A27A1C-591D-4B13-B558-E1C25FA56A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242D14F-498E-4DFD-8F57-629F77D7B1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81B521-2E2E-41B2-9433-69364D5DDA0F}" type="datetimeFigureOut">
              <a:rPr lang="zh-CN" altLang="en-US" smtClean="0"/>
              <a:t>2026/3/28</a:t>
            </a:fld>
            <a:endParaRPr lang="zh-CN" altLang="en-US"/>
          </a:p>
        </p:txBody>
      </p:sp>
      <p:sp>
        <p:nvSpPr>
          <p:cNvPr id="5" name="页脚占位符 4">
            <a:extLst>
              <a:ext uri="{FF2B5EF4-FFF2-40B4-BE49-F238E27FC236}">
                <a16:creationId xmlns:a16="http://schemas.microsoft.com/office/drawing/2014/main" id="{8DDEC7FD-0B70-406B-95B6-B0DFB42BBA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B52443C5-2224-4D85-83C0-60EF75ADE9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1282D0-AAD4-45D4-BBB1-9C369370A4D1}" type="slidenum">
              <a:rPr lang="zh-CN" altLang="en-US" smtClean="0"/>
              <a:t>‹#›</a:t>
            </a:fld>
            <a:endParaRPr lang="zh-CN" altLang="en-US"/>
          </a:p>
        </p:txBody>
      </p:sp>
    </p:spTree>
    <p:extLst>
      <p:ext uri="{BB962C8B-B14F-4D97-AF65-F5344CB8AC3E}">
        <p14:creationId xmlns:p14="http://schemas.microsoft.com/office/powerpoint/2010/main" val="16955631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microsoft.com/office/2007/relationships/hdphoto" Target="../media/hdphoto1.wdp"/><Relationship Id="rId7"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image" Target="../media/image130.png"/><Relationship Id="rId3" Type="http://schemas.microsoft.com/office/2007/relationships/hdphoto" Target="../media/hdphoto1.wdp"/><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8" Type="http://schemas.openxmlformats.org/officeDocument/2006/relationships/image" Target="../media/image19.png"/><Relationship Id="rId3" Type="http://schemas.microsoft.com/office/2007/relationships/hdphoto" Target="../media/hdphoto1.wdp"/><Relationship Id="rId7" Type="http://schemas.openxmlformats.org/officeDocument/2006/relationships/image" Target="../media/image18.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4.png"/><Relationship Id="rId10" Type="http://schemas.openxmlformats.org/officeDocument/2006/relationships/image" Target="../media/image21.png"/><Relationship Id="rId4" Type="http://schemas.openxmlformats.org/officeDocument/2006/relationships/image" Target="../media/image3.png"/><Relationship Id="rId9"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524B9B08-525E-4593-83AF-53DA25173B9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151" b="22333"/>
          <a:stretch/>
        </p:blipFill>
        <p:spPr bwMode="auto">
          <a:xfrm>
            <a:off x="0" y="2107758"/>
            <a:ext cx="12215445" cy="3023422"/>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a:extLst>
              <a:ext uri="{FF2B5EF4-FFF2-40B4-BE49-F238E27FC236}">
                <a16:creationId xmlns:a16="http://schemas.microsoft.com/office/drawing/2014/main" id="{0434C585-F3AF-45FC-B71B-A5784C81255C}"/>
              </a:ext>
            </a:extLst>
          </p:cNvPr>
          <p:cNvSpPr/>
          <p:nvPr/>
        </p:nvSpPr>
        <p:spPr>
          <a:xfrm>
            <a:off x="0" y="2107758"/>
            <a:ext cx="12215445" cy="3023423"/>
          </a:xfrm>
          <a:prstGeom prst="rect">
            <a:avLst/>
          </a:prstGeom>
          <a:solidFill>
            <a:srgbClr val="6B0261">
              <a:alpha val="82000"/>
            </a:srgbClr>
          </a:solidFill>
          <a:ln w="12700" cap="flat" cmpd="sng" algn="ctr">
            <a:noFill/>
            <a:prstDash val="solid"/>
            <a:miter lim="800000"/>
          </a:ln>
          <a:effectLst/>
        </p:spPr>
        <p:txBody>
          <a:bodyPr rtlCol="0" anchor="ctr"/>
          <a:lstStyle/>
          <a:p>
            <a:pPr algn="ctr">
              <a:defRPr/>
            </a:pPr>
            <a:endParaRPr lang="zh-CN" altLang="en-US" kern="0" dirty="0">
              <a:solidFill>
                <a:srgbClr val="FFFFFF"/>
              </a:solidFill>
              <a:latin typeface="Arial" panose="020F0502020204030204"/>
              <a:ea typeface="微软雅黑"/>
              <a:cs typeface="+mn-ea"/>
              <a:sym typeface="+mn-lt"/>
            </a:endParaRPr>
          </a:p>
        </p:txBody>
      </p:sp>
      <p:grpSp>
        <p:nvGrpSpPr>
          <p:cNvPr id="6" name="组合 5">
            <a:extLst>
              <a:ext uri="{FF2B5EF4-FFF2-40B4-BE49-F238E27FC236}">
                <a16:creationId xmlns:a16="http://schemas.microsoft.com/office/drawing/2014/main" id="{547FAAD6-7E56-438A-BCA7-68E80C4BECF6}"/>
              </a:ext>
            </a:extLst>
          </p:cNvPr>
          <p:cNvGrpSpPr/>
          <p:nvPr/>
        </p:nvGrpSpPr>
        <p:grpSpPr>
          <a:xfrm>
            <a:off x="3870265" y="6143874"/>
            <a:ext cx="4779458" cy="338554"/>
            <a:chOff x="415917" y="6056049"/>
            <a:chExt cx="9085011" cy="338554"/>
          </a:xfrm>
        </p:grpSpPr>
        <p:sp>
          <p:nvSpPr>
            <p:cNvPr id="7" name="TextBox 14">
              <a:extLst>
                <a:ext uri="{FF2B5EF4-FFF2-40B4-BE49-F238E27FC236}">
                  <a16:creationId xmlns:a16="http://schemas.microsoft.com/office/drawing/2014/main" id="{752E09F2-2668-4CC0-B557-1022892FC197}"/>
                </a:ext>
              </a:extLst>
            </p:cNvPr>
            <p:cNvSpPr txBox="1"/>
            <p:nvPr/>
          </p:nvSpPr>
          <p:spPr>
            <a:xfrm>
              <a:off x="415917" y="6056049"/>
              <a:ext cx="1521093" cy="338554"/>
            </a:xfrm>
            <a:prstGeom prst="rect">
              <a:avLst/>
            </a:prstGeom>
            <a:noFill/>
          </p:spPr>
          <p:txBody>
            <a:bodyPr wrap="none" rtlCol="0">
              <a:spAutoFit/>
            </a:bodyPr>
            <a:lstStyle/>
            <a:p>
              <a:r>
                <a:rPr lang="zh-CN" altLang="en-US" sz="1600" b="1" dirty="0">
                  <a:solidFill>
                    <a:srgbClr val="6B0261"/>
                  </a:solidFill>
                  <a:latin typeface="Arial" panose="020F0502020204030204"/>
                  <a:ea typeface="微软雅黑"/>
                  <a:cs typeface="+mn-ea"/>
                </a:rPr>
                <a:t>刘鸿嘉</a:t>
              </a:r>
            </a:p>
          </p:txBody>
        </p:sp>
        <p:sp>
          <p:nvSpPr>
            <p:cNvPr id="9" name="TextBox 90">
              <a:extLst>
                <a:ext uri="{FF2B5EF4-FFF2-40B4-BE49-F238E27FC236}">
                  <a16:creationId xmlns:a16="http://schemas.microsoft.com/office/drawing/2014/main" id="{93D15416-BB42-475C-8AA9-35DB98F09064}"/>
                </a:ext>
              </a:extLst>
            </p:cNvPr>
            <p:cNvSpPr txBox="1"/>
            <p:nvPr/>
          </p:nvSpPr>
          <p:spPr>
            <a:xfrm>
              <a:off x="5295374" y="6056049"/>
              <a:ext cx="4205554" cy="338554"/>
            </a:xfrm>
            <a:prstGeom prst="rect">
              <a:avLst/>
            </a:prstGeom>
            <a:noFill/>
          </p:spPr>
          <p:txBody>
            <a:bodyPr wrap="none" rtlCol="0">
              <a:spAutoFit/>
            </a:bodyPr>
            <a:lstStyle/>
            <a:p>
              <a:r>
                <a:rPr lang="zh-CN" altLang="en-US" sz="1600" b="1" dirty="0">
                  <a:solidFill>
                    <a:srgbClr val="6B0261"/>
                  </a:solidFill>
                  <a:latin typeface="Arial" panose="020F0502020204030204"/>
                  <a:ea typeface="微软雅黑"/>
                  <a:cs typeface="+mn-ea"/>
                </a:rPr>
                <a:t>日期：</a:t>
              </a:r>
              <a:r>
                <a:rPr lang="en-US" altLang="zh-CN" sz="1600" b="1" dirty="0">
                  <a:solidFill>
                    <a:srgbClr val="6B0261"/>
                  </a:solidFill>
                  <a:latin typeface="Arial" panose="020F0502020204030204"/>
                  <a:ea typeface="微软雅黑"/>
                  <a:cs typeface="+mn-ea"/>
                </a:rPr>
                <a:t>2026</a:t>
              </a:r>
              <a:r>
                <a:rPr lang="zh-CN" altLang="en-US" sz="1600" b="1" dirty="0">
                  <a:solidFill>
                    <a:srgbClr val="6B0261"/>
                  </a:solidFill>
                  <a:latin typeface="Arial" panose="020F0502020204030204"/>
                  <a:ea typeface="微软雅黑"/>
                  <a:cs typeface="+mn-ea"/>
                </a:rPr>
                <a:t>年</a:t>
              </a:r>
              <a:r>
                <a:rPr lang="en-US" altLang="zh-CN" sz="1600" b="1" dirty="0">
                  <a:solidFill>
                    <a:srgbClr val="6B0261"/>
                  </a:solidFill>
                  <a:latin typeface="Arial" panose="020F0502020204030204"/>
                  <a:ea typeface="微软雅黑"/>
                  <a:cs typeface="+mn-ea"/>
                </a:rPr>
                <a:t>3</a:t>
              </a:r>
              <a:r>
                <a:rPr lang="zh-CN" altLang="en-US" sz="1600" b="1" dirty="0">
                  <a:solidFill>
                    <a:srgbClr val="6B0261"/>
                  </a:solidFill>
                  <a:latin typeface="Arial" panose="020F0502020204030204"/>
                  <a:ea typeface="微软雅黑"/>
                  <a:cs typeface="+mn-ea"/>
                </a:rPr>
                <a:t>月</a:t>
              </a:r>
              <a:r>
                <a:rPr lang="en-US" altLang="zh-CN" sz="1600" b="1" dirty="0">
                  <a:solidFill>
                    <a:srgbClr val="6B0261"/>
                  </a:solidFill>
                  <a:latin typeface="Arial" panose="020F0502020204030204"/>
                  <a:ea typeface="微软雅黑"/>
                  <a:cs typeface="+mn-ea"/>
                </a:rPr>
                <a:t>28</a:t>
              </a:r>
              <a:r>
                <a:rPr lang="zh-CN" altLang="en-US" sz="1600" b="1" dirty="0">
                  <a:solidFill>
                    <a:srgbClr val="6B0261"/>
                  </a:solidFill>
                  <a:latin typeface="Arial" panose="020F0502020204030204"/>
                  <a:ea typeface="微软雅黑"/>
                  <a:cs typeface="+mn-ea"/>
                </a:rPr>
                <a:t>日</a:t>
              </a:r>
            </a:p>
          </p:txBody>
        </p:sp>
      </p:grpSp>
      <p:grpSp>
        <p:nvGrpSpPr>
          <p:cNvPr id="10" name="Group 15">
            <a:extLst>
              <a:ext uri="{FF2B5EF4-FFF2-40B4-BE49-F238E27FC236}">
                <a16:creationId xmlns:a16="http://schemas.microsoft.com/office/drawing/2014/main" id="{B3CE3454-F026-4C3C-AFB0-77D3B263D6F1}"/>
              </a:ext>
            </a:extLst>
          </p:cNvPr>
          <p:cNvGrpSpPr/>
          <p:nvPr/>
        </p:nvGrpSpPr>
        <p:grpSpPr>
          <a:xfrm>
            <a:off x="-23446" y="2471759"/>
            <a:ext cx="12238891" cy="2386337"/>
            <a:chOff x="-1525061" y="2557284"/>
            <a:chExt cx="10844926" cy="2386337"/>
          </a:xfrm>
        </p:grpSpPr>
        <p:sp>
          <p:nvSpPr>
            <p:cNvPr id="11" name="Rectangle 9">
              <a:extLst>
                <a:ext uri="{FF2B5EF4-FFF2-40B4-BE49-F238E27FC236}">
                  <a16:creationId xmlns:a16="http://schemas.microsoft.com/office/drawing/2014/main" id="{F401DACA-8D69-48AE-B146-D791D8BD3D2A}"/>
                </a:ext>
              </a:extLst>
            </p:cNvPr>
            <p:cNvSpPr/>
            <p:nvPr/>
          </p:nvSpPr>
          <p:spPr>
            <a:xfrm>
              <a:off x="-333920" y="2557284"/>
              <a:ext cx="8462644" cy="1015663"/>
            </a:xfrm>
            <a:prstGeom prst="rect">
              <a:avLst/>
            </a:prstGeom>
          </p:spPr>
          <p:txBody>
            <a:bodyPr wrap="square">
              <a:spAutoFit/>
            </a:bodyPr>
            <a:lstStyle/>
            <a:p>
              <a:pPr algn="ctr"/>
              <a:r>
                <a:rPr lang="en-US" altLang="zh-CN" sz="6000" b="1" dirty="0">
                  <a:solidFill>
                    <a:prstClr val="white"/>
                  </a:solidFill>
                  <a:latin typeface="微软雅黑" panose="020B0503020204020204" pitchFamily="34" charset="-122"/>
                  <a:ea typeface="微软雅黑" panose="020B0503020204020204" pitchFamily="34" charset="-122"/>
                  <a:cs typeface="阿里巴巴普惠体 B" panose="00020600040101010101" pitchFamily="18" charset="-122"/>
                </a:rPr>
                <a:t>3.28</a:t>
              </a:r>
              <a:r>
                <a:rPr lang="zh-CN" altLang="en-US" sz="6000" b="1" dirty="0">
                  <a:solidFill>
                    <a:prstClr val="white"/>
                  </a:solidFill>
                  <a:latin typeface="微软雅黑" panose="020B0503020204020204" pitchFamily="34" charset="-122"/>
                  <a:ea typeface="微软雅黑" panose="020B0503020204020204" pitchFamily="34" charset="-122"/>
                  <a:cs typeface="阿里巴巴普惠体 B" panose="00020600040101010101" pitchFamily="18" charset="-122"/>
                </a:rPr>
                <a:t>文献分享</a:t>
              </a:r>
            </a:p>
          </p:txBody>
        </p:sp>
        <p:sp>
          <p:nvSpPr>
            <p:cNvPr id="12" name="Rectangle 10">
              <a:extLst>
                <a:ext uri="{FF2B5EF4-FFF2-40B4-BE49-F238E27FC236}">
                  <a16:creationId xmlns:a16="http://schemas.microsoft.com/office/drawing/2014/main" id="{D093C10B-2438-4880-AE56-5E06525C0DA2}"/>
                </a:ext>
              </a:extLst>
            </p:cNvPr>
            <p:cNvSpPr/>
            <p:nvPr/>
          </p:nvSpPr>
          <p:spPr>
            <a:xfrm>
              <a:off x="-1525061" y="4543511"/>
              <a:ext cx="10844926" cy="400110"/>
            </a:xfrm>
            <a:prstGeom prst="rect">
              <a:avLst/>
            </a:prstGeom>
          </p:spPr>
          <p:txBody>
            <a:bodyPr wrap="square">
              <a:spAutoFit/>
            </a:bodyPr>
            <a:lstStyle/>
            <a:p>
              <a:pPr algn="ctr"/>
              <a:r>
                <a:rPr lang="en-US" altLang="zh-CN" sz="2000" b="1" dirty="0">
                  <a:solidFill>
                    <a:prstClr val="white"/>
                  </a:solidFill>
                  <a:latin typeface="微软雅黑 Light" panose="020B0502040204020203" pitchFamily="34" charset="-122"/>
                  <a:ea typeface="微软雅黑 Light" panose="020B0502040204020203" pitchFamily="34" charset="-122"/>
                </a:rPr>
                <a:t>NANJING UNIVERSITY</a:t>
              </a:r>
              <a:endParaRPr lang="zh-CN" altLang="en-US" sz="2000" b="1" dirty="0">
                <a:solidFill>
                  <a:prstClr val="white"/>
                </a:solidFill>
                <a:latin typeface="微软雅黑 Light" panose="020B0502040204020203" pitchFamily="34" charset="-122"/>
                <a:ea typeface="微软雅黑 Light" panose="020B0502040204020203" pitchFamily="34" charset="-122"/>
              </a:endParaRPr>
            </a:p>
          </p:txBody>
        </p:sp>
      </p:grpSp>
      <p:grpSp>
        <p:nvGrpSpPr>
          <p:cNvPr id="16" name="组合 15">
            <a:extLst>
              <a:ext uri="{FF2B5EF4-FFF2-40B4-BE49-F238E27FC236}">
                <a16:creationId xmlns:a16="http://schemas.microsoft.com/office/drawing/2014/main" id="{FD16C131-0AC0-4E09-96E2-E9B22DA3F0DB}"/>
              </a:ext>
            </a:extLst>
          </p:cNvPr>
          <p:cNvGrpSpPr/>
          <p:nvPr/>
        </p:nvGrpSpPr>
        <p:grpSpPr>
          <a:xfrm>
            <a:off x="4326653" y="649501"/>
            <a:ext cx="3538691" cy="1224944"/>
            <a:chOff x="995884" y="398899"/>
            <a:chExt cx="3538691" cy="1224944"/>
          </a:xfrm>
        </p:grpSpPr>
        <p:pic>
          <p:nvPicPr>
            <p:cNvPr id="17" name="图片 16">
              <a:extLst>
                <a:ext uri="{FF2B5EF4-FFF2-40B4-BE49-F238E27FC236}">
                  <a16:creationId xmlns:a16="http://schemas.microsoft.com/office/drawing/2014/main" id="{72F80924-4CAA-497E-AAE0-E0DF03D8818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95884" y="398899"/>
              <a:ext cx="977348" cy="1224944"/>
            </a:xfrm>
            <a:prstGeom prst="rect">
              <a:avLst/>
            </a:prstGeom>
          </p:spPr>
        </p:pic>
        <p:pic>
          <p:nvPicPr>
            <p:cNvPr id="18" name="图片 17">
              <a:extLst>
                <a:ext uri="{FF2B5EF4-FFF2-40B4-BE49-F238E27FC236}">
                  <a16:creationId xmlns:a16="http://schemas.microsoft.com/office/drawing/2014/main" id="{9DCC9613-A27E-488C-9DDC-C88F3A721B0D}"/>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149688" y="451192"/>
              <a:ext cx="2384886" cy="796231"/>
            </a:xfrm>
            <a:prstGeom prst="rect">
              <a:avLst/>
            </a:prstGeom>
          </p:spPr>
        </p:pic>
        <p:sp>
          <p:nvSpPr>
            <p:cNvPr id="19" name="矩形 18">
              <a:extLst>
                <a:ext uri="{FF2B5EF4-FFF2-40B4-BE49-F238E27FC236}">
                  <a16:creationId xmlns:a16="http://schemas.microsoft.com/office/drawing/2014/main" id="{1BF2F5EB-A53B-405A-8B4C-39722EF9FC03}"/>
                </a:ext>
              </a:extLst>
            </p:cNvPr>
            <p:cNvSpPr/>
            <p:nvPr/>
          </p:nvSpPr>
          <p:spPr>
            <a:xfrm>
              <a:off x="2104655" y="1232371"/>
              <a:ext cx="2429920" cy="307777"/>
            </a:xfrm>
            <a:prstGeom prst="rect">
              <a:avLst/>
            </a:prstGeom>
          </p:spPr>
          <p:txBody>
            <a:bodyPr wrap="square">
              <a:spAutoFit/>
            </a:bodyPr>
            <a:lstStyle/>
            <a:p>
              <a:pPr lvl="0" algn="dist"/>
              <a:r>
                <a:rPr lang="en-US" altLang="zh-CN" sz="1400" b="1" dirty="0">
                  <a:solidFill>
                    <a:srgbClr val="000000"/>
                  </a:solidFill>
                  <a:latin typeface="Calibri"/>
                  <a:ea typeface="宋体" panose="02010600030101010101" pitchFamily="2" charset="-122"/>
                </a:rPr>
                <a:t>NANJING UNIVERSITY</a:t>
              </a:r>
              <a:endParaRPr kumimoji="0" lang="zh-CN" altLang="en-US" sz="140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endParaRPr>
            </a:p>
          </p:txBody>
        </p:sp>
      </p:grpSp>
      <p:cxnSp>
        <p:nvCxnSpPr>
          <p:cNvPr id="20" name="直接连接符 19">
            <a:extLst>
              <a:ext uri="{FF2B5EF4-FFF2-40B4-BE49-F238E27FC236}">
                <a16:creationId xmlns:a16="http://schemas.microsoft.com/office/drawing/2014/main" id="{E269267B-E9A3-44D9-B96D-4A6DD387A5B6}"/>
              </a:ext>
            </a:extLst>
          </p:cNvPr>
          <p:cNvCxnSpPr>
            <a:cxnSpLocks/>
            <a:endCxn id="23" idx="1"/>
          </p:cNvCxnSpPr>
          <p:nvPr/>
        </p:nvCxnSpPr>
        <p:spPr>
          <a:xfrm flipV="1">
            <a:off x="-614597" y="5492316"/>
            <a:ext cx="5049649" cy="17338"/>
          </a:xfrm>
          <a:prstGeom prst="line">
            <a:avLst/>
          </a:prstGeom>
          <a:noFill/>
          <a:ln w="38100" cap="flat" cmpd="sng" algn="ctr">
            <a:solidFill>
              <a:srgbClr val="6B0261"/>
            </a:solidFill>
            <a:prstDash val="solid"/>
            <a:miter lim="800000"/>
          </a:ln>
          <a:effectLst/>
        </p:spPr>
      </p:cxnSp>
      <p:cxnSp>
        <p:nvCxnSpPr>
          <p:cNvPr id="21" name="直接连接符 20">
            <a:extLst>
              <a:ext uri="{FF2B5EF4-FFF2-40B4-BE49-F238E27FC236}">
                <a16:creationId xmlns:a16="http://schemas.microsoft.com/office/drawing/2014/main" id="{A7D04AB4-576E-40E2-92A5-CCA2D6A3EBF6}"/>
              </a:ext>
            </a:extLst>
          </p:cNvPr>
          <p:cNvCxnSpPr>
            <a:cxnSpLocks/>
            <a:stCxn id="24" idx="3"/>
          </p:cNvCxnSpPr>
          <p:nvPr/>
        </p:nvCxnSpPr>
        <p:spPr>
          <a:xfrm flipV="1">
            <a:off x="7789874" y="5417744"/>
            <a:ext cx="5326519" cy="91910"/>
          </a:xfrm>
          <a:prstGeom prst="line">
            <a:avLst/>
          </a:prstGeom>
          <a:noFill/>
          <a:ln w="38100" cap="flat" cmpd="sng" algn="ctr">
            <a:solidFill>
              <a:srgbClr val="6B0261"/>
            </a:solidFill>
            <a:prstDash val="solid"/>
            <a:miter lim="800000"/>
          </a:ln>
          <a:effectLst/>
        </p:spPr>
      </p:cxnSp>
      <p:grpSp>
        <p:nvGrpSpPr>
          <p:cNvPr id="22" name="组合 21">
            <a:extLst>
              <a:ext uri="{FF2B5EF4-FFF2-40B4-BE49-F238E27FC236}">
                <a16:creationId xmlns:a16="http://schemas.microsoft.com/office/drawing/2014/main" id="{075F4E9E-66B6-4335-8DFD-DE439693087E}"/>
              </a:ext>
            </a:extLst>
          </p:cNvPr>
          <p:cNvGrpSpPr/>
          <p:nvPr/>
        </p:nvGrpSpPr>
        <p:grpSpPr>
          <a:xfrm>
            <a:off x="4435052" y="5278067"/>
            <a:ext cx="3354822" cy="463174"/>
            <a:chOff x="2637334" y="4920597"/>
            <a:chExt cx="10255337" cy="1415873"/>
          </a:xfrm>
        </p:grpSpPr>
        <p:pic>
          <p:nvPicPr>
            <p:cNvPr id="23" name="图片 22">
              <a:extLst>
                <a:ext uri="{FF2B5EF4-FFF2-40B4-BE49-F238E27FC236}">
                  <a16:creationId xmlns:a16="http://schemas.microsoft.com/office/drawing/2014/main" id="{7FD4FE05-4FFF-43BF-8853-BF31D5A1D10A}"/>
                </a:ext>
              </a:extLst>
            </p:cNvPr>
            <p:cNvPicPr>
              <a:picLocks noChangeAspect="1"/>
            </p:cNvPicPr>
            <p:nvPr/>
          </p:nvPicPr>
          <p:blipFill rotWithShape="1">
            <a:blip r:embed="rId6">
              <a:extLst>
                <a:ext uri="{28A0092B-C50C-407E-A947-70E740481C1C}">
                  <a14:useLocalDpi xmlns:a14="http://schemas.microsoft.com/office/drawing/2010/main" val="0"/>
                </a:ext>
              </a:extLst>
            </a:blip>
            <a:srcRect b="53743"/>
            <a:stretch/>
          </p:blipFill>
          <p:spPr>
            <a:xfrm>
              <a:off x="2637334" y="4920598"/>
              <a:ext cx="5333333" cy="1309872"/>
            </a:xfrm>
            <a:prstGeom prst="rect">
              <a:avLst/>
            </a:prstGeom>
          </p:spPr>
        </p:pic>
        <p:pic>
          <p:nvPicPr>
            <p:cNvPr id="24" name="图片 23">
              <a:extLst>
                <a:ext uri="{FF2B5EF4-FFF2-40B4-BE49-F238E27FC236}">
                  <a16:creationId xmlns:a16="http://schemas.microsoft.com/office/drawing/2014/main" id="{7272DE3E-F357-4DF2-B678-0D99F9DAF180}"/>
                </a:ext>
              </a:extLst>
            </p:cNvPr>
            <p:cNvPicPr>
              <a:picLocks noChangeAspect="1"/>
            </p:cNvPicPr>
            <p:nvPr/>
          </p:nvPicPr>
          <p:blipFill rotWithShape="1">
            <a:blip r:embed="rId6">
              <a:extLst>
                <a:ext uri="{28A0092B-C50C-407E-A947-70E740481C1C}">
                  <a14:useLocalDpi xmlns:a14="http://schemas.microsoft.com/office/drawing/2010/main" val="0"/>
                </a:ext>
              </a:extLst>
            </a:blip>
            <a:srcRect t="50000"/>
            <a:stretch/>
          </p:blipFill>
          <p:spPr>
            <a:xfrm>
              <a:off x="7559338" y="4920597"/>
              <a:ext cx="5333333" cy="1415873"/>
            </a:xfrm>
            <a:prstGeom prst="rect">
              <a:avLst/>
            </a:prstGeom>
          </p:spPr>
        </p:pic>
      </p:grpSp>
    </p:spTree>
    <p:extLst>
      <p:ext uri="{BB962C8B-B14F-4D97-AF65-F5344CB8AC3E}">
        <p14:creationId xmlns:p14="http://schemas.microsoft.com/office/powerpoint/2010/main" val="312658105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占位符 10">
            <a:extLst>
              <a:ext uri="{FF2B5EF4-FFF2-40B4-BE49-F238E27FC236}">
                <a16:creationId xmlns:a16="http://schemas.microsoft.com/office/drawing/2014/main" id="{80D2D300-E2A5-458D-8F00-D5D2C933BB81}"/>
              </a:ext>
            </a:extLst>
          </p:cNvPr>
          <p:cNvPicPr>
            <a:picLocks noChangeAspect="1"/>
          </p:cNvPicPr>
          <p:nvPr/>
        </p:nvPicPr>
        <p:blipFill rotWithShape="1">
          <a:blip r:embed="rId2">
            <a:extLst>
              <a:ext uri="{28A0092B-C50C-407E-A947-70E740481C1C}">
                <a14:useLocalDpi xmlns:a14="http://schemas.microsoft.com/office/drawing/2010/main" val="0"/>
              </a:ext>
            </a:extLst>
          </a:blip>
          <a:srcRect t="32726" b="9149"/>
          <a:stretch/>
        </p:blipFill>
        <p:spPr>
          <a:xfrm>
            <a:off x="0" y="-4272"/>
            <a:ext cx="12192000" cy="3073231"/>
          </a:xfrm>
          <a:prstGeom prst="rect">
            <a:avLst/>
          </a:prstGeom>
        </p:spPr>
      </p:pic>
      <p:sp>
        <p:nvSpPr>
          <p:cNvPr id="3" name="矩形 2">
            <a:extLst>
              <a:ext uri="{FF2B5EF4-FFF2-40B4-BE49-F238E27FC236}">
                <a16:creationId xmlns:a16="http://schemas.microsoft.com/office/drawing/2014/main" id="{870BA051-1F66-4795-BF26-66EAB0A4B901}"/>
              </a:ext>
            </a:extLst>
          </p:cNvPr>
          <p:cNvSpPr/>
          <p:nvPr/>
        </p:nvSpPr>
        <p:spPr>
          <a:xfrm>
            <a:off x="0" y="-4272"/>
            <a:ext cx="12191997" cy="3073231"/>
          </a:xfrm>
          <a:prstGeom prst="rect">
            <a:avLst/>
          </a:prstGeom>
          <a:solidFill>
            <a:srgbClr val="6B0261">
              <a:alpha val="83000"/>
            </a:srgbClr>
          </a:solidFill>
          <a:ln w="12700" cap="flat" cmpd="sng" algn="ctr">
            <a:noFill/>
            <a:prstDash val="solid"/>
            <a:miter lim="800000"/>
          </a:ln>
          <a:effectLst/>
        </p:spPr>
        <p:txBody>
          <a:bodyPr rtlCol="0" anchor="ctr"/>
          <a:lstStyle/>
          <a:p>
            <a:pPr algn="ctr">
              <a:defRPr/>
            </a:pPr>
            <a:endParaRPr lang="zh-CN" altLang="en-US" kern="0">
              <a:solidFill>
                <a:srgbClr val="FFFFFF"/>
              </a:solidFill>
              <a:latin typeface="Arial" panose="020F0502020204030204"/>
              <a:ea typeface="Microsoft YaHei"/>
              <a:cs typeface="+mn-ea"/>
              <a:sym typeface="+mn-lt"/>
            </a:endParaRPr>
          </a:p>
        </p:txBody>
      </p:sp>
      <p:sp>
        <p:nvSpPr>
          <p:cNvPr id="4" name="文本占位符 8">
            <a:extLst>
              <a:ext uri="{FF2B5EF4-FFF2-40B4-BE49-F238E27FC236}">
                <a16:creationId xmlns:a16="http://schemas.microsoft.com/office/drawing/2014/main" id="{1CAD00BC-C857-42B1-9436-E1BC522185D4}"/>
              </a:ext>
            </a:extLst>
          </p:cNvPr>
          <p:cNvSpPr txBox="1">
            <a:spLocks/>
          </p:cNvSpPr>
          <p:nvPr/>
        </p:nvSpPr>
        <p:spPr>
          <a:xfrm>
            <a:off x="4815507" y="1844824"/>
            <a:ext cx="2560983" cy="2530053"/>
          </a:xfrm>
          <a:custGeom>
            <a:avLst/>
            <a:gdLst>
              <a:gd name="connsiteX0" fmla="*/ 2057400 w 4114800"/>
              <a:gd name="connsiteY0" fmla="*/ 0 h 4065104"/>
              <a:gd name="connsiteX1" fmla="*/ 4114800 w 4114800"/>
              <a:gd name="connsiteY1" fmla="*/ 2032552 h 4065104"/>
              <a:gd name="connsiteX2" fmla="*/ 2057400 w 4114800"/>
              <a:gd name="connsiteY2" fmla="*/ 4065104 h 4065104"/>
              <a:gd name="connsiteX3" fmla="*/ 0 w 4114800"/>
              <a:gd name="connsiteY3" fmla="*/ 2032552 h 4065104"/>
            </a:gdLst>
            <a:ahLst/>
            <a:cxnLst>
              <a:cxn ang="0">
                <a:pos x="connsiteX0" y="connsiteY0"/>
              </a:cxn>
              <a:cxn ang="0">
                <a:pos x="connsiteX1" y="connsiteY1"/>
              </a:cxn>
              <a:cxn ang="0">
                <a:pos x="connsiteX2" y="connsiteY2"/>
              </a:cxn>
              <a:cxn ang="0">
                <a:pos x="connsiteX3" y="connsiteY3"/>
              </a:cxn>
            </a:cxnLst>
            <a:rect l="l" t="t" r="r" b="b"/>
            <a:pathLst>
              <a:path w="4114800" h="4065104">
                <a:moveTo>
                  <a:pt x="2057400" y="0"/>
                </a:moveTo>
                <a:lnTo>
                  <a:pt x="4114800" y="2032552"/>
                </a:lnTo>
                <a:lnTo>
                  <a:pt x="2057400" y="4065104"/>
                </a:lnTo>
                <a:lnTo>
                  <a:pt x="0" y="2032552"/>
                </a:lnTo>
                <a:close/>
              </a:path>
            </a:pathLst>
          </a:custGeom>
          <a:solidFill>
            <a:srgbClr val="6B0261"/>
          </a:solidFill>
          <a:ln w="193675">
            <a:solidFill>
              <a:srgbClr val="FFFFFF"/>
            </a:solidFill>
          </a:ln>
        </p:spPr>
        <p:txBody>
          <a:bodyPr wrap="square" anchor="ctr">
            <a:noAutofit/>
          </a:bodyPr>
          <a:lstStyle>
            <a:lvl1pPr marL="0" indent="0" algn="ctr" defTabSz="914400" rtl="0" eaLnBrk="1" latinLnBrk="0" hangingPunct="1">
              <a:lnSpc>
                <a:spcPct val="90000"/>
              </a:lnSpc>
              <a:spcBef>
                <a:spcPts val="1000"/>
              </a:spcBef>
              <a:buFont typeface="Arial" panose="020B0604020202020204" pitchFamily="34" charset="0"/>
              <a:buNone/>
              <a:defRPr sz="9600" kern="1200">
                <a:solidFill>
                  <a:schemeClr val="bg1"/>
                </a:solidFill>
                <a:effectLst>
                  <a:innerShdw dist="63500" dir="16200000">
                    <a:schemeClr val="accent3"/>
                  </a:innerShdw>
                </a:effectLst>
                <a:latin typeface="Impact" panose="020B080603090205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endParaRPr lang="zh-CN" altLang="en-US" dirty="0">
              <a:solidFill>
                <a:srgbClr val="FFFFFF"/>
              </a:solidFill>
              <a:effectLst>
                <a:innerShdw dist="63500" dir="16200000">
                  <a:srgbClr val="3889F5"/>
                </a:innerShdw>
              </a:effectLst>
              <a:latin typeface="Arial" panose="020F0502020204030204"/>
              <a:ea typeface="Microsoft YaHei"/>
              <a:cs typeface="+mn-ea"/>
              <a:sym typeface="+mn-lt"/>
            </a:endParaRPr>
          </a:p>
        </p:txBody>
      </p:sp>
      <p:pic>
        <p:nvPicPr>
          <p:cNvPr id="5" name="图片 4">
            <a:extLst>
              <a:ext uri="{FF2B5EF4-FFF2-40B4-BE49-F238E27FC236}">
                <a16:creationId xmlns:a16="http://schemas.microsoft.com/office/drawing/2014/main" id="{017F3159-E1AF-4C71-96C9-C803867299E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57527" y="6406826"/>
            <a:ext cx="2520526" cy="369331"/>
          </a:xfrm>
          <a:prstGeom prst="rect">
            <a:avLst/>
          </a:prstGeom>
        </p:spPr>
      </p:pic>
      <p:sp>
        <p:nvSpPr>
          <p:cNvPr id="6" name="标题 4">
            <a:extLst>
              <a:ext uri="{FF2B5EF4-FFF2-40B4-BE49-F238E27FC236}">
                <a16:creationId xmlns:a16="http://schemas.microsoft.com/office/drawing/2014/main" id="{8B77D6E9-EAB7-4C7D-B483-7AB658C9EA59}"/>
              </a:ext>
            </a:extLst>
          </p:cNvPr>
          <p:cNvSpPr txBox="1">
            <a:spLocks/>
          </p:cNvSpPr>
          <p:nvPr/>
        </p:nvSpPr>
        <p:spPr>
          <a:xfrm>
            <a:off x="357527" y="4374876"/>
            <a:ext cx="11854775" cy="746593"/>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2400" b="1" dirty="0">
                <a:solidFill>
                  <a:srgbClr val="6B0261"/>
                </a:solidFill>
                <a:latin typeface="微软雅黑" panose="020B0503020204020204" pitchFamily="34" charset="-122"/>
                <a:ea typeface="微软雅黑" panose="020B0503020204020204" pitchFamily="34" charset="-122"/>
              </a:rPr>
              <a:t>Enzyme specificity prediction using cross-attention graph neural networks</a:t>
            </a:r>
            <a:endParaRPr lang="zh-CN" altLang="en-US" sz="2400" b="1" dirty="0">
              <a:solidFill>
                <a:srgbClr val="6B0261"/>
              </a:solidFill>
              <a:latin typeface="微软雅黑" panose="020B0503020204020204" pitchFamily="34" charset="-122"/>
              <a:ea typeface="微软雅黑" panose="020B0503020204020204" pitchFamily="34" charset="-122"/>
            </a:endParaRPr>
          </a:p>
        </p:txBody>
      </p:sp>
      <p:cxnSp>
        <p:nvCxnSpPr>
          <p:cNvPr id="7" name="直接连接符 6">
            <a:extLst>
              <a:ext uri="{FF2B5EF4-FFF2-40B4-BE49-F238E27FC236}">
                <a16:creationId xmlns:a16="http://schemas.microsoft.com/office/drawing/2014/main" id="{47736D54-4D9B-4617-B0AC-C54D929188B6}"/>
              </a:ext>
            </a:extLst>
          </p:cNvPr>
          <p:cNvCxnSpPr>
            <a:cxnSpLocks/>
          </p:cNvCxnSpPr>
          <p:nvPr/>
        </p:nvCxnSpPr>
        <p:spPr>
          <a:xfrm>
            <a:off x="3575720" y="5244190"/>
            <a:ext cx="4752528" cy="0"/>
          </a:xfrm>
          <a:prstGeom prst="line">
            <a:avLst/>
          </a:prstGeom>
          <a:noFill/>
          <a:ln w="28575" cap="flat" cmpd="sng" algn="ctr">
            <a:solidFill>
              <a:srgbClr val="6B0261"/>
            </a:solidFill>
            <a:prstDash val="solid"/>
            <a:headEnd type="oval" w="med" len="med"/>
            <a:tailEnd type="oval" w="med" len="med"/>
          </a:ln>
          <a:effectLst/>
        </p:spPr>
      </p:cxnSp>
      <p:sp>
        <p:nvSpPr>
          <p:cNvPr id="10" name="文本框 9">
            <a:extLst>
              <a:ext uri="{FF2B5EF4-FFF2-40B4-BE49-F238E27FC236}">
                <a16:creationId xmlns:a16="http://schemas.microsoft.com/office/drawing/2014/main" id="{8E368B87-23FA-4C37-A79E-822207AA5826}"/>
              </a:ext>
            </a:extLst>
          </p:cNvPr>
          <p:cNvSpPr txBox="1"/>
          <p:nvPr/>
        </p:nvSpPr>
        <p:spPr>
          <a:xfrm>
            <a:off x="5250253" y="2386575"/>
            <a:ext cx="1691489" cy="1446550"/>
          </a:xfrm>
          <a:prstGeom prst="rect">
            <a:avLst/>
          </a:prstGeom>
          <a:noFill/>
        </p:spPr>
        <p:txBody>
          <a:bodyPr wrap="none" rtlCol="0">
            <a:spAutoFit/>
          </a:bodyPr>
          <a:lstStyle/>
          <a:p>
            <a:r>
              <a:rPr lang="en-US" altLang="zh-CN" sz="8800" b="1" dirty="0">
                <a:solidFill>
                  <a:prstClr val="white"/>
                </a:solidFill>
                <a:latin typeface="Arial Black" panose="020B0A04020102020204" pitchFamily="34" charset="0"/>
                <a:ea typeface="宋体" panose="02010600030101010101" pitchFamily="2" charset="-122"/>
              </a:rPr>
              <a:t>01</a:t>
            </a:r>
            <a:endParaRPr lang="zh-CN" altLang="en-US" sz="8800" b="1" dirty="0">
              <a:solidFill>
                <a:prstClr val="white"/>
              </a:solidFill>
              <a:latin typeface="Arial Black" panose="020B0A04020102020204" pitchFamily="34" charset="0"/>
              <a:ea typeface="宋体" panose="02010600030101010101" pitchFamily="2" charset="-122"/>
            </a:endParaRPr>
          </a:p>
        </p:txBody>
      </p:sp>
      <p:sp>
        <p:nvSpPr>
          <p:cNvPr id="9" name="文本框 8">
            <a:extLst>
              <a:ext uri="{FF2B5EF4-FFF2-40B4-BE49-F238E27FC236}">
                <a16:creationId xmlns:a16="http://schemas.microsoft.com/office/drawing/2014/main" id="{45A562D6-BDAE-A5E7-E7C9-97E52274D32E}"/>
              </a:ext>
            </a:extLst>
          </p:cNvPr>
          <p:cNvSpPr txBox="1"/>
          <p:nvPr/>
        </p:nvSpPr>
        <p:spPr>
          <a:xfrm>
            <a:off x="7008779" y="5914578"/>
            <a:ext cx="2939375" cy="369332"/>
          </a:xfrm>
          <a:prstGeom prst="rect">
            <a:avLst/>
          </a:prstGeom>
          <a:noFill/>
        </p:spPr>
        <p:txBody>
          <a:bodyPr wrap="square">
            <a:spAutoFit/>
          </a:bodyPr>
          <a:lstStyle/>
          <a:p>
            <a:r>
              <a:rPr lang="en-US" altLang="zh-CN" b="0" i="1" dirty="0">
                <a:solidFill>
                  <a:srgbClr val="222222"/>
                </a:solidFill>
                <a:effectLst/>
                <a:latin typeface="-apple-system"/>
              </a:rPr>
              <a:t>Nature</a:t>
            </a:r>
            <a:r>
              <a:rPr lang="en-US" altLang="zh-CN" b="0" i="0" dirty="0">
                <a:solidFill>
                  <a:srgbClr val="222222"/>
                </a:solidFill>
                <a:effectLst/>
                <a:latin typeface="-apple-system"/>
              </a:rPr>
              <a:t> </a:t>
            </a:r>
            <a:r>
              <a:rPr lang="en-US" altLang="zh-CN" b="1" i="0" dirty="0">
                <a:solidFill>
                  <a:srgbClr val="222222"/>
                </a:solidFill>
                <a:effectLst/>
                <a:latin typeface="-apple-system"/>
              </a:rPr>
              <a:t>647</a:t>
            </a:r>
            <a:r>
              <a:rPr lang="en-US" altLang="zh-CN" b="0" i="0" dirty="0">
                <a:solidFill>
                  <a:srgbClr val="222222"/>
                </a:solidFill>
                <a:effectLst/>
                <a:latin typeface="-apple-system"/>
              </a:rPr>
              <a:t>, 639–647 (2025)</a:t>
            </a:r>
            <a:endParaRPr lang="zh-CN" altLang="en-US" dirty="0"/>
          </a:p>
        </p:txBody>
      </p:sp>
      <p:sp>
        <p:nvSpPr>
          <p:cNvPr id="12" name="文本框 11">
            <a:extLst>
              <a:ext uri="{FF2B5EF4-FFF2-40B4-BE49-F238E27FC236}">
                <a16:creationId xmlns:a16="http://schemas.microsoft.com/office/drawing/2014/main" id="{A59F1EF7-2371-35BC-C909-B92C43D40836}"/>
              </a:ext>
            </a:extLst>
          </p:cNvPr>
          <p:cNvSpPr txBox="1"/>
          <p:nvPr/>
        </p:nvSpPr>
        <p:spPr>
          <a:xfrm>
            <a:off x="3593555" y="5422524"/>
            <a:ext cx="5004883" cy="369332"/>
          </a:xfrm>
          <a:prstGeom prst="rect">
            <a:avLst/>
          </a:prstGeom>
          <a:noFill/>
        </p:spPr>
        <p:txBody>
          <a:bodyPr wrap="square">
            <a:spAutoFit/>
          </a:bodyPr>
          <a:lstStyle/>
          <a:p>
            <a:r>
              <a:rPr lang="zh-CN" altLang="en-US" dirty="0"/>
              <a:t>利用交叉注意力图神经网络进行酶特异性预测</a:t>
            </a:r>
          </a:p>
        </p:txBody>
      </p:sp>
    </p:spTree>
    <p:extLst>
      <p:ext uri="{BB962C8B-B14F-4D97-AF65-F5344CB8AC3E}">
        <p14:creationId xmlns:p14="http://schemas.microsoft.com/office/powerpoint/2010/main" val="10104862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54AE6-AA67-F4AB-284D-2ED431FF1FFF}"/>
            </a:ext>
          </a:extLst>
        </p:cNvPr>
        <p:cNvGrpSpPr/>
        <p:nvPr/>
      </p:nvGrpSpPr>
      <p:grpSpPr>
        <a:xfrm>
          <a:off x="0" y="0"/>
          <a:ext cx="0" cy="0"/>
          <a:chOff x="0" y="0"/>
          <a:chExt cx="0" cy="0"/>
        </a:xfrm>
      </p:grpSpPr>
      <p:grpSp>
        <p:nvGrpSpPr>
          <p:cNvPr id="20" name="组合 19">
            <a:extLst>
              <a:ext uri="{FF2B5EF4-FFF2-40B4-BE49-F238E27FC236}">
                <a16:creationId xmlns:a16="http://schemas.microsoft.com/office/drawing/2014/main" id="{81FC0364-1570-C93C-8990-73D2553F0696}"/>
              </a:ext>
            </a:extLst>
          </p:cNvPr>
          <p:cNvGrpSpPr/>
          <p:nvPr/>
        </p:nvGrpSpPr>
        <p:grpSpPr>
          <a:xfrm>
            <a:off x="286653" y="116633"/>
            <a:ext cx="11618694" cy="6681374"/>
            <a:chOff x="286653" y="116633"/>
            <a:chExt cx="11618694" cy="6681374"/>
          </a:xfrm>
        </p:grpSpPr>
        <p:grpSp>
          <p:nvGrpSpPr>
            <p:cNvPr id="21" name="组合 20">
              <a:extLst>
                <a:ext uri="{FF2B5EF4-FFF2-40B4-BE49-F238E27FC236}">
                  <a16:creationId xmlns:a16="http://schemas.microsoft.com/office/drawing/2014/main" id="{DDE72EBA-236C-84F3-A390-5506529DFD3D}"/>
                </a:ext>
              </a:extLst>
            </p:cNvPr>
            <p:cNvGrpSpPr/>
            <p:nvPr/>
          </p:nvGrpSpPr>
          <p:grpSpPr>
            <a:xfrm>
              <a:off x="335361" y="116633"/>
              <a:ext cx="629872" cy="612768"/>
              <a:chOff x="3070727" y="196457"/>
              <a:chExt cx="692047" cy="673255"/>
            </a:xfrm>
          </p:grpSpPr>
          <p:sp>
            <p:nvSpPr>
              <p:cNvPr id="26" name="平行四边形 25">
                <a:extLst>
                  <a:ext uri="{FF2B5EF4-FFF2-40B4-BE49-F238E27FC236}">
                    <a16:creationId xmlns:a16="http://schemas.microsoft.com/office/drawing/2014/main" id="{AD8697E0-D11E-8240-C232-49D2AC821806}"/>
                  </a:ext>
                </a:extLst>
              </p:cNvPr>
              <p:cNvSpPr/>
              <p:nvPr/>
            </p:nvSpPr>
            <p:spPr>
              <a:xfrm>
                <a:off x="3070727" y="196457"/>
                <a:ext cx="629587" cy="612775"/>
              </a:xfrm>
              <a:prstGeom prst="parallelogram">
                <a:avLst/>
              </a:prstGeom>
              <a:solidFill>
                <a:srgbClr val="6B0261"/>
              </a:solidFill>
              <a:ln w="25400" cap="flat" cmpd="sng" algn="ctr">
                <a:solidFill>
                  <a:srgbClr val="6B026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27" name="平行四边形 26">
                <a:extLst>
                  <a:ext uri="{FF2B5EF4-FFF2-40B4-BE49-F238E27FC236}">
                    <a16:creationId xmlns:a16="http://schemas.microsoft.com/office/drawing/2014/main" id="{AB86BCC0-F721-4BF3-C8E2-9A6E92E21D27}"/>
                  </a:ext>
                </a:extLst>
              </p:cNvPr>
              <p:cNvSpPr/>
              <p:nvPr/>
            </p:nvSpPr>
            <p:spPr>
              <a:xfrm>
                <a:off x="3133187" y="256937"/>
                <a:ext cx="629587" cy="612775"/>
              </a:xfrm>
              <a:prstGeom prst="parallelogram">
                <a:avLst/>
              </a:prstGeom>
              <a:noFill/>
              <a:ln w="25400" cap="flat" cmpd="sng" algn="ctr">
                <a:solidFill>
                  <a:srgbClr val="6B026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cxnSp>
          <p:nvCxnSpPr>
            <p:cNvPr id="22" name="直接连接符 21">
              <a:extLst>
                <a:ext uri="{FF2B5EF4-FFF2-40B4-BE49-F238E27FC236}">
                  <a16:creationId xmlns:a16="http://schemas.microsoft.com/office/drawing/2014/main" id="{42491446-0CDD-A5E2-FABE-A4FB59A36567}"/>
                </a:ext>
              </a:extLst>
            </p:cNvPr>
            <p:cNvCxnSpPr>
              <a:cxnSpLocks/>
            </p:cNvCxnSpPr>
            <p:nvPr/>
          </p:nvCxnSpPr>
          <p:spPr>
            <a:xfrm>
              <a:off x="367840" y="809674"/>
              <a:ext cx="11488800" cy="0"/>
            </a:xfrm>
            <a:prstGeom prst="line">
              <a:avLst/>
            </a:prstGeom>
            <a:noFill/>
            <a:ln w="9525" cap="flat" cmpd="sng" algn="ctr">
              <a:solidFill>
                <a:srgbClr val="6B0261"/>
              </a:solidFill>
              <a:prstDash val="solid"/>
            </a:ln>
            <a:effectLst/>
          </p:spPr>
        </p:cxnSp>
        <p:sp>
          <p:nvSpPr>
            <p:cNvPr id="23" name="文本占位符 5">
              <a:extLst>
                <a:ext uri="{FF2B5EF4-FFF2-40B4-BE49-F238E27FC236}">
                  <a16:creationId xmlns:a16="http://schemas.microsoft.com/office/drawing/2014/main" id="{094B05DA-F0A8-28D4-9AD9-6D778D2599EA}"/>
                </a:ext>
              </a:extLst>
            </p:cNvPr>
            <p:cNvSpPr txBox="1">
              <a:spLocks/>
            </p:cNvSpPr>
            <p:nvPr/>
          </p:nvSpPr>
          <p:spPr>
            <a:xfrm>
              <a:off x="1075777" y="214065"/>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rgbClr val="6B0261"/>
                  </a:solidFill>
                </a:rPr>
                <a:t>研究背景</a:t>
              </a:r>
            </a:p>
          </p:txBody>
        </p:sp>
        <p:sp>
          <p:nvSpPr>
            <p:cNvPr id="24" name="文本框 23">
              <a:extLst>
                <a:ext uri="{FF2B5EF4-FFF2-40B4-BE49-F238E27FC236}">
                  <a16:creationId xmlns:a16="http://schemas.microsoft.com/office/drawing/2014/main" id="{85522F31-79CE-A396-0D2E-FCA4580B6C23}"/>
                </a:ext>
              </a:extLst>
            </p:cNvPr>
            <p:cNvSpPr txBox="1"/>
            <p:nvPr/>
          </p:nvSpPr>
          <p:spPr>
            <a:xfrm>
              <a:off x="10805366" y="642867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25" name="图片 24">
              <a:extLst>
                <a:ext uri="{FF2B5EF4-FFF2-40B4-BE49-F238E27FC236}">
                  <a16:creationId xmlns:a16="http://schemas.microsoft.com/office/drawing/2014/main" id="{E9C1BB9F-B03F-048B-F40A-27B87F1DEF2A}"/>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a:stretch/>
          </p:blipFill>
          <p:spPr>
            <a:xfrm>
              <a:off x="286653" y="6425619"/>
              <a:ext cx="2520534" cy="369332"/>
            </a:xfrm>
            <a:prstGeom prst="rect">
              <a:avLst/>
            </a:prstGeom>
          </p:spPr>
        </p:pic>
      </p:grpSp>
      <p:grpSp>
        <p:nvGrpSpPr>
          <p:cNvPr id="51" name="组合 50">
            <a:extLst>
              <a:ext uri="{FF2B5EF4-FFF2-40B4-BE49-F238E27FC236}">
                <a16:creationId xmlns:a16="http://schemas.microsoft.com/office/drawing/2014/main" id="{5A391B9B-714B-325A-BD78-AF20CCB1B8D0}"/>
              </a:ext>
            </a:extLst>
          </p:cNvPr>
          <p:cNvGrpSpPr/>
          <p:nvPr/>
        </p:nvGrpSpPr>
        <p:grpSpPr>
          <a:xfrm>
            <a:off x="9938479" y="77827"/>
            <a:ext cx="2017490" cy="675447"/>
            <a:chOff x="995884" y="398899"/>
            <a:chExt cx="3658781" cy="1224944"/>
          </a:xfrm>
        </p:grpSpPr>
        <p:pic>
          <p:nvPicPr>
            <p:cNvPr id="52" name="图片 51">
              <a:extLst>
                <a:ext uri="{FF2B5EF4-FFF2-40B4-BE49-F238E27FC236}">
                  <a16:creationId xmlns:a16="http://schemas.microsoft.com/office/drawing/2014/main" id="{F5B8808C-61CE-24DF-78DB-4287064DDD6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95884" y="398899"/>
              <a:ext cx="977348" cy="1224944"/>
            </a:xfrm>
            <a:prstGeom prst="rect">
              <a:avLst/>
            </a:prstGeom>
          </p:spPr>
        </p:pic>
        <p:pic>
          <p:nvPicPr>
            <p:cNvPr id="53" name="图片 52">
              <a:extLst>
                <a:ext uri="{FF2B5EF4-FFF2-40B4-BE49-F238E27FC236}">
                  <a16:creationId xmlns:a16="http://schemas.microsoft.com/office/drawing/2014/main" id="{D0A3711E-92C0-E46D-741D-4D9D3ADAAAA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173707" y="405382"/>
              <a:ext cx="2384890" cy="796233"/>
            </a:xfrm>
            <a:prstGeom prst="rect">
              <a:avLst/>
            </a:prstGeom>
          </p:spPr>
        </p:pic>
        <p:sp>
          <p:nvSpPr>
            <p:cNvPr id="54" name="矩形 53">
              <a:extLst>
                <a:ext uri="{FF2B5EF4-FFF2-40B4-BE49-F238E27FC236}">
                  <a16:creationId xmlns:a16="http://schemas.microsoft.com/office/drawing/2014/main" id="{951DC2B3-2CB5-B4CD-5A95-246CCBA39FAC}"/>
                </a:ext>
              </a:extLst>
            </p:cNvPr>
            <p:cNvSpPr/>
            <p:nvPr/>
          </p:nvSpPr>
          <p:spPr>
            <a:xfrm>
              <a:off x="2069306" y="1138524"/>
              <a:ext cx="2585359" cy="46048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rPr>
                <a:t>NANJING UNIVERSITY</a:t>
              </a:r>
              <a:endParaRPr kumimoji="0" lang="zh-CN" altLang="en-US" sz="105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endParaRPr>
            </a:p>
          </p:txBody>
        </p:sp>
      </p:grpSp>
      <p:sp>
        <p:nvSpPr>
          <p:cNvPr id="31" name="íŝḷïḓè">
            <a:extLst>
              <a:ext uri="{FF2B5EF4-FFF2-40B4-BE49-F238E27FC236}">
                <a16:creationId xmlns:a16="http://schemas.microsoft.com/office/drawing/2014/main" id="{71373F92-6C5D-4576-46EB-E6C70526C1A7}"/>
              </a:ext>
            </a:extLst>
          </p:cNvPr>
          <p:cNvSpPr/>
          <p:nvPr/>
        </p:nvSpPr>
        <p:spPr bwMode="auto">
          <a:xfrm>
            <a:off x="5828824" y="4147130"/>
            <a:ext cx="338337" cy="366161"/>
          </a:xfrm>
          <a:custGeom>
            <a:avLst/>
            <a:gdLst>
              <a:gd name="connsiteX0" fmla="*/ 327780 w 561933"/>
              <a:gd name="connsiteY0" fmla="*/ 406780 h 608145"/>
              <a:gd name="connsiteX1" fmla="*/ 285069 w 561933"/>
              <a:gd name="connsiteY1" fmla="*/ 449434 h 608145"/>
              <a:gd name="connsiteX2" fmla="*/ 327780 w 561933"/>
              <a:gd name="connsiteY2" fmla="*/ 492088 h 608145"/>
              <a:gd name="connsiteX3" fmla="*/ 370490 w 561933"/>
              <a:gd name="connsiteY3" fmla="*/ 449434 h 608145"/>
              <a:gd name="connsiteX4" fmla="*/ 327780 w 561933"/>
              <a:gd name="connsiteY4" fmla="*/ 406780 h 608145"/>
              <a:gd name="connsiteX5" fmla="*/ 91381 w 561933"/>
              <a:gd name="connsiteY5" fmla="*/ 406780 h 608145"/>
              <a:gd name="connsiteX6" fmla="*/ 49664 w 561933"/>
              <a:gd name="connsiteY6" fmla="*/ 449434 h 608145"/>
              <a:gd name="connsiteX7" fmla="*/ 91381 w 561933"/>
              <a:gd name="connsiteY7" fmla="*/ 492088 h 608145"/>
              <a:gd name="connsiteX8" fmla="*/ 134092 w 561933"/>
              <a:gd name="connsiteY8" fmla="*/ 449434 h 608145"/>
              <a:gd name="connsiteX9" fmla="*/ 91381 w 561933"/>
              <a:gd name="connsiteY9" fmla="*/ 406780 h 608145"/>
              <a:gd name="connsiteX10" fmla="*/ 130119 w 561933"/>
              <a:gd name="connsiteY10" fmla="*/ 162762 h 608145"/>
              <a:gd name="connsiteX11" fmla="*/ 50657 w 561933"/>
              <a:gd name="connsiteY11" fmla="*/ 243110 h 608145"/>
              <a:gd name="connsiteX12" fmla="*/ 50657 w 561933"/>
              <a:gd name="connsiteY12" fmla="*/ 312546 h 608145"/>
              <a:gd name="connsiteX13" fmla="*/ 78468 w 561933"/>
              <a:gd name="connsiteY13" fmla="*/ 341312 h 608145"/>
              <a:gd name="connsiteX14" fmla="*/ 340692 w 561933"/>
              <a:gd name="connsiteY14" fmla="*/ 341312 h 608145"/>
              <a:gd name="connsiteX15" fmla="*/ 369497 w 561933"/>
              <a:gd name="connsiteY15" fmla="*/ 312546 h 608145"/>
              <a:gd name="connsiteX16" fmla="*/ 369497 w 561933"/>
              <a:gd name="connsiteY16" fmla="*/ 243110 h 608145"/>
              <a:gd name="connsiteX17" fmla="*/ 289042 w 561933"/>
              <a:gd name="connsiteY17" fmla="*/ 162762 h 608145"/>
              <a:gd name="connsiteX18" fmla="*/ 127139 w 561933"/>
              <a:gd name="connsiteY18" fmla="*/ 99278 h 608145"/>
              <a:gd name="connsiteX19" fmla="*/ 293015 w 561933"/>
              <a:gd name="connsiteY19" fmla="*/ 99278 h 608145"/>
              <a:gd name="connsiteX20" fmla="*/ 420154 w 561933"/>
              <a:gd name="connsiteY20" fmla="*/ 226247 h 608145"/>
              <a:gd name="connsiteX21" fmla="*/ 420154 w 561933"/>
              <a:gd name="connsiteY21" fmla="*/ 486136 h 608145"/>
              <a:gd name="connsiteX22" fmla="*/ 382410 w 561933"/>
              <a:gd name="connsiteY22" fmla="*/ 541685 h 608145"/>
              <a:gd name="connsiteX23" fmla="*/ 382410 w 561933"/>
              <a:gd name="connsiteY23" fmla="*/ 561524 h 608145"/>
              <a:gd name="connsiteX24" fmla="*/ 334733 w 561933"/>
              <a:gd name="connsiteY24" fmla="*/ 608145 h 608145"/>
              <a:gd name="connsiteX25" fmla="*/ 326786 w 561933"/>
              <a:gd name="connsiteY25" fmla="*/ 608145 h 608145"/>
              <a:gd name="connsiteX26" fmla="*/ 280103 w 561933"/>
              <a:gd name="connsiteY26" fmla="*/ 561524 h 608145"/>
              <a:gd name="connsiteX27" fmla="*/ 280103 w 561933"/>
              <a:gd name="connsiteY27" fmla="*/ 544661 h 608145"/>
              <a:gd name="connsiteX28" fmla="*/ 140051 w 561933"/>
              <a:gd name="connsiteY28" fmla="*/ 544661 h 608145"/>
              <a:gd name="connsiteX29" fmla="*/ 140051 w 561933"/>
              <a:gd name="connsiteY29" fmla="*/ 561524 h 608145"/>
              <a:gd name="connsiteX30" fmla="*/ 92374 w 561933"/>
              <a:gd name="connsiteY30" fmla="*/ 608145 h 608145"/>
              <a:gd name="connsiteX31" fmla="*/ 84428 w 561933"/>
              <a:gd name="connsiteY31" fmla="*/ 608145 h 608145"/>
              <a:gd name="connsiteX32" fmla="*/ 37744 w 561933"/>
              <a:gd name="connsiteY32" fmla="*/ 561524 h 608145"/>
              <a:gd name="connsiteX33" fmla="*/ 37744 w 561933"/>
              <a:gd name="connsiteY33" fmla="*/ 541685 h 608145"/>
              <a:gd name="connsiteX34" fmla="*/ 0 w 561933"/>
              <a:gd name="connsiteY34" fmla="*/ 486136 h 608145"/>
              <a:gd name="connsiteX35" fmla="*/ 0 w 561933"/>
              <a:gd name="connsiteY35" fmla="*/ 226247 h 608145"/>
              <a:gd name="connsiteX36" fmla="*/ 127139 w 561933"/>
              <a:gd name="connsiteY36" fmla="*/ 99278 h 608145"/>
              <a:gd name="connsiteX37" fmla="*/ 408232 w 561933"/>
              <a:gd name="connsiteY37" fmla="*/ 74504 h 608145"/>
              <a:gd name="connsiteX38" fmla="*/ 424139 w 561933"/>
              <a:gd name="connsiteY38" fmla="*/ 75495 h 608145"/>
              <a:gd name="connsiteX39" fmla="*/ 486772 w 561933"/>
              <a:gd name="connsiteY39" fmla="*/ 185587 h 608145"/>
              <a:gd name="connsiteX40" fmla="*/ 479813 w 561933"/>
              <a:gd name="connsiteY40" fmla="*/ 199473 h 608145"/>
              <a:gd name="connsiteX41" fmla="*/ 464901 w 561933"/>
              <a:gd name="connsiteY41" fmla="*/ 202448 h 608145"/>
              <a:gd name="connsiteX42" fmla="*/ 462912 w 561933"/>
              <a:gd name="connsiteY42" fmla="*/ 201456 h 608145"/>
              <a:gd name="connsiteX43" fmla="*/ 448994 w 561933"/>
              <a:gd name="connsiteY43" fmla="*/ 183604 h 608145"/>
              <a:gd name="connsiteX44" fmla="*/ 406244 w 561933"/>
              <a:gd name="connsiteY44" fmla="*/ 109217 h 608145"/>
              <a:gd name="connsiteX45" fmla="*/ 397296 w 561933"/>
              <a:gd name="connsiteY45" fmla="*/ 89381 h 608145"/>
              <a:gd name="connsiteX46" fmla="*/ 398291 w 561933"/>
              <a:gd name="connsiteY46" fmla="*/ 87397 h 608145"/>
              <a:gd name="connsiteX47" fmla="*/ 408232 w 561933"/>
              <a:gd name="connsiteY47" fmla="*/ 74504 h 608145"/>
              <a:gd name="connsiteX48" fmla="*/ 439969 w 561933"/>
              <a:gd name="connsiteY48" fmla="*/ 1081 h 608145"/>
              <a:gd name="connsiteX49" fmla="*/ 560176 w 561933"/>
              <a:gd name="connsiteY49" fmla="*/ 205408 h 608145"/>
              <a:gd name="connsiteX50" fmla="*/ 552228 w 561933"/>
              <a:gd name="connsiteY50" fmla="*/ 217311 h 608145"/>
              <a:gd name="connsiteX51" fmla="*/ 537326 w 561933"/>
              <a:gd name="connsiteY51" fmla="*/ 220286 h 608145"/>
              <a:gd name="connsiteX52" fmla="*/ 535340 w 561933"/>
              <a:gd name="connsiteY52" fmla="*/ 219294 h 608145"/>
              <a:gd name="connsiteX53" fmla="*/ 522425 w 561933"/>
              <a:gd name="connsiteY53" fmla="*/ 199457 h 608145"/>
              <a:gd name="connsiteX54" fmla="*/ 426061 w 561933"/>
              <a:gd name="connsiteY54" fmla="*/ 36788 h 608145"/>
              <a:gd name="connsiteX55" fmla="*/ 416126 w 561933"/>
              <a:gd name="connsiteY55" fmla="*/ 15959 h 608145"/>
              <a:gd name="connsiteX56" fmla="*/ 416126 w 561933"/>
              <a:gd name="connsiteY56" fmla="*/ 13975 h 608145"/>
              <a:gd name="connsiteX57" fmla="*/ 425067 w 561933"/>
              <a:gd name="connsiteY57" fmla="*/ 2073 h 608145"/>
              <a:gd name="connsiteX58" fmla="*/ 439969 w 561933"/>
              <a:gd name="connsiteY58" fmla="*/ 1081 h 608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61933" h="608145">
                <a:moveTo>
                  <a:pt x="327780" y="406780"/>
                </a:moveTo>
                <a:cubicBezTo>
                  <a:pt x="303941" y="406780"/>
                  <a:pt x="285069" y="425627"/>
                  <a:pt x="285069" y="449434"/>
                </a:cubicBezTo>
                <a:cubicBezTo>
                  <a:pt x="285069" y="473241"/>
                  <a:pt x="303941" y="492088"/>
                  <a:pt x="327780" y="492088"/>
                </a:cubicBezTo>
                <a:cubicBezTo>
                  <a:pt x="350625" y="492088"/>
                  <a:pt x="370490" y="473241"/>
                  <a:pt x="370490" y="449434"/>
                </a:cubicBezTo>
                <a:cubicBezTo>
                  <a:pt x="370490" y="425627"/>
                  <a:pt x="350625" y="406780"/>
                  <a:pt x="327780" y="406780"/>
                </a:cubicBezTo>
                <a:close/>
                <a:moveTo>
                  <a:pt x="91381" y="406780"/>
                </a:moveTo>
                <a:cubicBezTo>
                  <a:pt x="68536" y="406780"/>
                  <a:pt x="49664" y="425627"/>
                  <a:pt x="49664" y="449434"/>
                </a:cubicBezTo>
                <a:cubicBezTo>
                  <a:pt x="49664" y="473241"/>
                  <a:pt x="68536" y="492088"/>
                  <a:pt x="91381" y="492088"/>
                </a:cubicBezTo>
                <a:cubicBezTo>
                  <a:pt x="115220" y="492088"/>
                  <a:pt x="134092" y="473241"/>
                  <a:pt x="134092" y="449434"/>
                </a:cubicBezTo>
                <a:cubicBezTo>
                  <a:pt x="134092" y="425627"/>
                  <a:pt x="115220" y="406780"/>
                  <a:pt x="91381" y="406780"/>
                </a:cubicBezTo>
                <a:close/>
                <a:moveTo>
                  <a:pt x="130119" y="162762"/>
                </a:moveTo>
                <a:cubicBezTo>
                  <a:pt x="86415" y="162762"/>
                  <a:pt x="50657" y="198472"/>
                  <a:pt x="50657" y="243110"/>
                </a:cubicBezTo>
                <a:lnTo>
                  <a:pt x="50657" y="312546"/>
                </a:lnTo>
                <a:cubicBezTo>
                  <a:pt x="50657" y="328417"/>
                  <a:pt x="62576" y="341312"/>
                  <a:pt x="78468" y="341312"/>
                </a:cubicBezTo>
                <a:lnTo>
                  <a:pt x="340692" y="341312"/>
                </a:lnTo>
                <a:cubicBezTo>
                  <a:pt x="356585" y="341312"/>
                  <a:pt x="369497" y="328417"/>
                  <a:pt x="369497" y="312546"/>
                </a:cubicBezTo>
                <a:lnTo>
                  <a:pt x="369497" y="243110"/>
                </a:lnTo>
                <a:cubicBezTo>
                  <a:pt x="369497" y="198472"/>
                  <a:pt x="332746" y="162762"/>
                  <a:pt x="289042" y="162762"/>
                </a:cubicBezTo>
                <a:close/>
                <a:moveTo>
                  <a:pt x="127139" y="99278"/>
                </a:moveTo>
                <a:lnTo>
                  <a:pt x="293015" y="99278"/>
                </a:lnTo>
                <a:cubicBezTo>
                  <a:pt x="363538" y="99278"/>
                  <a:pt x="420154" y="155819"/>
                  <a:pt x="420154" y="226247"/>
                </a:cubicBezTo>
                <a:lnTo>
                  <a:pt x="420154" y="486136"/>
                </a:lnTo>
                <a:cubicBezTo>
                  <a:pt x="420154" y="511926"/>
                  <a:pt x="404262" y="532757"/>
                  <a:pt x="382410" y="541685"/>
                </a:cubicBezTo>
                <a:lnTo>
                  <a:pt x="382410" y="561524"/>
                </a:lnTo>
                <a:cubicBezTo>
                  <a:pt x="382410" y="587314"/>
                  <a:pt x="360558" y="608145"/>
                  <a:pt x="334733" y="608145"/>
                </a:cubicBezTo>
                <a:lnTo>
                  <a:pt x="326786" y="608145"/>
                </a:lnTo>
                <a:cubicBezTo>
                  <a:pt x="300961" y="608145"/>
                  <a:pt x="280103" y="587314"/>
                  <a:pt x="280103" y="561524"/>
                </a:cubicBezTo>
                <a:lnTo>
                  <a:pt x="280103" y="544661"/>
                </a:lnTo>
                <a:lnTo>
                  <a:pt x="140051" y="544661"/>
                </a:lnTo>
                <a:lnTo>
                  <a:pt x="140051" y="561524"/>
                </a:lnTo>
                <a:cubicBezTo>
                  <a:pt x="140051" y="587314"/>
                  <a:pt x="118199" y="608145"/>
                  <a:pt x="92374" y="608145"/>
                </a:cubicBezTo>
                <a:lnTo>
                  <a:pt x="84428" y="608145"/>
                </a:lnTo>
                <a:cubicBezTo>
                  <a:pt x="58603" y="608145"/>
                  <a:pt x="37744" y="587314"/>
                  <a:pt x="37744" y="561524"/>
                </a:cubicBezTo>
                <a:lnTo>
                  <a:pt x="37744" y="541685"/>
                </a:lnTo>
                <a:cubicBezTo>
                  <a:pt x="14899" y="532757"/>
                  <a:pt x="0" y="511926"/>
                  <a:pt x="0" y="486136"/>
                </a:cubicBezTo>
                <a:lnTo>
                  <a:pt x="0" y="226247"/>
                </a:lnTo>
                <a:cubicBezTo>
                  <a:pt x="0" y="155819"/>
                  <a:pt x="56616" y="99278"/>
                  <a:pt x="127139" y="99278"/>
                </a:cubicBezTo>
                <a:close/>
                <a:moveTo>
                  <a:pt x="408232" y="74504"/>
                </a:moveTo>
                <a:cubicBezTo>
                  <a:pt x="413203" y="72520"/>
                  <a:pt x="419168" y="72520"/>
                  <a:pt x="424139" y="75495"/>
                </a:cubicBezTo>
                <a:cubicBezTo>
                  <a:pt x="464901" y="96324"/>
                  <a:pt x="489755" y="139964"/>
                  <a:pt x="486772" y="185587"/>
                </a:cubicBezTo>
                <a:cubicBezTo>
                  <a:pt x="486772" y="190546"/>
                  <a:pt x="483790" y="195505"/>
                  <a:pt x="479813" y="199473"/>
                </a:cubicBezTo>
                <a:cubicBezTo>
                  <a:pt x="475836" y="202448"/>
                  <a:pt x="469871" y="203440"/>
                  <a:pt x="464901" y="202448"/>
                </a:cubicBezTo>
                <a:lnTo>
                  <a:pt x="462912" y="201456"/>
                </a:lnTo>
                <a:cubicBezTo>
                  <a:pt x="453965" y="199473"/>
                  <a:pt x="448994" y="191538"/>
                  <a:pt x="448994" y="183604"/>
                </a:cubicBezTo>
                <a:cubicBezTo>
                  <a:pt x="450982" y="152857"/>
                  <a:pt x="434081" y="123103"/>
                  <a:pt x="406244" y="109217"/>
                </a:cubicBezTo>
                <a:cubicBezTo>
                  <a:pt x="399285" y="105250"/>
                  <a:pt x="395308" y="97315"/>
                  <a:pt x="397296" y="89381"/>
                </a:cubicBezTo>
                <a:lnTo>
                  <a:pt x="398291" y="87397"/>
                </a:lnTo>
                <a:cubicBezTo>
                  <a:pt x="399285" y="81446"/>
                  <a:pt x="403261" y="77479"/>
                  <a:pt x="408232" y="74504"/>
                </a:cubicBezTo>
                <a:close/>
                <a:moveTo>
                  <a:pt x="439969" y="1081"/>
                </a:moveTo>
                <a:cubicBezTo>
                  <a:pt x="522425" y="32821"/>
                  <a:pt x="572097" y="118123"/>
                  <a:pt x="560176" y="205408"/>
                </a:cubicBezTo>
                <a:cubicBezTo>
                  <a:pt x="559182" y="210367"/>
                  <a:pt x="556202" y="214335"/>
                  <a:pt x="552228" y="217311"/>
                </a:cubicBezTo>
                <a:cubicBezTo>
                  <a:pt x="548254" y="220286"/>
                  <a:pt x="542294" y="221278"/>
                  <a:pt x="537326" y="220286"/>
                </a:cubicBezTo>
                <a:lnTo>
                  <a:pt x="535340" y="219294"/>
                </a:lnTo>
                <a:cubicBezTo>
                  <a:pt x="526399" y="217311"/>
                  <a:pt x="520438" y="208384"/>
                  <a:pt x="522425" y="199457"/>
                </a:cubicBezTo>
                <a:cubicBezTo>
                  <a:pt x="531366" y="130025"/>
                  <a:pt x="491628" y="62577"/>
                  <a:pt x="426061" y="36788"/>
                </a:cubicBezTo>
                <a:cubicBezTo>
                  <a:pt x="418113" y="33813"/>
                  <a:pt x="413146" y="24886"/>
                  <a:pt x="416126" y="15959"/>
                </a:cubicBezTo>
                <a:lnTo>
                  <a:pt x="416126" y="13975"/>
                </a:lnTo>
                <a:cubicBezTo>
                  <a:pt x="417120" y="9016"/>
                  <a:pt x="421094" y="4056"/>
                  <a:pt x="425067" y="2073"/>
                </a:cubicBezTo>
                <a:cubicBezTo>
                  <a:pt x="430035" y="89"/>
                  <a:pt x="435002" y="-903"/>
                  <a:pt x="439969" y="1081"/>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endParaRPr lang="zh-CN" altLang="en-US">
              <a:solidFill>
                <a:srgbClr val="000000"/>
              </a:solidFill>
              <a:latin typeface="Arial" panose="020F0502020204030204"/>
              <a:ea typeface="微软雅黑"/>
              <a:cs typeface="+mn-ea"/>
              <a:sym typeface="+mn-lt"/>
            </a:endParaRPr>
          </a:p>
        </p:txBody>
      </p:sp>
      <p:sp>
        <p:nvSpPr>
          <p:cNvPr id="42" name="ïslíḓé">
            <a:extLst>
              <a:ext uri="{FF2B5EF4-FFF2-40B4-BE49-F238E27FC236}">
                <a16:creationId xmlns:a16="http://schemas.microsoft.com/office/drawing/2014/main" id="{58C1394A-BCD1-1310-E6C0-72B2062A635F}"/>
              </a:ext>
            </a:extLst>
          </p:cNvPr>
          <p:cNvSpPr/>
          <p:nvPr/>
        </p:nvSpPr>
        <p:spPr bwMode="auto">
          <a:xfrm>
            <a:off x="5815461" y="5339493"/>
            <a:ext cx="363264" cy="320996"/>
          </a:xfrm>
          <a:custGeom>
            <a:avLst/>
            <a:gdLst>
              <a:gd name="connsiteX0" fmla="*/ 494452 w 603405"/>
              <a:gd name="connsiteY0" fmla="*/ 356003 h 533193"/>
              <a:gd name="connsiteX1" fmla="*/ 585270 w 603405"/>
              <a:gd name="connsiteY1" fmla="*/ 356003 h 533193"/>
              <a:gd name="connsiteX2" fmla="*/ 601782 w 603405"/>
              <a:gd name="connsiteY2" fmla="*/ 372480 h 533193"/>
              <a:gd name="connsiteX3" fmla="*/ 585270 w 603405"/>
              <a:gd name="connsiteY3" fmla="*/ 388957 h 533193"/>
              <a:gd name="connsiteX4" fmla="*/ 494452 w 603405"/>
              <a:gd name="connsiteY4" fmla="*/ 388957 h 533193"/>
              <a:gd name="connsiteX5" fmla="*/ 367511 w 603405"/>
              <a:gd name="connsiteY5" fmla="*/ 244227 h 533193"/>
              <a:gd name="connsiteX6" fmla="*/ 443780 w 603405"/>
              <a:gd name="connsiteY6" fmla="*/ 244227 h 533193"/>
              <a:gd name="connsiteX7" fmla="*/ 477411 w 603405"/>
              <a:gd name="connsiteY7" fmla="*/ 277633 h 533193"/>
              <a:gd name="connsiteX8" fmla="*/ 477861 w 603405"/>
              <a:gd name="connsiteY8" fmla="*/ 381744 h 533193"/>
              <a:gd name="connsiteX9" fmla="*/ 463748 w 603405"/>
              <a:gd name="connsiteY9" fmla="*/ 395975 h 533193"/>
              <a:gd name="connsiteX10" fmla="*/ 449486 w 603405"/>
              <a:gd name="connsiteY10" fmla="*/ 381894 h 533193"/>
              <a:gd name="connsiteX11" fmla="*/ 449035 w 603405"/>
              <a:gd name="connsiteY11" fmla="*/ 277782 h 533193"/>
              <a:gd name="connsiteX12" fmla="*/ 446033 w 603405"/>
              <a:gd name="connsiteY12" fmla="*/ 274786 h 533193"/>
              <a:gd name="connsiteX13" fmla="*/ 443030 w 603405"/>
              <a:gd name="connsiteY13" fmla="*/ 277782 h 533193"/>
              <a:gd name="connsiteX14" fmla="*/ 443330 w 603405"/>
              <a:gd name="connsiteY14" fmla="*/ 516116 h 533193"/>
              <a:gd name="connsiteX15" fmla="*/ 426215 w 603405"/>
              <a:gd name="connsiteY15" fmla="*/ 533193 h 533193"/>
              <a:gd name="connsiteX16" fmla="*/ 409249 w 603405"/>
              <a:gd name="connsiteY16" fmla="*/ 516116 h 533193"/>
              <a:gd name="connsiteX17" fmla="*/ 409249 w 603405"/>
              <a:gd name="connsiteY17" fmla="*/ 380096 h 533193"/>
              <a:gd name="connsiteX18" fmla="*/ 401893 w 603405"/>
              <a:gd name="connsiteY18" fmla="*/ 380096 h 533193"/>
              <a:gd name="connsiteX19" fmla="*/ 401893 w 603405"/>
              <a:gd name="connsiteY19" fmla="*/ 516116 h 533193"/>
              <a:gd name="connsiteX20" fmla="*/ 384778 w 603405"/>
              <a:gd name="connsiteY20" fmla="*/ 533193 h 533193"/>
              <a:gd name="connsiteX21" fmla="*/ 367812 w 603405"/>
              <a:gd name="connsiteY21" fmla="*/ 516116 h 533193"/>
              <a:gd name="connsiteX22" fmla="*/ 367812 w 603405"/>
              <a:gd name="connsiteY22" fmla="*/ 380096 h 533193"/>
              <a:gd name="connsiteX23" fmla="*/ 367812 w 603405"/>
              <a:gd name="connsiteY23" fmla="*/ 277782 h 533193"/>
              <a:gd name="connsiteX24" fmla="*/ 364959 w 603405"/>
              <a:gd name="connsiteY24" fmla="*/ 274936 h 533193"/>
              <a:gd name="connsiteX25" fmla="*/ 362257 w 603405"/>
              <a:gd name="connsiteY25" fmla="*/ 277782 h 533193"/>
              <a:gd name="connsiteX26" fmla="*/ 361656 w 603405"/>
              <a:gd name="connsiteY26" fmla="*/ 381894 h 533193"/>
              <a:gd name="connsiteX27" fmla="*/ 347544 w 603405"/>
              <a:gd name="connsiteY27" fmla="*/ 395975 h 533193"/>
              <a:gd name="connsiteX28" fmla="*/ 347393 w 603405"/>
              <a:gd name="connsiteY28" fmla="*/ 395975 h 533193"/>
              <a:gd name="connsiteX29" fmla="*/ 333281 w 603405"/>
              <a:gd name="connsiteY29" fmla="*/ 381744 h 533193"/>
              <a:gd name="connsiteX30" fmla="*/ 333881 w 603405"/>
              <a:gd name="connsiteY30" fmla="*/ 277633 h 533193"/>
              <a:gd name="connsiteX31" fmla="*/ 367511 w 603405"/>
              <a:gd name="connsiteY31" fmla="*/ 244227 h 533193"/>
              <a:gd name="connsiteX32" fmla="*/ 201525 w 603405"/>
              <a:gd name="connsiteY32" fmla="*/ 244227 h 533193"/>
              <a:gd name="connsiteX33" fmla="*/ 277906 w 603405"/>
              <a:gd name="connsiteY33" fmla="*/ 244227 h 533193"/>
              <a:gd name="connsiteX34" fmla="*/ 311520 w 603405"/>
              <a:gd name="connsiteY34" fmla="*/ 277633 h 533193"/>
              <a:gd name="connsiteX35" fmla="*/ 311970 w 603405"/>
              <a:gd name="connsiteY35" fmla="*/ 381744 h 533193"/>
              <a:gd name="connsiteX36" fmla="*/ 297864 w 603405"/>
              <a:gd name="connsiteY36" fmla="*/ 395975 h 533193"/>
              <a:gd name="connsiteX37" fmla="*/ 297714 w 603405"/>
              <a:gd name="connsiteY37" fmla="*/ 395975 h 533193"/>
              <a:gd name="connsiteX38" fmla="*/ 283608 w 603405"/>
              <a:gd name="connsiteY38" fmla="*/ 381894 h 533193"/>
              <a:gd name="connsiteX39" fmla="*/ 283008 w 603405"/>
              <a:gd name="connsiteY39" fmla="*/ 277782 h 533193"/>
              <a:gd name="connsiteX40" fmla="*/ 280007 w 603405"/>
              <a:gd name="connsiteY40" fmla="*/ 274786 h 533193"/>
              <a:gd name="connsiteX41" fmla="*/ 277156 w 603405"/>
              <a:gd name="connsiteY41" fmla="*/ 277782 h 533193"/>
              <a:gd name="connsiteX42" fmla="*/ 277456 w 603405"/>
              <a:gd name="connsiteY42" fmla="*/ 516116 h 533193"/>
              <a:gd name="connsiteX43" fmla="*/ 260349 w 603405"/>
              <a:gd name="connsiteY43" fmla="*/ 533193 h 533193"/>
              <a:gd name="connsiteX44" fmla="*/ 243242 w 603405"/>
              <a:gd name="connsiteY44" fmla="*/ 516116 h 533193"/>
              <a:gd name="connsiteX45" fmla="*/ 243242 w 603405"/>
              <a:gd name="connsiteY45" fmla="*/ 380096 h 533193"/>
              <a:gd name="connsiteX46" fmla="*/ 235889 w 603405"/>
              <a:gd name="connsiteY46" fmla="*/ 380096 h 533193"/>
              <a:gd name="connsiteX47" fmla="*/ 235889 w 603405"/>
              <a:gd name="connsiteY47" fmla="*/ 516116 h 533193"/>
              <a:gd name="connsiteX48" fmla="*/ 218932 w 603405"/>
              <a:gd name="connsiteY48" fmla="*/ 533193 h 533193"/>
              <a:gd name="connsiteX49" fmla="*/ 201825 w 603405"/>
              <a:gd name="connsiteY49" fmla="*/ 516116 h 533193"/>
              <a:gd name="connsiteX50" fmla="*/ 201825 w 603405"/>
              <a:gd name="connsiteY50" fmla="*/ 380096 h 533193"/>
              <a:gd name="connsiteX51" fmla="*/ 201825 w 603405"/>
              <a:gd name="connsiteY51" fmla="*/ 277782 h 533193"/>
              <a:gd name="connsiteX52" fmla="*/ 199124 w 603405"/>
              <a:gd name="connsiteY52" fmla="*/ 274936 h 533193"/>
              <a:gd name="connsiteX53" fmla="*/ 196423 w 603405"/>
              <a:gd name="connsiteY53" fmla="*/ 277782 h 533193"/>
              <a:gd name="connsiteX54" fmla="*/ 195822 w 603405"/>
              <a:gd name="connsiteY54" fmla="*/ 381894 h 533193"/>
              <a:gd name="connsiteX55" fmla="*/ 181567 w 603405"/>
              <a:gd name="connsiteY55" fmla="*/ 395975 h 533193"/>
              <a:gd name="connsiteX56" fmla="*/ 167461 w 603405"/>
              <a:gd name="connsiteY56" fmla="*/ 381744 h 533193"/>
              <a:gd name="connsiteX57" fmla="*/ 167911 w 603405"/>
              <a:gd name="connsiteY57" fmla="*/ 277633 h 533193"/>
              <a:gd name="connsiteX58" fmla="*/ 201525 w 603405"/>
              <a:gd name="connsiteY58" fmla="*/ 244227 h 533193"/>
              <a:gd name="connsiteX59" fmla="*/ 34214 w 603405"/>
              <a:gd name="connsiteY59" fmla="*/ 244227 h 533193"/>
              <a:gd name="connsiteX60" fmla="*/ 110445 w 603405"/>
              <a:gd name="connsiteY60" fmla="*/ 244227 h 533193"/>
              <a:gd name="connsiteX61" fmla="*/ 144059 w 603405"/>
              <a:gd name="connsiteY61" fmla="*/ 277633 h 533193"/>
              <a:gd name="connsiteX62" fmla="*/ 144509 w 603405"/>
              <a:gd name="connsiteY62" fmla="*/ 381744 h 533193"/>
              <a:gd name="connsiteX63" fmla="*/ 130403 w 603405"/>
              <a:gd name="connsiteY63" fmla="*/ 395975 h 533193"/>
              <a:gd name="connsiteX64" fmla="*/ 116147 w 603405"/>
              <a:gd name="connsiteY64" fmla="*/ 381894 h 533193"/>
              <a:gd name="connsiteX65" fmla="*/ 115697 w 603405"/>
              <a:gd name="connsiteY65" fmla="*/ 277782 h 533193"/>
              <a:gd name="connsiteX66" fmla="*/ 112696 w 603405"/>
              <a:gd name="connsiteY66" fmla="*/ 274786 h 533193"/>
              <a:gd name="connsiteX67" fmla="*/ 109694 w 603405"/>
              <a:gd name="connsiteY67" fmla="*/ 277782 h 533193"/>
              <a:gd name="connsiteX68" fmla="*/ 109995 w 603405"/>
              <a:gd name="connsiteY68" fmla="*/ 516116 h 533193"/>
              <a:gd name="connsiteX69" fmla="*/ 92888 w 603405"/>
              <a:gd name="connsiteY69" fmla="*/ 533193 h 533193"/>
              <a:gd name="connsiteX70" fmla="*/ 75931 w 603405"/>
              <a:gd name="connsiteY70" fmla="*/ 516116 h 533193"/>
              <a:gd name="connsiteX71" fmla="*/ 75931 w 603405"/>
              <a:gd name="connsiteY71" fmla="*/ 380096 h 533193"/>
              <a:gd name="connsiteX72" fmla="*/ 68578 w 603405"/>
              <a:gd name="connsiteY72" fmla="*/ 380096 h 533193"/>
              <a:gd name="connsiteX73" fmla="*/ 68578 w 603405"/>
              <a:gd name="connsiteY73" fmla="*/ 516116 h 533193"/>
              <a:gd name="connsiteX74" fmla="*/ 51471 w 603405"/>
              <a:gd name="connsiteY74" fmla="*/ 533193 h 533193"/>
              <a:gd name="connsiteX75" fmla="*/ 34364 w 603405"/>
              <a:gd name="connsiteY75" fmla="*/ 516116 h 533193"/>
              <a:gd name="connsiteX76" fmla="*/ 34364 w 603405"/>
              <a:gd name="connsiteY76" fmla="*/ 380096 h 533193"/>
              <a:gd name="connsiteX77" fmla="*/ 34364 w 603405"/>
              <a:gd name="connsiteY77" fmla="*/ 277782 h 533193"/>
              <a:gd name="connsiteX78" fmla="*/ 31663 w 603405"/>
              <a:gd name="connsiteY78" fmla="*/ 275086 h 533193"/>
              <a:gd name="connsiteX79" fmla="*/ 28962 w 603405"/>
              <a:gd name="connsiteY79" fmla="*/ 277782 h 533193"/>
              <a:gd name="connsiteX80" fmla="*/ 28361 w 603405"/>
              <a:gd name="connsiteY80" fmla="*/ 381894 h 533193"/>
              <a:gd name="connsiteX81" fmla="*/ 14256 w 603405"/>
              <a:gd name="connsiteY81" fmla="*/ 395975 h 533193"/>
              <a:gd name="connsiteX82" fmla="*/ 14106 w 603405"/>
              <a:gd name="connsiteY82" fmla="*/ 395975 h 533193"/>
              <a:gd name="connsiteX83" fmla="*/ 0 w 603405"/>
              <a:gd name="connsiteY83" fmla="*/ 381744 h 533193"/>
              <a:gd name="connsiteX84" fmla="*/ 600 w 603405"/>
              <a:gd name="connsiteY84" fmla="*/ 277633 h 533193"/>
              <a:gd name="connsiteX85" fmla="*/ 34214 w 603405"/>
              <a:gd name="connsiteY85" fmla="*/ 244227 h 533193"/>
              <a:gd name="connsiteX86" fmla="*/ 298774 w 603405"/>
              <a:gd name="connsiteY86" fmla="*/ 232090 h 533193"/>
              <a:gd name="connsiteX87" fmla="*/ 346547 w 603405"/>
              <a:gd name="connsiteY87" fmla="*/ 232090 h 533193"/>
              <a:gd name="connsiteX88" fmla="*/ 322660 w 603405"/>
              <a:gd name="connsiteY88" fmla="*/ 254883 h 533193"/>
              <a:gd name="connsiteX89" fmla="*/ 298774 w 603405"/>
              <a:gd name="connsiteY89" fmla="*/ 232090 h 533193"/>
              <a:gd name="connsiteX90" fmla="*/ 405716 w 603405"/>
              <a:gd name="connsiteY90" fmla="*/ 176061 h 533193"/>
              <a:gd name="connsiteX91" fmla="*/ 435177 w 603405"/>
              <a:gd name="connsiteY91" fmla="*/ 205417 h 533193"/>
              <a:gd name="connsiteX92" fmla="*/ 405716 w 603405"/>
              <a:gd name="connsiteY92" fmla="*/ 234773 h 533193"/>
              <a:gd name="connsiteX93" fmla="*/ 376255 w 603405"/>
              <a:gd name="connsiteY93" fmla="*/ 205417 h 533193"/>
              <a:gd name="connsiteX94" fmla="*/ 405716 w 603405"/>
              <a:gd name="connsiteY94" fmla="*/ 176061 h 533193"/>
              <a:gd name="connsiteX95" fmla="*/ 239817 w 603405"/>
              <a:gd name="connsiteY95" fmla="*/ 176061 h 533193"/>
              <a:gd name="connsiteX96" fmla="*/ 269208 w 603405"/>
              <a:gd name="connsiteY96" fmla="*/ 205417 h 533193"/>
              <a:gd name="connsiteX97" fmla="*/ 239817 w 603405"/>
              <a:gd name="connsiteY97" fmla="*/ 234773 h 533193"/>
              <a:gd name="connsiteX98" fmla="*/ 210426 w 603405"/>
              <a:gd name="connsiteY98" fmla="*/ 205417 h 533193"/>
              <a:gd name="connsiteX99" fmla="*/ 239817 w 603405"/>
              <a:gd name="connsiteY99" fmla="*/ 176061 h 533193"/>
              <a:gd name="connsiteX100" fmla="*/ 72325 w 603405"/>
              <a:gd name="connsiteY100" fmla="*/ 176061 h 533193"/>
              <a:gd name="connsiteX101" fmla="*/ 101897 w 603405"/>
              <a:gd name="connsiteY101" fmla="*/ 205416 h 533193"/>
              <a:gd name="connsiteX102" fmla="*/ 72325 w 603405"/>
              <a:gd name="connsiteY102" fmla="*/ 234772 h 533193"/>
              <a:gd name="connsiteX103" fmla="*/ 42904 w 603405"/>
              <a:gd name="connsiteY103" fmla="*/ 205416 h 533193"/>
              <a:gd name="connsiteX104" fmla="*/ 72325 w 603405"/>
              <a:gd name="connsiteY104" fmla="*/ 176061 h 533193"/>
              <a:gd name="connsiteX105" fmla="*/ 1200 w 603405"/>
              <a:gd name="connsiteY105" fmla="*/ 56241 h 533193"/>
              <a:gd name="connsiteX106" fmla="*/ 384613 w 603405"/>
              <a:gd name="connsiteY106" fmla="*/ 56241 h 533193"/>
              <a:gd name="connsiteX107" fmla="*/ 603405 w 603405"/>
              <a:gd name="connsiteY107" fmla="*/ 274494 h 533193"/>
              <a:gd name="connsiteX108" fmla="*/ 540979 w 603405"/>
              <a:gd name="connsiteY108" fmla="*/ 336809 h 533193"/>
              <a:gd name="connsiteX109" fmla="*/ 494459 w 603405"/>
              <a:gd name="connsiteY109" fmla="*/ 336809 h 533193"/>
              <a:gd name="connsiteX110" fmla="*/ 494159 w 603405"/>
              <a:gd name="connsiteY110" fmla="*/ 277490 h 533193"/>
              <a:gd name="connsiteX111" fmla="*/ 464747 w 603405"/>
              <a:gd name="connsiteY111" fmla="*/ 232102 h 533193"/>
              <a:gd name="connsiteX112" fmla="*/ 551333 w 603405"/>
              <a:gd name="connsiteY112" fmla="*/ 232102 h 533193"/>
              <a:gd name="connsiteX113" fmla="*/ 551483 w 603405"/>
              <a:gd name="connsiteY113" fmla="*/ 232102 h 533193"/>
              <a:gd name="connsiteX114" fmla="*/ 557636 w 603405"/>
              <a:gd name="connsiteY114" fmla="*/ 228806 h 533193"/>
              <a:gd name="connsiteX115" fmla="*/ 558236 w 603405"/>
              <a:gd name="connsiteY115" fmla="*/ 221766 h 533193"/>
              <a:gd name="connsiteX116" fmla="*/ 504663 w 603405"/>
              <a:gd name="connsiteY116" fmla="*/ 136532 h 533193"/>
              <a:gd name="connsiteX117" fmla="*/ 415676 w 603405"/>
              <a:gd name="connsiteY117" fmla="*/ 97585 h 533193"/>
              <a:gd name="connsiteX118" fmla="*/ 397968 w 603405"/>
              <a:gd name="connsiteY118" fmla="*/ 97585 h 533193"/>
              <a:gd name="connsiteX119" fmla="*/ 397968 w 603405"/>
              <a:gd name="connsiteY119" fmla="*/ 159900 h 533193"/>
              <a:gd name="connsiteX120" fmla="*/ 364954 w 603405"/>
              <a:gd name="connsiteY120" fmla="*/ 183568 h 533193"/>
              <a:gd name="connsiteX121" fmla="*/ 364954 w 603405"/>
              <a:gd name="connsiteY121" fmla="*/ 97585 h 533193"/>
              <a:gd name="connsiteX122" fmla="*/ 174223 w 603405"/>
              <a:gd name="connsiteY122" fmla="*/ 97585 h 533193"/>
              <a:gd name="connsiteX123" fmla="*/ 174223 w 603405"/>
              <a:gd name="connsiteY123" fmla="*/ 232102 h 533193"/>
              <a:gd name="connsiteX124" fmla="*/ 180526 w 603405"/>
              <a:gd name="connsiteY124" fmla="*/ 232102 h 533193"/>
              <a:gd name="connsiteX125" fmla="*/ 174223 w 603405"/>
              <a:gd name="connsiteY125" fmla="*/ 235547 h 533193"/>
              <a:gd name="connsiteX126" fmla="*/ 156065 w 603405"/>
              <a:gd name="connsiteY126" fmla="*/ 256369 h 533193"/>
              <a:gd name="connsiteX127" fmla="*/ 141209 w 603405"/>
              <a:gd name="connsiteY127" fmla="*/ 238093 h 533193"/>
              <a:gd name="connsiteX128" fmla="*/ 131455 w 603405"/>
              <a:gd name="connsiteY128" fmla="*/ 232102 h 533193"/>
              <a:gd name="connsiteX129" fmla="*/ 141209 w 603405"/>
              <a:gd name="connsiteY129" fmla="*/ 232102 h 533193"/>
              <a:gd name="connsiteX130" fmla="*/ 141209 w 603405"/>
              <a:gd name="connsiteY130" fmla="*/ 97585 h 533193"/>
              <a:gd name="connsiteX131" fmla="*/ 1200 w 603405"/>
              <a:gd name="connsiteY131" fmla="*/ 97585 h 533193"/>
              <a:gd name="connsiteX132" fmla="*/ 30337 w 603405"/>
              <a:gd name="connsiteY132" fmla="*/ 0 h 533193"/>
              <a:gd name="connsiteX133" fmla="*/ 450496 w 603405"/>
              <a:gd name="connsiteY133" fmla="*/ 0 h 533193"/>
              <a:gd name="connsiteX134" fmla="*/ 467002 w 603405"/>
              <a:gd name="connsiteY134" fmla="*/ 16512 h 533193"/>
              <a:gd name="connsiteX135" fmla="*/ 450496 w 603405"/>
              <a:gd name="connsiteY135" fmla="*/ 33025 h 533193"/>
              <a:gd name="connsiteX136" fmla="*/ 30337 w 603405"/>
              <a:gd name="connsiteY136" fmla="*/ 33025 h 533193"/>
              <a:gd name="connsiteX137" fmla="*/ 13831 w 603405"/>
              <a:gd name="connsiteY137" fmla="*/ 16512 h 533193"/>
              <a:gd name="connsiteX138" fmla="*/ 30337 w 603405"/>
              <a:gd name="connsiteY138" fmla="*/ 0 h 533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603405" h="533193">
                <a:moveTo>
                  <a:pt x="494452" y="356003"/>
                </a:moveTo>
                <a:lnTo>
                  <a:pt x="585270" y="356003"/>
                </a:lnTo>
                <a:cubicBezTo>
                  <a:pt x="594277" y="356003"/>
                  <a:pt x="601782" y="363343"/>
                  <a:pt x="601782" y="372480"/>
                </a:cubicBezTo>
                <a:cubicBezTo>
                  <a:pt x="601782" y="381617"/>
                  <a:pt x="594277" y="388957"/>
                  <a:pt x="585270" y="388957"/>
                </a:cubicBezTo>
                <a:lnTo>
                  <a:pt x="494452" y="388957"/>
                </a:lnTo>
                <a:close/>
                <a:moveTo>
                  <a:pt x="367511" y="244227"/>
                </a:moveTo>
                <a:lnTo>
                  <a:pt x="443780" y="244227"/>
                </a:lnTo>
                <a:cubicBezTo>
                  <a:pt x="462247" y="244227"/>
                  <a:pt x="477261" y="259207"/>
                  <a:pt x="477411" y="277633"/>
                </a:cubicBezTo>
                <a:lnTo>
                  <a:pt x="477861" y="381744"/>
                </a:lnTo>
                <a:cubicBezTo>
                  <a:pt x="478011" y="389534"/>
                  <a:pt x="471706" y="395975"/>
                  <a:pt x="463748" y="395975"/>
                </a:cubicBezTo>
                <a:cubicBezTo>
                  <a:pt x="455941" y="395975"/>
                  <a:pt x="449486" y="389684"/>
                  <a:pt x="449486" y="381894"/>
                </a:cubicBezTo>
                <a:lnTo>
                  <a:pt x="449035" y="277782"/>
                </a:lnTo>
                <a:cubicBezTo>
                  <a:pt x="449035" y="276135"/>
                  <a:pt x="447684" y="274786"/>
                  <a:pt x="446033" y="274786"/>
                </a:cubicBezTo>
                <a:cubicBezTo>
                  <a:pt x="444381" y="274786"/>
                  <a:pt x="443030" y="276135"/>
                  <a:pt x="443030" y="277782"/>
                </a:cubicBezTo>
                <a:cubicBezTo>
                  <a:pt x="443030" y="419944"/>
                  <a:pt x="443330" y="291115"/>
                  <a:pt x="443330" y="516116"/>
                </a:cubicBezTo>
                <a:cubicBezTo>
                  <a:pt x="443330" y="525553"/>
                  <a:pt x="435673" y="533193"/>
                  <a:pt x="426215" y="533193"/>
                </a:cubicBezTo>
                <a:cubicBezTo>
                  <a:pt x="416906" y="533193"/>
                  <a:pt x="409249" y="525553"/>
                  <a:pt x="409249" y="516116"/>
                </a:cubicBezTo>
                <a:lnTo>
                  <a:pt x="409249" y="380096"/>
                </a:lnTo>
                <a:lnTo>
                  <a:pt x="401893" y="380096"/>
                </a:lnTo>
                <a:lnTo>
                  <a:pt x="401893" y="516116"/>
                </a:lnTo>
                <a:cubicBezTo>
                  <a:pt x="401893" y="525553"/>
                  <a:pt x="394236" y="533193"/>
                  <a:pt x="384778" y="533193"/>
                </a:cubicBezTo>
                <a:cubicBezTo>
                  <a:pt x="375319" y="533193"/>
                  <a:pt x="367812" y="525553"/>
                  <a:pt x="367812" y="516116"/>
                </a:cubicBezTo>
                <a:lnTo>
                  <a:pt x="367812" y="380096"/>
                </a:lnTo>
                <a:lnTo>
                  <a:pt x="367812" y="277782"/>
                </a:lnTo>
                <a:cubicBezTo>
                  <a:pt x="367812" y="276284"/>
                  <a:pt x="366461" y="274936"/>
                  <a:pt x="364959" y="274936"/>
                </a:cubicBezTo>
                <a:cubicBezTo>
                  <a:pt x="363458" y="274936"/>
                  <a:pt x="362257" y="276284"/>
                  <a:pt x="362257" y="277782"/>
                </a:cubicBezTo>
                <a:lnTo>
                  <a:pt x="361656" y="381894"/>
                </a:lnTo>
                <a:cubicBezTo>
                  <a:pt x="361656" y="389684"/>
                  <a:pt x="355351" y="395975"/>
                  <a:pt x="347544" y="395975"/>
                </a:cubicBezTo>
                <a:lnTo>
                  <a:pt x="347393" y="395975"/>
                </a:lnTo>
                <a:cubicBezTo>
                  <a:pt x="339586" y="395975"/>
                  <a:pt x="333281" y="389534"/>
                  <a:pt x="333281" y="381744"/>
                </a:cubicBezTo>
                <a:lnTo>
                  <a:pt x="333881" y="277633"/>
                </a:lnTo>
                <a:cubicBezTo>
                  <a:pt x="333881" y="259207"/>
                  <a:pt x="349045" y="244227"/>
                  <a:pt x="367511" y="244227"/>
                </a:cubicBezTo>
                <a:close/>
                <a:moveTo>
                  <a:pt x="201525" y="244227"/>
                </a:moveTo>
                <a:lnTo>
                  <a:pt x="277906" y="244227"/>
                </a:lnTo>
                <a:cubicBezTo>
                  <a:pt x="296213" y="244227"/>
                  <a:pt x="311370" y="259207"/>
                  <a:pt x="311520" y="277633"/>
                </a:cubicBezTo>
                <a:lnTo>
                  <a:pt x="311970" y="381744"/>
                </a:lnTo>
                <a:cubicBezTo>
                  <a:pt x="311970" y="389534"/>
                  <a:pt x="305667" y="395975"/>
                  <a:pt x="297864" y="395975"/>
                </a:cubicBezTo>
                <a:lnTo>
                  <a:pt x="297714" y="395975"/>
                </a:lnTo>
                <a:cubicBezTo>
                  <a:pt x="289911" y="395975"/>
                  <a:pt x="283608" y="389684"/>
                  <a:pt x="283608" y="381894"/>
                </a:cubicBezTo>
                <a:lnTo>
                  <a:pt x="283008" y="277782"/>
                </a:lnTo>
                <a:cubicBezTo>
                  <a:pt x="283008" y="276135"/>
                  <a:pt x="281657" y="274786"/>
                  <a:pt x="280007" y="274786"/>
                </a:cubicBezTo>
                <a:cubicBezTo>
                  <a:pt x="278356" y="274786"/>
                  <a:pt x="277156" y="276135"/>
                  <a:pt x="277156" y="277782"/>
                </a:cubicBezTo>
                <a:cubicBezTo>
                  <a:pt x="277156" y="419944"/>
                  <a:pt x="277456" y="291115"/>
                  <a:pt x="277456" y="516116"/>
                </a:cubicBezTo>
                <a:cubicBezTo>
                  <a:pt x="277456" y="525553"/>
                  <a:pt x="269803" y="533193"/>
                  <a:pt x="260349" y="533193"/>
                </a:cubicBezTo>
                <a:cubicBezTo>
                  <a:pt x="250895" y="533193"/>
                  <a:pt x="243242" y="525553"/>
                  <a:pt x="243242" y="516116"/>
                </a:cubicBezTo>
                <a:lnTo>
                  <a:pt x="243242" y="380096"/>
                </a:lnTo>
                <a:lnTo>
                  <a:pt x="235889" y="380096"/>
                </a:lnTo>
                <a:lnTo>
                  <a:pt x="235889" y="516116"/>
                </a:lnTo>
                <a:cubicBezTo>
                  <a:pt x="235889" y="525553"/>
                  <a:pt x="228386" y="533193"/>
                  <a:pt x="218932" y="533193"/>
                </a:cubicBezTo>
                <a:cubicBezTo>
                  <a:pt x="209478" y="533193"/>
                  <a:pt x="201825" y="525553"/>
                  <a:pt x="201825" y="516116"/>
                </a:cubicBezTo>
                <a:lnTo>
                  <a:pt x="201825" y="380096"/>
                </a:lnTo>
                <a:lnTo>
                  <a:pt x="201825" y="277782"/>
                </a:lnTo>
                <a:cubicBezTo>
                  <a:pt x="201825" y="276284"/>
                  <a:pt x="200624" y="274936"/>
                  <a:pt x="199124" y="274936"/>
                </a:cubicBezTo>
                <a:cubicBezTo>
                  <a:pt x="197623" y="274936"/>
                  <a:pt x="196423" y="276284"/>
                  <a:pt x="196423" y="277782"/>
                </a:cubicBezTo>
                <a:lnTo>
                  <a:pt x="195822" y="381894"/>
                </a:lnTo>
                <a:cubicBezTo>
                  <a:pt x="195822" y="389684"/>
                  <a:pt x="189370" y="395975"/>
                  <a:pt x="181567" y="395975"/>
                </a:cubicBezTo>
                <a:cubicBezTo>
                  <a:pt x="173763" y="395975"/>
                  <a:pt x="167311" y="389534"/>
                  <a:pt x="167461" y="381744"/>
                </a:cubicBezTo>
                <a:lnTo>
                  <a:pt x="167911" y="277633"/>
                </a:lnTo>
                <a:cubicBezTo>
                  <a:pt x="168061" y="259207"/>
                  <a:pt x="183067" y="244227"/>
                  <a:pt x="201525" y="244227"/>
                </a:cubicBezTo>
                <a:close/>
                <a:moveTo>
                  <a:pt x="34214" y="244227"/>
                </a:moveTo>
                <a:lnTo>
                  <a:pt x="110445" y="244227"/>
                </a:lnTo>
                <a:cubicBezTo>
                  <a:pt x="128902" y="244227"/>
                  <a:pt x="143908" y="259207"/>
                  <a:pt x="144059" y="277633"/>
                </a:cubicBezTo>
                <a:lnTo>
                  <a:pt x="144509" y="381744"/>
                </a:lnTo>
                <a:cubicBezTo>
                  <a:pt x="144659" y="389534"/>
                  <a:pt x="138206" y="395975"/>
                  <a:pt x="130403" y="395975"/>
                </a:cubicBezTo>
                <a:cubicBezTo>
                  <a:pt x="122600" y="395975"/>
                  <a:pt x="116147" y="389684"/>
                  <a:pt x="116147" y="381894"/>
                </a:cubicBezTo>
                <a:lnTo>
                  <a:pt x="115697" y="277782"/>
                </a:lnTo>
                <a:cubicBezTo>
                  <a:pt x="115547" y="276135"/>
                  <a:pt x="114346" y="274786"/>
                  <a:pt x="112696" y="274786"/>
                </a:cubicBezTo>
                <a:cubicBezTo>
                  <a:pt x="111045" y="274786"/>
                  <a:pt x="109694" y="276135"/>
                  <a:pt x="109694" y="277782"/>
                </a:cubicBezTo>
                <a:cubicBezTo>
                  <a:pt x="109694" y="343695"/>
                  <a:pt x="109995" y="452450"/>
                  <a:pt x="109995" y="516116"/>
                </a:cubicBezTo>
                <a:cubicBezTo>
                  <a:pt x="109995" y="525553"/>
                  <a:pt x="102341" y="533193"/>
                  <a:pt x="92888" y="533193"/>
                </a:cubicBezTo>
                <a:cubicBezTo>
                  <a:pt x="83584" y="533193"/>
                  <a:pt x="75931" y="525553"/>
                  <a:pt x="75931" y="516116"/>
                </a:cubicBezTo>
                <a:lnTo>
                  <a:pt x="75931" y="380096"/>
                </a:lnTo>
                <a:lnTo>
                  <a:pt x="68578" y="380096"/>
                </a:lnTo>
                <a:lnTo>
                  <a:pt x="68578" y="516116"/>
                </a:lnTo>
                <a:cubicBezTo>
                  <a:pt x="68578" y="525553"/>
                  <a:pt x="60925" y="533193"/>
                  <a:pt x="51471" y="533193"/>
                </a:cubicBezTo>
                <a:cubicBezTo>
                  <a:pt x="42017" y="533193"/>
                  <a:pt x="34364" y="525553"/>
                  <a:pt x="34364" y="516116"/>
                </a:cubicBezTo>
                <a:lnTo>
                  <a:pt x="34364" y="380096"/>
                </a:lnTo>
                <a:lnTo>
                  <a:pt x="34364" y="277782"/>
                </a:lnTo>
                <a:cubicBezTo>
                  <a:pt x="34364" y="276284"/>
                  <a:pt x="33163" y="275086"/>
                  <a:pt x="31663" y="275086"/>
                </a:cubicBezTo>
                <a:cubicBezTo>
                  <a:pt x="30162" y="274936"/>
                  <a:pt x="28962" y="276284"/>
                  <a:pt x="28962" y="277782"/>
                </a:cubicBezTo>
                <a:lnTo>
                  <a:pt x="28361" y="381894"/>
                </a:lnTo>
                <a:cubicBezTo>
                  <a:pt x="28361" y="389684"/>
                  <a:pt x="22059" y="395975"/>
                  <a:pt x="14256" y="395975"/>
                </a:cubicBezTo>
                <a:lnTo>
                  <a:pt x="14106" y="395975"/>
                </a:lnTo>
                <a:cubicBezTo>
                  <a:pt x="6302" y="395975"/>
                  <a:pt x="0" y="389534"/>
                  <a:pt x="0" y="381744"/>
                </a:cubicBezTo>
                <a:lnTo>
                  <a:pt x="600" y="277633"/>
                </a:lnTo>
                <a:cubicBezTo>
                  <a:pt x="600" y="259207"/>
                  <a:pt x="15756" y="244227"/>
                  <a:pt x="34214" y="244227"/>
                </a:cubicBezTo>
                <a:close/>
                <a:moveTo>
                  <a:pt x="298774" y="232090"/>
                </a:moveTo>
                <a:lnTo>
                  <a:pt x="346547" y="232090"/>
                </a:lnTo>
                <a:cubicBezTo>
                  <a:pt x="336331" y="236739"/>
                  <a:pt x="327768" y="244836"/>
                  <a:pt x="322660" y="254883"/>
                </a:cubicBezTo>
                <a:cubicBezTo>
                  <a:pt x="317552" y="244836"/>
                  <a:pt x="309140" y="236739"/>
                  <a:pt x="298774" y="232090"/>
                </a:cubicBezTo>
                <a:close/>
                <a:moveTo>
                  <a:pt x="405716" y="176061"/>
                </a:moveTo>
                <a:cubicBezTo>
                  <a:pt x="421987" y="176061"/>
                  <a:pt x="435177" y="189204"/>
                  <a:pt x="435177" y="205417"/>
                </a:cubicBezTo>
                <a:cubicBezTo>
                  <a:pt x="435177" y="221630"/>
                  <a:pt x="421987" y="234773"/>
                  <a:pt x="405716" y="234773"/>
                </a:cubicBezTo>
                <a:cubicBezTo>
                  <a:pt x="389445" y="234773"/>
                  <a:pt x="376255" y="221630"/>
                  <a:pt x="376255" y="205417"/>
                </a:cubicBezTo>
                <a:cubicBezTo>
                  <a:pt x="376255" y="189204"/>
                  <a:pt x="389445" y="176061"/>
                  <a:pt x="405716" y="176061"/>
                </a:cubicBezTo>
                <a:close/>
                <a:moveTo>
                  <a:pt x="239817" y="176061"/>
                </a:moveTo>
                <a:cubicBezTo>
                  <a:pt x="256049" y="176061"/>
                  <a:pt x="269208" y="189204"/>
                  <a:pt x="269208" y="205417"/>
                </a:cubicBezTo>
                <a:cubicBezTo>
                  <a:pt x="269208" y="221630"/>
                  <a:pt x="256049" y="234773"/>
                  <a:pt x="239817" y="234773"/>
                </a:cubicBezTo>
                <a:cubicBezTo>
                  <a:pt x="223585" y="234773"/>
                  <a:pt x="210426" y="221630"/>
                  <a:pt x="210426" y="205417"/>
                </a:cubicBezTo>
                <a:cubicBezTo>
                  <a:pt x="210426" y="189204"/>
                  <a:pt x="223585" y="176061"/>
                  <a:pt x="239817" y="176061"/>
                </a:cubicBezTo>
                <a:close/>
                <a:moveTo>
                  <a:pt x="72325" y="176061"/>
                </a:moveTo>
                <a:cubicBezTo>
                  <a:pt x="88687" y="176061"/>
                  <a:pt x="101897" y="189241"/>
                  <a:pt x="101897" y="205416"/>
                </a:cubicBezTo>
                <a:cubicBezTo>
                  <a:pt x="101897" y="221592"/>
                  <a:pt x="88687" y="234772"/>
                  <a:pt x="72325" y="234772"/>
                </a:cubicBezTo>
                <a:cubicBezTo>
                  <a:pt x="56113" y="234772"/>
                  <a:pt x="42904" y="221592"/>
                  <a:pt x="42904" y="205416"/>
                </a:cubicBezTo>
                <a:cubicBezTo>
                  <a:pt x="42904" y="189241"/>
                  <a:pt x="55963" y="176061"/>
                  <a:pt x="72325" y="176061"/>
                </a:cubicBezTo>
                <a:close/>
                <a:moveTo>
                  <a:pt x="1200" y="56241"/>
                </a:moveTo>
                <a:lnTo>
                  <a:pt x="384613" y="56241"/>
                </a:lnTo>
                <a:cubicBezTo>
                  <a:pt x="505414" y="56241"/>
                  <a:pt x="603405" y="154058"/>
                  <a:pt x="603405" y="274494"/>
                </a:cubicBezTo>
                <a:cubicBezTo>
                  <a:pt x="603405" y="308947"/>
                  <a:pt x="575493" y="336809"/>
                  <a:pt x="540979" y="336809"/>
                </a:cubicBezTo>
                <a:lnTo>
                  <a:pt x="494459" y="336809"/>
                </a:lnTo>
                <a:lnTo>
                  <a:pt x="494159" y="277490"/>
                </a:lnTo>
                <a:cubicBezTo>
                  <a:pt x="494009" y="257417"/>
                  <a:pt x="482004" y="240041"/>
                  <a:pt x="464747" y="232102"/>
                </a:cubicBezTo>
                <a:lnTo>
                  <a:pt x="551333" y="232102"/>
                </a:lnTo>
                <a:lnTo>
                  <a:pt x="551483" y="232102"/>
                </a:lnTo>
                <a:cubicBezTo>
                  <a:pt x="553884" y="232102"/>
                  <a:pt x="556285" y="230753"/>
                  <a:pt x="557636" y="228806"/>
                </a:cubicBezTo>
                <a:cubicBezTo>
                  <a:pt x="558986" y="226709"/>
                  <a:pt x="559136" y="224013"/>
                  <a:pt x="558236" y="221766"/>
                </a:cubicBezTo>
                <a:cubicBezTo>
                  <a:pt x="550283" y="203790"/>
                  <a:pt x="531825" y="165892"/>
                  <a:pt x="504663" y="136532"/>
                </a:cubicBezTo>
                <a:cubicBezTo>
                  <a:pt x="481704" y="111666"/>
                  <a:pt x="449440" y="97585"/>
                  <a:pt x="415676" y="97585"/>
                </a:cubicBezTo>
                <a:lnTo>
                  <a:pt x="397968" y="97585"/>
                </a:lnTo>
                <a:lnTo>
                  <a:pt x="397968" y="159900"/>
                </a:lnTo>
                <a:cubicBezTo>
                  <a:pt x="383712" y="162297"/>
                  <a:pt x="371707" y="171284"/>
                  <a:pt x="364954" y="183568"/>
                </a:cubicBezTo>
                <a:lnTo>
                  <a:pt x="364954" y="97585"/>
                </a:lnTo>
                <a:lnTo>
                  <a:pt x="174223" y="97585"/>
                </a:lnTo>
                <a:lnTo>
                  <a:pt x="174223" y="232102"/>
                </a:lnTo>
                <a:lnTo>
                  <a:pt x="180526" y="232102"/>
                </a:lnTo>
                <a:cubicBezTo>
                  <a:pt x="178425" y="233150"/>
                  <a:pt x="176324" y="234199"/>
                  <a:pt x="174223" y="235547"/>
                </a:cubicBezTo>
                <a:cubicBezTo>
                  <a:pt x="166420" y="240640"/>
                  <a:pt x="159967" y="247830"/>
                  <a:pt x="156065" y="256369"/>
                </a:cubicBezTo>
                <a:cubicBezTo>
                  <a:pt x="152614" y="249178"/>
                  <a:pt x="147512" y="242887"/>
                  <a:pt x="141209" y="238093"/>
                </a:cubicBezTo>
                <a:cubicBezTo>
                  <a:pt x="138208" y="235697"/>
                  <a:pt x="134906" y="233749"/>
                  <a:pt x="131455" y="232102"/>
                </a:cubicBezTo>
                <a:lnTo>
                  <a:pt x="141209" y="232102"/>
                </a:lnTo>
                <a:lnTo>
                  <a:pt x="141209" y="97585"/>
                </a:lnTo>
                <a:lnTo>
                  <a:pt x="1200" y="97585"/>
                </a:lnTo>
                <a:close/>
                <a:moveTo>
                  <a:pt x="30337" y="0"/>
                </a:moveTo>
                <a:lnTo>
                  <a:pt x="450496" y="0"/>
                </a:lnTo>
                <a:cubicBezTo>
                  <a:pt x="459649" y="0"/>
                  <a:pt x="467002" y="7356"/>
                  <a:pt x="467002" y="16512"/>
                </a:cubicBezTo>
                <a:cubicBezTo>
                  <a:pt x="467002" y="25669"/>
                  <a:pt x="459649" y="33025"/>
                  <a:pt x="450496" y="33025"/>
                </a:cubicBezTo>
                <a:lnTo>
                  <a:pt x="30337" y="33025"/>
                </a:lnTo>
                <a:cubicBezTo>
                  <a:pt x="21184" y="33025"/>
                  <a:pt x="13831" y="25669"/>
                  <a:pt x="13831" y="16512"/>
                </a:cubicBezTo>
                <a:cubicBezTo>
                  <a:pt x="13831" y="7356"/>
                  <a:pt x="21184" y="0"/>
                  <a:pt x="30337" y="0"/>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endParaRPr lang="zh-CN" altLang="en-US">
              <a:solidFill>
                <a:srgbClr val="000000"/>
              </a:solidFill>
              <a:latin typeface="Arial" panose="020F0502020204030204"/>
              <a:ea typeface="微软雅黑"/>
              <a:cs typeface="+mn-ea"/>
              <a:sym typeface="+mn-lt"/>
            </a:endParaRPr>
          </a:p>
        </p:txBody>
      </p:sp>
      <p:sp>
        <p:nvSpPr>
          <p:cNvPr id="3" name="文本框 2">
            <a:extLst>
              <a:ext uri="{FF2B5EF4-FFF2-40B4-BE49-F238E27FC236}">
                <a16:creationId xmlns:a16="http://schemas.microsoft.com/office/drawing/2014/main" id="{869DE300-0C55-5F0D-8FA2-0A07FBC65810}"/>
              </a:ext>
            </a:extLst>
          </p:cNvPr>
          <p:cNvSpPr txBox="1"/>
          <p:nvPr/>
        </p:nvSpPr>
        <p:spPr>
          <a:xfrm>
            <a:off x="860303" y="1563655"/>
            <a:ext cx="9451015" cy="923330"/>
          </a:xfrm>
          <a:prstGeom prst="rect">
            <a:avLst/>
          </a:prstGeom>
          <a:noFill/>
        </p:spPr>
        <p:txBody>
          <a:bodyPr wrap="square">
            <a:spAutoFit/>
          </a:bodyPr>
          <a:lstStyle/>
          <a:p>
            <a:r>
              <a:rPr lang="zh-CN" altLang="en-US" b="1" dirty="0"/>
              <a:t>现实困境：</a:t>
            </a:r>
            <a:r>
              <a:rPr lang="zh-CN" altLang="en-US" dirty="0"/>
              <a:t> 虽然目前我们通过基因组测序发现了数以百万计的酶，也通过 </a:t>
            </a:r>
            <a:r>
              <a:rPr lang="en-US" altLang="zh-CN" dirty="0"/>
              <a:t>AlphaFold </a:t>
            </a:r>
            <a:r>
              <a:rPr lang="zh-CN" altLang="en-US" dirty="0"/>
              <a:t>知道了它们的结构，但绝大多数酶的底物特异性是未知的。这严重阻碍了它们在工业生物催化、药物合成中的应用。</a:t>
            </a:r>
          </a:p>
        </p:txBody>
      </p:sp>
      <p:sp>
        <p:nvSpPr>
          <p:cNvPr id="4" name="文本框 3">
            <a:extLst>
              <a:ext uri="{FF2B5EF4-FFF2-40B4-BE49-F238E27FC236}">
                <a16:creationId xmlns:a16="http://schemas.microsoft.com/office/drawing/2014/main" id="{B6807D75-74B2-7010-9619-A5A03CBAB609}"/>
              </a:ext>
            </a:extLst>
          </p:cNvPr>
          <p:cNvSpPr txBox="1"/>
          <p:nvPr/>
        </p:nvSpPr>
        <p:spPr>
          <a:xfrm>
            <a:off x="860303" y="2914914"/>
            <a:ext cx="9268265" cy="646331"/>
          </a:xfrm>
          <a:prstGeom prst="rect">
            <a:avLst/>
          </a:prstGeom>
          <a:noFill/>
        </p:spPr>
        <p:txBody>
          <a:bodyPr wrap="square" rtlCol="0">
            <a:spAutoFit/>
          </a:bodyPr>
          <a:lstStyle/>
          <a:p>
            <a:r>
              <a:rPr lang="zh-CN" altLang="en-US" b="1" dirty="0"/>
              <a:t>现有计算方法的局限：</a:t>
            </a:r>
            <a:r>
              <a:rPr lang="zh-CN" altLang="en-US" dirty="0"/>
              <a:t> 以往的机器学习模型往往只依赖序列信息（</a:t>
            </a:r>
            <a:r>
              <a:rPr lang="en-US" altLang="zh-CN" dirty="0"/>
              <a:t>1D</a:t>
            </a:r>
            <a:r>
              <a:rPr lang="zh-CN" altLang="en-US" dirty="0"/>
              <a:t>），或者对酶和底物的三维空间相互作用（</a:t>
            </a:r>
            <a:r>
              <a:rPr lang="en-US" altLang="zh-CN" dirty="0"/>
              <a:t>3D</a:t>
            </a:r>
            <a:r>
              <a:rPr lang="zh-CN" altLang="en-US" dirty="0"/>
              <a:t>）建模不够精细，导致预测准确率低，泛化能力差。</a:t>
            </a:r>
          </a:p>
        </p:txBody>
      </p:sp>
    </p:spTree>
    <p:extLst>
      <p:ext uri="{BB962C8B-B14F-4D97-AF65-F5344CB8AC3E}">
        <p14:creationId xmlns:p14="http://schemas.microsoft.com/office/powerpoint/2010/main" val="12017127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C4023-7F5F-7110-9C4F-142ECEC96C17}"/>
            </a:ext>
          </a:extLst>
        </p:cNvPr>
        <p:cNvGrpSpPr/>
        <p:nvPr/>
      </p:nvGrpSpPr>
      <p:grpSpPr>
        <a:xfrm>
          <a:off x="0" y="0"/>
          <a:ext cx="0" cy="0"/>
          <a:chOff x="0" y="0"/>
          <a:chExt cx="0" cy="0"/>
        </a:xfrm>
      </p:grpSpPr>
      <p:grpSp>
        <p:nvGrpSpPr>
          <p:cNvPr id="20" name="组合 19">
            <a:extLst>
              <a:ext uri="{FF2B5EF4-FFF2-40B4-BE49-F238E27FC236}">
                <a16:creationId xmlns:a16="http://schemas.microsoft.com/office/drawing/2014/main" id="{B662A8ED-2860-75B8-01FF-71BDAD843031}"/>
              </a:ext>
            </a:extLst>
          </p:cNvPr>
          <p:cNvGrpSpPr/>
          <p:nvPr/>
        </p:nvGrpSpPr>
        <p:grpSpPr>
          <a:xfrm>
            <a:off x="286653" y="116633"/>
            <a:ext cx="11618694" cy="6681374"/>
            <a:chOff x="286653" y="116633"/>
            <a:chExt cx="11618694" cy="6681374"/>
          </a:xfrm>
        </p:grpSpPr>
        <p:grpSp>
          <p:nvGrpSpPr>
            <p:cNvPr id="21" name="组合 20">
              <a:extLst>
                <a:ext uri="{FF2B5EF4-FFF2-40B4-BE49-F238E27FC236}">
                  <a16:creationId xmlns:a16="http://schemas.microsoft.com/office/drawing/2014/main" id="{7DEFC27D-B5A1-731E-D0C3-B5AB20321B68}"/>
                </a:ext>
              </a:extLst>
            </p:cNvPr>
            <p:cNvGrpSpPr/>
            <p:nvPr/>
          </p:nvGrpSpPr>
          <p:grpSpPr>
            <a:xfrm>
              <a:off x="335361" y="116633"/>
              <a:ext cx="629872" cy="612768"/>
              <a:chOff x="3070727" y="196457"/>
              <a:chExt cx="692047" cy="673255"/>
            </a:xfrm>
          </p:grpSpPr>
          <p:sp>
            <p:nvSpPr>
              <p:cNvPr id="26" name="平行四边形 25">
                <a:extLst>
                  <a:ext uri="{FF2B5EF4-FFF2-40B4-BE49-F238E27FC236}">
                    <a16:creationId xmlns:a16="http://schemas.microsoft.com/office/drawing/2014/main" id="{D16CCDE6-BC0B-2220-835D-FA45D559D749}"/>
                  </a:ext>
                </a:extLst>
              </p:cNvPr>
              <p:cNvSpPr/>
              <p:nvPr/>
            </p:nvSpPr>
            <p:spPr>
              <a:xfrm>
                <a:off x="3070727" y="196457"/>
                <a:ext cx="629587" cy="612775"/>
              </a:xfrm>
              <a:prstGeom prst="parallelogram">
                <a:avLst/>
              </a:prstGeom>
              <a:solidFill>
                <a:srgbClr val="6B0261"/>
              </a:solidFill>
              <a:ln w="25400" cap="flat" cmpd="sng" algn="ctr">
                <a:solidFill>
                  <a:srgbClr val="6B026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27" name="平行四边形 26">
                <a:extLst>
                  <a:ext uri="{FF2B5EF4-FFF2-40B4-BE49-F238E27FC236}">
                    <a16:creationId xmlns:a16="http://schemas.microsoft.com/office/drawing/2014/main" id="{ECD72213-CD21-CA80-71AB-1A9A01B42BC2}"/>
                  </a:ext>
                </a:extLst>
              </p:cNvPr>
              <p:cNvSpPr/>
              <p:nvPr/>
            </p:nvSpPr>
            <p:spPr>
              <a:xfrm>
                <a:off x="3133187" y="256937"/>
                <a:ext cx="629587" cy="612775"/>
              </a:xfrm>
              <a:prstGeom prst="parallelogram">
                <a:avLst/>
              </a:prstGeom>
              <a:noFill/>
              <a:ln w="25400" cap="flat" cmpd="sng" algn="ctr">
                <a:solidFill>
                  <a:srgbClr val="6B026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cxnSp>
          <p:nvCxnSpPr>
            <p:cNvPr id="22" name="直接连接符 21">
              <a:extLst>
                <a:ext uri="{FF2B5EF4-FFF2-40B4-BE49-F238E27FC236}">
                  <a16:creationId xmlns:a16="http://schemas.microsoft.com/office/drawing/2014/main" id="{92530A53-E989-AEF5-F680-E98F549CEA21}"/>
                </a:ext>
              </a:extLst>
            </p:cNvPr>
            <p:cNvCxnSpPr>
              <a:cxnSpLocks/>
            </p:cNvCxnSpPr>
            <p:nvPr/>
          </p:nvCxnSpPr>
          <p:spPr>
            <a:xfrm>
              <a:off x="367840" y="809674"/>
              <a:ext cx="11488800" cy="0"/>
            </a:xfrm>
            <a:prstGeom prst="line">
              <a:avLst/>
            </a:prstGeom>
            <a:noFill/>
            <a:ln w="9525" cap="flat" cmpd="sng" algn="ctr">
              <a:solidFill>
                <a:srgbClr val="6B0261"/>
              </a:solidFill>
              <a:prstDash val="solid"/>
            </a:ln>
            <a:effectLst/>
          </p:spPr>
        </p:cxnSp>
        <p:sp>
          <p:nvSpPr>
            <p:cNvPr id="23" name="文本占位符 5">
              <a:extLst>
                <a:ext uri="{FF2B5EF4-FFF2-40B4-BE49-F238E27FC236}">
                  <a16:creationId xmlns:a16="http://schemas.microsoft.com/office/drawing/2014/main" id="{4C7A06D7-46C9-59C6-DD8E-C31E9568E394}"/>
                </a:ext>
              </a:extLst>
            </p:cNvPr>
            <p:cNvSpPr txBox="1">
              <a:spLocks/>
            </p:cNvSpPr>
            <p:nvPr/>
          </p:nvSpPr>
          <p:spPr>
            <a:xfrm>
              <a:off x="1075777" y="214065"/>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rgbClr val="6B0261"/>
                  </a:solidFill>
                </a:rPr>
                <a:t>研究内容</a:t>
              </a:r>
            </a:p>
          </p:txBody>
        </p:sp>
        <p:sp>
          <p:nvSpPr>
            <p:cNvPr id="24" name="文本框 23">
              <a:extLst>
                <a:ext uri="{FF2B5EF4-FFF2-40B4-BE49-F238E27FC236}">
                  <a16:creationId xmlns:a16="http://schemas.microsoft.com/office/drawing/2014/main" id="{56203C95-2CAE-FF41-F979-3EE2ABC06A43}"/>
                </a:ext>
              </a:extLst>
            </p:cNvPr>
            <p:cNvSpPr txBox="1"/>
            <p:nvPr/>
          </p:nvSpPr>
          <p:spPr>
            <a:xfrm>
              <a:off x="10805366" y="642867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25" name="图片 24">
              <a:extLst>
                <a:ext uri="{FF2B5EF4-FFF2-40B4-BE49-F238E27FC236}">
                  <a16:creationId xmlns:a16="http://schemas.microsoft.com/office/drawing/2014/main" id="{9758FD8C-B925-DD21-DF37-33ECCB416C3A}"/>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a:stretch/>
          </p:blipFill>
          <p:spPr>
            <a:xfrm>
              <a:off x="286653" y="6425619"/>
              <a:ext cx="2520534" cy="369332"/>
            </a:xfrm>
            <a:prstGeom prst="rect">
              <a:avLst/>
            </a:prstGeom>
          </p:spPr>
        </p:pic>
      </p:grpSp>
      <p:grpSp>
        <p:nvGrpSpPr>
          <p:cNvPr id="51" name="组合 50">
            <a:extLst>
              <a:ext uri="{FF2B5EF4-FFF2-40B4-BE49-F238E27FC236}">
                <a16:creationId xmlns:a16="http://schemas.microsoft.com/office/drawing/2014/main" id="{4A30DDDF-25F4-A245-80D9-D75F0860285E}"/>
              </a:ext>
            </a:extLst>
          </p:cNvPr>
          <p:cNvGrpSpPr/>
          <p:nvPr/>
        </p:nvGrpSpPr>
        <p:grpSpPr>
          <a:xfrm>
            <a:off x="9938479" y="77827"/>
            <a:ext cx="2017490" cy="675447"/>
            <a:chOff x="995884" y="398899"/>
            <a:chExt cx="3658781" cy="1224944"/>
          </a:xfrm>
        </p:grpSpPr>
        <p:pic>
          <p:nvPicPr>
            <p:cNvPr id="52" name="图片 51">
              <a:extLst>
                <a:ext uri="{FF2B5EF4-FFF2-40B4-BE49-F238E27FC236}">
                  <a16:creationId xmlns:a16="http://schemas.microsoft.com/office/drawing/2014/main" id="{8FB0A38E-8B68-AAB1-6480-48A92B12484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95884" y="398899"/>
              <a:ext cx="977348" cy="1224944"/>
            </a:xfrm>
            <a:prstGeom prst="rect">
              <a:avLst/>
            </a:prstGeom>
          </p:spPr>
        </p:pic>
        <p:pic>
          <p:nvPicPr>
            <p:cNvPr id="53" name="图片 52">
              <a:extLst>
                <a:ext uri="{FF2B5EF4-FFF2-40B4-BE49-F238E27FC236}">
                  <a16:creationId xmlns:a16="http://schemas.microsoft.com/office/drawing/2014/main" id="{5BB88B8E-DE20-4425-38EE-30FEE0563AC5}"/>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173707" y="405382"/>
              <a:ext cx="2384890" cy="796233"/>
            </a:xfrm>
            <a:prstGeom prst="rect">
              <a:avLst/>
            </a:prstGeom>
          </p:spPr>
        </p:pic>
        <p:sp>
          <p:nvSpPr>
            <p:cNvPr id="54" name="矩形 53">
              <a:extLst>
                <a:ext uri="{FF2B5EF4-FFF2-40B4-BE49-F238E27FC236}">
                  <a16:creationId xmlns:a16="http://schemas.microsoft.com/office/drawing/2014/main" id="{F7F8091A-3643-F776-DC8D-A6AD4681B553}"/>
                </a:ext>
              </a:extLst>
            </p:cNvPr>
            <p:cNvSpPr/>
            <p:nvPr/>
          </p:nvSpPr>
          <p:spPr>
            <a:xfrm>
              <a:off x="2069306" y="1138524"/>
              <a:ext cx="2585359" cy="46048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rPr>
                <a:t>NANJING UNIVERSITY</a:t>
              </a:r>
              <a:endParaRPr kumimoji="0" lang="zh-CN" altLang="en-US" sz="105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endParaRPr>
            </a:p>
          </p:txBody>
        </p:sp>
      </p:grpSp>
      <p:sp>
        <p:nvSpPr>
          <p:cNvPr id="31" name="íŝḷïḓè">
            <a:extLst>
              <a:ext uri="{FF2B5EF4-FFF2-40B4-BE49-F238E27FC236}">
                <a16:creationId xmlns:a16="http://schemas.microsoft.com/office/drawing/2014/main" id="{56B3E65C-7208-45AD-8083-A09EAAE3BBDD}"/>
              </a:ext>
            </a:extLst>
          </p:cNvPr>
          <p:cNvSpPr/>
          <p:nvPr/>
        </p:nvSpPr>
        <p:spPr bwMode="auto">
          <a:xfrm>
            <a:off x="5828824" y="4147130"/>
            <a:ext cx="338337" cy="366161"/>
          </a:xfrm>
          <a:custGeom>
            <a:avLst/>
            <a:gdLst>
              <a:gd name="connsiteX0" fmla="*/ 327780 w 561933"/>
              <a:gd name="connsiteY0" fmla="*/ 406780 h 608145"/>
              <a:gd name="connsiteX1" fmla="*/ 285069 w 561933"/>
              <a:gd name="connsiteY1" fmla="*/ 449434 h 608145"/>
              <a:gd name="connsiteX2" fmla="*/ 327780 w 561933"/>
              <a:gd name="connsiteY2" fmla="*/ 492088 h 608145"/>
              <a:gd name="connsiteX3" fmla="*/ 370490 w 561933"/>
              <a:gd name="connsiteY3" fmla="*/ 449434 h 608145"/>
              <a:gd name="connsiteX4" fmla="*/ 327780 w 561933"/>
              <a:gd name="connsiteY4" fmla="*/ 406780 h 608145"/>
              <a:gd name="connsiteX5" fmla="*/ 91381 w 561933"/>
              <a:gd name="connsiteY5" fmla="*/ 406780 h 608145"/>
              <a:gd name="connsiteX6" fmla="*/ 49664 w 561933"/>
              <a:gd name="connsiteY6" fmla="*/ 449434 h 608145"/>
              <a:gd name="connsiteX7" fmla="*/ 91381 w 561933"/>
              <a:gd name="connsiteY7" fmla="*/ 492088 h 608145"/>
              <a:gd name="connsiteX8" fmla="*/ 134092 w 561933"/>
              <a:gd name="connsiteY8" fmla="*/ 449434 h 608145"/>
              <a:gd name="connsiteX9" fmla="*/ 91381 w 561933"/>
              <a:gd name="connsiteY9" fmla="*/ 406780 h 608145"/>
              <a:gd name="connsiteX10" fmla="*/ 130119 w 561933"/>
              <a:gd name="connsiteY10" fmla="*/ 162762 h 608145"/>
              <a:gd name="connsiteX11" fmla="*/ 50657 w 561933"/>
              <a:gd name="connsiteY11" fmla="*/ 243110 h 608145"/>
              <a:gd name="connsiteX12" fmla="*/ 50657 w 561933"/>
              <a:gd name="connsiteY12" fmla="*/ 312546 h 608145"/>
              <a:gd name="connsiteX13" fmla="*/ 78468 w 561933"/>
              <a:gd name="connsiteY13" fmla="*/ 341312 h 608145"/>
              <a:gd name="connsiteX14" fmla="*/ 340692 w 561933"/>
              <a:gd name="connsiteY14" fmla="*/ 341312 h 608145"/>
              <a:gd name="connsiteX15" fmla="*/ 369497 w 561933"/>
              <a:gd name="connsiteY15" fmla="*/ 312546 h 608145"/>
              <a:gd name="connsiteX16" fmla="*/ 369497 w 561933"/>
              <a:gd name="connsiteY16" fmla="*/ 243110 h 608145"/>
              <a:gd name="connsiteX17" fmla="*/ 289042 w 561933"/>
              <a:gd name="connsiteY17" fmla="*/ 162762 h 608145"/>
              <a:gd name="connsiteX18" fmla="*/ 127139 w 561933"/>
              <a:gd name="connsiteY18" fmla="*/ 99278 h 608145"/>
              <a:gd name="connsiteX19" fmla="*/ 293015 w 561933"/>
              <a:gd name="connsiteY19" fmla="*/ 99278 h 608145"/>
              <a:gd name="connsiteX20" fmla="*/ 420154 w 561933"/>
              <a:gd name="connsiteY20" fmla="*/ 226247 h 608145"/>
              <a:gd name="connsiteX21" fmla="*/ 420154 w 561933"/>
              <a:gd name="connsiteY21" fmla="*/ 486136 h 608145"/>
              <a:gd name="connsiteX22" fmla="*/ 382410 w 561933"/>
              <a:gd name="connsiteY22" fmla="*/ 541685 h 608145"/>
              <a:gd name="connsiteX23" fmla="*/ 382410 w 561933"/>
              <a:gd name="connsiteY23" fmla="*/ 561524 h 608145"/>
              <a:gd name="connsiteX24" fmla="*/ 334733 w 561933"/>
              <a:gd name="connsiteY24" fmla="*/ 608145 h 608145"/>
              <a:gd name="connsiteX25" fmla="*/ 326786 w 561933"/>
              <a:gd name="connsiteY25" fmla="*/ 608145 h 608145"/>
              <a:gd name="connsiteX26" fmla="*/ 280103 w 561933"/>
              <a:gd name="connsiteY26" fmla="*/ 561524 h 608145"/>
              <a:gd name="connsiteX27" fmla="*/ 280103 w 561933"/>
              <a:gd name="connsiteY27" fmla="*/ 544661 h 608145"/>
              <a:gd name="connsiteX28" fmla="*/ 140051 w 561933"/>
              <a:gd name="connsiteY28" fmla="*/ 544661 h 608145"/>
              <a:gd name="connsiteX29" fmla="*/ 140051 w 561933"/>
              <a:gd name="connsiteY29" fmla="*/ 561524 h 608145"/>
              <a:gd name="connsiteX30" fmla="*/ 92374 w 561933"/>
              <a:gd name="connsiteY30" fmla="*/ 608145 h 608145"/>
              <a:gd name="connsiteX31" fmla="*/ 84428 w 561933"/>
              <a:gd name="connsiteY31" fmla="*/ 608145 h 608145"/>
              <a:gd name="connsiteX32" fmla="*/ 37744 w 561933"/>
              <a:gd name="connsiteY32" fmla="*/ 561524 h 608145"/>
              <a:gd name="connsiteX33" fmla="*/ 37744 w 561933"/>
              <a:gd name="connsiteY33" fmla="*/ 541685 h 608145"/>
              <a:gd name="connsiteX34" fmla="*/ 0 w 561933"/>
              <a:gd name="connsiteY34" fmla="*/ 486136 h 608145"/>
              <a:gd name="connsiteX35" fmla="*/ 0 w 561933"/>
              <a:gd name="connsiteY35" fmla="*/ 226247 h 608145"/>
              <a:gd name="connsiteX36" fmla="*/ 127139 w 561933"/>
              <a:gd name="connsiteY36" fmla="*/ 99278 h 608145"/>
              <a:gd name="connsiteX37" fmla="*/ 408232 w 561933"/>
              <a:gd name="connsiteY37" fmla="*/ 74504 h 608145"/>
              <a:gd name="connsiteX38" fmla="*/ 424139 w 561933"/>
              <a:gd name="connsiteY38" fmla="*/ 75495 h 608145"/>
              <a:gd name="connsiteX39" fmla="*/ 486772 w 561933"/>
              <a:gd name="connsiteY39" fmla="*/ 185587 h 608145"/>
              <a:gd name="connsiteX40" fmla="*/ 479813 w 561933"/>
              <a:gd name="connsiteY40" fmla="*/ 199473 h 608145"/>
              <a:gd name="connsiteX41" fmla="*/ 464901 w 561933"/>
              <a:gd name="connsiteY41" fmla="*/ 202448 h 608145"/>
              <a:gd name="connsiteX42" fmla="*/ 462912 w 561933"/>
              <a:gd name="connsiteY42" fmla="*/ 201456 h 608145"/>
              <a:gd name="connsiteX43" fmla="*/ 448994 w 561933"/>
              <a:gd name="connsiteY43" fmla="*/ 183604 h 608145"/>
              <a:gd name="connsiteX44" fmla="*/ 406244 w 561933"/>
              <a:gd name="connsiteY44" fmla="*/ 109217 h 608145"/>
              <a:gd name="connsiteX45" fmla="*/ 397296 w 561933"/>
              <a:gd name="connsiteY45" fmla="*/ 89381 h 608145"/>
              <a:gd name="connsiteX46" fmla="*/ 398291 w 561933"/>
              <a:gd name="connsiteY46" fmla="*/ 87397 h 608145"/>
              <a:gd name="connsiteX47" fmla="*/ 408232 w 561933"/>
              <a:gd name="connsiteY47" fmla="*/ 74504 h 608145"/>
              <a:gd name="connsiteX48" fmla="*/ 439969 w 561933"/>
              <a:gd name="connsiteY48" fmla="*/ 1081 h 608145"/>
              <a:gd name="connsiteX49" fmla="*/ 560176 w 561933"/>
              <a:gd name="connsiteY49" fmla="*/ 205408 h 608145"/>
              <a:gd name="connsiteX50" fmla="*/ 552228 w 561933"/>
              <a:gd name="connsiteY50" fmla="*/ 217311 h 608145"/>
              <a:gd name="connsiteX51" fmla="*/ 537326 w 561933"/>
              <a:gd name="connsiteY51" fmla="*/ 220286 h 608145"/>
              <a:gd name="connsiteX52" fmla="*/ 535340 w 561933"/>
              <a:gd name="connsiteY52" fmla="*/ 219294 h 608145"/>
              <a:gd name="connsiteX53" fmla="*/ 522425 w 561933"/>
              <a:gd name="connsiteY53" fmla="*/ 199457 h 608145"/>
              <a:gd name="connsiteX54" fmla="*/ 426061 w 561933"/>
              <a:gd name="connsiteY54" fmla="*/ 36788 h 608145"/>
              <a:gd name="connsiteX55" fmla="*/ 416126 w 561933"/>
              <a:gd name="connsiteY55" fmla="*/ 15959 h 608145"/>
              <a:gd name="connsiteX56" fmla="*/ 416126 w 561933"/>
              <a:gd name="connsiteY56" fmla="*/ 13975 h 608145"/>
              <a:gd name="connsiteX57" fmla="*/ 425067 w 561933"/>
              <a:gd name="connsiteY57" fmla="*/ 2073 h 608145"/>
              <a:gd name="connsiteX58" fmla="*/ 439969 w 561933"/>
              <a:gd name="connsiteY58" fmla="*/ 1081 h 608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61933" h="608145">
                <a:moveTo>
                  <a:pt x="327780" y="406780"/>
                </a:moveTo>
                <a:cubicBezTo>
                  <a:pt x="303941" y="406780"/>
                  <a:pt x="285069" y="425627"/>
                  <a:pt x="285069" y="449434"/>
                </a:cubicBezTo>
                <a:cubicBezTo>
                  <a:pt x="285069" y="473241"/>
                  <a:pt x="303941" y="492088"/>
                  <a:pt x="327780" y="492088"/>
                </a:cubicBezTo>
                <a:cubicBezTo>
                  <a:pt x="350625" y="492088"/>
                  <a:pt x="370490" y="473241"/>
                  <a:pt x="370490" y="449434"/>
                </a:cubicBezTo>
                <a:cubicBezTo>
                  <a:pt x="370490" y="425627"/>
                  <a:pt x="350625" y="406780"/>
                  <a:pt x="327780" y="406780"/>
                </a:cubicBezTo>
                <a:close/>
                <a:moveTo>
                  <a:pt x="91381" y="406780"/>
                </a:moveTo>
                <a:cubicBezTo>
                  <a:pt x="68536" y="406780"/>
                  <a:pt x="49664" y="425627"/>
                  <a:pt x="49664" y="449434"/>
                </a:cubicBezTo>
                <a:cubicBezTo>
                  <a:pt x="49664" y="473241"/>
                  <a:pt x="68536" y="492088"/>
                  <a:pt x="91381" y="492088"/>
                </a:cubicBezTo>
                <a:cubicBezTo>
                  <a:pt x="115220" y="492088"/>
                  <a:pt x="134092" y="473241"/>
                  <a:pt x="134092" y="449434"/>
                </a:cubicBezTo>
                <a:cubicBezTo>
                  <a:pt x="134092" y="425627"/>
                  <a:pt x="115220" y="406780"/>
                  <a:pt x="91381" y="406780"/>
                </a:cubicBezTo>
                <a:close/>
                <a:moveTo>
                  <a:pt x="130119" y="162762"/>
                </a:moveTo>
                <a:cubicBezTo>
                  <a:pt x="86415" y="162762"/>
                  <a:pt x="50657" y="198472"/>
                  <a:pt x="50657" y="243110"/>
                </a:cubicBezTo>
                <a:lnTo>
                  <a:pt x="50657" y="312546"/>
                </a:lnTo>
                <a:cubicBezTo>
                  <a:pt x="50657" y="328417"/>
                  <a:pt x="62576" y="341312"/>
                  <a:pt x="78468" y="341312"/>
                </a:cubicBezTo>
                <a:lnTo>
                  <a:pt x="340692" y="341312"/>
                </a:lnTo>
                <a:cubicBezTo>
                  <a:pt x="356585" y="341312"/>
                  <a:pt x="369497" y="328417"/>
                  <a:pt x="369497" y="312546"/>
                </a:cubicBezTo>
                <a:lnTo>
                  <a:pt x="369497" y="243110"/>
                </a:lnTo>
                <a:cubicBezTo>
                  <a:pt x="369497" y="198472"/>
                  <a:pt x="332746" y="162762"/>
                  <a:pt x="289042" y="162762"/>
                </a:cubicBezTo>
                <a:close/>
                <a:moveTo>
                  <a:pt x="127139" y="99278"/>
                </a:moveTo>
                <a:lnTo>
                  <a:pt x="293015" y="99278"/>
                </a:lnTo>
                <a:cubicBezTo>
                  <a:pt x="363538" y="99278"/>
                  <a:pt x="420154" y="155819"/>
                  <a:pt x="420154" y="226247"/>
                </a:cubicBezTo>
                <a:lnTo>
                  <a:pt x="420154" y="486136"/>
                </a:lnTo>
                <a:cubicBezTo>
                  <a:pt x="420154" y="511926"/>
                  <a:pt x="404262" y="532757"/>
                  <a:pt x="382410" y="541685"/>
                </a:cubicBezTo>
                <a:lnTo>
                  <a:pt x="382410" y="561524"/>
                </a:lnTo>
                <a:cubicBezTo>
                  <a:pt x="382410" y="587314"/>
                  <a:pt x="360558" y="608145"/>
                  <a:pt x="334733" y="608145"/>
                </a:cubicBezTo>
                <a:lnTo>
                  <a:pt x="326786" y="608145"/>
                </a:lnTo>
                <a:cubicBezTo>
                  <a:pt x="300961" y="608145"/>
                  <a:pt x="280103" y="587314"/>
                  <a:pt x="280103" y="561524"/>
                </a:cubicBezTo>
                <a:lnTo>
                  <a:pt x="280103" y="544661"/>
                </a:lnTo>
                <a:lnTo>
                  <a:pt x="140051" y="544661"/>
                </a:lnTo>
                <a:lnTo>
                  <a:pt x="140051" y="561524"/>
                </a:lnTo>
                <a:cubicBezTo>
                  <a:pt x="140051" y="587314"/>
                  <a:pt x="118199" y="608145"/>
                  <a:pt x="92374" y="608145"/>
                </a:cubicBezTo>
                <a:lnTo>
                  <a:pt x="84428" y="608145"/>
                </a:lnTo>
                <a:cubicBezTo>
                  <a:pt x="58603" y="608145"/>
                  <a:pt x="37744" y="587314"/>
                  <a:pt x="37744" y="561524"/>
                </a:cubicBezTo>
                <a:lnTo>
                  <a:pt x="37744" y="541685"/>
                </a:lnTo>
                <a:cubicBezTo>
                  <a:pt x="14899" y="532757"/>
                  <a:pt x="0" y="511926"/>
                  <a:pt x="0" y="486136"/>
                </a:cubicBezTo>
                <a:lnTo>
                  <a:pt x="0" y="226247"/>
                </a:lnTo>
                <a:cubicBezTo>
                  <a:pt x="0" y="155819"/>
                  <a:pt x="56616" y="99278"/>
                  <a:pt x="127139" y="99278"/>
                </a:cubicBezTo>
                <a:close/>
                <a:moveTo>
                  <a:pt x="408232" y="74504"/>
                </a:moveTo>
                <a:cubicBezTo>
                  <a:pt x="413203" y="72520"/>
                  <a:pt x="419168" y="72520"/>
                  <a:pt x="424139" y="75495"/>
                </a:cubicBezTo>
                <a:cubicBezTo>
                  <a:pt x="464901" y="96324"/>
                  <a:pt x="489755" y="139964"/>
                  <a:pt x="486772" y="185587"/>
                </a:cubicBezTo>
                <a:cubicBezTo>
                  <a:pt x="486772" y="190546"/>
                  <a:pt x="483790" y="195505"/>
                  <a:pt x="479813" y="199473"/>
                </a:cubicBezTo>
                <a:cubicBezTo>
                  <a:pt x="475836" y="202448"/>
                  <a:pt x="469871" y="203440"/>
                  <a:pt x="464901" y="202448"/>
                </a:cubicBezTo>
                <a:lnTo>
                  <a:pt x="462912" y="201456"/>
                </a:lnTo>
                <a:cubicBezTo>
                  <a:pt x="453965" y="199473"/>
                  <a:pt x="448994" y="191538"/>
                  <a:pt x="448994" y="183604"/>
                </a:cubicBezTo>
                <a:cubicBezTo>
                  <a:pt x="450982" y="152857"/>
                  <a:pt x="434081" y="123103"/>
                  <a:pt x="406244" y="109217"/>
                </a:cubicBezTo>
                <a:cubicBezTo>
                  <a:pt x="399285" y="105250"/>
                  <a:pt x="395308" y="97315"/>
                  <a:pt x="397296" y="89381"/>
                </a:cubicBezTo>
                <a:lnTo>
                  <a:pt x="398291" y="87397"/>
                </a:lnTo>
                <a:cubicBezTo>
                  <a:pt x="399285" y="81446"/>
                  <a:pt x="403261" y="77479"/>
                  <a:pt x="408232" y="74504"/>
                </a:cubicBezTo>
                <a:close/>
                <a:moveTo>
                  <a:pt x="439969" y="1081"/>
                </a:moveTo>
                <a:cubicBezTo>
                  <a:pt x="522425" y="32821"/>
                  <a:pt x="572097" y="118123"/>
                  <a:pt x="560176" y="205408"/>
                </a:cubicBezTo>
                <a:cubicBezTo>
                  <a:pt x="559182" y="210367"/>
                  <a:pt x="556202" y="214335"/>
                  <a:pt x="552228" y="217311"/>
                </a:cubicBezTo>
                <a:cubicBezTo>
                  <a:pt x="548254" y="220286"/>
                  <a:pt x="542294" y="221278"/>
                  <a:pt x="537326" y="220286"/>
                </a:cubicBezTo>
                <a:lnTo>
                  <a:pt x="535340" y="219294"/>
                </a:lnTo>
                <a:cubicBezTo>
                  <a:pt x="526399" y="217311"/>
                  <a:pt x="520438" y="208384"/>
                  <a:pt x="522425" y="199457"/>
                </a:cubicBezTo>
                <a:cubicBezTo>
                  <a:pt x="531366" y="130025"/>
                  <a:pt x="491628" y="62577"/>
                  <a:pt x="426061" y="36788"/>
                </a:cubicBezTo>
                <a:cubicBezTo>
                  <a:pt x="418113" y="33813"/>
                  <a:pt x="413146" y="24886"/>
                  <a:pt x="416126" y="15959"/>
                </a:cubicBezTo>
                <a:lnTo>
                  <a:pt x="416126" y="13975"/>
                </a:lnTo>
                <a:cubicBezTo>
                  <a:pt x="417120" y="9016"/>
                  <a:pt x="421094" y="4056"/>
                  <a:pt x="425067" y="2073"/>
                </a:cubicBezTo>
                <a:cubicBezTo>
                  <a:pt x="430035" y="89"/>
                  <a:pt x="435002" y="-903"/>
                  <a:pt x="439969" y="1081"/>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endParaRPr lang="zh-CN" altLang="en-US">
              <a:solidFill>
                <a:srgbClr val="000000"/>
              </a:solidFill>
              <a:latin typeface="Arial" panose="020F0502020204030204"/>
              <a:ea typeface="微软雅黑"/>
              <a:cs typeface="+mn-ea"/>
              <a:sym typeface="+mn-lt"/>
            </a:endParaRPr>
          </a:p>
        </p:txBody>
      </p:sp>
      <p:sp>
        <p:nvSpPr>
          <p:cNvPr id="42" name="ïslíḓé">
            <a:extLst>
              <a:ext uri="{FF2B5EF4-FFF2-40B4-BE49-F238E27FC236}">
                <a16:creationId xmlns:a16="http://schemas.microsoft.com/office/drawing/2014/main" id="{28DA0E7F-F2B6-FD43-9EC1-6C7CC071389F}"/>
              </a:ext>
            </a:extLst>
          </p:cNvPr>
          <p:cNvSpPr/>
          <p:nvPr/>
        </p:nvSpPr>
        <p:spPr bwMode="auto">
          <a:xfrm>
            <a:off x="5815461" y="5339493"/>
            <a:ext cx="363264" cy="320996"/>
          </a:xfrm>
          <a:custGeom>
            <a:avLst/>
            <a:gdLst>
              <a:gd name="connsiteX0" fmla="*/ 494452 w 603405"/>
              <a:gd name="connsiteY0" fmla="*/ 356003 h 533193"/>
              <a:gd name="connsiteX1" fmla="*/ 585270 w 603405"/>
              <a:gd name="connsiteY1" fmla="*/ 356003 h 533193"/>
              <a:gd name="connsiteX2" fmla="*/ 601782 w 603405"/>
              <a:gd name="connsiteY2" fmla="*/ 372480 h 533193"/>
              <a:gd name="connsiteX3" fmla="*/ 585270 w 603405"/>
              <a:gd name="connsiteY3" fmla="*/ 388957 h 533193"/>
              <a:gd name="connsiteX4" fmla="*/ 494452 w 603405"/>
              <a:gd name="connsiteY4" fmla="*/ 388957 h 533193"/>
              <a:gd name="connsiteX5" fmla="*/ 367511 w 603405"/>
              <a:gd name="connsiteY5" fmla="*/ 244227 h 533193"/>
              <a:gd name="connsiteX6" fmla="*/ 443780 w 603405"/>
              <a:gd name="connsiteY6" fmla="*/ 244227 h 533193"/>
              <a:gd name="connsiteX7" fmla="*/ 477411 w 603405"/>
              <a:gd name="connsiteY7" fmla="*/ 277633 h 533193"/>
              <a:gd name="connsiteX8" fmla="*/ 477861 w 603405"/>
              <a:gd name="connsiteY8" fmla="*/ 381744 h 533193"/>
              <a:gd name="connsiteX9" fmla="*/ 463748 w 603405"/>
              <a:gd name="connsiteY9" fmla="*/ 395975 h 533193"/>
              <a:gd name="connsiteX10" fmla="*/ 449486 w 603405"/>
              <a:gd name="connsiteY10" fmla="*/ 381894 h 533193"/>
              <a:gd name="connsiteX11" fmla="*/ 449035 w 603405"/>
              <a:gd name="connsiteY11" fmla="*/ 277782 h 533193"/>
              <a:gd name="connsiteX12" fmla="*/ 446033 w 603405"/>
              <a:gd name="connsiteY12" fmla="*/ 274786 h 533193"/>
              <a:gd name="connsiteX13" fmla="*/ 443030 w 603405"/>
              <a:gd name="connsiteY13" fmla="*/ 277782 h 533193"/>
              <a:gd name="connsiteX14" fmla="*/ 443330 w 603405"/>
              <a:gd name="connsiteY14" fmla="*/ 516116 h 533193"/>
              <a:gd name="connsiteX15" fmla="*/ 426215 w 603405"/>
              <a:gd name="connsiteY15" fmla="*/ 533193 h 533193"/>
              <a:gd name="connsiteX16" fmla="*/ 409249 w 603405"/>
              <a:gd name="connsiteY16" fmla="*/ 516116 h 533193"/>
              <a:gd name="connsiteX17" fmla="*/ 409249 w 603405"/>
              <a:gd name="connsiteY17" fmla="*/ 380096 h 533193"/>
              <a:gd name="connsiteX18" fmla="*/ 401893 w 603405"/>
              <a:gd name="connsiteY18" fmla="*/ 380096 h 533193"/>
              <a:gd name="connsiteX19" fmla="*/ 401893 w 603405"/>
              <a:gd name="connsiteY19" fmla="*/ 516116 h 533193"/>
              <a:gd name="connsiteX20" fmla="*/ 384778 w 603405"/>
              <a:gd name="connsiteY20" fmla="*/ 533193 h 533193"/>
              <a:gd name="connsiteX21" fmla="*/ 367812 w 603405"/>
              <a:gd name="connsiteY21" fmla="*/ 516116 h 533193"/>
              <a:gd name="connsiteX22" fmla="*/ 367812 w 603405"/>
              <a:gd name="connsiteY22" fmla="*/ 380096 h 533193"/>
              <a:gd name="connsiteX23" fmla="*/ 367812 w 603405"/>
              <a:gd name="connsiteY23" fmla="*/ 277782 h 533193"/>
              <a:gd name="connsiteX24" fmla="*/ 364959 w 603405"/>
              <a:gd name="connsiteY24" fmla="*/ 274936 h 533193"/>
              <a:gd name="connsiteX25" fmla="*/ 362257 w 603405"/>
              <a:gd name="connsiteY25" fmla="*/ 277782 h 533193"/>
              <a:gd name="connsiteX26" fmla="*/ 361656 w 603405"/>
              <a:gd name="connsiteY26" fmla="*/ 381894 h 533193"/>
              <a:gd name="connsiteX27" fmla="*/ 347544 w 603405"/>
              <a:gd name="connsiteY27" fmla="*/ 395975 h 533193"/>
              <a:gd name="connsiteX28" fmla="*/ 347393 w 603405"/>
              <a:gd name="connsiteY28" fmla="*/ 395975 h 533193"/>
              <a:gd name="connsiteX29" fmla="*/ 333281 w 603405"/>
              <a:gd name="connsiteY29" fmla="*/ 381744 h 533193"/>
              <a:gd name="connsiteX30" fmla="*/ 333881 w 603405"/>
              <a:gd name="connsiteY30" fmla="*/ 277633 h 533193"/>
              <a:gd name="connsiteX31" fmla="*/ 367511 w 603405"/>
              <a:gd name="connsiteY31" fmla="*/ 244227 h 533193"/>
              <a:gd name="connsiteX32" fmla="*/ 201525 w 603405"/>
              <a:gd name="connsiteY32" fmla="*/ 244227 h 533193"/>
              <a:gd name="connsiteX33" fmla="*/ 277906 w 603405"/>
              <a:gd name="connsiteY33" fmla="*/ 244227 h 533193"/>
              <a:gd name="connsiteX34" fmla="*/ 311520 w 603405"/>
              <a:gd name="connsiteY34" fmla="*/ 277633 h 533193"/>
              <a:gd name="connsiteX35" fmla="*/ 311970 w 603405"/>
              <a:gd name="connsiteY35" fmla="*/ 381744 h 533193"/>
              <a:gd name="connsiteX36" fmla="*/ 297864 w 603405"/>
              <a:gd name="connsiteY36" fmla="*/ 395975 h 533193"/>
              <a:gd name="connsiteX37" fmla="*/ 297714 w 603405"/>
              <a:gd name="connsiteY37" fmla="*/ 395975 h 533193"/>
              <a:gd name="connsiteX38" fmla="*/ 283608 w 603405"/>
              <a:gd name="connsiteY38" fmla="*/ 381894 h 533193"/>
              <a:gd name="connsiteX39" fmla="*/ 283008 w 603405"/>
              <a:gd name="connsiteY39" fmla="*/ 277782 h 533193"/>
              <a:gd name="connsiteX40" fmla="*/ 280007 w 603405"/>
              <a:gd name="connsiteY40" fmla="*/ 274786 h 533193"/>
              <a:gd name="connsiteX41" fmla="*/ 277156 w 603405"/>
              <a:gd name="connsiteY41" fmla="*/ 277782 h 533193"/>
              <a:gd name="connsiteX42" fmla="*/ 277456 w 603405"/>
              <a:gd name="connsiteY42" fmla="*/ 516116 h 533193"/>
              <a:gd name="connsiteX43" fmla="*/ 260349 w 603405"/>
              <a:gd name="connsiteY43" fmla="*/ 533193 h 533193"/>
              <a:gd name="connsiteX44" fmla="*/ 243242 w 603405"/>
              <a:gd name="connsiteY44" fmla="*/ 516116 h 533193"/>
              <a:gd name="connsiteX45" fmla="*/ 243242 w 603405"/>
              <a:gd name="connsiteY45" fmla="*/ 380096 h 533193"/>
              <a:gd name="connsiteX46" fmla="*/ 235889 w 603405"/>
              <a:gd name="connsiteY46" fmla="*/ 380096 h 533193"/>
              <a:gd name="connsiteX47" fmla="*/ 235889 w 603405"/>
              <a:gd name="connsiteY47" fmla="*/ 516116 h 533193"/>
              <a:gd name="connsiteX48" fmla="*/ 218932 w 603405"/>
              <a:gd name="connsiteY48" fmla="*/ 533193 h 533193"/>
              <a:gd name="connsiteX49" fmla="*/ 201825 w 603405"/>
              <a:gd name="connsiteY49" fmla="*/ 516116 h 533193"/>
              <a:gd name="connsiteX50" fmla="*/ 201825 w 603405"/>
              <a:gd name="connsiteY50" fmla="*/ 380096 h 533193"/>
              <a:gd name="connsiteX51" fmla="*/ 201825 w 603405"/>
              <a:gd name="connsiteY51" fmla="*/ 277782 h 533193"/>
              <a:gd name="connsiteX52" fmla="*/ 199124 w 603405"/>
              <a:gd name="connsiteY52" fmla="*/ 274936 h 533193"/>
              <a:gd name="connsiteX53" fmla="*/ 196423 w 603405"/>
              <a:gd name="connsiteY53" fmla="*/ 277782 h 533193"/>
              <a:gd name="connsiteX54" fmla="*/ 195822 w 603405"/>
              <a:gd name="connsiteY54" fmla="*/ 381894 h 533193"/>
              <a:gd name="connsiteX55" fmla="*/ 181567 w 603405"/>
              <a:gd name="connsiteY55" fmla="*/ 395975 h 533193"/>
              <a:gd name="connsiteX56" fmla="*/ 167461 w 603405"/>
              <a:gd name="connsiteY56" fmla="*/ 381744 h 533193"/>
              <a:gd name="connsiteX57" fmla="*/ 167911 w 603405"/>
              <a:gd name="connsiteY57" fmla="*/ 277633 h 533193"/>
              <a:gd name="connsiteX58" fmla="*/ 201525 w 603405"/>
              <a:gd name="connsiteY58" fmla="*/ 244227 h 533193"/>
              <a:gd name="connsiteX59" fmla="*/ 34214 w 603405"/>
              <a:gd name="connsiteY59" fmla="*/ 244227 h 533193"/>
              <a:gd name="connsiteX60" fmla="*/ 110445 w 603405"/>
              <a:gd name="connsiteY60" fmla="*/ 244227 h 533193"/>
              <a:gd name="connsiteX61" fmla="*/ 144059 w 603405"/>
              <a:gd name="connsiteY61" fmla="*/ 277633 h 533193"/>
              <a:gd name="connsiteX62" fmla="*/ 144509 w 603405"/>
              <a:gd name="connsiteY62" fmla="*/ 381744 h 533193"/>
              <a:gd name="connsiteX63" fmla="*/ 130403 w 603405"/>
              <a:gd name="connsiteY63" fmla="*/ 395975 h 533193"/>
              <a:gd name="connsiteX64" fmla="*/ 116147 w 603405"/>
              <a:gd name="connsiteY64" fmla="*/ 381894 h 533193"/>
              <a:gd name="connsiteX65" fmla="*/ 115697 w 603405"/>
              <a:gd name="connsiteY65" fmla="*/ 277782 h 533193"/>
              <a:gd name="connsiteX66" fmla="*/ 112696 w 603405"/>
              <a:gd name="connsiteY66" fmla="*/ 274786 h 533193"/>
              <a:gd name="connsiteX67" fmla="*/ 109694 w 603405"/>
              <a:gd name="connsiteY67" fmla="*/ 277782 h 533193"/>
              <a:gd name="connsiteX68" fmla="*/ 109995 w 603405"/>
              <a:gd name="connsiteY68" fmla="*/ 516116 h 533193"/>
              <a:gd name="connsiteX69" fmla="*/ 92888 w 603405"/>
              <a:gd name="connsiteY69" fmla="*/ 533193 h 533193"/>
              <a:gd name="connsiteX70" fmla="*/ 75931 w 603405"/>
              <a:gd name="connsiteY70" fmla="*/ 516116 h 533193"/>
              <a:gd name="connsiteX71" fmla="*/ 75931 w 603405"/>
              <a:gd name="connsiteY71" fmla="*/ 380096 h 533193"/>
              <a:gd name="connsiteX72" fmla="*/ 68578 w 603405"/>
              <a:gd name="connsiteY72" fmla="*/ 380096 h 533193"/>
              <a:gd name="connsiteX73" fmla="*/ 68578 w 603405"/>
              <a:gd name="connsiteY73" fmla="*/ 516116 h 533193"/>
              <a:gd name="connsiteX74" fmla="*/ 51471 w 603405"/>
              <a:gd name="connsiteY74" fmla="*/ 533193 h 533193"/>
              <a:gd name="connsiteX75" fmla="*/ 34364 w 603405"/>
              <a:gd name="connsiteY75" fmla="*/ 516116 h 533193"/>
              <a:gd name="connsiteX76" fmla="*/ 34364 w 603405"/>
              <a:gd name="connsiteY76" fmla="*/ 380096 h 533193"/>
              <a:gd name="connsiteX77" fmla="*/ 34364 w 603405"/>
              <a:gd name="connsiteY77" fmla="*/ 277782 h 533193"/>
              <a:gd name="connsiteX78" fmla="*/ 31663 w 603405"/>
              <a:gd name="connsiteY78" fmla="*/ 275086 h 533193"/>
              <a:gd name="connsiteX79" fmla="*/ 28962 w 603405"/>
              <a:gd name="connsiteY79" fmla="*/ 277782 h 533193"/>
              <a:gd name="connsiteX80" fmla="*/ 28361 w 603405"/>
              <a:gd name="connsiteY80" fmla="*/ 381894 h 533193"/>
              <a:gd name="connsiteX81" fmla="*/ 14256 w 603405"/>
              <a:gd name="connsiteY81" fmla="*/ 395975 h 533193"/>
              <a:gd name="connsiteX82" fmla="*/ 14106 w 603405"/>
              <a:gd name="connsiteY82" fmla="*/ 395975 h 533193"/>
              <a:gd name="connsiteX83" fmla="*/ 0 w 603405"/>
              <a:gd name="connsiteY83" fmla="*/ 381744 h 533193"/>
              <a:gd name="connsiteX84" fmla="*/ 600 w 603405"/>
              <a:gd name="connsiteY84" fmla="*/ 277633 h 533193"/>
              <a:gd name="connsiteX85" fmla="*/ 34214 w 603405"/>
              <a:gd name="connsiteY85" fmla="*/ 244227 h 533193"/>
              <a:gd name="connsiteX86" fmla="*/ 298774 w 603405"/>
              <a:gd name="connsiteY86" fmla="*/ 232090 h 533193"/>
              <a:gd name="connsiteX87" fmla="*/ 346547 w 603405"/>
              <a:gd name="connsiteY87" fmla="*/ 232090 h 533193"/>
              <a:gd name="connsiteX88" fmla="*/ 322660 w 603405"/>
              <a:gd name="connsiteY88" fmla="*/ 254883 h 533193"/>
              <a:gd name="connsiteX89" fmla="*/ 298774 w 603405"/>
              <a:gd name="connsiteY89" fmla="*/ 232090 h 533193"/>
              <a:gd name="connsiteX90" fmla="*/ 405716 w 603405"/>
              <a:gd name="connsiteY90" fmla="*/ 176061 h 533193"/>
              <a:gd name="connsiteX91" fmla="*/ 435177 w 603405"/>
              <a:gd name="connsiteY91" fmla="*/ 205417 h 533193"/>
              <a:gd name="connsiteX92" fmla="*/ 405716 w 603405"/>
              <a:gd name="connsiteY92" fmla="*/ 234773 h 533193"/>
              <a:gd name="connsiteX93" fmla="*/ 376255 w 603405"/>
              <a:gd name="connsiteY93" fmla="*/ 205417 h 533193"/>
              <a:gd name="connsiteX94" fmla="*/ 405716 w 603405"/>
              <a:gd name="connsiteY94" fmla="*/ 176061 h 533193"/>
              <a:gd name="connsiteX95" fmla="*/ 239817 w 603405"/>
              <a:gd name="connsiteY95" fmla="*/ 176061 h 533193"/>
              <a:gd name="connsiteX96" fmla="*/ 269208 w 603405"/>
              <a:gd name="connsiteY96" fmla="*/ 205417 h 533193"/>
              <a:gd name="connsiteX97" fmla="*/ 239817 w 603405"/>
              <a:gd name="connsiteY97" fmla="*/ 234773 h 533193"/>
              <a:gd name="connsiteX98" fmla="*/ 210426 w 603405"/>
              <a:gd name="connsiteY98" fmla="*/ 205417 h 533193"/>
              <a:gd name="connsiteX99" fmla="*/ 239817 w 603405"/>
              <a:gd name="connsiteY99" fmla="*/ 176061 h 533193"/>
              <a:gd name="connsiteX100" fmla="*/ 72325 w 603405"/>
              <a:gd name="connsiteY100" fmla="*/ 176061 h 533193"/>
              <a:gd name="connsiteX101" fmla="*/ 101897 w 603405"/>
              <a:gd name="connsiteY101" fmla="*/ 205416 h 533193"/>
              <a:gd name="connsiteX102" fmla="*/ 72325 w 603405"/>
              <a:gd name="connsiteY102" fmla="*/ 234772 h 533193"/>
              <a:gd name="connsiteX103" fmla="*/ 42904 w 603405"/>
              <a:gd name="connsiteY103" fmla="*/ 205416 h 533193"/>
              <a:gd name="connsiteX104" fmla="*/ 72325 w 603405"/>
              <a:gd name="connsiteY104" fmla="*/ 176061 h 533193"/>
              <a:gd name="connsiteX105" fmla="*/ 1200 w 603405"/>
              <a:gd name="connsiteY105" fmla="*/ 56241 h 533193"/>
              <a:gd name="connsiteX106" fmla="*/ 384613 w 603405"/>
              <a:gd name="connsiteY106" fmla="*/ 56241 h 533193"/>
              <a:gd name="connsiteX107" fmla="*/ 603405 w 603405"/>
              <a:gd name="connsiteY107" fmla="*/ 274494 h 533193"/>
              <a:gd name="connsiteX108" fmla="*/ 540979 w 603405"/>
              <a:gd name="connsiteY108" fmla="*/ 336809 h 533193"/>
              <a:gd name="connsiteX109" fmla="*/ 494459 w 603405"/>
              <a:gd name="connsiteY109" fmla="*/ 336809 h 533193"/>
              <a:gd name="connsiteX110" fmla="*/ 494159 w 603405"/>
              <a:gd name="connsiteY110" fmla="*/ 277490 h 533193"/>
              <a:gd name="connsiteX111" fmla="*/ 464747 w 603405"/>
              <a:gd name="connsiteY111" fmla="*/ 232102 h 533193"/>
              <a:gd name="connsiteX112" fmla="*/ 551333 w 603405"/>
              <a:gd name="connsiteY112" fmla="*/ 232102 h 533193"/>
              <a:gd name="connsiteX113" fmla="*/ 551483 w 603405"/>
              <a:gd name="connsiteY113" fmla="*/ 232102 h 533193"/>
              <a:gd name="connsiteX114" fmla="*/ 557636 w 603405"/>
              <a:gd name="connsiteY114" fmla="*/ 228806 h 533193"/>
              <a:gd name="connsiteX115" fmla="*/ 558236 w 603405"/>
              <a:gd name="connsiteY115" fmla="*/ 221766 h 533193"/>
              <a:gd name="connsiteX116" fmla="*/ 504663 w 603405"/>
              <a:gd name="connsiteY116" fmla="*/ 136532 h 533193"/>
              <a:gd name="connsiteX117" fmla="*/ 415676 w 603405"/>
              <a:gd name="connsiteY117" fmla="*/ 97585 h 533193"/>
              <a:gd name="connsiteX118" fmla="*/ 397968 w 603405"/>
              <a:gd name="connsiteY118" fmla="*/ 97585 h 533193"/>
              <a:gd name="connsiteX119" fmla="*/ 397968 w 603405"/>
              <a:gd name="connsiteY119" fmla="*/ 159900 h 533193"/>
              <a:gd name="connsiteX120" fmla="*/ 364954 w 603405"/>
              <a:gd name="connsiteY120" fmla="*/ 183568 h 533193"/>
              <a:gd name="connsiteX121" fmla="*/ 364954 w 603405"/>
              <a:gd name="connsiteY121" fmla="*/ 97585 h 533193"/>
              <a:gd name="connsiteX122" fmla="*/ 174223 w 603405"/>
              <a:gd name="connsiteY122" fmla="*/ 97585 h 533193"/>
              <a:gd name="connsiteX123" fmla="*/ 174223 w 603405"/>
              <a:gd name="connsiteY123" fmla="*/ 232102 h 533193"/>
              <a:gd name="connsiteX124" fmla="*/ 180526 w 603405"/>
              <a:gd name="connsiteY124" fmla="*/ 232102 h 533193"/>
              <a:gd name="connsiteX125" fmla="*/ 174223 w 603405"/>
              <a:gd name="connsiteY125" fmla="*/ 235547 h 533193"/>
              <a:gd name="connsiteX126" fmla="*/ 156065 w 603405"/>
              <a:gd name="connsiteY126" fmla="*/ 256369 h 533193"/>
              <a:gd name="connsiteX127" fmla="*/ 141209 w 603405"/>
              <a:gd name="connsiteY127" fmla="*/ 238093 h 533193"/>
              <a:gd name="connsiteX128" fmla="*/ 131455 w 603405"/>
              <a:gd name="connsiteY128" fmla="*/ 232102 h 533193"/>
              <a:gd name="connsiteX129" fmla="*/ 141209 w 603405"/>
              <a:gd name="connsiteY129" fmla="*/ 232102 h 533193"/>
              <a:gd name="connsiteX130" fmla="*/ 141209 w 603405"/>
              <a:gd name="connsiteY130" fmla="*/ 97585 h 533193"/>
              <a:gd name="connsiteX131" fmla="*/ 1200 w 603405"/>
              <a:gd name="connsiteY131" fmla="*/ 97585 h 533193"/>
              <a:gd name="connsiteX132" fmla="*/ 30337 w 603405"/>
              <a:gd name="connsiteY132" fmla="*/ 0 h 533193"/>
              <a:gd name="connsiteX133" fmla="*/ 450496 w 603405"/>
              <a:gd name="connsiteY133" fmla="*/ 0 h 533193"/>
              <a:gd name="connsiteX134" fmla="*/ 467002 w 603405"/>
              <a:gd name="connsiteY134" fmla="*/ 16512 h 533193"/>
              <a:gd name="connsiteX135" fmla="*/ 450496 w 603405"/>
              <a:gd name="connsiteY135" fmla="*/ 33025 h 533193"/>
              <a:gd name="connsiteX136" fmla="*/ 30337 w 603405"/>
              <a:gd name="connsiteY136" fmla="*/ 33025 h 533193"/>
              <a:gd name="connsiteX137" fmla="*/ 13831 w 603405"/>
              <a:gd name="connsiteY137" fmla="*/ 16512 h 533193"/>
              <a:gd name="connsiteX138" fmla="*/ 30337 w 603405"/>
              <a:gd name="connsiteY138" fmla="*/ 0 h 533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603405" h="533193">
                <a:moveTo>
                  <a:pt x="494452" y="356003"/>
                </a:moveTo>
                <a:lnTo>
                  <a:pt x="585270" y="356003"/>
                </a:lnTo>
                <a:cubicBezTo>
                  <a:pt x="594277" y="356003"/>
                  <a:pt x="601782" y="363343"/>
                  <a:pt x="601782" y="372480"/>
                </a:cubicBezTo>
                <a:cubicBezTo>
                  <a:pt x="601782" y="381617"/>
                  <a:pt x="594277" y="388957"/>
                  <a:pt x="585270" y="388957"/>
                </a:cubicBezTo>
                <a:lnTo>
                  <a:pt x="494452" y="388957"/>
                </a:lnTo>
                <a:close/>
                <a:moveTo>
                  <a:pt x="367511" y="244227"/>
                </a:moveTo>
                <a:lnTo>
                  <a:pt x="443780" y="244227"/>
                </a:lnTo>
                <a:cubicBezTo>
                  <a:pt x="462247" y="244227"/>
                  <a:pt x="477261" y="259207"/>
                  <a:pt x="477411" y="277633"/>
                </a:cubicBezTo>
                <a:lnTo>
                  <a:pt x="477861" y="381744"/>
                </a:lnTo>
                <a:cubicBezTo>
                  <a:pt x="478011" y="389534"/>
                  <a:pt x="471706" y="395975"/>
                  <a:pt x="463748" y="395975"/>
                </a:cubicBezTo>
                <a:cubicBezTo>
                  <a:pt x="455941" y="395975"/>
                  <a:pt x="449486" y="389684"/>
                  <a:pt x="449486" y="381894"/>
                </a:cubicBezTo>
                <a:lnTo>
                  <a:pt x="449035" y="277782"/>
                </a:lnTo>
                <a:cubicBezTo>
                  <a:pt x="449035" y="276135"/>
                  <a:pt x="447684" y="274786"/>
                  <a:pt x="446033" y="274786"/>
                </a:cubicBezTo>
                <a:cubicBezTo>
                  <a:pt x="444381" y="274786"/>
                  <a:pt x="443030" y="276135"/>
                  <a:pt x="443030" y="277782"/>
                </a:cubicBezTo>
                <a:cubicBezTo>
                  <a:pt x="443030" y="419944"/>
                  <a:pt x="443330" y="291115"/>
                  <a:pt x="443330" y="516116"/>
                </a:cubicBezTo>
                <a:cubicBezTo>
                  <a:pt x="443330" y="525553"/>
                  <a:pt x="435673" y="533193"/>
                  <a:pt x="426215" y="533193"/>
                </a:cubicBezTo>
                <a:cubicBezTo>
                  <a:pt x="416906" y="533193"/>
                  <a:pt x="409249" y="525553"/>
                  <a:pt x="409249" y="516116"/>
                </a:cubicBezTo>
                <a:lnTo>
                  <a:pt x="409249" y="380096"/>
                </a:lnTo>
                <a:lnTo>
                  <a:pt x="401893" y="380096"/>
                </a:lnTo>
                <a:lnTo>
                  <a:pt x="401893" y="516116"/>
                </a:lnTo>
                <a:cubicBezTo>
                  <a:pt x="401893" y="525553"/>
                  <a:pt x="394236" y="533193"/>
                  <a:pt x="384778" y="533193"/>
                </a:cubicBezTo>
                <a:cubicBezTo>
                  <a:pt x="375319" y="533193"/>
                  <a:pt x="367812" y="525553"/>
                  <a:pt x="367812" y="516116"/>
                </a:cubicBezTo>
                <a:lnTo>
                  <a:pt x="367812" y="380096"/>
                </a:lnTo>
                <a:lnTo>
                  <a:pt x="367812" y="277782"/>
                </a:lnTo>
                <a:cubicBezTo>
                  <a:pt x="367812" y="276284"/>
                  <a:pt x="366461" y="274936"/>
                  <a:pt x="364959" y="274936"/>
                </a:cubicBezTo>
                <a:cubicBezTo>
                  <a:pt x="363458" y="274936"/>
                  <a:pt x="362257" y="276284"/>
                  <a:pt x="362257" y="277782"/>
                </a:cubicBezTo>
                <a:lnTo>
                  <a:pt x="361656" y="381894"/>
                </a:lnTo>
                <a:cubicBezTo>
                  <a:pt x="361656" y="389684"/>
                  <a:pt x="355351" y="395975"/>
                  <a:pt x="347544" y="395975"/>
                </a:cubicBezTo>
                <a:lnTo>
                  <a:pt x="347393" y="395975"/>
                </a:lnTo>
                <a:cubicBezTo>
                  <a:pt x="339586" y="395975"/>
                  <a:pt x="333281" y="389534"/>
                  <a:pt x="333281" y="381744"/>
                </a:cubicBezTo>
                <a:lnTo>
                  <a:pt x="333881" y="277633"/>
                </a:lnTo>
                <a:cubicBezTo>
                  <a:pt x="333881" y="259207"/>
                  <a:pt x="349045" y="244227"/>
                  <a:pt x="367511" y="244227"/>
                </a:cubicBezTo>
                <a:close/>
                <a:moveTo>
                  <a:pt x="201525" y="244227"/>
                </a:moveTo>
                <a:lnTo>
                  <a:pt x="277906" y="244227"/>
                </a:lnTo>
                <a:cubicBezTo>
                  <a:pt x="296213" y="244227"/>
                  <a:pt x="311370" y="259207"/>
                  <a:pt x="311520" y="277633"/>
                </a:cubicBezTo>
                <a:lnTo>
                  <a:pt x="311970" y="381744"/>
                </a:lnTo>
                <a:cubicBezTo>
                  <a:pt x="311970" y="389534"/>
                  <a:pt x="305667" y="395975"/>
                  <a:pt x="297864" y="395975"/>
                </a:cubicBezTo>
                <a:lnTo>
                  <a:pt x="297714" y="395975"/>
                </a:lnTo>
                <a:cubicBezTo>
                  <a:pt x="289911" y="395975"/>
                  <a:pt x="283608" y="389684"/>
                  <a:pt x="283608" y="381894"/>
                </a:cubicBezTo>
                <a:lnTo>
                  <a:pt x="283008" y="277782"/>
                </a:lnTo>
                <a:cubicBezTo>
                  <a:pt x="283008" y="276135"/>
                  <a:pt x="281657" y="274786"/>
                  <a:pt x="280007" y="274786"/>
                </a:cubicBezTo>
                <a:cubicBezTo>
                  <a:pt x="278356" y="274786"/>
                  <a:pt x="277156" y="276135"/>
                  <a:pt x="277156" y="277782"/>
                </a:cubicBezTo>
                <a:cubicBezTo>
                  <a:pt x="277156" y="419944"/>
                  <a:pt x="277456" y="291115"/>
                  <a:pt x="277456" y="516116"/>
                </a:cubicBezTo>
                <a:cubicBezTo>
                  <a:pt x="277456" y="525553"/>
                  <a:pt x="269803" y="533193"/>
                  <a:pt x="260349" y="533193"/>
                </a:cubicBezTo>
                <a:cubicBezTo>
                  <a:pt x="250895" y="533193"/>
                  <a:pt x="243242" y="525553"/>
                  <a:pt x="243242" y="516116"/>
                </a:cubicBezTo>
                <a:lnTo>
                  <a:pt x="243242" y="380096"/>
                </a:lnTo>
                <a:lnTo>
                  <a:pt x="235889" y="380096"/>
                </a:lnTo>
                <a:lnTo>
                  <a:pt x="235889" y="516116"/>
                </a:lnTo>
                <a:cubicBezTo>
                  <a:pt x="235889" y="525553"/>
                  <a:pt x="228386" y="533193"/>
                  <a:pt x="218932" y="533193"/>
                </a:cubicBezTo>
                <a:cubicBezTo>
                  <a:pt x="209478" y="533193"/>
                  <a:pt x="201825" y="525553"/>
                  <a:pt x="201825" y="516116"/>
                </a:cubicBezTo>
                <a:lnTo>
                  <a:pt x="201825" y="380096"/>
                </a:lnTo>
                <a:lnTo>
                  <a:pt x="201825" y="277782"/>
                </a:lnTo>
                <a:cubicBezTo>
                  <a:pt x="201825" y="276284"/>
                  <a:pt x="200624" y="274936"/>
                  <a:pt x="199124" y="274936"/>
                </a:cubicBezTo>
                <a:cubicBezTo>
                  <a:pt x="197623" y="274936"/>
                  <a:pt x="196423" y="276284"/>
                  <a:pt x="196423" y="277782"/>
                </a:cubicBezTo>
                <a:lnTo>
                  <a:pt x="195822" y="381894"/>
                </a:lnTo>
                <a:cubicBezTo>
                  <a:pt x="195822" y="389684"/>
                  <a:pt x="189370" y="395975"/>
                  <a:pt x="181567" y="395975"/>
                </a:cubicBezTo>
                <a:cubicBezTo>
                  <a:pt x="173763" y="395975"/>
                  <a:pt x="167311" y="389534"/>
                  <a:pt x="167461" y="381744"/>
                </a:cubicBezTo>
                <a:lnTo>
                  <a:pt x="167911" y="277633"/>
                </a:lnTo>
                <a:cubicBezTo>
                  <a:pt x="168061" y="259207"/>
                  <a:pt x="183067" y="244227"/>
                  <a:pt x="201525" y="244227"/>
                </a:cubicBezTo>
                <a:close/>
                <a:moveTo>
                  <a:pt x="34214" y="244227"/>
                </a:moveTo>
                <a:lnTo>
                  <a:pt x="110445" y="244227"/>
                </a:lnTo>
                <a:cubicBezTo>
                  <a:pt x="128902" y="244227"/>
                  <a:pt x="143908" y="259207"/>
                  <a:pt x="144059" y="277633"/>
                </a:cubicBezTo>
                <a:lnTo>
                  <a:pt x="144509" y="381744"/>
                </a:lnTo>
                <a:cubicBezTo>
                  <a:pt x="144659" y="389534"/>
                  <a:pt x="138206" y="395975"/>
                  <a:pt x="130403" y="395975"/>
                </a:cubicBezTo>
                <a:cubicBezTo>
                  <a:pt x="122600" y="395975"/>
                  <a:pt x="116147" y="389684"/>
                  <a:pt x="116147" y="381894"/>
                </a:cubicBezTo>
                <a:lnTo>
                  <a:pt x="115697" y="277782"/>
                </a:lnTo>
                <a:cubicBezTo>
                  <a:pt x="115547" y="276135"/>
                  <a:pt x="114346" y="274786"/>
                  <a:pt x="112696" y="274786"/>
                </a:cubicBezTo>
                <a:cubicBezTo>
                  <a:pt x="111045" y="274786"/>
                  <a:pt x="109694" y="276135"/>
                  <a:pt x="109694" y="277782"/>
                </a:cubicBezTo>
                <a:cubicBezTo>
                  <a:pt x="109694" y="343695"/>
                  <a:pt x="109995" y="452450"/>
                  <a:pt x="109995" y="516116"/>
                </a:cubicBezTo>
                <a:cubicBezTo>
                  <a:pt x="109995" y="525553"/>
                  <a:pt x="102341" y="533193"/>
                  <a:pt x="92888" y="533193"/>
                </a:cubicBezTo>
                <a:cubicBezTo>
                  <a:pt x="83584" y="533193"/>
                  <a:pt x="75931" y="525553"/>
                  <a:pt x="75931" y="516116"/>
                </a:cubicBezTo>
                <a:lnTo>
                  <a:pt x="75931" y="380096"/>
                </a:lnTo>
                <a:lnTo>
                  <a:pt x="68578" y="380096"/>
                </a:lnTo>
                <a:lnTo>
                  <a:pt x="68578" y="516116"/>
                </a:lnTo>
                <a:cubicBezTo>
                  <a:pt x="68578" y="525553"/>
                  <a:pt x="60925" y="533193"/>
                  <a:pt x="51471" y="533193"/>
                </a:cubicBezTo>
                <a:cubicBezTo>
                  <a:pt x="42017" y="533193"/>
                  <a:pt x="34364" y="525553"/>
                  <a:pt x="34364" y="516116"/>
                </a:cubicBezTo>
                <a:lnTo>
                  <a:pt x="34364" y="380096"/>
                </a:lnTo>
                <a:lnTo>
                  <a:pt x="34364" y="277782"/>
                </a:lnTo>
                <a:cubicBezTo>
                  <a:pt x="34364" y="276284"/>
                  <a:pt x="33163" y="275086"/>
                  <a:pt x="31663" y="275086"/>
                </a:cubicBezTo>
                <a:cubicBezTo>
                  <a:pt x="30162" y="274936"/>
                  <a:pt x="28962" y="276284"/>
                  <a:pt x="28962" y="277782"/>
                </a:cubicBezTo>
                <a:lnTo>
                  <a:pt x="28361" y="381894"/>
                </a:lnTo>
                <a:cubicBezTo>
                  <a:pt x="28361" y="389684"/>
                  <a:pt x="22059" y="395975"/>
                  <a:pt x="14256" y="395975"/>
                </a:cubicBezTo>
                <a:lnTo>
                  <a:pt x="14106" y="395975"/>
                </a:lnTo>
                <a:cubicBezTo>
                  <a:pt x="6302" y="395975"/>
                  <a:pt x="0" y="389534"/>
                  <a:pt x="0" y="381744"/>
                </a:cubicBezTo>
                <a:lnTo>
                  <a:pt x="600" y="277633"/>
                </a:lnTo>
                <a:cubicBezTo>
                  <a:pt x="600" y="259207"/>
                  <a:pt x="15756" y="244227"/>
                  <a:pt x="34214" y="244227"/>
                </a:cubicBezTo>
                <a:close/>
                <a:moveTo>
                  <a:pt x="298774" y="232090"/>
                </a:moveTo>
                <a:lnTo>
                  <a:pt x="346547" y="232090"/>
                </a:lnTo>
                <a:cubicBezTo>
                  <a:pt x="336331" y="236739"/>
                  <a:pt x="327768" y="244836"/>
                  <a:pt x="322660" y="254883"/>
                </a:cubicBezTo>
                <a:cubicBezTo>
                  <a:pt x="317552" y="244836"/>
                  <a:pt x="309140" y="236739"/>
                  <a:pt x="298774" y="232090"/>
                </a:cubicBezTo>
                <a:close/>
                <a:moveTo>
                  <a:pt x="405716" y="176061"/>
                </a:moveTo>
                <a:cubicBezTo>
                  <a:pt x="421987" y="176061"/>
                  <a:pt x="435177" y="189204"/>
                  <a:pt x="435177" y="205417"/>
                </a:cubicBezTo>
                <a:cubicBezTo>
                  <a:pt x="435177" y="221630"/>
                  <a:pt x="421987" y="234773"/>
                  <a:pt x="405716" y="234773"/>
                </a:cubicBezTo>
                <a:cubicBezTo>
                  <a:pt x="389445" y="234773"/>
                  <a:pt x="376255" y="221630"/>
                  <a:pt x="376255" y="205417"/>
                </a:cubicBezTo>
                <a:cubicBezTo>
                  <a:pt x="376255" y="189204"/>
                  <a:pt x="389445" y="176061"/>
                  <a:pt x="405716" y="176061"/>
                </a:cubicBezTo>
                <a:close/>
                <a:moveTo>
                  <a:pt x="239817" y="176061"/>
                </a:moveTo>
                <a:cubicBezTo>
                  <a:pt x="256049" y="176061"/>
                  <a:pt x="269208" y="189204"/>
                  <a:pt x="269208" y="205417"/>
                </a:cubicBezTo>
                <a:cubicBezTo>
                  <a:pt x="269208" y="221630"/>
                  <a:pt x="256049" y="234773"/>
                  <a:pt x="239817" y="234773"/>
                </a:cubicBezTo>
                <a:cubicBezTo>
                  <a:pt x="223585" y="234773"/>
                  <a:pt x="210426" y="221630"/>
                  <a:pt x="210426" y="205417"/>
                </a:cubicBezTo>
                <a:cubicBezTo>
                  <a:pt x="210426" y="189204"/>
                  <a:pt x="223585" y="176061"/>
                  <a:pt x="239817" y="176061"/>
                </a:cubicBezTo>
                <a:close/>
                <a:moveTo>
                  <a:pt x="72325" y="176061"/>
                </a:moveTo>
                <a:cubicBezTo>
                  <a:pt x="88687" y="176061"/>
                  <a:pt x="101897" y="189241"/>
                  <a:pt x="101897" y="205416"/>
                </a:cubicBezTo>
                <a:cubicBezTo>
                  <a:pt x="101897" y="221592"/>
                  <a:pt x="88687" y="234772"/>
                  <a:pt x="72325" y="234772"/>
                </a:cubicBezTo>
                <a:cubicBezTo>
                  <a:pt x="56113" y="234772"/>
                  <a:pt x="42904" y="221592"/>
                  <a:pt x="42904" y="205416"/>
                </a:cubicBezTo>
                <a:cubicBezTo>
                  <a:pt x="42904" y="189241"/>
                  <a:pt x="55963" y="176061"/>
                  <a:pt x="72325" y="176061"/>
                </a:cubicBezTo>
                <a:close/>
                <a:moveTo>
                  <a:pt x="1200" y="56241"/>
                </a:moveTo>
                <a:lnTo>
                  <a:pt x="384613" y="56241"/>
                </a:lnTo>
                <a:cubicBezTo>
                  <a:pt x="505414" y="56241"/>
                  <a:pt x="603405" y="154058"/>
                  <a:pt x="603405" y="274494"/>
                </a:cubicBezTo>
                <a:cubicBezTo>
                  <a:pt x="603405" y="308947"/>
                  <a:pt x="575493" y="336809"/>
                  <a:pt x="540979" y="336809"/>
                </a:cubicBezTo>
                <a:lnTo>
                  <a:pt x="494459" y="336809"/>
                </a:lnTo>
                <a:lnTo>
                  <a:pt x="494159" y="277490"/>
                </a:lnTo>
                <a:cubicBezTo>
                  <a:pt x="494009" y="257417"/>
                  <a:pt x="482004" y="240041"/>
                  <a:pt x="464747" y="232102"/>
                </a:cubicBezTo>
                <a:lnTo>
                  <a:pt x="551333" y="232102"/>
                </a:lnTo>
                <a:lnTo>
                  <a:pt x="551483" y="232102"/>
                </a:lnTo>
                <a:cubicBezTo>
                  <a:pt x="553884" y="232102"/>
                  <a:pt x="556285" y="230753"/>
                  <a:pt x="557636" y="228806"/>
                </a:cubicBezTo>
                <a:cubicBezTo>
                  <a:pt x="558986" y="226709"/>
                  <a:pt x="559136" y="224013"/>
                  <a:pt x="558236" y="221766"/>
                </a:cubicBezTo>
                <a:cubicBezTo>
                  <a:pt x="550283" y="203790"/>
                  <a:pt x="531825" y="165892"/>
                  <a:pt x="504663" y="136532"/>
                </a:cubicBezTo>
                <a:cubicBezTo>
                  <a:pt x="481704" y="111666"/>
                  <a:pt x="449440" y="97585"/>
                  <a:pt x="415676" y="97585"/>
                </a:cubicBezTo>
                <a:lnTo>
                  <a:pt x="397968" y="97585"/>
                </a:lnTo>
                <a:lnTo>
                  <a:pt x="397968" y="159900"/>
                </a:lnTo>
                <a:cubicBezTo>
                  <a:pt x="383712" y="162297"/>
                  <a:pt x="371707" y="171284"/>
                  <a:pt x="364954" y="183568"/>
                </a:cubicBezTo>
                <a:lnTo>
                  <a:pt x="364954" y="97585"/>
                </a:lnTo>
                <a:lnTo>
                  <a:pt x="174223" y="97585"/>
                </a:lnTo>
                <a:lnTo>
                  <a:pt x="174223" y="232102"/>
                </a:lnTo>
                <a:lnTo>
                  <a:pt x="180526" y="232102"/>
                </a:lnTo>
                <a:cubicBezTo>
                  <a:pt x="178425" y="233150"/>
                  <a:pt x="176324" y="234199"/>
                  <a:pt x="174223" y="235547"/>
                </a:cubicBezTo>
                <a:cubicBezTo>
                  <a:pt x="166420" y="240640"/>
                  <a:pt x="159967" y="247830"/>
                  <a:pt x="156065" y="256369"/>
                </a:cubicBezTo>
                <a:cubicBezTo>
                  <a:pt x="152614" y="249178"/>
                  <a:pt x="147512" y="242887"/>
                  <a:pt x="141209" y="238093"/>
                </a:cubicBezTo>
                <a:cubicBezTo>
                  <a:pt x="138208" y="235697"/>
                  <a:pt x="134906" y="233749"/>
                  <a:pt x="131455" y="232102"/>
                </a:cubicBezTo>
                <a:lnTo>
                  <a:pt x="141209" y="232102"/>
                </a:lnTo>
                <a:lnTo>
                  <a:pt x="141209" y="97585"/>
                </a:lnTo>
                <a:lnTo>
                  <a:pt x="1200" y="97585"/>
                </a:lnTo>
                <a:close/>
                <a:moveTo>
                  <a:pt x="30337" y="0"/>
                </a:moveTo>
                <a:lnTo>
                  <a:pt x="450496" y="0"/>
                </a:lnTo>
                <a:cubicBezTo>
                  <a:pt x="459649" y="0"/>
                  <a:pt x="467002" y="7356"/>
                  <a:pt x="467002" y="16512"/>
                </a:cubicBezTo>
                <a:cubicBezTo>
                  <a:pt x="467002" y="25669"/>
                  <a:pt x="459649" y="33025"/>
                  <a:pt x="450496" y="33025"/>
                </a:cubicBezTo>
                <a:lnTo>
                  <a:pt x="30337" y="33025"/>
                </a:lnTo>
                <a:cubicBezTo>
                  <a:pt x="21184" y="33025"/>
                  <a:pt x="13831" y="25669"/>
                  <a:pt x="13831" y="16512"/>
                </a:cubicBezTo>
                <a:cubicBezTo>
                  <a:pt x="13831" y="7356"/>
                  <a:pt x="21184" y="0"/>
                  <a:pt x="30337" y="0"/>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endParaRPr lang="zh-CN" altLang="en-US">
              <a:solidFill>
                <a:srgbClr val="000000"/>
              </a:solidFill>
              <a:latin typeface="Arial" panose="020F0502020204030204"/>
              <a:ea typeface="微软雅黑"/>
              <a:cs typeface="+mn-ea"/>
              <a:sym typeface="+mn-lt"/>
            </a:endParaRPr>
          </a:p>
        </p:txBody>
      </p:sp>
      <p:pic>
        <p:nvPicPr>
          <p:cNvPr id="3074" name="Picture 2" descr="Fig. 2: Construction of the comprehensive enzyme–substrate interaction (ESIBank) database.">
            <a:extLst>
              <a:ext uri="{FF2B5EF4-FFF2-40B4-BE49-F238E27FC236}">
                <a16:creationId xmlns:a16="http://schemas.microsoft.com/office/drawing/2014/main" id="{DBB53682-A7E1-5F05-B34B-8B434D24658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5361" y="864720"/>
            <a:ext cx="5659787" cy="5913006"/>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8970E50F-0FFB-1E06-B9AE-50A1CDD6EDF0}"/>
              </a:ext>
            </a:extLst>
          </p:cNvPr>
          <p:cNvSpPr txBox="1"/>
          <p:nvPr/>
        </p:nvSpPr>
        <p:spPr>
          <a:xfrm>
            <a:off x="6407284" y="2326513"/>
            <a:ext cx="5337243" cy="2585323"/>
          </a:xfrm>
          <a:prstGeom prst="rect">
            <a:avLst/>
          </a:prstGeom>
          <a:noFill/>
        </p:spPr>
        <p:txBody>
          <a:bodyPr wrap="square" rtlCol="0">
            <a:spAutoFit/>
          </a:bodyPr>
          <a:lstStyle/>
          <a:p>
            <a:r>
              <a:rPr lang="zh-CN" altLang="en-US" dirty="0"/>
              <a:t>数据库的构建：</a:t>
            </a:r>
            <a:endParaRPr lang="en-US" altLang="zh-CN" dirty="0"/>
          </a:p>
          <a:p>
            <a:r>
              <a:rPr lang="zh-CN" altLang="en-US" dirty="0"/>
              <a:t>从 </a:t>
            </a:r>
            <a:r>
              <a:rPr lang="en-US" altLang="zh-CN" dirty="0"/>
              <a:t>BRENDA </a:t>
            </a:r>
            <a:r>
              <a:rPr lang="zh-CN" altLang="en-US" dirty="0"/>
              <a:t>和 </a:t>
            </a:r>
            <a:r>
              <a:rPr lang="en-US" altLang="zh-CN" dirty="0" err="1"/>
              <a:t>UniProt</a:t>
            </a:r>
            <a:r>
              <a:rPr lang="en-US" altLang="zh-CN" dirty="0"/>
              <a:t> </a:t>
            </a:r>
            <a:r>
              <a:rPr lang="zh-CN" altLang="en-US" dirty="0"/>
              <a:t>获取多样化的酶序列以及收集了六类代表性酶家族的酶</a:t>
            </a:r>
            <a:r>
              <a:rPr lang="en-US" altLang="zh-CN" dirty="0"/>
              <a:t>-</a:t>
            </a:r>
            <a:r>
              <a:rPr lang="zh-CN" altLang="en-US" dirty="0"/>
              <a:t>底物数据，包括酯酶 、糖基转移酶 、腈水解酶、磷酸酶、硫解酶和功能未知结构域蛋白，使用来自 </a:t>
            </a:r>
            <a:r>
              <a:rPr lang="en-US" altLang="zh-CN" dirty="0"/>
              <a:t>BRENDA </a:t>
            </a:r>
            <a:r>
              <a:rPr lang="zh-CN" altLang="en-US" dirty="0"/>
              <a:t>的辅因子作为指标，从 </a:t>
            </a:r>
            <a:r>
              <a:rPr lang="en-US" altLang="zh-CN" dirty="0" err="1"/>
              <a:t>AlphaFill</a:t>
            </a:r>
            <a:r>
              <a:rPr lang="en-US" altLang="zh-CN" dirty="0"/>
              <a:t> </a:t>
            </a:r>
            <a:r>
              <a:rPr lang="zh-CN" altLang="en-US" dirty="0"/>
              <a:t>数据库中识别出涉及辅因子的结构，随后使用 </a:t>
            </a:r>
            <a:r>
              <a:rPr lang="en-US" altLang="zh-CN" dirty="0" err="1"/>
              <a:t>AutoDock</a:t>
            </a:r>
            <a:r>
              <a:rPr lang="en-US" altLang="zh-CN" dirty="0"/>
              <a:t>-GPU </a:t>
            </a:r>
            <a:r>
              <a:rPr lang="zh-CN" altLang="en-US" dirty="0"/>
              <a:t>进行对接过程，最终整个</a:t>
            </a:r>
            <a:r>
              <a:rPr lang="en-US" altLang="zh-CN" dirty="0" err="1"/>
              <a:t>ESIBank</a:t>
            </a:r>
            <a:r>
              <a:rPr lang="en-US" altLang="zh-CN" dirty="0"/>
              <a:t> </a:t>
            </a:r>
            <a:r>
              <a:rPr lang="zh-CN" altLang="en-US" dirty="0"/>
              <a:t>数据库涵盖了</a:t>
            </a:r>
            <a:r>
              <a:rPr lang="en-US" altLang="zh-CN" dirty="0"/>
              <a:t>34,417 </a:t>
            </a:r>
            <a:r>
              <a:rPr lang="zh-CN" altLang="en-US" dirty="0"/>
              <a:t>种广泛天然和非天然底物，</a:t>
            </a:r>
            <a:r>
              <a:rPr lang="en-US" altLang="zh-CN" dirty="0"/>
              <a:t>8,124 </a:t>
            </a:r>
            <a:r>
              <a:rPr lang="zh-CN" altLang="en-US" dirty="0"/>
              <a:t>种以及野生型和变体酶</a:t>
            </a:r>
          </a:p>
        </p:txBody>
      </p:sp>
    </p:spTree>
    <p:extLst>
      <p:ext uri="{BB962C8B-B14F-4D97-AF65-F5344CB8AC3E}">
        <p14:creationId xmlns:p14="http://schemas.microsoft.com/office/powerpoint/2010/main" val="33234116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74573-0E0B-54FE-9C68-552698D6AAC9}"/>
            </a:ext>
          </a:extLst>
        </p:cNvPr>
        <p:cNvGrpSpPr/>
        <p:nvPr/>
      </p:nvGrpSpPr>
      <p:grpSpPr>
        <a:xfrm>
          <a:off x="0" y="0"/>
          <a:ext cx="0" cy="0"/>
          <a:chOff x="0" y="0"/>
          <a:chExt cx="0" cy="0"/>
        </a:xfrm>
      </p:grpSpPr>
      <p:grpSp>
        <p:nvGrpSpPr>
          <p:cNvPr id="20" name="组合 19">
            <a:extLst>
              <a:ext uri="{FF2B5EF4-FFF2-40B4-BE49-F238E27FC236}">
                <a16:creationId xmlns:a16="http://schemas.microsoft.com/office/drawing/2014/main" id="{CCA8EFF2-8087-4748-34F7-A7BDC4ADAE8D}"/>
              </a:ext>
            </a:extLst>
          </p:cNvPr>
          <p:cNvGrpSpPr/>
          <p:nvPr/>
        </p:nvGrpSpPr>
        <p:grpSpPr>
          <a:xfrm>
            <a:off x="286653" y="116633"/>
            <a:ext cx="11618694" cy="6681374"/>
            <a:chOff x="286653" y="116633"/>
            <a:chExt cx="11618694" cy="6681374"/>
          </a:xfrm>
        </p:grpSpPr>
        <p:grpSp>
          <p:nvGrpSpPr>
            <p:cNvPr id="21" name="组合 20">
              <a:extLst>
                <a:ext uri="{FF2B5EF4-FFF2-40B4-BE49-F238E27FC236}">
                  <a16:creationId xmlns:a16="http://schemas.microsoft.com/office/drawing/2014/main" id="{25AE955F-03E0-E151-2E4E-9C77C158B89A}"/>
                </a:ext>
              </a:extLst>
            </p:cNvPr>
            <p:cNvGrpSpPr/>
            <p:nvPr/>
          </p:nvGrpSpPr>
          <p:grpSpPr>
            <a:xfrm>
              <a:off x="335361" y="116633"/>
              <a:ext cx="629872" cy="612768"/>
              <a:chOff x="3070727" y="196457"/>
              <a:chExt cx="692047" cy="673255"/>
            </a:xfrm>
          </p:grpSpPr>
          <p:sp>
            <p:nvSpPr>
              <p:cNvPr id="26" name="平行四边形 25">
                <a:extLst>
                  <a:ext uri="{FF2B5EF4-FFF2-40B4-BE49-F238E27FC236}">
                    <a16:creationId xmlns:a16="http://schemas.microsoft.com/office/drawing/2014/main" id="{99DEBCE3-4E10-67C6-B677-5F1DB19E1064}"/>
                  </a:ext>
                </a:extLst>
              </p:cNvPr>
              <p:cNvSpPr/>
              <p:nvPr/>
            </p:nvSpPr>
            <p:spPr>
              <a:xfrm>
                <a:off x="3070727" y="196457"/>
                <a:ext cx="629587" cy="612775"/>
              </a:xfrm>
              <a:prstGeom prst="parallelogram">
                <a:avLst/>
              </a:prstGeom>
              <a:solidFill>
                <a:srgbClr val="6B0261"/>
              </a:solidFill>
              <a:ln w="25400" cap="flat" cmpd="sng" algn="ctr">
                <a:solidFill>
                  <a:srgbClr val="6B026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27" name="平行四边形 26">
                <a:extLst>
                  <a:ext uri="{FF2B5EF4-FFF2-40B4-BE49-F238E27FC236}">
                    <a16:creationId xmlns:a16="http://schemas.microsoft.com/office/drawing/2014/main" id="{7F44A300-B950-1CAC-3D3F-2B9A5095A3CA}"/>
                  </a:ext>
                </a:extLst>
              </p:cNvPr>
              <p:cNvSpPr/>
              <p:nvPr/>
            </p:nvSpPr>
            <p:spPr>
              <a:xfrm>
                <a:off x="3133187" y="256937"/>
                <a:ext cx="629587" cy="612775"/>
              </a:xfrm>
              <a:prstGeom prst="parallelogram">
                <a:avLst/>
              </a:prstGeom>
              <a:noFill/>
              <a:ln w="25400" cap="flat" cmpd="sng" algn="ctr">
                <a:solidFill>
                  <a:srgbClr val="6B026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cxnSp>
          <p:nvCxnSpPr>
            <p:cNvPr id="22" name="直接连接符 21">
              <a:extLst>
                <a:ext uri="{FF2B5EF4-FFF2-40B4-BE49-F238E27FC236}">
                  <a16:creationId xmlns:a16="http://schemas.microsoft.com/office/drawing/2014/main" id="{71AF4771-DA86-E4DC-ED62-D8EF3EBF66B9}"/>
                </a:ext>
              </a:extLst>
            </p:cNvPr>
            <p:cNvCxnSpPr>
              <a:cxnSpLocks/>
            </p:cNvCxnSpPr>
            <p:nvPr/>
          </p:nvCxnSpPr>
          <p:spPr>
            <a:xfrm>
              <a:off x="367840" y="809674"/>
              <a:ext cx="11488800" cy="0"/>
            </a:xfrm>
            <a:prstGeom prst="line">
              <a:avLst/>
            </a:prstGeom>
            <a:noFill/>
            <a:ln w="9525" cap="flat" cmpd="sng" algn="ctr">
              <a:solidFill>
                <a:srgbClr val="6B0261"/>
              </a:solidFill>
              <a:prstDash val="solid"/>
            </a:ln>
            <a:effectLst/>
          </p:spPr>
        </p:cxnSp>
        <p:sp>
          <p:nvSpPr>
            <p:cNvPr id="23" name="文本占位符 5">
              <a:extLst>
                <a:ext uri="{FF2B5EF4-FFF2-40B4-BE49-F238E27FC236}">
                  <a16:creationId xmlns:a16="http://schemas.microsoft.com/office/drawing/2014/main" id="{790D971D-25F6-5CD7-3A4E-33586C9AF65E}"/>
                </a:ext>
              </a:extLst>
            </p:cNvPr>
            <p:cNvSpPr txBox="1">
              <a:spLocks/>
            </p:cNvSpPr>
            <p:nvPr/>
          </p:nvSpPr>
          <p:spPr>
            <a:xfrm>
              <a:off x="1075777" y="214065"/>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rgbClr val="6B0261"/>
                  </a:solidFill>
                </a:rPr>
                <a:t>研究内容</a:t>
              </a:r>
            </a:p>
          </p:txBody>
        </p:sp>
        <p:sp>
          <p:nvSpPr>
            <p:cNvPr id="24" name="文本框 23">
              <a:extLst>
                <a:ext uri="{FF2B5EF4-FFF2-40B4-BE49-F238E27FC236}">
                  <a16:creationId xmlns:a16="http://schemas.microsoft.com/office/drawing/2014/main" id="{643F86CC-18ED-6EA4-6F21-31A96CA32EF9}"/>
                </a:ext>
              </a:extLst>
            </p:cNvPr>
            <p:cNvSpPr txBox="1"/>
            <p:nvPr/>
          </p:nvSpPr>
          <p:spPr>
            <a:xfrm>
              <a:off x="10805366" y="642867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25" name="图片 24">
              <a:extLst>
                <a:ext uri="{FF2B5EF4-FFF2-40B4-BE49-F238E27FC236}">
                  <a16:creationId xmlns:a16="http://schemas.microsoft.com/office/drawing/2014/main" id="{9F7B25D4-B744-2066-9288-97DB73793C91}"/>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a:stretch/>
          </p:blipFill>
          <p:spPr>
            <a:xfrm>
              <a:off x="286653" y="6425619"/>
              <a:ext cx="2520534" cy="369332"/>
            </a:xfrm>
            <a:prstGeom prst="rect">
              <a:avLst/>
            </a:prstGeom>
          </p:spPr>
        </p:pic>
      </p:grpSp>
      <p:grpSp>
        <p:nvGrpSpPr>
          <p:cNvPr id="51" name="组合 50">
            <a:extLst>
              <a:ext uri="{FF2B5EF4-FFF2-40B4-BE49-F238E27FC236}">
                <a16:creationId xmlns:a16="http://schemas.microsoft.com/office/drawing/2014/main" id="{F5F5B019-5747-8724-B047-4F8FA856584A}"/>
              </a:ext>
            </a:extLst>
          </p:cNvPr>
          <p:cNvGrpSpPr/>
          <p:nvPr/>
        </p:nvGrpSpPr>
        <p:grpSpPr>
          <a:xfrm>
            <a:off x="9938479" y="77827"/>
            <a:ext cx="2017490" cy="675447"/>
            <a:chOff x="995884" y="398899"/>
            <a:chExt cx="3658781" cy="1224944"/>
          </a:xfrm>
        </p:grpSpPr>
        <p:pic>
          <p:nvPicPr>
            <p:cNvPr id="52" name="图片 51">
              <a:extLst>
                <a:ext uri="{FF2B5EF4-FFF2-40B4-BE49-F238E27FC236}">
                  <a16:creationId xmlns:a16="http://schemas.microsoft.com/office/drawing/2014/main" id="{4652EB60-FC9F-3D24-B41E-F8FB351993D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95884" y="398899"/>
              <a:ext cx="977348" cy="1224944"/>
            </a:xfrm>
            <a:prstGeom prst="rect">
              <a:avLst/>
            </a:prstGeom>
          </p:spPr>
        </p:pic>
        <p:pic>
          <p:nvPicPr>
            <p:cNvPr id="53" name="图片 52">
              <a:extLst>
                <a:ext uri="{FF2B5EF4-FFF2-40B4-BE49-F238E27FC236}">
                  <a16:creationId xmlns:a16="http://schemas.microsoft.com/office/drawing/2014/main" id="{95086E8C-D810-F7B2-0327-B3FACE13CF38}"/>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173707" y="405382"/>
              <a:ext cx="2384890" cy="796233"/>
            </a:xfrm>
            <a:prstGeom prst="rect">
              <a:avLst/>
            </a:prstGeom>
          </p:spPr>
        </p:pic>
        <p:sp>
          <p:nvSpPr>
            <p:cNvPr id="54" name="矩形 53">
              <a:extLst>
                <a:ext uri="{FF2B5EF4-FFF2-40B4-BE49-F238E27FC236}">
                  <a16:creationId xmlns:a16="http://schemas.microsoft.com/office/drawing/2014/main" id="{2DEEB771-BD33-2C66-0260-18B284647CF8}"/>
                </a:ext>
              </a:extLst>
            </p:cNvPr>
            <p:cNvSpPr/>
            <p:nvPr/>
          </p:nvSpPr>
          <p:spPr>
            <a:xfrm>
              <a:off x="2069306" y="1138524"/>
              <a:ext cx="2585359" cy="46048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rPr>
                <a:t>NANJING UNIVERSITY</a:t>
              </a:r>
              <a:endParaRPr kumimoji="0" lang="zh-CN" altLang="en-US" sz="105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endParaRPr>
            </a:p>
          </p:txBody>
        </p:sp>
      </p:grpSp>
      <p:sp>
        <p:nvSpPr>
          <p:cNvPr id="31" name="íŝḷïḓè">
            <a:extLst>
              <a:ext uri="{FF2B5EF4-FFF2-40B4-BE49-F238E27FC236}">
                <a16:creationId xmlns:a16="http://schemas.microsoft.com/office/drawing/2014/main" id="{72E7E516-F6CA-F802-EDB4-B6100312E9D8}"/>
              </a:ext>
            </a:extLst>
          </p:cNvPr>
          <p:cNvSpPr/>
          <p:nvPr/>
        </p:nvSpPr>
        <p:spPr bwMode="auto">
          <a:xfrm>
            <a:off x="5828824" y="4147130"/>
            <a:ext cx="338337" cy="366161"/>
          </a:xfrm>
          <a:custGeom>
            <a:avLst/>
            <a:gdLst>
              <a:gd name="connsiteX0" fmla="*/ 327780 w 561933"/>
              <a:gd name="connsiteY0" fmla="*/ 406780 h 608145"/>
              <a:gd name="connsiteX1" fmla="*/ 285069 w 561933"/>
              <a:gd name="connsiteY1" fmla="*/ 449434 h 608145"/>
              <a:gd name="connsiteX2" fmla="*/ 327780 w 561933"/>
              <a:gd name="connsiteY2" fmla="*/ 492088 h 608145"/>
              <a:gd name="connsiteX3" fmla="*/ 370490 w 561933"/>
              <a:gd name="connsiteY3" fmla="*/ 449434 h 608145"/>
              <a:gd name="connsiteX4" fmla="*/ 327780 w 561933"/>
              <a:gd name="connsiteY4" fmla="*/ 406780 h 608145"/>
              <a:gd name="connsiteX5" fmla="*/ 91381 w 561933"/>
              <a:gd name="connsiteY5" fmla="*/ 406780 h 608145"/>
              <a:gd name="connsiteX6" fmla="*/ 49664 w 561933"/>
              <a:gd name="connsiteY6" fmla="*/ 449434 h 608145"/>
              <a:gd name="connsiteX7" fmla="*/ 91381 w 561933"/>
              <a:gd name="connsiteY7" fmla="*/ 492088 h 608145"/>
              <a:gd name="connsiteX8" fmla="*/ 134092 w 561933"/>
              <a:gd name="connsiteY8" fmla="*/ 449434 h 608145"/>
              <a:gd name="connsiteX9" fmla="*/ 91381 w 561933"/>
              <a:gd name="connsiteY9" fmla="*/ 406780 h 608145"/>
              <a:gd name="connsiteX10" fmla="*/ 130119 w 561933"/>
              <a:gd name="connsiteY10" fmla="*/ 162762 h 608145"/>
              <a:gd name="connsiteX11" fmla="*/ 50657 w 561933"/>
              <a:gd name="connsiteY11" fmla="*/ 243110 h 608145"/>
              <a:gd name="connsiteX12" fmla="*/ 50657 w 561933"/>
              <a:gd name="connsiteY12" fmla="*/ 312546 h 608145"/>
              <a:gd name="connsiteX13" fmla="*/ 78468 w 561933"/>
              <a:gd name="connsiteY13" fmla="*/ 341312 h 608145"/>
              <a:gd name="connsiteX14" fmla="*/ 340692 w 561933"/>
              <a:gd name="connsiteY14" fmla="*/ 341312 h 608145"/>
              <a:gd name="connsiteX15" fmla="*/ 369497 w 561933"/>
              <a:gd name="connsiteY15" fmla="*/ 312546 h 608145"/>
              <a:gd name="connsiteX16" fmla="*/ 369497 w 561933"/>
              <a:gd name="connsiteY16" fmla="*/ 243110 h 608145"/>
              <a:gd name="connsiteX17" fmla="*/ 289042 w 561933"/>
              <a:gd name="connsiteY17" fmla="*/ 162762 h 608145"/>
              <a:gd name="connsiteX18" fmla="*/ 127139 w 561933"/>
              <a:gd name="connsiteY18" fmla="*/ 99278 h 608145"/>
              <a:gd name="connsiteX19" fmla="*/ 293015 w 561933"/>
              <a:gd name="connsiteY19" fmla="*/ 99278 h 608145"/>
              <a:gd name="connsiteX20" fmla="*/ 420154 w 561933"/>
              <a:gd name="connsiteY20" fmla="*/ 226247 h 608145"/>
              <a:gd name="connsiteX21" fmla="*/ 420154 w 561933"/>
              <a:gd name="connsiteY21" fmla="*/ 486136 h 608145"/>
              <a:gd name="connsiteX22" fmla="*/ 382410 w 561933"/>
              <a:gd name="connsiteY22" fmla="*/ 541685 h 608145"/>
              <a:gd name="connsiteX23" fmla="*/ 382410 w 561933"/>
              <a:gd name="connsiteY23" fmla="*/ 561524 h 608145"/>
              <a:gd name="connsiteX24" fmla="*/ 334733 w 561933"/>
              <a:gd name="connsiteY24" fmla="*/ 608145 h 608145"/>
              <a:gd name="connsiteX25" fmla="*/ 326786 w 561933"/>
              <a:gd name="connsiteY25" fmla="*/ 608145 h 608145"/>
              <a:gd name="connsiteX26" fmla="*/ 280103 w 561933"/>
              <a:gd name="connsiteY26" fmla="*/ 561524 h 608145"/>
              <a:gd name="connsiteX27" fmla="*/ 280103 w 561933"/>
              <a:gd name="connsiteY27" fmla="*/ 544661 h 608145"/>
              <a:gd name="connsiteX28" fmla="*/ 140051 w 561933"/>
              <a:gd name="connsiteY28" fmla="*/ 544661 h 608145"/>
              <a:gd name="connsiteX29" fmla="*/ 140051 w 561933"/>
              <a:gd name="connsiteY29" fmla="*/ 561524 h 608145"/>
              <a:gd name="connsiteX30" fmla="*/ 92374 w 561933"/>
              <a:gd name="connsiteY30" fmla="*/ 608145 h 608145"/>
              <a:gd name="connsiteX31" fmla="*/ 84428 w 561933"/>
              <a:gd name="connsiteY31" fmla="*/ 608145 h 608145"/>
              <a:gd name="connsiteX32" fmla="*/ 37744 w 561933"/>
              <a:gd name="connsiteY32" fmla="*/ 561524 h 608145"/>
              <a:gd name="connsiteX33" fmla="*/ 37744 w 561933"/>
              <a:gd name="connsiteY33" fmla="*/ 541685 h 608145"/>
              <a:gd name="connsiteX34" fmla="*/ 0 w 561933"/>
              <a:gd name="connsiteY34" fmla="*/ 486136 h 608145"/>
              <a:gd name="connsiteX35" fmla="*/ 0 w 561933"/>
              <a:gd name="connsiteY35" fmla="*/ 226247 h 608145"/>
              <a:gd name="connsiteX36" fmla="*/ 127139 w 561933"/>
              <a:gd name="connsiteY36" fmla="*/ 99278 h 608145"/>
              <a:gd name="connsiteX37" fmla="*/ 408232 w 561933"/>
              <a:gd name="connsiteY37" fmla="*/ 74504 h 608145"/>
              <a:gd name="connsiteX38" fmla="*/ 424139 w 561933"/>
              <a:gd name="connsiteY38" fmla="*/ 75495 h 608145"/>
              <a:gd name="connsiteX39" fmla="*/ 486772 w 561933"/>
              <a:gd name="connsiteY39" fmla="*/ 185587 h 608145"/>
              <a:gd name="connsiteX40" fmla="*/ 479813 w 561933"/>
              <a:gd name="connsiteY40" fmla="*/ 199473 h 608145"/>
              <a:gd name="connsiteX41" fmla="*/ 464901 w 561933"/>
              <a:gd name="connsiteY41" fmla="*/ 202448 h 608145"/>
              <a:gd name="connsiteX42" fmla="*/ 462912 w 561933"/>
              <a:gd name="connsiteY42" fmla="*/ 201456 h 608145"/>
              <a:gd name="connsiteX43" fmla="*/ 448994 w 561933"/>
              <a:gd name="connsiteY43" fmla="*/ 183604 h 608145"/>
              <a:gd name="connsiteX44" fmla="*/ 406244 w 561933"/>
              <a:gd name="connsiteY44" fmla="*/ 109217 h 608145"/>
              <a:gd name="connsiteX45" fmla="*/ 397296 w 561933"/>
              <a:gd name="connsiteY45" fmla="*/ 89381 h 608145"/>
              <a:gd name="connsiteX46" fmla="*/ 398291 w 561933"/>
              <a:gd name="connsiteY46" fmla="*/ 87397 h 608145"/>
              <a:gd name="connsiteX47" fmla="*/ 408232 w 561933"/>
              <a:gd name="connsiteY47" fmla="*/ 74504 h 608145"/>
              <a:gd name="connsiteX48" fmla="*/ 439969 w 561933"/>
              <a:gd name="connsiteY48" fmla="*/ 1081 h 608145"/>
              <a:gd name="connsiteX49" fmla="*/ 560176 w 561933"/>
              <a:gd name="connsiteY49" fmla="*/ 205408 h 608145"/>
              <a:gd name="connsiteX50" fmla="*/ 552228 w 561933"/>
              <a:gd name="connsiteY50" fmla="*/ 217311 h 608145"/>
              <a:gd name="connsiteX51" fmla="*/ 537326 w 561933"/>
              <a:gd name="connsiteY51" fmla="*/ 220286 h 608145"/>
              <a:gd name="connsiteX52" fmla="*/ 535340 w 561933"/>
              <a:gd name="connsiteY52" fmla="*/ 219294 h 608145"/>
              <a:gd name="connsiteX53" fmla="*/ 522425 w 561933"/>
              <a:gd name="connsiteY53" fmla="*/ 199457 h 608145"/>
              <a:gd name="connsiteX54" fmla="*/ 426061 w 561933"/>
              <a:gd name="connsiteY54" fmla="*/ 36788 h 608145"/>
              <a:gd name="connsiteX55" fmla="*/ 416126 w 561933"/>
              <a:gd name="connsiteY55" fmla="*/ 15959 h 608145"/>
              <a:gd name="connsiteX56" fmla="*/ 416126 w 561933"/>
              <a:gd name="connsiteY56" fmla="*/ 13975 h 608145"/>
              <a:gd name="connsiteX57" fmla="*/ 425067 w 561933"/>
              <a:gd name="connsiteY57" fmla="*/ 2073 h 608145"/>
              <a:gd name="connsiteX58" fmla="*/ 439969 w 561933"/>
              <a:gd name="connsiteY58" fmla="*/ 1081 h 608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61933" h="608145">
                <a:moveTo>
                  <a:pt x="327780" y="406780"/>
                </a:moveTo>
                <a:cubicBezTo>
                  <a:pt x="303941" y="406780"/>
                  <a:pt x="285069" y="425627"/>
                  <a:pt x="285069" y="449434"/>
                </a:cubicBezTo>
                <a:cubicBezTo>
                  <a:pt x="285069" y="473241"/>
                  <a:pt x="303941" y="492088"/>
                  <a:pt x="327780" y="492088"/>
                </a:cubicBezTo>
                <a:cubicBezTo>
                  <a:pt x="350625" y="492088"/>
                  <a:pt x="370490" y="473241"/>
                  <a:pt x="370490" y="449434"/>
                </a:cubicBezTo>
                <a:cubicBezTo>
                  <a:pt x="370490" y="425627"/>
                  <a:pt x="350625" y="406780"/>
                  <a:pt x="327780" y="406780"/>
                </a:cubicBezTo>
                <a:close/>
                <a:moveTo>
                  <a:pt x="91381" y="406780"/>
                </a:moveTo>
                <a:cubicBezTo>
                  <a:pt x="68536" y="406780"/>
                  <a:pt x="49664" y="425627"/>
                  <a:pt x="49664" y="449434"/>
                </a:cubicBezTo>
                <a:cubicBezTo>
                  <a:pt x="49664" y="473241"/>
                  <a:pt x="68536" y="492088"/>
                  <a:pt x="91381" y="492088"/>
                </a:cubicBezTo>
                <a:cubicBezTo>
                  <a:pt x="115220" y="492088"/>
                  <a:pt x="134092" y="473241"/>
                  <a:pt x="134092" y="449434"/>
                </a:cubicBezTo>
                <a:cubicBezTo>
                  <a:pt x="134092" y="425627"/>
                  <a:pt x="115220" y="406780"/>
                  <a:pt x="91381" y="406780"/>
                </a:cubicBezTo>
                <a:close/>
                <a:moveTo>
                  <a:pt x="130119" y="162762"/>
                </a:moveTo>
                <a:cubicBezTo>
                  <a:pt x="86415" y="162762"/>
                  <a:pt x="50657" y="198472"/>
                  <a:pt x="50657" y="243110"/>
                </a:cubicBezTo>
                <a:lnTo>
                  <a:pt x="50657" y="312546"/>
                </a:lnTo>
                <a:cubicBezTo>
                  <a:pt x="50657" y="328417"/>
                  <a:pt x="62576" y="341312"/>
                  <a:pt x="78468" y="341312"/>
                </a:cubicBezTo>
                <a:lnTo>
                  <a:pt x="340692" y="341312"/>
                </a:lnTo>
                <a:cubicBezTo>
                  <a:pt x="356585" y="341312"/>
                  <a:pt x="369497" y="328417"/>
                  <a:pt x="369497" y="312546"/>
                </a:cubicBezTo>
                <a:lnTo>
                  <a:pt x="369497" y="243110"/>
                </a:lnTo>
                <a:cubicBezTo>
                  <a:pt x="369497" y="198472"/>
                  <a:pt x="332746" y="162762"/>
                  <a:pt x="289042" y="162762"/>
                </a:cubicBezTo>
                <a:close/>
                <a:moveTo>
                  <a:pt x="127139" y="99278"/>
                </a:moveTo>
                <a:lnTo>
                  <a:pt x="293015" y="99278"/>
                </a:lnTo>
                <a:cubicBezTo>
                  <a:pt x="363538" y="99278"/>
                  <a:pt x="420154" y="155819"/>
                  <a:pt x="420154" y="226247"/>
                </a:cubicBezTo>
                <a:lnTo>
                  <a:pt x="420154" y="486136"/>
                </a:lnTo>
                <a:cubicBezTo>
                  <a:pt x="420154" y="511926"/>
                  <a:pt x="404262" y="532757"/>
                  <a:pt x="382410" y="541685"/>
                </a:cubicBezTo>
                <a:lnTo>
                  <a:pt x="382410" y="561524"/>
                </a:lnTo>
                <a:cubicBezTo>
                  <a:pt x="382410" y="587314"/>
                  <a:pt x="360558" y="608145"/>
                  <a:pt x="334733" y="608145"/>
                </a:cubicBezTo>
                <a:lnTo>
                  <a:pt x="326786" y="608145"/>
                </a:lnTo>
                <a:cubicBezTo>
                  <a:pt x="300961" y="608145"/>
                  <a:pt x="280103" y="587314"/>
                  <a:pt x="280103" y="561524"/>
                </a:cubicBezTo>
                <a:lnTo>
                  <a:pt x="280103" y="544661"/>
                </a:lnTo>
                <a:lnTo>
                  <a:pt x="140051" y="544661"/>
                </a:lnTo>
                <a:lnTo>
                  <a:pt x="140051" y="561524"/>
                </a:lnTo>
                <a:cubicBezTo>
                  <a:pt x="140051" y="587314"/>
                  <a:pt x="118199" y="608145"/>
                  <a:pt x="92374" y="608145"/>
                </a:cubicBezTo>
                <a:lnTo>
                  <a:pt x="84428" y="608145"/>
                </a:lnTo>
                <a:cubicBezTo>
                  <a:pt x="58603" y="608145"/>
                  <a:pt x="37744" y="587314"/>
                  <a:pt x="37744" y="561524"/>
                </a:cubicBezTo>
                <a:lnTo>
                  <a:pt x="37744" y="541685"/>
                </a:lnTo>
                <a:cubicBezTo>
                  <a:pt x="14899" y="532757"/>
                  <a:pt x="0" y="511926"/>
                  <a:pt x="0" y="486136"/>
                </a:cubicBezTo>
                <a:lnTo>
                  <a:pt x="0" y="226247"/>
                </a:lnTo>
                <a:cubicBezTo>
                  <a:pt x="0" y="155819"/>
                  <a:pt x="56616" y="99278"/>
                  <a:pt x="127139" y="99278"/>
                </a:cubicBezTo>
                <a:close/>
                <a:moveTo>
                  <a:pt x="408232" y="74504"/>
                </a:moveTo>
                <a:cubicBezTo>
                  <a:pt x="413203" y="72520"/>
                  <a:pt x="419168" y="72520"/>
                  <a:pt x="424139" y="75495"/>
                </a:cubicBezTo>
                <a:cubicBezTo>
                  <a:pt x="464901" y="96324"/>
                  <a:pt x="489755" y="139964"/>
                  <a:pt x="486772" y="185587"/>
                </a:cubicBezTo>
                <a:cubicBezTo>
                  <a:pt x="486772" y="190546"/>
                  <a:pt x="483790" y="195505"/>
                  <a:pt x="479813" y="199473"/>
                </a:cubicBezTo>
                <a:cubicBezTo>
                  <a:pt x="475836" y="202448"/>
                  <a:pt x="469871" y="203440"/>
                  <a:pt x="464901" y="202448"/>
                </a:cubicBezTo>
                <a:lnTo>
                  <a:pt x="462912" y="201456"/>
                </a:lnTo>
                <a:cubicBezTo>
                  <a:pt x="453965" y="199473"/>
                  <a:pt x="448994" y="191538"/>
                  <a:pt x="448994" y="183604"/>
                </a:cubicBezTo>
                <a:cubicBezTo>
                  <a:pt x="450982" y="152857"/>
                  <a:pt x="434081" y="123103"/>
                  <a:pt x="406244" y="109217"/>
                </a:cubicBezTo>
                <a:cubicBezTo>
                  <a:pt x="399285" y="105250"/>
                  <a:pt x="395308" y="97315"/>
                  <a:pt x="397296" y="89381"/>
                </a:cubicBezTo>
                <a:lnTo>
                  <a:pt x="398291" y="87397"/>
                </a:lnTo>
                <a:cubicBezTo>
                  <a:pt x="399285" y="81446"/>
                  <a:pt x="403261" y="77479"/>
                  <a:pt x="408232" y="74504"/>
                </a:cubicBezTo>
                <a:close/>
                <a:moveTo>
                  <a:pt x="439969" y="1081"/>
                </a:moveTo>
                <a:cubicBezTo>
                  <a:pt x="522425" y="32821"/>
                  <a:pt x="572097" y="118123"/>
                  <a:pt x="560176" y="205408"/>
                </a:cubicBezTo>
                <a:cubicBezTo>
                  <a:pt x="559182" y="210367"/>
                  <a:pt x="556202" y="214335"/>
                  <a:pt x="552228" y="217311"/>
                </a:cubicBezTo>
                <a:cubicBezTo>
                  <a:pt x="548254" y="220286"/>
                  <a:pt x="542294" y="221278"/>
                  <a:pt x="537326" y="220286"/>
                </a:cubicBezTo>
                <a:lnTo>
                  <a:pt x="535340" y="219294"/>
                </a:lnTo>
                <a:cubicBezTo>
                  <a:pt x="526399" y="217311"/>
                  <a:pt x="520438" y="208384"/>
                  <a:pt x="522425" y="199457"/>
                </a:cubicBezTo>
                <a:cubicBezTo>
                  <a:pt x="531366" y="130025"/>
                  <a:pt x="491628" y="62577"/>
                  <a:pt x="426061" y="36788"/>
                </a:cubicBezTo>
                <a:cubicBezTo>
                  <a:pt x="418113" y="33813"/>
                  <a:pt x="413146" y="24886"/>
                  <a:pt x="416126" y="15959"/>
                </a:cubicBezTo>
                <a:lnTo>
                  <a:pt x="416126" y="13975"/>
                </a:lnTo>
                <a:cubicBezTo>
                  <a:pt x="417120" y="9016"/>
                  <a:pt x="421094" y="4056"/>
                  <a:pt x="425067" y="2073"/>
                </a:cubicBezTo>
                <a:cubicBezTo>
                  <a:pt x="430035" y="89"/>
                  <a:pt x="435002" y="-903"/>
                  <a:pt x="439969" y="1081"/>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endParaRPr lang="zh-CN" altLang="en-US">
              <a:solidFill>
                <a:srgbClr val="000000"/>
              </a:solidFill>
              <a:latin typeface="Arial" panose="020F0502020204030204"/>
              <a:ea typeface="微软雅黑"/>
              <a:cs typeface="+mn-ea"/>
              <a:sym typeface="+mn-lt"/>
            </a:endParaRPr>
          </a:p>
        </p:txBody>
      </p:sp>
      <p:sp>
        <p:nvSpPr>
          <p:cNvPr id="42" name="ïslíḓé">
            <a:extLst>
              <a:ext uri="{FF2B5EF4-FFF2-40B4-BE49-F238E27FC236}">
                <a16:creationId xmlns:a16="http://schemas.microsoft.com/office/drawing/2014/main" id="{BE32A9B8-DE47-03CA-24C4-EE061927FBB2}"/>
              </a:ext>
            </a:extLst>
          </p:cNvPr>
          <p:cNvSpPr/>
          <p:nvPr/>
        </p:nvSpPr>
        <p:spPr bwMode="auto">
          <a:xfrm>
            <a:off x="5815461" y="5339493"/>
            <a:ext cx="363264" cy="320996"/>
          </a:xfrm>
          <a:custGeom>
            <a:avLst/>
            <a:gdLst>
              <a:gd name="connsiteX0" fmla="*/ 494452 w 603405"/>
              <a:gd name="connsiteY0" fmla="*/ 356003 h 533193"/>
              <a:gd name="connsiteX1" fmla="*/ 585270 w 603405"/>
              <a:gd name="connsiteY1" fmla="*/ 356003 h 533193"/>
              <a:gd name="connsiteX2" fmla="*/ 601782 w 603405"/>
              <a:gd name="connsiteY2" fmla="*/ 372480 h 533193"/>
              <a:gd name="connsiteX3" fmla="*/ 585270 w 603405"/>
              <a:gd name="connsiteY3" fmla="*/ 388957 h 533193"/>
              <a:gd name="connsiteX4" fmla="*/ 494452 w 603405"/>
              <a:gd name="connsiteY4" fmla="*/ 388957 h 533193"/>
              <a:gd name="connsiteX5" fmla="*/ 367511 w 603405"/>
              <a:gd name="connsiteY5" fmla="*/ 244227 h 533193"/>
              <a:gd name="connsiteX6" fmla="*/ 443780 w 603405"/>
              <a:gd name="connsiteY6" fmla="*/ 244227 h 533193"/>
              <a:gd name="connsiteX7" fmla="*/ 477411 w 603405"/>
              <a:gd name="connsiteY7" fmla="*/ 277633 h 533193"/>
              <a:gd name="connsiteX8" fmla="*/ 477861 w 603405"/>
              <a:gd name="connsiteY8" fmla="*/ 381744 h 533193"/>
              <a:gd name="connsiteX9" fmla="*/ 463748 w 603405"/>
              <a:gd name="connsiteY9" fmla="*/ 395975 h 533193"/>
              <a:gd name="connsiteX10" fmla="*/ 449486 w 603405"/>
              <a:gd name="connsiteY10" fmla="*/ 381894 h 533193"/>
              <a:gd name="connsiteX11" fmla="*/ 449035 w 603405"/>
              <a:gd name="connsiteY11" fmla="*/ 277782 h 533193"/>
              <a:gd name="connsiteX12" fmla="*/ 446033 w 603405"/>
              <a:gd name="connsiteY12" fmla="*/ 274786 h 533193"/>
              <a:gd name="connsiteX13" fmla="*/ 443030 w 603405"/>
              <a:gd name="connsiteY13" fmla="*/ 277782 h 533193"/>
              <a:gd name="connsiteX14" fmla="*/ 443330 w 603405"/>
              <a:gd name="connsiteY14" fmla="*/ 516116 h 533193"/>
              <a:gd name="connsiteX15" fmla="*/ 426215 w 603405"/>
              <a:gd name="connsiteY15" fmla="*/ 533193 h 533193"/>
              <a:gd name="connsiteX16" fmla="*/ 409249 w 603405"/>
              <a:gd name="connsiteY16" fmla="*/ 516116 h 533193"/>
              <a:gd name="connsiteX17" fmla="*/ 409249 w 603405"/>
              <a:gd name="connsiteY17" fmla="*/ 380096 h 533193"/>
              <a:gd name="connsiteX18" fmla="*/ 401893 w 603405"/>
              <a:gd name="connsiteY18" fmla="*/ 380096 h 533193"/>
              <a:gd name="connsiteX19" fmla="*/ 401893 w 603405"/>
              <a:gd name="connsiteY19" fmla="*/ 516116 h 533193"/>
              <a:gd name="connsiteX20" fmla="*/ 384778 w 603405"/>
              <a:gd name="connsiteY20" fmla="*/ 533193 h 533193"/>
              <a:gd name="connsiteX21" fmla="*/ 367812 w 603405"/>
              <a:gd name="connsiteY21" fmla="*/ 516116 h 533193"/>
              <a:gd name="connsiteX22" fmla="*/ 367812 w 603405"/>
              <a:gd name="connsiteY22" fmla="*/ 380096 h 533193"/>
              <a:gd name="connsiteX23" fmla="*/ 367812 w 603405"/>
              <a:gd name="connsiteY23" fmla="*/ 277782 h 533193"/>
              <a:gd name="connsiteX24" fmla="*/ 364959 w 603405"/>
              <a:gd name="connsiteY24" fmla="*/ 274936 h 533193"/>
              <a:gd name="connsiteX25" fmla="*/ 362257 w 603405"/>
              <a:gd name="connsiteY25" fmla="*/ 277782 h 533193"/>
              <a:gd name="connsiteX26" fmla="*/ 361656 w 603405"/>
              <a:gd name="connsiteY26" fmla="*/ 381894 h 533193"/>
              <a:gd name="connsiteX27" fmla="*/ 347544 w 603405"/>
              <a:gd name="connsiteY27" fmla="*/ 395975 h 533193"/>
              <a:gd name="connsiteX28" fmla="*/ 347393 w 603405"/>
              <a:gd name="connsiteY28" fmla="*/ 395975 h 533193"/>
              <a:gd name="connsiteX29" fmla="*/ 333281 w 603405"/>
              <a:gd name="connsiteY29" fmla="*/ 381744 h 533193"/>
              <a:gd name="connsiteX30" fmla="*/ 333881 w 603405"/>
              <a:gd name="connsiteY30" fmla="*/ 277633 h 533193"/>
              <a:gd name="connsiteX31" fmla="*/ 367511 w 603405"/>
              <a:gd name="connsiteY31" fmla="*/ 244227 h 533193"/>
              <a:gd name="connsiteX32" fmla="*/ 201525 w 603405"/>
              <a:gd name="connsiteY32" fmla="*/ 244227 h 533193"/>
              <a:gd name="connsiteX33" fmla="*/ 277906 w 603405"/>
              <a:gd name="connsiteY33" fmla="*/ 244227 h 533193"/>
              <a:gd name="connsiteX34" fmla="*/ 311520 w 603405"/>
              <a:gd name="connsiteY34" fmla="*/ 277633 h 533193"/>
              <a:gd name="connsiteX35" fmla="*/ 311970 w 603405"/>
              <a:gd name="connsiteY35" fmla="*/ 381744 h 533193"/>
              <a:gd name="connsiteX36" fmla="*/ 297864 w 603405"/>
              <a:gd name="connsiteY36" fmla="*/ 395975 h 533193"/>
              <a:gd name="connsiteX37" fmla="*/ 297714 w 603405"/>
              <a:gd name="connsiteY37" fmla="*/ 395975 h 533193"/>
              <a:gd name="connsiteX38" fmla="*/ 283608 w 603405"/>
              <a:gd name="connsiteY38" fmla="*/ 381894 h 533193"/>
              <a:gd name="connsiteX39" fmla="*/ 283008 w 603405"/>
              <a:gd name="connsiteY39" fmla="*/ 277782 h 533193"/>
              <a:gd name="connsiteX40" fmla="*/ 280007 w 603405"/>
              <a:gd name="connsiteY40" fmla="*/ 274786 h 533193"/>
              <a:gd name="connsiteX41" fmla="*/ 277156 w 603405"/>
              <a:gd name="connsiteY41" fmla="*/ 277782 h 533193"/>
              <a:gd name="connsiteX42" fmla="*/ 277456 w 603405"/>
              <a:gd name="connsiteY42" fmla="*/ 516116 h 533193"/>
              <a:gd name="connsiteX43" fmla="*/ 260349 w 603405"/>
              <a:gd name="connsiteY43" fmla="*/ 533193 h 533193"/>
              <a:gd name="connsiteX44" fmla="*/ 243242 w 603405"/>
              <a:gd name="connsiteY44" fmla="*/ 516116 h 533193"/>
              <a:gd name="connsiteX45" fmla="*/ 243242 w 603405"/>
              <a:gd name="connsiteY45" fmla="*/ 380096 h 533193"/>
              <a:gd name="connsiteX46" fmla="*/ 235889 w 603405"/>
              <a:gd name="connsiteY46" fmla="*/ 380096 h 533193"/>
              <a:gd name="connsiteX47" fmla="*/ 235889 w 603405"/>
              <a:gd name="connsiteY47" fmla="*/ 516116 h 533193"/>
              <a:gd name="connsiteX48" fmla="*/ 218932 w 603405"/>
              <a:gd name="connsiteY48" fmla="*/ 533193 h 533193"/>
              <a:gd name="connsiteX49" fmla="*/ 201825 w 603405"/>
              <a:gd name="connsiteY49" fmla="*/ 516116 h 533193"/>
              <a:gd name="connsiteX50" fmla="*/ 201825 w 603405"/>
              <a:gd name="connsiteY50" fmla="*/ 380096 h 533193"/>
              <a:gd name="connsiteX51" fmla="*/ 201825 w 603405"/>
              <a:gd name="connsiteY51" fmla="*/ 277782 h 533193"/>
              <a:gd name="connsiteX52" fmla="*/ 199124 w 603405"/>
              <a:gd name="connsiteY52" fmla="*/ 274936 h 533193"/>
              <a:gd name="connsiteX53" fmla="*/ 196423 w 603405"/>
              <a:gd name="connsiteY53" fmla="*/ 277782 h 533193"/>
              <a:gd name="connsiteX54" fmla="*/ 195822 w 603405"/>
              <a:gd name="connsiteY54" fmla="*/ 381894 h 533193"/>
              <a:gd name="connsiteX55" fmla="*/ 181567 w 603405"/>
              <a:gd name="connsiteY55" fmla="*/ 395975 h 533193"/>
              <a:gd name="connsiteX56" fmla="*/ 167461 w 603405"/>
              <a:gd name="connsiteY56" fmla="*/ 381744 h 533193"/>
              <a:gd name="connsiteX57" fmla="*/ 167911 w 603405"/>
              <a:gd name="connsiteY57" fmla="*/ 277633 h 533193"/>
              <a:gd name="connsiteX58" fmla="*/ 201525 w 603405"/>
              <a:gd name="connsiteY58" fmla="*/ 244227 h 533193"/>
              <a:gd name="connsiteX59" fmla="*/ 34214 w 603405"/>
              <a:gd name="connsiteY59" fmla="*/ 244227 h 533193"/>
              <a:gd name="connsiteX60" fmla="*/ 110445 w 603405"/>
              <a:gd name="connsiteY60" fmla="*/ 244227 h 533193"/>
              <a:gd name="connsiteX61" fmla="*/ 144059 w 603405"/>
              <a:gd name="connsiteY61" fmla="*/ 277633 h 533193"/>
              <a:gd name="connsiteX62" fmla="*/ 144509 w 603405"/>
              <a:gd name="connsiteY62" fmla="*/ 381744 h 533193"/>
              <a:gd name="connsiteX63" fmla="*/ 130403 w 603405"/>
              <a:gd name="connsiteY63" fmla="*/ 395975 h 533193"/>
              <a:gd name="connsiteX64" fmla="*/ 116147 w 603405"/>
              <a:gd name="connsiteY64" fmla="*/ 381894 h 533193"/>
              <a:gd name="connsiteX65" fmla="*/ 115697 w 603405"/>
              <a:gd name="connsiteY65" fmla="*/ 277782 h 533193"/>
              <a:gd name="connsiteX66" fmla="*/ 112696 w 603405"/>
              <a:gd name="connsiteY66" fmla="*/ 274786 h 533193"/>
              <a:gd name="connsiteX67" fmla="*/ 109694 w 603405"/>
              <a:gd name="connsiteY67" fmla="*/ 277782 h 533193"/>
              <a:gd name="connsiteX68" fmla="*/ 109995 w 603405"/>
              <a:gd name="connsiteY68" fmla="*/ 516116 h 533193"/>
              <a:gd name="connsiteX69" fmla="*/ 92888 w 603405"/>
              <a:gd name="connsiteY69" fmla="*/ 533193 h 533193"/>
              <a:gd name="connsiteX70" fmla="*/ 75931 w 603405"/>
              <a:gd name="connsiteY70" fmla="*/ 516116 h 533193"/>
              <a:gd name="connsiteX71" fmla="*/ 75931 w 603405"/>
              <a:gd name="connsiteY71" fmla="*/ 380096 h 533193"/>
              <a:gd name="connsiteX72" fmla="*/ 68578 w 603405"/>
              <a:gd name="connsiteY72" fmla="*/ 380096 h 533193"/>
              <a:gd name="connsiteX73" fmla="*/ 68578 w 603405"/>
              <a:gd name="connsiteY73" fmla="*/ 516116 h 533193"/>
              <a:gd name="connsiteX74" fmla="*/ 51471 w 603405"/>
              <a:gd name="connsiteY74" fmla="*/ 533193 h 533193"/>
              <a:gd name="connsiteX75" fmla="*/ 34364 w 603405"/>
              <a:gd name="connsiteY75" fmla="*/ 516116 h 533193"/>
              <a:gd name="connsiteX76" fmla="*/ 34364 w 603405"/>
              <a:gd name="connsiteY76" fmla="*/ 380096 h 533193"/>
              <a:gd name="connsiteX77" fmla="*/ 34364 w 603405"/>
              <a:gd name="connsiteY77" fmla="*/ 277782 h 533193"/>
              <a:gd name="connsiteX78" fmla="*/ 31663 w 603405"/>
              <a:gd name="connsiteY78" fmla="*/ 275086 h 533193"/>
              <a:gd name="connsiteX79" fmla="*/ 28962 w 603405"/>
              <a:gd name="connsiteY79" fmla="*/ 277782 h 533193"/>
              <a:gd name="connsiteX80" fmla="*/ 28361 w 603405"/>
              <a:gd name="connsiteY80" fmla="*/ 381894 h 533193"/>
              <a:gd name="connsiteX81" fmla="*/ 14256 w 603405"/>
              <a:gd name="connsiteY81" fmla="*/ 395975 h 533193"/>
              <a:gd name="connsiteX82" fmla="*/ 14106 w 603405"/>
              <a:gd name="connsiteY82" fmla="*/ 395975 h 533193"/>
              <a:gd name="connsiteX83" fmla="*/ 0 w 603405"/>
              <a:gd name="connsiteY83" fmla="*/ 381744 h 533193"/>
              <a:gd name="connsiteX84" fmla="*/ 600 w 603405"/>
              <a:gd name="connsiteY84" fmla="*/ 277633 h 533193"/>
              <a:gd name="connsiteX85" fmla="*/ 34214 w 603405"/>
              <a:gd name="connsiteY85" fmla="*/ 244227 h 533193"/>
              <a:gd name="connsiteX86" fmla="*/ 298774 w 603405"/>
              <a:gd name="connsiteY86" fmla="*/ 232090 h 533193"/>
              <a:gd name="connsiteX87" fmla="*/ 346547 w 603405"/>
              <a:gd name="connsiteY87" fmla="*/ 232090 h 533193"/>
              <a:gd name="connsiteX88" fmla="*/ 322660 w 603405"/>
              <a:gd name="connsiteY88" fmla="*/ 254883 h 533193"/>
              <a:gd name="connsiteX89" fmla="*/ 298774 w 603405"/>
              <a:gd name="connsiteY89" fmla="*/ 232090 h 533193"/>
              <a:gd name="connsiteX90" fmla="*/ 405716 w 603405"/>
              <a:gd name="connsiteY90" fmla="*/ 176061 h 533193"/>
              <a:gd name="connsiteX91" fmla="*/ 435177 w 603405"/>
              <a:gd name="connsiteY91" fmla="*/ 205417 h 533193"/>
              <a:gd name="connsiteX92" fmla="*/ 405716 w 603405"/>
              <a:gd name="connsiteY92" fmla="*/ 234773 h 533193"/>
              <a:gd name="connsiteX93" fmla="*/ 376255 w 603405"/>
              <a:gd name="connsiteY93" fmla="*/ 205417 h 533193"/>
              <a:gd name="connsiteX94" fmla="*/ 405716 w 603405"/>
              <a:gd name="connsiteY94" fmla="*/ 176061 h 533193"/>
              <a:gd name="connsiteX95" fmla="*/ 239817 w 603405"/>
              <a:gd name="connsiteY95" fmla="*/ 176061 h 533193"/>
              <a:gd name="connsiteX96" fmla="*/ 269208 w 603405"/>
              <a:gd name="connsiteY96" fmla="*/ 205417 h 533193"/>
              <a:gd name="connsiteX97" fmla="*/ 239817 w 603405"/>
              <a:gd name="connsiteY97" fmla="*/ 234773 h 533193"/>
              <a:gd name="connsiteX98" fmla="*/ 210426 w 603405"/>
              <a:gd name="connsiteY98" fmla="*/ 205417 h 533193"/>
              <a:gd name="connsiteX99" fmla="*/ 239817 w 603405"/>
              <a:gd name="connsiteY99" fmla="*/ 176061 h 533193"/>
              <a:gd name="connsiteX100" fmla="*/ 72325 w 603405"/>
              <a:gd name="connsiteY100" fmla="*/ 176061 h 533193"/>
              <a:gd name="connsiteX101" fmla="*/ 101897 w 603405"/>
              <a:gd name="connsiteY101" fmla="*/ 205416 h 533193"/>
              <a:gd name="connsiteX102" fmla="*/ 72325 w 603405"/>
              <a:gd name="connsiteY102" fmla="*/ 234772 h 533193"/>
              <a:gd name="connsiteX103" fmla="*/ 42904 w 603405"/>
              <a:gd name="connsiteY103" fmla="*/ 205416 h 533193"/>
              <a:gd name="connsiteX104" fmla="*/ 72325 w 603405"/>
              <a:gd name="connsiteY104" fmla="*/ 176061 h 533193"/>
              <a:gd name="connsiteX105" fmla="*/ 1200 w 603405"/>
              <a:gd name="connsiteY105" fmla="*/ 56241 h 533193"/>
              <a:gd name="connsiteX106" fmla="*/ 384613 w 603405"/>
              <a:gd name="connsiteY106" fmla="*/ 56241 h 533193"/>
              <a:gd name="connsiteX107" fmla="*/ 603405 w 603405"/>
              <a:gd name="connsiteY107" fmla="*/ 274494 h 533193"/>
              <a:gd name="connsiteX108" fmla="*/ 540979 w 603405"/>
              <a:gd name="connsiteY108" fmla="*/ 336809 h 533193"/>
              <a:gd name="connsiteX109" fmla="*/ 494459 w 603405"/>
              <a:gd name="connsiteY109" fmla="*/ 336809 h 533193"/>
              <a:gd name="connsiteX110" fmla="*/ 494159 w 603405"/>
              <a:gd name="connsiteY110" fmla="*/ 277490 h 533193"/>
              <a:gd name="connsiteX111" fmla="*/ 464747 w 603405"/>
              <a:gd name="connsiteY111" fmla="*/ 232102 h 533193"/>
              <a:gd name="connsiteX112" fmla="*/ 551333 w 603405"/>
              <a:gd name="connsiteY112" fmla="*/ 232102 h 533193"/>
              <a:gd name="connsiteX113" fmla="*/ 551483 w 603405"/>
              <a:gd name="connsiteY113" fmla="*/ 232102 h 533193"/>
              <a:gd name="connsiteX114" fmla="*/ 557636 w 603405"/>
              <a:gd name="connsiteY114" fmla="*/ 228806 h 533193"/>
              <a:gd name="connsiteX115" fmla="*/ 558236 w 603405"/>
              <a:gd name="connsiteY115" fmla="*/ 221766 h 533193"/>
              <a:gd name="connsiteX116" fmla="*/ 504663 w 603405"/>
              <a:gd name="connsiteY116" fmla="*/ 136532 h 533193"/>
              <a:gd name="connsiteX117" fmla="*/ 415676 w 603405"/>
              <a:gd name="connsiteY117" fmla="*/ 97585 h 533193"/>
              <a:gd name="connsiteX118" fmla="*/ 397968 w 603405"/>
              <a:gd name="connsiteY118" fmla="*/ 97585 h 533193"/>
              <a:gd name="connsiteX119" fmla="*/ 397968 w 603405"/>
              <a:gd name="connsiteY119" fmla="*/ 159900 h 533193"/>
              <a:gd name="connsiteX120" fmla="*/ 364954 w 603405"/>
              <a:gd name="connsiteY120" fmla="*/ 183568 h 533193"/>
              <a:gd name="connsiteX121" fmla="*/ 364954 w 603405"/>
              <a:gd name="connsiteY121" fmla="*/ 97585 h 533193"/>
              <a:gd name="connsiteX122" fmla="*/ 174223 w 603405"/>
              <a:gd name="connsiteY122" fmla="*/ 97585 h 533193"/>
              <a:gd name="connsiteX123" fmla="*/ 174223 w 603405"/>
              <a:gd name="connsiteY123" fmla="*/ 232102 h 533193"/>
              <a:gd name="connsiteX124" fmla="*/ 180526 w 603405"/>
              <a:gd name="connsiteY124" fmla="*/ 232102 h 533193"/>
              <a:gd name="connsiteX125" fmla="*/ 174223 w 603405"/>
              <a:gd name="connsiteY125" fmla="*/ 235547 h 533193"/>
              <a:gd name="connsiteX126" fmla="*/ 156065 w 603405"/>
              <a:gd name="connsiteY126" fmla="*/ 256369 h 533193"/>
              <a:gd name="connsiteX127" fmla="*/ 141209 w 603405"/>
              <a:gd name="connsiteY127" fmla="*/ 238093 h 533193"/>
              <a:gd name="connsiteX128" fmla="*/ 131455 w 603405"/>
              <a:gd name="connsiteY128" fmla="*/ 232102 h 533193"/>
              <a:gd name="connsiteX129" fmla="*/ 141209 w 603405"/>
              <a:gd name="connsiteY129" fmla="*/ 232102 h 533193"/>
              <a:gd name="connsiteX130" fmla="*/ 141209 w 603405"/>
              <a:gd name="connsiteY130" fmla="*/ 97585 h 533193"/>
              <a:gd name="connsiteX131" fmla="*/ 1200 w 603405"/>
              <a:gd name="connsiteY131" fmla="*/ 97585 h 533193"/>
              <a:gd name="connsiteX132" fmla="*/ 30337 w 603405"/>
              <a:gd name="connsiteY132" fmla="*/ 0 h 533193"/>
              <a:gd name="connsiteX133" fmla="*/ 450496 w 603405"/>
              <a:gd name="connsiteY133" fmla="*/ 0 h 533193"/>
              <a:gd name="connsiteX134" fmla="*/ 467002 w 603405"/>
              <a:gd name="connsiteY134" fmla="*/ 16512 h 533193"/>
              <a:gd name="connsiteX135" fmla="*/ 450496 w 603405"/>
              <a:gd name="connsiteY135" fmla="*/ 33025 h 533193"/>
              <a:gd name="connsiteX136" fmla="*/ 30337 w 603405"/>
              <a:gd name="connsiteY136" fmla="*/ 33025 h 533193"/>
              <a:gd name="connsiteX137" fmla="*/ 13831 w 603405"/>
              <a:gd name="connsiteY137" fmla="*/ 16512 h 533193"/>
              <a:gd name="connsiteX138" fmla="*/ 30337 w 603405"/>
              <a:gd name="connsiteY138" fmla="*/ 0 h 533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603405" h="533193">
                <a:moveTo>
                  <a:pt x="494452" y="356003"/>
                </a:moveTo>
                <a:lnTo>
                  <a:pt x="585270" y="356003"/>
                </a:lnTo>
                <a:cubicBezTo>
                  <a:pt x="594277" y="356003"/>
                  <a:pt x="601782" y="363343"/>
                  <a:pt x="601782" y="372480"/>
                </a:cubicBezTo>
                <a:cubicBezTo>
                  <a:pt x="601782" y="381617"/>
                  <a:pt x="594277" y="388957"/>
                  <a:pt x="585270" y="388957"/>
                </a:cubicBezTo>
                <a:lnTo>
                  <a:pt x="494452" y="388957"/>
                </a:lnTo>
                <a:close/>
                <a:moveTo>
                  <a:pt x="367511" y="244227"/>
                </a:moveTo>
                <a:lnTo>
                  <a:pt x="443780" y="244227"/>
                </a:lnTo>
                <a:cubicBezTo>
                  <a:pt x="462247" y="244227"/>
                  <a:pt x="477261" y="259207"/>
                  <a:pt x="477411" y="277633"/>
                </a:cubicBezTo>
                <a:lnTo>
                  <a:pt x="477861" y="381744"/>
                </a:lnTo>
                <a:cubicBezTo>
                  <a:pt x="478011" y="389534"/>
                  <a:pt x="471706" y="395975"/>
                  <a:pt x="463748" y="395975"/>
                </a:cubicBezTo>
                <a:cubicBezTo>
                  <a:pt x="455941" y="395975"/>
                  <a:pt x="449486" y="389684"/>
                  <a:pt x="449486" y="381894"/>
                </a:cubicBezTo>
                <a:lnTo>
                  <a:pt x="449035" y="277782"/>
                </a:lnTo>
                <a:cubicBezTo>
                  <a:pt x="449035" y="276135"/>
                  <a:pt x="447684" y="274786"/>
                  <a:pt x="446033" y="274786"/>
                </a:cubicBezTo>
                <a:cubicBezTo>
                  <a:pt x="444381" y="274786"/>
                  <a:pt x="443030" y="276135"/>
                  <a:pt x="443030" y="277782"/>
                </a:cubicBezTo>
                <a:cubicBezTo>
                  <a:pt x="443030" y="419944"/>
                  <a:pt x="443330" y="291115"/>
                  <a:pt x="443330" y="516116"/>
                </a:cubicBezTo>
                <a:cubicBezTo>
                  <a:pt x="443330" y="525553"/>
                  <a:pt x="435673" y="533193"/>
                  <a:pt x="426215" y="533193"/>
                </a:cubicBezTo>
                <a:cubicBezTo>
                  <a:pt x="416906" y="533193"/>
                  <a:pt x="409249" y="525553"/>
                  <a:pt x="409249" y="516116"/>
                </a:cubicBezTo>
                <a:lnTo>
                  <a:pt x="409249" y="380096"/>
                </a:lnTo>
                <a:lnTo>
                  <a:pt x="401893" y="380096"/>
                </a:lnTo>
                <a:lnTo>
                  <a:pt x="401893" y="516116"/>
                </a:lnTo>
                <a:cubicBezTo>
                  <a:pt x="401893" y="525553"/>
                  <a:pt x="394236" y="533193"/>
                  <a:pt x="384778" y="533193"/>
                </a:cubicBezTo>
                <a:cubicBezTo>
                  <a:pt x="375319" y="533193"/>
                  <a:pt x="367812" y="525553"/>
                  <a:pt x="367812" y="516116"/>
                </a:cubicBezTo>
                <a:lnTo>
                  <a:pt x="367812" y="380096"/>
                </a:lnTo>
                <a:lnTo>
                  <a:pt x="367812" y="277782"/>
                </a:lnTo>
                <a:cubicBezTo>
                  <a:pt x="367812" y="276284"/>
                  <a:pt x="366461" y="274936"/>
                  <a:pt x="364959" y="274936"/>
                </a:cubicBezTo>
                <a:cubicBezTo>
                  <a:pt x="363458" y="274936"/>
                  <a:pt x="362257" y="276284"/>
                  <a:pt x="362257" y="277782"/>
                </a:cubicBezTo>
                <a:lnTo>
                  <a:pt x="361656" y="381894"/>
                </a:lnTo>
                <a:cubicBezTo>
                  <a:pt x="361656" y="389684"/>
                  <a:pt x="355351" y="395975"/>
                  <a:pt x="347544" y="395975"/>
                </a:cubicBezTo>
                <a:lnTo>
                  <a:pt x="347393" y="395975"/>
                </a:lnTo>
                <a:cubicBezTo>
                  <a:pt x="339586" y="395975"/>
                  <a:pt x="333281" y="389534"/>
                  <a:pt x="333281" y="381744"/>
                </a:cubicBezTo>
                <a:lnTo>
                  <a:pt x="333881" y="277633"/>
                </a:lnTo>
                <a:cubicBezTo>
                  <a:pt x="333881" y="259207"/>
                  <a:pt x="349045" y="244227"/>
                  <a:pt x="367511" y="244227"/>
                </a:cubicBezTo>
                <a:close/>
                <a:moveTo>
                  <a:pt x="201525" y="244227"/>
                </a:moveTo>
                <a:lnTo>
                  <a:pt x="277906" y="244227"/>
                </a:lnTo>
                <a:cubicBezTo>
                  <a:pt x="296213" y="244227"/>
                  <a:pt x="311370" y="259207"/>
                  <a:pt x="311520" y="277633"/>
                </a:cubicBezTo>
                <a:lnTo>
                  <a:pt x="311970" y="381744"/>
                </a:lnTo>
                <a:cubicBezTo>
                  <a:pt x="311970" y="389534"/>
                  <a:pt x="305667" y="395975"/>
                  <a:pt x="297864" y="395975"/>
                </a:cubicBezTo>
                <a:lnTo>
                  <a:pt x="297714" y="395975"/>
                </a:lnTo>
                <a:cubicBezTo>
                  <a:pt x="289911" y="395975"/>
                  <a:pt x="283608" y="389684"/>
                  <a:pt x="283608" y="381894"/>
                </a:cubicBezTo>
                <a:lnTo>
                  <a:pt x="283008" y="277782"/>
                </a:lnTo>
                <a:cubicBezTo>
                  <a:pt x="283008" y="276135"/>
                  <a:pt x="281657" y="274786"/>
                  <a:pt x="280007" y="274786"/>
                </a:cubicBezTo>
                <a:cubicBezTo>
                  <a:pt x="278356" y="274786"/>
                  <a:pt x="277156" y="276135"/>
                  <a:pt x="277156" y="277782"/>
                </a:cubicBezTo>
                <a:cubicBezTo>
                  <a:pt x="277156" y="419944"/>
                  <a:pt x="277456" y="291115"/>
                  <a:pt x="277456" y="516116"/>
                </a:cubicBezTo>
                <a:cubicBezTo>
                  <a:pt x="277456" y="525553"/>
                  <a:pt x="269803" y="533193"/>
                  <a:pt x="260349" y="533193"/>
                </a:cubicBezTo>
                <a:cubicBezTo>
                  <a:pt x="250895" y="533193"/>
                  <a:pt x="243242" y="525553"/>
                  <a:pt x="243242" y="516116"/>
                </a:cubicBezTo>
                <a:lnTo>
                  <a:pt x="243242" y="380096"/>
                </a:lnTo>
                <a:lnTo>
                  <a:pt x="235889" y="380096"/>
                </a:lnTo>
                <a:lnTo>
                  <a:pt x="235889" y="516116"/>
                </a:lnTo>
                <a:cubicBezTo>
                  <a:pt x="235889" y="525553"/>
                  <a:pt x="228386" y="533193"/>
                  <a:pt x="218932" y="533193"/>
                </a:cubicBezTo>
                <a:cubicBezTo>
                  <a:pt x="209478" y="533193"/>
                  <a:pt x="201825" y="525553"/>
                  <a:pt x="201825" y="516116"/>
                </a:cubicBezTo>
                <a:lnTo>
                  <a:pt x="201825" y="380096"/>
                </a:lnTo>
                <a:lnTo>
                  <a:pt x="201825" y="277782"/>
                </a:lnTo>
                <a:cubicBezTo>
                  <a:pt x="201825" y="276284"/>
                  <a:pt x="200624" y="274936"/>
                  <a:pt x="199124" y="274936"/>
                </a:cubicBezTo>
                <a:cubicBezTo>
                  <a:pt x="197623" y="274936"/>
                  <a:pt x="196423" y="276284"/>
                  <a:pt x="196423" y="277782"/>
                </a:cubicBezTo>
                <a:lnTo>
                  <a:pt x="195822" y="381894"/>
                </a:lnTo>
                <a:cubicBezTo>
                  <a:pt x="195822" y="389684"/>
                  <a:pt x="189370" y="395975"/>
                  <a:pt x="181567" y="395975"/>
                </a:cubicBezTo>
                <a:cubicBezTo>
                  <a:pt x="173763" y="395975"/>
                  <a:pt x="167311" y="389534"/>
                  <a:pt x="167461" y="381744"/>
                </a:cubicBezTo>
                <a:lnTo>
                  <a:pt x="167911" y="277633"/>
                </a:lnTo>
                <a:cubicBezTo>
                  <a:pt x="168061" y="259207"/>
                  <a:pt x="183067" y="244227"/>
                  <a:pt x="201525" y="244227"/>
                </a:cubicBezTo>
                <a:close/>
                <a:moveTo>
                  <a:pt x="34214" y="244227"/>
                </a:moveTo>
                <a:lnTo>
                  <a:pt x="110445" y="244227"/>
                </a:lnTo>
                <a:cubicBezTo>
                  <a:pt x="128902" y="244227"/>
                  <a:pt x="143908" y="259207"/>
                  <a:pt x="144059" y="277633"/>
                </a:cubicBezTo>
                <a:lnTo>
                  <a:pt x="144509" y="381744"/>
                </a:lnTo>
                <a:cubicBezTo>
                  <a:pt x="144659" y="389534"/>
                  <a:pt x="138206" y="395975"/>
                  <a:pt x="130403" y="395975"/>
                </a:cubicBezTo>
                <a:cubicBezTo>
                  <a:pt x="122600" y="395975"/>
                  <a:pt x="116147" y="389684"/>
                  <a:pt x="116147" y="381894"/>
                </a:cubicBezTo>
                <a:lnTo>
                  <a:pt x="115697" y="277782"/>
                </a:lnTo>
                <a:cubicBezTo>
                  <a:pt x="115547" y="276135"/>
                  <a:pt x="114346" y="274786"/>
                  <a:pt x="112696" y="274786"/>
                </a:cubicBezTo>
                <a:cubicBezTo>
                  <a:pt x="111045" y="274786"/>
                  <a:pt x="109694" y="276135"/>
                  <a:pt x="109694" y="277782"/>
                </a:cubicBezTo>
                <a:cubicBezTo>
                  <a:pt x="109694" y="343695"/>
                  <a:pt x="109995" y="452450"/>
                  <a:pt x="109995" y="516116"/>
                </a:cubicBezTo>
                <a:cubicBezTo>
                  <a:pt x="109995" y="525553"/>
                  <a:pt x="102341" y="533193"/>
                  <a:pt x="92888" y="533193"/>
                </a:cubicBezTo>
                <a:cubicBezTo>
                  <a:pt x="83584" y="533193"/>
                  <a:pt x="75931" y="525553"/>
                  <a:pt x="75931" y="516116"/>
                </a:cubicBezTo>
                <a:lnTo>
                  <a:pt x="75931" y="380096"/>
                </a:lnTo>
                <a:lnTo>
                  <a:pt x="68578" y="380096"/>
                </a:lnTo>
                <a:lnTo>
                  <a:pt x="68578" y="516116"/>
                </a:lnTo>
                <a:cubicBezTo>
                  <a:pt x="68578" y="525553"/>
                  <a:pt x="60925" y="533193"/>
                  <a:pt x="51471" y="533193"/>
                </a:cubicBezTo>
                <a:cubicBezTo>
                  <a:pt x="42017" y="533193"/>
                  <a:pt x="34364" y="525553"/>
                  <a:pt x="34364" y="516116"/>
                </a:cubicBezTo>
                <a:lnTo>
                  <a:pt x="34364" y="380096"/>
                </a:lnTo>
                <a:lnTo>
                  <a:pt x="34364" y="277782"/>
                </a:lnTo>
                <a:cubicBezTo>
                  <a:pt x="34364" y="276284"/>
                  <a:pt x="33163" y="275086"/>
                  <a:pt x="31663" y="275086"/>
                </a:cubicBezTo>
                <a:cubicBezTo>
                  <a:pt x="30162" y="274936"/>
                  <a:pt x="28962" y="276284"/>
                  <a:pt x="28962" y="277782"/>
                </a:cubicBezTo>
                <a:lnTo>
                  <a:pt x="28361" y="381894"/>
                </a:lnTo>
                <a:cubicBezTo>
                  <a:pt x="28361" y="389684"/>
                  <a:pt x="22059" y="395975"/>
                  <a:pt x="14256" y="395975"/>
                </a:cubicBezTo>
                <a:lnTo>
                  <a:pt x="14106" y="395975"/>
                </a:lnTo>
                <a:cubicBezTo>
                  <a:pt x="6302" y="395975"/>
                  <a:pt x="0" y="389534"/>
                  <a:pt x="0" y="381744"/>
                </a:cubicBezTo>
                <a:lnTo>
                  <a:pt x="600" y="277633"/>
                </a:lnTo>
                <a:cubicBezTo>
                  <a:pt x="600" y="259207"/>
                  <a:pt x="15756" y="244227"/>
                  <a:pt x="34214" y="244227"/>
                </a:cubicBezTo>
                <a:close/>
                <a:moveTo>
                  <a:pt x="298774" y="232090"/>
                </a:moveTo>
                <a:lnTo>
                  <a:pt x="346547" y="232090"/>
                </a:lnTo>
                <a:cubicBezTo>
                  <a:pt x="336331" y="236739"/>
                  <a:pt x="327768" y="244836"/>
                  <a:pt x="322660" y="254883"/>
                </a:cubicBezTo>
                <a:cubicBezTo>
                  <a:pt x="317552" y="244836"/>
                  <a:pt x="309140" y="236739"/>
                  <a:pt x="298774" y="232090"/>
                </a:cubicBezTo>
                <a:close/>
                <a:moveTo>
                  <a:pt x="405716" y="176061"/>
                </a:moveTo>
                <a:cubicBezTo>
                  <a:pt x="421987" y="176061"/>
                  <a:pt x="435177" y="189204"/>
                  <a:pt x="435177" y="205417"/>
                </a:cubicBezTo>
                <a:cubicBezTo>
                  <a:pt x="435177" y="221630"/>
                  <a:pt x="421987" y="234773"/>
                  <a:pt x="405716" y="234773"/>
                </a:cubicBezTo>
                <a:cubicBezTo>
                  <a:pt x="389445" y="234773"/>
                  <a:pt x="376255" y="221630"/>
                  <a:pt x="376255" y="205417"/>
                </a:cubicBezTo>
                <a:cubicBezTo>
                  <a:pt x="376255" y="189204"/>
                  <a:pt x="389445" y="176061"/>
                  <a:pt x="405716" y="176061"/>
                </a:cubicBezTo>
                <a:close/>
                <a:moveTo>
                  <a:pt x="239817" y="176061"/>
                </a:moveTo>
                <a:cubicBezTo>
                  <a:pt x="256049" y="176061"/>
                  <a:pt x="269208" y="189204"/>
                  <a:pt x="269208" y="205417"/>
                </a:cubicBezTo>
                <a:cubicBezTo>
                  <a:pt x="269208" y="221630"/>
                  <a:pt x="256049" y="234773"/>
                  <a:pt x="239817" y="234773"/>
                </a:cubicBezTo>
                <a:cubicBezTo>
                  <a:pt x="223585" y="234773"/>
                  <a:pt x="210426" y="221630"/>
                  <a:pt x="210426" y="205417"/>
                </a:cubicBezTo>
                <a:cubicBezTo>
                  <a:pt x="210426" y="189204"/>
                  <a:pt x="223585" y="176061"/>
                  <a:pt x="239817" y="176061"/>
                </a:cubicBezTo>
                <a:close/>
                <a:moveTo>
                  <a:pt x="72325" y="176061"/>
                </a:moveTo>
                <a:cubicBezTo>
                  <a:pt x="88687" y="176061"/>
                  <a:pt x="101897" y="189241"/>
                  <a:pt x="101897" y="205416"/>
                </a:cubicBezTo>
                <a:cubicBezTo>
                  <a:pt x="101897" y="221592"/>
                  <a:pt x="88687" y="234772"/>
                  <a:pt x="72325" y="234772"/>
                </a:cubicBezTo>
                <a:cubicBezTo>
                  <a:pt x="56113" y="234772"/>
                  <a:pt x="42904" y="221592"/>
                  <a:pt x="42904" y="205416"/>
                </a:cubicBezTo>
                <a:cubicBezTo>
                  <a:pt x="42904" y="189241"/>
                  <a:pt x="55963" y="176061"/>
                  <a:pt x="72325" y="176061"/>
                </a:cubicBezTo>
                <a:close/>
                <a:moveTo>
                  <a:pt x="1200" y="56241"/>
                </a:moveTo>
                <a:lnTo>
                  <a:pt x="384613" y="56241"/>
                </a:lnTo>
                <a:cubicBezTo>
                  <a:pt x="505414" y="56241"/>
                  <a:pt x="603405" y="154058"/>
                  <a:pt x="603405" y="274494"/>
                </a:cubicBezTo>
                <a:cubicBezTo>
                  <a:pt x="603405" y="308947"/>
                  <a:pt x="575493" y="336809"/>
                  <a:pt x="540979" y="336809"/>
                </a:cubicBezTo>
                <a:lnTo>
                  <a:pt x="494459" y="336809"/>
                </a:lnTo>
                <a:lnTo>
                  <a:pt x="494159" y="277490"/>
                </a:lnTo>
                <a:cubicBezTo>
                  <a:pt x="494009" y="257417"/>
                  <a:pt x="482004" y="240041"/>
                  <a:pt x="464747" y="232102"/>
                </a:cubicBezTo>
                <a:lnTo>
                  <a:pt x="551333" y="232102"/>
                </a:lnTo>
                <a:lnTo>
                  <a:pt x="551483" y="232102"/>
                </a:lnTo>
                <a:cubicBezTo>
                  <a:pt x="553884" y="232102"/>
                  <a:pt x="556285" y="230753"/>
                  <a:pt x="557636" y="228806"/>
                </a:cubicBezTo>
                <a:cubicBezTo>
                  <a:pt x="558986" y="226709"/>
                  <a:pt x="559136" y="224013"/>
                  <a:pt x="558236" y="221766"/>
                </a:cubicBezTo>
                <a:cubicBezTo>
                  <a:pt x="550283" y="203790"/>
                  <a:pt x="531825" y="165892"/>
                  <a:pt x="504663" y="136532"/>
                </a:cubicBezTo>
                <a:cubicBezTo>
                  <a:pt x="481704" y="111666"/>
                  <a:pt x="449440" y="97585"/>
                  <a:pt x="415676" y="97585"/>
                </a:cubicBezTo>
                <a:lnTo>
                  <a:pt x="397968" y="97585"/>
                </a:lnTo>
                <a:lnTo>
                  <a:pt x="397968" y="159900"/>
                </a:lnTo>
                <a:cubicBezTo>
                  <a:pt x="383712" y="162297"/>
                  <a:pt x="371707" y="171284"/>
                  <a:pt x="364954" y="183568"/>
                </a:cubicBezTo>
                <a:lnTo>
                  <a:pt x="364954" y="97585"/>
                </a:lnTo>
                <a:lnTo>
                  <a:pt x="174223" y="97585"/>
                </a:lnTo>
                <a:lnTo>
                  <a:pt x="174223" y="232102"/>
                </a:lnTo>
                <a:lnTo>
                  <a:pt x="180526" y="232102"/>
                </a:lnTo>
                <a:cubicBezTo>
                  <a:pt x="178425" y="233150"/>
                  <a:pt x="176324" y="234199"/>
                  <a:pt x="174223" y="235547"/>
                </a:cubicBezTo>
                <a:cubicBezTo>
                  <a:pt x="166420" y="240640"/>
                  <a:pt x="159967" y="247830"/>
                  <a:pt x="156065" y="256369"/>
                </a:cubicBezTo>
                <a:cubicBezTo>
                  <a:pt x="152614" y="249178"/>
                  <a:pt x="147512" y="242887"/>
                  <a:pt x="141209" y="238093"/>
                </a:cubicBezTo>
                <a:cubicBezTo>
                  <a:pt x="138208" y="235697"/>
                  <a:pt x="134906" y="233749"/>
                  <a:pt x="131455" y="232102"/>
                </a:cubicBezTo>
                <a:lnTo>
                  <a:pt x="141209" y="232102"/>
                </a:lnTo>
                <a:lnTo>
                  <a:pt x="141209" y="97585"/>
                </a:lnTo>
                <a:lnTo>
                  <a:pt x="1200" y="97585"/>
                </a:lnTo>
                <a:close/>
                <a:moveTo>
                  <a:pt x="30337" y="0"/>
                </a:moveTo>
                <a:lnTo>
                  <a:pt x="450496" y="0"/>
                </a:lnTo>
                <a:cubicBezTo>
                  <a:pt x="459649" y="0"/>
                  <a:pt x="467002" y="7356"/>
                  <a:pt x="467002" y="16512"/>
                </a:cubicBezTo>
                <a:cubicBezTo>
                  <a:pt x="467002" y="25669"/>
                  <a:pt x="459649" y="33025"/>
                  <a:pt x="450496" y="33025"/>
                </a:cubicBezTo>
                <a:lnTo>
                  <a:pt x="30337" y="33025"/>
                </a:lnTo>
                <a:cubicBezTo>
                  <a:pt x="21184" y="33025"/>
                  <a:pt x="13831" y="25669"/>
                  <a:pt x="13831" y="16512"/>
                </a:cubicBezTo>
                <a:cubicBezTo>
                  <a:pt x="13831" y="7356"/>
                  <a:pt x="21184" y="0"/>
                  <a:pt x="30337" y="0"/>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endParaRPr lang="zh-CN" altLang="en-US">
              <a:solidFill>
                <a:srgbClr val="000000"/>
              </a:solidFill>
              <a:latin typeface="Arial" panose="020F0502020204030204"/>
              <a:ea typeface="微软雅黑"/>
              <a:cs typeface="+mn-ea"/>
              <a:sym typeface="+mn-lt"/>
            </a:endParaRPr>
          </a:p>
        </p:txBody>
      </p:sp>
      <p:pic>
        <p:nvPicPr>
          <p:cNvPr id="4098" name="Picture 2" descr="Fig. 1: The machine learning architecture of EZSpecificity.">
            <a:extLst>
              <a:ext uri="{FF2B5EF4-FFF2-40B4-BE49-F238E27FC236}">
                <a16:creationId xmlns:a16="http://schemas.microsoft.com/office/drawing/2014/main" id="{B039484A-F90A-B9D7-D730-349C30C9616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804863"/>
            <a:ext cx="12192000" cy="5246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34178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EF6FC-6025-96A7-9B80-B959EA901368}"/>
            </a:ext>
          </a:extLst>
        </p:cNvPr>
        <p:cNvGrpSpPr/>
        <p:nvPr/>
      </p:nvGrpSpPr>
      <p:grpSpPr>
        <a:xfrm>
          <a:off x="0" y="0"/>
          <a:ext cx="0" cy="0"/>
          <a:chOff x="0" y="0"/>
          <a:chExt cx="0" cy="0"/>
        </a:xfrm>
      </p:grpSpPr>
      <p:grpSp>
        <p:nvGrpSpPr>
          <p:cNvPr id="20" name="组合 19">
            <a:extLst>
              <a:ext uri="{FF2B5EF4-FFF2-40B4-BE49-F238E27FC236}">
                <a16:creationId xmlns:a16="http://schemas.microsoft.com/office/drawing/2014/main" id="{AA2DCD1E-B1BF-15F4-8DB7-0A23646976C4}"/>
              </a:ext>
            </a:extLst>
          </p:cNvPr>
          <p:cNvGrpSpPr/>
          <p:nvPr/>
        </p:nvGrpSpPr>
        <p:grpSpPr>
          <a:xfrm>
            <a:off x="286653" y="116633"/>
            <a:ext cx="11618694" cy="6681374"/>
            <a:chOff x="286653" y="116633"/>
            <a:chExt cx="11618694" cy="6681374"/>
          </a:xfrm>
        </p:grpSpPr>
        <p:grpSp>
          <p:nvGrpSpPr>
            <p:cNvPr id="21" name="组合 20">
              <a:extLst>
                <a:ext uri="{FF2B5EF4-FFF2-40B4-BE49-F238E27FC236}">
                  <a16:creationId xmlns:a16="http://schemas.microsoft.com/office/drawing/2014/main" id="{A6EA24A1-462E-200A-2A95-F7772B7D075A}"/>
                </a:ext>
              </a:extLst>
            </p:cNvPr>
            <p:cNvGrpSpPr/>
            <p:nvPr/>
          </p:nvGrpSpPr>
          <p:grpSpPr>
            <a:xfrm>
              <a:off x="335361" y="116633"/>
              <a:ext cx="629872" cy="612768"/>
              <a:chOff x="3070727" y="196457"/>
              <a:chExt cx="692047" cy="673255"/>
            </a:xfrm>
          </p:grpSpPr>
          <p:sp>
            <p:nvSpPr>
              <p:cNvPr id="26" name="平行四边形 25">
                <a:extLst>
                  <a:ext uri="{FF2B5EF4-FFF2-40B4-BE49-F238E27FC236}">
                    <a16:creationId xmlns:a16="http://schemas.microsoft.com/office/drawing/2014/main" id="{D7210D82-BE9A-FE43-F678-F46013DCBAA4}"/>
                  </a:ext>
                </a:extLst>
              </p:cNvPr>
              <p:cNvSpPr/>
              <p:nvPr/>
            </p:nvSpPr>
            <p:spPr>
              <a:xfrm>
                <a:off x="3070727" y="196457"/>
                <a:ext cx="629587" cy="612775"/>
              </a:xfrm>
              <a:prstGeom prst="parallelogram">
                <a:avLst/>
              </a:prstGeom>
              <a:solidFill>
                <a:srgbClr val="6B0261"/>
              </a:solidFill>
              <a:ln w="25400" cap="flat" cmpd="sng" algn="ctr">
                <a:solidFill>
                  <a:srgbClr val="6B026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27" name="平行四边形 26">
                <a:extLst>
                  <a:ext uri="{FF2B5EF4-FFF2-40B4-BE49-F238E27FC236}">
                    <a16:creationId xmlns:a16="http://schemas.microsoft.com/office/drawing/2014/main" id="{8E596E7E-A159-16EB-27DD-28765CFCC92F}"/>
                  </a:ext>
                </a:extLst>
              </p:cNvPr>
              <p:cNvSpPr/>
              <p:nvPr/>
            </p:nvSpPr>
            <p:spPr>
              <a:xfrm>
                <a:off x="3133187" y="256937"/>
                <a:ext cx="629587" cy="612775"/>
              </a:xfrm>
              <a:prstGeom prst="parallelogram">
                <a:avLst/>
              </a:prstGeom>
              <a:noFill/>
              <a:ln w="25400" cap="flat" cmpd="sng" algn="ctr">
                <a:solidFill>
                  <a:srgbClr val="6B026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cxnSp>
          <p:nvCxnSpPr>
            <p:cNvPr id="22" name="直接连接符 21">
              <a:extLst>
                <a:ext uri="{FF2B5EF4-FFF2-40B4-BE49-F238E27FC236}">
                  <a16:creationId xmlns:a16="http://schemas.microsoft.com/office/drawing/2014/main" id="{00455AE8-B926-FACC-0B2D-695ACB660A16}"/>
                </a:ext>
              </a:extLst>
            </p:cNvPr>
            <p:cNvCxnSpPr>
              <a:cxnSpLocks/>
            </p:cNvCxnSpPr>
            <p:nvPr/>
          </p:nvCxnSpPr>
          <p:spPr>
            <a:xfrm>
              <a:off x="367840" y="809674"/>
              <a:ext cx="11488800" cy="0"/>
            </a:xfrm>
            <a:prstGeom prst="line">
              <a:avLst/>
            </a:prstGeom>
            <a:noFill/>
            <a:ln w="9525" cap="flat" cmpd="sng" algn="ctr">
              <a:solidFill>
                <a:srgbClr val="6B0261"/>
              </a:solidFill>
              <a:prstDash val="solid"/>
            </a:ln>
            <a:effectLst/>
          </p:spPr>
        </p:cxnSp>
        <p:sp>
          <p:nvSpPr>
            <p:cNvPr id="23" name="文本占位符 5">
              <a:extLst>
                <a:ext uri="{FF2B5EF4-FFF2-40B4-BE49-F238E27FC236}">
                  <a16:creationId xmlns:a16="http://schemas.microsoft.com/office/drawing/2014/main" id="{C8DF86A4-33C1-2189-47DC-230B51CC8880}"/>
                </a:ext>
              </a:extLst>
            </p:cNvPr>
            <p:cNvSpPr txBox="1">
              <a:spLocks/>
            </p:cNvSpPr>
            <p:nvPr/>
          </p:nvSpPr>
          <p:spPr>
            <a:xfrm>
              <a:off x="1075777" y="214065"/>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rgbClr val="6B0261"/>
                  </a:solidFill>
                </a:rPr>
                <a:t>研究内容</a:t>
              </a:r>
            </a:p>
          </p:txBody>
        </p:sp>
        <p:sp>
          <p:nvSpPr>
            <p:cNvPr id="24" name="文本框 23">
              <a:extLst>
                <a:ext uri="{FF2B5EF4-FFF2-40B4-BE49-F238E27FC236}">
                  <a16:creationId xmlns:a16="http://schemas.microsoft.com/office/drawing/2014/main" id="{82980026-5B68-D3A0-A247-1E19410BC965}"/>
                </a:ext>
              </a:extLst>
            </p:cNvPr>
            <p:cNvSpPr txBox="1"/>
            <p:nvPr/>
          </p:nvSpPr>
          <p:spPr>
            <a:xfrm>
              <a:off x="10805366" y="642867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25" name="图片 24">
              <a:extLst>
                <a:ext uri="{FF2B5EF4-FFF2-40B4-BE49-F238E27FC236}">
                  <a16:creationId xmlns:a16="http://schemas.microsoft.com/office/drawing/2014/main" id="{B065FB1E-BD24-4D3E-E2EE-B5817577B4A2}"/>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a:stretch/>
          </p:blipFill>
          <p:spPr>
            <a:xfrm>
              <a:off x="286653" y="6425619"/>
              <a:ext cx="2520534" cy="369332"/>
            </a:xfrm>
            <a:prstGeom prst="rect">
              <a:avLst/>
            </a:prstGeom>
          </p:spPr>
        </p:pic>
      </p:grpSp>
      <p:grpSp>
        <p:nvGrpSpPr>
          <p:cNvPr id="51" name="组合 50">
            <a:extLst>
              <a:ext uri="{FF2B5EF4-FFF2-40B4-BE49-F238E27FC236}">
                <a16:creationId xmlns:a16="http://schemas.microsoft.com/office/drawing/2014/main" id="{6136A9CC-A8C3-9BCE-228C-39A7176265D9}"/>
              </a:ext>
            </a:extLst>
          </p:cNvPr>
          <p:cNvGrpSpPr/>
          <p:nvPr/>
        </p:nvGrpSpPr>
        <p:grpSpPr>
          <a:xfrm>
            <a:off x="9938479" y="77827"/>
            <a:ext cx="2017490" cy="675447"/>
            <a:chOff x="995884" y="398899"/>
            <a:chExt cx="3658781" cy="1224944"/>
          </a:xfrm>
        </p:grpSpPr>
        <p:pic>
          <p:nvPicPr>
            <p:cNvPr id="52" name="图片 51">
              <a:extLst>
                <a:ext uri="{FF2B5EF4-FFF2-40B4-BE49-F238E27FC236}">
                  <a16:creationId xmlns:a16="http://schemas.microsoft.com/office/drawing/2014/main" id="{9ED07852-214A-FE5C-C5DF-766B10E3329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95884" y="398899"/>
              <a:ext cx="977348" cy="1224944"/>
            </a:xfrm>
            <a:prstGeom prst="rect">
              <a:avLst/>
            </a:prstGeom>
          </p:spPr>
        </p:pic>
        <p:pic>
          <p:nvPicPr>
            <p:cNvPr id="53" name="图片 52">
              <a:extLst>
                <a:ext uri="{FF2B5EF4-FFF2-40B4-BE49-F238E27FC236}">
                  <a16:creationId xmlns:a16="http://schemas.microsoft.com/office/drawing/2014/main" id="{B5B2D7B7-FFCD-201A-B199-7F2DBE094A27}"/>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173707" y="405382"/>
              <a:ext cx="2384890" cy="796233"/>
            </a:xfrm>
            <a:prstGeom prst="rect">
              <a:avLst/>
            </a:prstGeom>
          </p:spPr>
        </p:pic>
        <p:sp>
          <p:nvSpPr>
            <p:cNvPr id="54" name="矩形 53">
              <a:extLst>
                <a:ext uri="{FF2B5EF4-FFF2-40B4-BE49-F238E27FC236}">
                  <a16:creationId xmlns:a16="http://schemas.microsoft.com/office/drawing/2014/main" id="{1CF31880-F099-B64B-3A99-C9558AB1DBD4}"/>
                </a:ext>
              </a:extLst>
            </p:cNvPr>
            <p:cNvSpPr/>
            <p:nvPr/>
          </p:nvSpPr>
          <p:spPr>
            <a:xfrm>
              <a:off x="2069306" y="1138524"/>
              <a:ext cx="2585359" cy="46048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rPr>
                <a:t>NANJING UNIVERSITY</a:t>
              </a:r>
              <a:endParaRPr kumimoji="0" lang="zh-CN" altLang="en-US" sz="105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endParaRPr>
            </a:p>
          </p:txBody>
        </p:sp>
      </p:grpSp>
      <p:sp>
        <p:nvSpPr>
          <p:cNvPr id="31" name="íŝḷïḓè">
            <a:extLst>
              <a:ext uri="{FF2B5EF4-FFF2-40B4-BE49-F238E27FC236}">
                <a16:creationId xmlns:a16="http://schemas.microsoft.com/office/drawing/2014/main" id="{8D8C33BA-8DD0-7FD4-6C47-DC304F6A569B}"/>
              </a:ext>
            </a:extLst>
          </p:cNvPr>
          <p:cNvSpPr/>
          <p:nvPr/>
        </p:nvSpPr>
        <p:spPr bwMode="auto">
          <a:xfrm>
            <a:off x="5828824" y="4147130"/>
            <a:ext cx="338337" cy="366161"/>
          </a:xfrm>
          <a:custGeom>
            <a:avLst/>
            <a:gdLst>
              <a:gd name="connsiteX0" fmla="*/ 327780 w 561933"/>
              <a:gd name="connsiteY0" fmla="*/ 406780 h 608145"/>
              <a:gd name="connsiteX1" fmla="*/ 285069 w 561933"/>
              <a:gd name="connsiteY1" fmla="*/ 449434 h 608145"/>
              <a:gd name="connsiteX2" fmla="*/ 327780 w 561933"/>
              <a:gd name="connsiteY2" fmla="*/ 492088 h 608145"/>
              <a:gd name="connsiteX3" fmla="*/ 370490 w 561933"/>
              <a:gd name="connsiteY3" fmla="*/ 449434 h 608145"/>
              <a:gd name="connsiteX4" fmla="*/ 327780 w 561933"/>
              <a:gd name="connsiteY4" fmla="*/ 406780 h 608145"/>
              <a:gd name="connsiteX5" fmla="*/ 91381 w 561933"/>
              <a:gd name="connsiteY5" fmla="*/ 406780 h 608145"/>
              <a:gd name="connsiteX6" fmla="*/ 49664 w 561933"/>
              <a:gd name="connsiteY6" fmla="*/ 449434 h 608145"/>
              <a:gd name="connsiteX7" fmla="*/ 91381 w 561933"/>
              <a:gd name="connsiteY7" fmla="*/ 492088 h 608145"/>
              <a:gd name="connsiteX8" fmla="*/ 134092 w 561933"/>
              <a:gd name="connsiteY8" fmla="*/ 449434 h 608145"/>
              <a:gd name="connsiteX9" fmla="*/ 91381 w 561933"/>
              <a:gd name="connsiteY9" fmla="*/ 406780 h 608145"/>
              <a:gd name="connsiteX10" fmla="*/ 130119 w 561933"/>
              <a:gd name="connsiteY10" fmla="*/ 162762 h 608145"/>
              <a:gd name="connsiteX11" fmla="*/ 50657 w 561933"/>
              <a:gd name="connsiteY11" fmla="*/ 243110 h 608145"/>
              <a:gd name="connsiteX12" fmla="*/ 50657 w 561933"/>
              <a:gd name="connsiteY12" fmla="*/ 312546 h 608145"/>
              <a:gd name="connsiteX13" fmla="*/ 78468 w 561933"/>
              <a:gd name="connsiteY13" fmla="*/ 341312 h 608145"/>
              <a:gd name="connsiteX14" fmla="*/ 340692 w 561933"/>
              <a:gd name="connsiteY14" fmla="*/ 341312 h 608145"/>
              <a:gd name="connsiteX15" fmla="*/ 369497 w 561933"/>
              <a:gd name="connsiteY15" fmla="*/ 312546 h 608145"/>
              <a:gd name="connsiteX16" fmla="*/ 369497 w 561933"/>
              <a:gd name="connsiteY16" fmla="*/ 243110 h 608145"/>
              <a:gd name="connsiteX17" fmla="*/ 289042 w 561933"/>
              <a:gd name="connsiteY17" fmla="*/ 162762 h 608145"/>
              <a:gd name="connsiteX18" fmla="*/ 127139 w 561933"/>
              <a:gd name="connsiteY18" fmla="*/ 99278 h 608145"/>
              <a:gd name="connsiteX19" fmla="*/ 293015 w 561933"/>
              <a:gd name="connsiteY19" fmla="*/ 99278 h 608145"/>
              <a:gd name="connsiteX20" fmla="*/ 420154 w 561933"/>
              <a:gd name="connsiteY20" fmla="*/ 226247 h 608145"/>
              <a:gd name="connsiteX21" fmla="*/ 420154 w 561933"/>
              <a:gd name="connsiteY21" fmla="*/ 486136 h 608145"/>
              <a:gd name="connsiteX22" fmla="*/ 382410 w 561933"/>
              <a:gd name="connsiteY22" fmla="*/ 541685 h 608145"/>
              <a:gd name="connsiteX23" fmla="*/ 382410 w 561933"/>
              <a:gd name="connsiteY23" fmla="*/ 561524 h 608145"/>
              <a:gd name="connsiteX24" fmla="*/ 334733 w 561933"/>
              <a:gd name="connsiteY24" fmla="*/ 608145 h 608145"/>
              <a:gd name="connsiteX25" fmla="*/ 326786 w 561933"/>
              <a:gd name="connsiteY25" fmla="*/ 608145 h 608145"/>
              <a:gd name="connsiteX26" fmla="*/ 280103 w 561933"/>
              <a:gd name="connsiteY26" fmla="*/ 561524 h 608145"/>
              <a:gd name="connsiteX27" fmla="*/ 280103 w 561933"/>
              <a:gd name="connsiteY27" fmla="*/ 544661 h 608145"/>
              <a:gd name="connsiteX28" fmla="*/ 140051 w 561933"/>
              <a:gd name="connsiteY28" fmla="*/ 544661 h 608145"/>
              <a:gd name="connsiteX29" fmla="*/ 140051 w 561933"/>
              <a:gd name="connsiteY29" fmla="*/ 561524 h 608145"/>
              <a:gd name="connsiteX30" fmla="*/ 92374 w 561933"/>
              <a:gd name="connsiteY30" fmla="*/ 608145 h 608145"/>
              <a:gd name="connsiteX31" fmla="*/ 84428 w 561933"/>
              <a:gd name="connsiteY31" fmla="*/ 608145 h 608145"/>
              <a:gd name="connsiteX32" fmla="*/ 37744 w 561933"/>
              <a:gd name="connsiteY32" fmla="*/ 561524 h 608145"/>
              <a:gd name="connsiteX33" fmla="*/ 37744 w 561933"/>
              <a:gd name="connsiteY33" fmla="*/ 541685 h 608145"/>
              <a:gd name="connsiteX34" fmla="*/ 0 w 561933"/>
              <a:gd name="connsiteY34" fmla="*/ 486136 h 608145"/>
              <a:gd name="connsiteX35" fmla="*/ 0 w 561933"/>
              <a:gd name="connsiteY35" fmla="*/ 226247 h 608145"/>
              <a:gd name="connsiteX36" fmla="*/ 127139 w 561933"/>
              <a:gd name="connsiteY36" fmla="*/ 99278 h 608145"/>
              <a:gd name="connsiteX37" fmla="*/ 408232 w 561933"/>
              <a:gd name="connsiteY37" fmla="*/ 74504 h 608145"/>
              <a:gd name="connsiteX38" fmla="*/ 424139 w 561933"/>
              <a:gd name="connsiteY38" fmla="*/ 75495 h 608145"/>
              <a:gd name="connsiteX39" fmla="*/ 486772 w 561933"/>
              <a:gd name="connsiteY39" fmla="*/ 185587 h 608145"/>
              <a:gd name="connsiteX40" fmla="*/ 479813 w 561933"/>
              <a:gd name="connsiteY40" fmla="*/ 199473 h 608145"/>
              <a:gd name="connsiteX41" fmla="*/ 464901 w 561933"/>
              <a:gd name="connsiteY41" fmla="*/ 202448 h 608145"/>
              <a:gd name="connsiteX42" fmla="*/ 462912 w 561933"/>
              <a:gd name="connsiteY42" fmla="*/ 201456 h 608145"/>
              <a:gd name="connsiteX43" fmla="*/ 448994 w 561933"/>
              <a:gd name="connsiteY43" fmla="*/ 183604 h 608145"/>
              <a:gd name="connsiteX44" fmla="*/ 406244 w 561933"/>
              <a:gd name="connsiteY44" fmla="*/ 109217 h 608145"/>
              <a:gd name="connsiteX45" fmla="*/ 397296 w 561933"/>
              <a:gd name="connsiteY45" fmla="*/ 89381 h 608145"/>
              <a:gd name="connsiteX46" fmla="*/ 398291 w 561933"/>
              <a:gd name="connsiteY46" fmla="*/ 87397 h 608145"/>
              <a:gd name="connsiteX47" fmla="*/ 408232 w 561933"/>
              <a:gd name="connsiteY47" fmla="*/ 74504 h 608145"/>
              <a:gd name="connsiteX48" fmla="*/ 439969 w 561933"/>
              <a:gd name="connsiteY48" fmla="*/ 1081 h 608145"/>
              <a:gd name="connsiteX49" fmla="*/ 560176 w 561933"/>
              <a:gd name="connsiteY49" fmla="*/ 205408 h 608145"/>
              <a:gd name="connsiteX50" fmla="*/ 552228 w 561933"/>
              <a:gd name="connsiteY50" fmla="*/ 217311 h 608145"/>
              <a:gd name="connsiteX51" fmla="*/ 537326 w 561933"/>
              <a:gd name="connsiteY51" fmla="*/ 220286 h 608145"/>
              <a:gd name="connsiteX52" fmla="*/ 535340 w 561933"/>
              <a:gd name="connsiteY52" fmla="*/ 219294 h 608145"/>
              <a:gd name="connsiteX53" fmla="*/ 522425 w 561933"/>
              <a:gd name="connsiteY53" fmla="*/ 199457 h 608145"/>
              <a:gd name="connsiteX54" fmla="*/ 426061 w 561933"/>
              <a:gd name="connsiteY54" fmla="*/ 36788 h 608145"/>
              <a:gd name="connsiteX55" fmla="*/ 416126 w 561933"/>
              <a:gd name="connsiteY55" fmla="*/ 15959 h 608145"/>
              <a:gd name="connsiteX56" fmla="*/ 416126 w 561933"/>
              <a:gd name="connsiteY56" fmla="*/ 13975 h 608145"/>
              <a:gd name="connsiteX57" fmla="*/ 425067 w 561933"/>
              <a:gd name="connsiteY57" fmla="*/ 2073 h 608145"/>
              <a:gd name="connsiteX58" fmla="*/ 439969 w 561933"/>
              <a:gd name="connsiteY58" fmla="*/ 1081 h 608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61933" h="608145">
                <a:moveTo>
                  <a:pt x="327780" y="406780"/>
                </a:moveTo>
                <a:cubicBezTo>
                  <a:pt x="303941" y="406780"/>
                  <a:pt x="285069" y="425627"/>
                  <a:pt x="285069" y="449434"/>
                </a:cubicBezTo>
                <a:cubicBezTo>
                  <a:pt x="285069" y="473241"/>
                  <a:pt x="303941" y="492088"/>
                  <a:pt x="327780" y="492088"/>
                </a:cubicBezTo>
                <a:cubicBezTo>
                  <a:pt x="350625" y="492088"/>
                  <a:pt x="370490" y="473241"/>
                  <a:pt x="370490" y="449434"/>
                </a:cubicBezTo>
                <a:cubicBezTo>
                  <a:pt x="370490" y="425627"/>
                  <a:pt x="350625" y="406780"/>
                  <a:pt x="327780" y="406780"/>
                </a:cubicBezTo>
                <a:close/>
                <a:moveTo>
                  <a:pt x="91381" y="406780"/>
                </a:moveTo>
                <a:cubicBezTo>
                  <a:pt x="68536" y="406780"/>
                  <a:pt x="49664" y="425627"/>
                  <a:pt x="49664" y="449434"/>
                </a:cubicBezTo>
                <a:cubicBezTo>
                  <a:pt x="49664" y="473241"/>
                  <a:pt x="68536" y="492088"/>
                  <a:pt x="91381" y="492088"/>
                </a:cubicBezTo>
                <a:cubicBezTo>
                  <a:pt x="115220" y="492088"/>
                  <a:pt x="134092" y="473241"/>
                  <a:pt x="134092" y="449434"/>
                </a:cubicBezTo>
                <a:cubicBezTo>
                  <a:pt x="134092" y="425627"/>
                  <a:pt x="115220" y="406780"/>
                  <a:pt x="91381" y="406780"/>
                </a:cubicBezTo>
                <a:close/>
                <a:moveTo>
                  <a:pt x="130119" y="162762"/>
                </a:moveTo>
                <a:cubicBezTo>
                  <a:pt x="86415" y="162762"/>
                  <a:pt x="50657" y="198472"/>
                  <a:pt x="50657" y="243110"/>
                </a:cubicBezTo>
                <a:lnTo>
                  <a:pt x="50657" y="312546"/>
                </a:lnTo>
                <a:cubicBezTo>
                  <a:pt x="50657" y="328417"/>
                  <a:pt x="62576" y="341312"/>
                  <a:pt x="78468" y="341312"/>
                </a:cubicBezTo>
                <a:lnTo>
                  <a:pt x="340692" y="341312"/>
                </a:lnTo>
                <a:cubicBezTo>
                  <a:pt x="356585" y="341312"/>
                  <a:pt x="369497" y="328417"/>
                  <a:pt x="369497" y="312546"/>
                </a:cubicBezTo>
                <a:lnTo>
                  <a:pt x="369497" y="243110"/>
                </a:lnTo>
                <a:cubicBezTo>
                  <a:pt x="369497" y="198472"/>
                  <a:pt x="332746" y="162762"/>
                  <a:pt x="289042" y="162762"/>
                </a:cubicBezTo>
                <a:close/>
                <a:moveTo>
                  <a:pt x="127139" y="99278"/>
                </a:moveTo>
                <a:lnTo>
                  <a:pt x="293015" y="99278"/>
                </a:lnTo>
                <a:cubicBezTo>
                  <a:pt x="363538" y="99278"/>
                  <a:pt x="420154" y="155819"/>
                  <a:pt x="420154" y="226247"/>
                </a:cubicBezTo>
                <a:lnTo>
                  <a:pt x="420154" y="486136"/>
                </a:lnTo>
                <a:cubicBezTo>
                  <a:pt x="420154" y="511926"/>
                  <a:pt x="404262" y="532757"/>
                  <a:pt x="382410" y="541685"/>
                </a:cubicBezTo>
                <a:lnTo>
                  <a:pt x="382410" y="561524"/>
                </a:lnTo>
                <a:cubicBezTo>
                  <a:pt x="382410" y="587314"/>
                  <a:pt x="360558" y="608145"/>
                  <a:pt x="334733" y="608145"/>
                </a:cubicBezTo>
                <a:lnTo>
                  <a:pt x="326786" y="608145"/>
                </a:lnTo>
                <a:cubicBezTo>
                  <a:pt x="300961" y="608145"/>
                  <a:pt x="280103" y="587314"/>
                  <a:pt x="280103" y="561524"/>
                </a:cubicBezTo>
                <a:lnTo>
                  <a:pt x="280103" y="544661"/>
                </a:lnTo>
                <a:lnTo>
                  <a:pt x="140051" y="544661"/>
                </a:lnTo>
                <a:lnTo>
                  <a:pt x="140051" y="561524"/>
                </a:lnTo>
                <a:cubicBezTo>
                  <a:pt x="140051" y="587314"/>
                  <a:pt x="118199" y="608145"/>
                  <a:pt x="92374" y="608145"/>
                </a:cubicBezTo>
                <a:lnTo>
                  <a:pt x="84428" y="608145"/>
                </a:lnTo>
                <a:cubicBezTo>
                  <a:pt x="58603" y="608145"/>
                  <a:pt x="37744" y="587314"/>
                  <a:pt x="37744" y="561524"/>
                </a:cubicBezTo>
                <a:lnTo>
                  <a:pt x="37744" y="541685"/>
                </a:lnTo>
                <a:cubicBezTo>
                  <a:pt x="14899" y="532757"/>
                  <a:pt x="0" y="511926"/>
                  <a:pt x="0" y="486136"/>
                </a:cubicBezTo>
                <a:lnTo>
                  <a:pt x="0" y="226247"/>
                </a:lnTo>
                <a:cubicBezTo>
                  <a:pt x="0" y="155819"/>
                  <a:pt x="56616" y="99278"/>
                  <a:pt x="127139" y="99278"/>
                </a:cubicBezTo>
                <a:close/>
                <a:moveTo>
                  <a:pt x="408232" y="74504"/>
                </a:moveTo>
                <a:cubicBezTo>
                  <a:pt x="413203" y="72520"/>
                  <a:pt x="419168" y="72520"/>
                  <a:pt x="424139" y="75495"/>
                </a:cubicBezTo>
                <a:cubicBezTo>
                  <a:pt x="464901" y="96324"/>
                  <a:pt x="489755" y="139964"/>
                  <a:pt x="486772" y="185587"/>
                </a:cubicBezTo>
                <a:cubicBezTo>
                  <a:pt x="486772" y="190546"/>
                  <a:pt x="483790" y="195505"/>
                  <a:pt x="479813" y="199473"/>
                </a:cubicBezTo>
                <a:cubicBezTo>
                  <a:pt x="475836" y="202448"/>
                  <a:pt x="469871" y="203440"/>
                  <a:pt x="464901" y="202448"/>
                </a:cubicBezTo>
                <a:lnTo>
                  <a:pt x="462912" y="201456"/>
                </a:lnTo>
                <a:cubicBezTo>
                  <a:pt x="453965" y="199473"/>
                  <a:pt x="448994" y="191538"/>
                  <a:pt x="448994" y="183604"/>
                </a:cubicBezTo>
                <a:cubicBezTo>
                  <a:pt x="450982" y="152857"/>
                  <a:pt x="434081" y="123103"/>
                  <a:pt x="406244" y="109217"/>
                </a:cubicBezTo>
                <a:cubicBezTo>
                  <a:pt x="399285" y="105250"/>
                  <a:pt x="395308" y="97315"/>
                  <a:pt x="397296" y="89381"/>
                </a:cubicBezTo>
                <a:lnTo>
                  <a:pt x="398291" y="87397"/>
                </a:lnTo>
                <a:cubicBezTo>
                  <a:pt x="399285" y="81446"/>
                  <a:pt x="403261" y="77479"/>
                  <a:pt x="408232" y="74504"/>
                </a:cubicBezTo>
                <a:close/>
                <a:moveTo>
                  <a:pt x="439969" y="1081"/>
                </a:moveTo>
                <a:cubicBezTo>
                  <a:pt x="522425" y="32821"/>
                  <a:pt x="572097" y="118123"/>
                  <a:pt x="560176" y="205408"/>
                </a:cubicBezTo>
                <a:cubicBezTo>
                  <a:pt x="559182" y="210367"/>
                  <a:pt x="556202" y="214335"/>
                  <a:pt x="552228" y="217311"/>
                </a:cubicBezTo>
                <a:cubicBezTo>
                  <a:pt x="548254" y="220286"/>
                  <a:pt x="542294" y="221278"/>
                  <a:pt x="537326" y="220286"/>
                </a:cubicBezTo>
                <a:lnTo>
                  <a:pt x="535340" y="219294"/>
                </a:lnTo>
                <a:cubicBezTo>
                  <a:pt x="526399" y="217311"/>
                  <a:pt x="520438" y="208384"/>
                  <a:pt x="522425" y="199457"/>
                </a:cubicBezTo>
                <a:cubicBezTo>
                  <a:pt x="531366" y="130025"/>
                  <a:pt x="491628" y="62577"/>
                  <a:pt x="426061" y="36788"/>
                </a:cubicBezTo>
                <a:cubicBezTo>
                  <a:pt x="418113" y="33813"/>
                  <a:pt x="413146" y="24886"/>
                  <a:pt x="416126" y="15959"/>
                </a:cubicBezTo>
                <a:lnTo>
                  <a:pt x="416126" y="13975"/>
                </a:lnTo>
                <a:cubicBezTo>
                  <a:pt x="417120" y="9016"/>
                  <a:pt x="421094" y="4056"/>
                  <a:pt x="425067" y="2073"/>
                </a:cubicBezTo>
                <a:cubicBezTo>
                  <a:pt x="430035" y="89"/>
                  <a:pt x="435002" y="-903"/>
                  <a:pt x="439969" y="1081"/>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endParaRPr lang="zh-CN" altLang="en-US">
              <a:solidFill>
                <a:srgbClr val="000000"/>
              </a:solidFill>
              <a:latin typeface="Arial" panose="020F0502020204030204"/>
              <a:ea typeface="微软雅黑"/>
              <a:cs typeface="+mn-ea"/>
              <a:sym typeface="+mn-lt"/>
            </a:endParaRPr>
          </a:p>
        </p:txBody>
      </p:sp>
      <p:sp>
        <p:nvSpPr>
          <p:cNvPr id="42" name="ïslíḓé">
            <a:extLst>
              <a:ext uri="{FF2B5EF4-FFF2-40B4-BE49-F238E27FC236}">
                <a16:creationId xmlns:a16="http://schemas.microsoft.com/office/drawing/2014/main" id="{3CF3AACB-8C31-464E-6D59-297E2CEC0E48}"/>
              </a:ext>
            </a:extLst>
          </p:cNvPr>
          <p:cNvSpPr/>
          <p:nvPr/>
        </p:nvSpPr>
        <p:spPr bwMode="auto">
          <a:xfrm>
            <a:off x="5815461" y="5339493"/>
            <a:ext cx="363264" cy="320996"/>
          </a:xfrm>
          <a:custGeom>
            <a:avLst/>
            <a:gdLst>
              <a:gd name="connsiteX0" fmla="*/ 494452 w 603405"/>
              <a:gd name="connsiteY0" fmla="*/ 356003 h 533193"/>
              <a:gd name="connsiteX1" fmla="*/ 585270 w 603405"/>
              <a:gd name="connsiteY1" fmla="*/ 356003 h 533193"/>
              <a:gd name="connsiteX2" fmla="*/ 601782 w 603405"/>
              <a:gd name="connsiteY2" fmla="*/ 372480 h 533193"/>
              <a:gd name="connsiteX3" fmla="*/ 585270 w 603405"/>
              <a:gd name="connsiteY3" fmla="*/ 388957 h 533193"/>
              <a:gd name="connsiteX4" fmla="*/ 494452 w 603405"/>
              <a:gd name="connsiteY4" fmla="*/ 388957 h 533193"/>
              <a:gd name="connsiteX5" fmla="*/ 367511 w 603405"/>
              <a:gd name="connsiteY5" fmla="*/ 244227 h 533193"/>
              <a:gd name="connsiteX6" fmla="*/ 443780 w 603405"/>
              <a:gd name="connsiteY6" fmla="*/ 244227 h 533193"/>
              <a:gd name="connsiteX7" fmla="*/ 477411 w 603405"/>
              <a:gd name="connsiteY7" fmla="*/ 277633 h 533193"/>
              <a:gd name="connsiteX8" fmla="*/ 477861 w 603405"/>
              <a:gd name="connsiteY8" fmla="*/ 381744 h 533193"/>
              <a:gd name="connsiteX9" fmla="*/ 463748 w 603405"/>
              <a:gd name="connsiteY9" fmla="*/ 395975 h 533193"/>
              <a:gd name="connsiteX10" fmla="*/ 449486 w 603405"/>
              <a:gd name="connsiteY10" fmla="*/ 381894 h 533193"/>
              <a:gd name="connsiteX11" fmla="*/ 449035 w 603405"/>
              <a:gd name="connsiteY11" fmla="*/ 277782 h 533193"/>
              <a:gd name="connsiteX12" fmla="*/ 446033 w 603405"/>
              <a:gd name="connsiteY12" fmla="*/ 274786 h 533193"/>
              <a:gd name="connsiteX13" fmla="*/ 443030 w 603405"/>
              <a:gd name="connsiteY13" fmla="*/ 277782 h 533193"/>
              <a:gd name="connsiteX14" fmla="*/ 443330 w 603405"/>
              <a:gd name="connsiteY14" fmla="*/ 516116 h 533193"/>
              <a:gd name="connsiteX15" fmla="*/ 426215 w 603405"/>
              <a:gd name="connsiteY15" fmla="*/ 533193 h 533193"/>
              <a:gd name="connsiteX16" fmla="*/ 409249 w 603405"/>
              <a:gd name="connsiteY16" fmla="*/ 516116 h 533193"/>
              <a:gd name="connsiteX17" fmla="*/ 409249 w 603405"/>
              <a:gd name="connsiteY17" fmla="*/ 380096 h 533193"/>
              <a:gd name="connsiteX18" fmla="*/ 401893 w 603405"/>
              <a:gd name="connsiteY18" fmla="*/ 380096 h 533193"/>
              <a:gd name="connsiteX19" fmla="*/ 401893 w 603405"/>
              <a:gd name="connsiteY19" fmla="*/ 516116 h 533193"/>
              <a:gd name="connsiteX20" fmla="*/ 384778 w 603405"/>
              <a:gd name="connsiteY20" fmla="*/ 533193 h 533193"/>
              <a:gd name="connsiteX21" fmla="*/ 367812 w 603405"/>
              <a:gd name="connsiteY21" fmla="*/ 516116 h 533193"/>
              <a:gd name="connsiteX22" fmla="*/ 367812 w 603405"/>
              <a:gd name="connsiteY22" fmla="*/ 380096 h 533193"/>
              <a:gd name="connsiteX23" fmla="*/ 367812 w 603405"/>
              <a:gd name="connsiteY23" fmla="*/ 277782 h 533193"/>
              <a:gd name="connsiteX24" fmla="*/ 364959 w 603405"/>
              <a:gd name="connsiteY24" fmla="*/ 274936 h 533193"/>
              <a:gd name="connsiteX25" fmla="*/ 362257 w 603405"/>
              <a:gd name="connsiteY25" fmla="*/ 277782 h 533193"/>
              <a:gd name="connsiteX26" fmla="*/ 361656 w 603405"/>
              <a:gd name="connsiteY26" fmla="*/ 381894 h 533193"/>
              <a:gd name="connsiteX27" fmla="*/ 347544 w 603405"/>
              <a:gd name="connsiteY27" fmla="*/ 395975 h 533193"/>
              <a:gd name="connsiteX28" fmla="*/ 347393 w 603405"/>
              <a:gd name="connsiteY28" fmla="*/ 395975 h 533193"/>
              <a:gd name="connsiteX29" fmla="*/ 333281 w 603405"/>
              <a:gd name="connsiteY29" fmla="*/ 381744 h 533193"/>
              <a:gd name="connsiteX30" fmla="*/ 333881 w 603405"/>
              <a:gd name="connsiteY30" fmla="*/ 277633 h 533193"/>
              <a:gd name="connsiteX31" fmla="*/ 367511 w 603405"/>
              <a:gd name="connsiteY31" fmla="*/ 244227 h 533193"/>
              <a:gd name="connsiteX32" fmla="*/ 201525 w 603405"/>
              <a:gd name="connsiteY32" fmla="*/ 244227 h 533193"/>
              <a:gd name="connsiteX33" fmla="*/ 277906 w 603405"/>
              <a:gd name="connsiteY33" fmla="*/ 244227 h 533193"/>
              <a:gd name="connsiteX34" fmla="*/ 311520 w 603405"/>
              <a:gd name="connsiteY34" fmla="*/ 277633 h 533193"/>
              <a:gd name="connsiteX35" fmla="*/ 311970 w 603405"/>
              <a:gd name="connsiteY35" fmla="*/ 381744 h 533193"/>
              <a:gd name="connsiteX36" fmla="*/ 297864 w 603405"/>
              <a:gd name="connsiteY36" fmla="*/ 395975 h 533193"/>
              <a:gd name="connsiteX37" fmla="*/ 297714 w 603405"/>
              <a:gd name="connsiteY37" fmla="*/ 395975 h 533193"/>
              <a:gd name="connsiteX38" fmla="*/ 283608 w 603405"/>
              <a:gd name="connsiteY38" fmla="*/ 381894 h 533193"/>
              <a:gd name="connsiteX39" fmla="*/ 283008 w 603405"/>
              <a:gd name="connsiteY39" fmla="*/ 277782 h 533193"/>
              <a:gd name="connsiteX40" fmla="*/ 280007 w 603405"/>
              <a:gd name="connsiteY40" fmla="*/ 274786 h 533193"/>
              <a:gd name="connsiteX41" fmla="*/ 277156 w 603405"/>
              <a:gd name="connsiteY41" fmla="*/ 277782 h 533193"/>
              <a:gd name="connsiteX42" fmla="*/ 277456 w 603405"/>
              <a:gd name="connsiteY42" fmla="*/ 516116 h 533193"/>
              <a:gd name="connsiteX43" fmla="*/ 260349 w 603405"/>
              <a:gd name="connsiteY43" fmla="*/ 533193 h 533193"/>
              <a:gd name="connsiteX44" fmla="*/ 243242 w 603405"/>
              <a:gd name="connsiteY44" fmla="*/ 516116 h 533193"/>
              <a:gd name="connsiteX45" fmla="*/ 243242 w 603405"/>
              <a:gd name="connsiteY45" fmla="*/ 380096 h 533193"/>
              <a:gd name="connsiteX46" fmla="*/ 235889 w 603405"/>
              <a:gd name="connsiteY46" fmla="*/ 380096 h 533193"/>
              <a:gd name="connsiteX47" fmla="*/ 235889 w 603405"/>
              <a:gd name="connsiteY47" fmla="*/ 516116 h 533193"/>
              <a:gd name="connsiteX48" fmla="*/ 218932 w 603405"/>
              <a:gd name="connsiteY48" fmla="*/ 533193 h 533193"/>
              <a:gd name="connsiteX49" fmla="*/ 201825 w 603405"/>
              <a:gd name="connsiteY49" fmla="*/ 516116 h 533193"/>
              <a:gd name="connsiteX50" fmla="*/ 201825 w 603405"/>
              <a:gd name="connsiteY50" fmla="*/ 380096 h 533193"/>
              <a:gd name="connsiteX51" fmla="*/ 201825 w 603405"/>
              <a:gd name="connsiteY51" fmla="*/ 277782 h 533193"/>
              <a:gd name="connsiteX52" fmla="*/ 199124 w 603405"/>
              <a:gd name="connsiteY52" fmla="*/ 274936 h 533193"/>
              <a:gd name="connsiteX53" fmla="*/ 196423 w 603405"/>
              <a:gd name="connsiteY53" fmla="*/ 277782 h 533193"/>
              <a:gd name="connsiteX54" fmla="*/ 195822 w 603405"/>
              <a:gd name="connsiteY54" fmla="*/ 381894 h 533193"/>
              <a:gd name="connsiteX55" fmla="*/ 181567 w 603405"/>
              <a:gd name="connsiteY55" fmla="*/ 395975 h 533193"/>
              <a:gd name="connsiteX56" fmla="*/ 167461 w 603405"/>
              <a:gd name="connsiteY56" fmla="*/ 381744 h 533193"/>
              <a:gd name="connsiteX57" fmla="*/ 167911 w 603405"/>
              <a:gd name="connsiteY57" fmla="*/ 277633 h 533193"/>
              <a:gd name="connsiteX58" fmla="*/ 201525 w 603405"/>
              <a:gd name="connsiteY58" fmla="*/ 244227 h 533193"/>
              <a:gd name="connsiteX59" fmla="*/ 34214 w 603405"/>
              <a:gd name="connsiteY59" fmla="*/ 244227 h 533193"/>
              <a:gd name="connsiteX60" fmla="*/ 110445 w 603405"/>
              <a:gd name="connsiteY60" fmla="*/ 244227 h 533193"/>
              <a:gd name="connsiteX61" fmla="*/ 144059 w 603405"/>
              <a:gd name="connsiteY61" fmla="*/ 277633 h 533193"/>
              <a:gd name="connsiteX62" fmla="*/ 144509 w 603405"/>
              <a:gd name="connsiteY62" fmla="*/ 381744 h 533193"/>
              <a:gd name="connsiteX63" fmla="*/ 130403 w 603405"/>
              <a:gd name="connsiteY63" fmla="*/ 395975 h 533193"/>
              <a:gd name="connsiteX64" fmla="*/ 116147 w 603405"/>
              <a:gd name="connsiteY64" fmla="*/ 381894 h 533193"/>
              <a:gd name="connsiteX65" fmla="*/ 115697 w 603405"/>
              <a:gd name="connsiteY65" fmla="*/ 277782 h 533193"/>
              <a:gd name="connsiteX66" fmla="*/ 112696 w 603405"/>
              <a:gd name="connsiteY66" fmla="*/ 274786 h 533193"/>
              <a:gd name="connsiteX67" fmla="*/ 109694 w 603405"/>
              <a:gd name="connsiteY67" fmla="*/ 277782 h 533193"/>
              <a:gd name="connsiteX68" fmla="*/ 109995 w 603405"/>
              <a:gd name="connsiteY68" fmla="*/ 516116 h 533193"/>
              <a:gd name="connsiteX69" fmla="*/ 92888 w 603405"/>
              <a:gd name="connsiteY69" fmla="*/ 533193 h 533193"/>
              <a:gd name="connsiteX70" fmla="*/ 75931 w 603405"/>
              <a:gd name="connsiteY70" fmla="*/ 516116 h 533193"/>
              <a:gd name="connsiteX71" fmla="*/ 75931 w 603405"/>
              <a:gd name="connsiteY71" fmla="*/ 380096 h 533193"/>
              <a:gd name="connsiteX72" fmla="*/ 68578 w 603405"/>
              <a:gd name="connsiteY72" fmla="*/ 380096 h 533193"/>
              <a:gd name="connsiteX73" fmla="*/ 68578 w 603405"/>
              <a:gd name="connsiteY73" fmla="*/ 516116 h 533193"/>
              <a:gd name="connsiteX74" fmla="*/ 51471 w 603405"/>
              <a:gd name="connsiteY74" fmla="*/ 533193 h 533193"/>
              <a:gd name="connsiteX75" fmla="*/ 34364 w 603405"/>
              <a:gd name="connsiteY75" fmla="*/ 516116 h 533193"/>
              <a:gd name="connsiteX76" fmla="*/ 34364 w 603405"/>
              <a:gd name="connsiteY76" fmla="*/ 380096 h 533193"/>
              <a:gd name="connsiteX77" fmla="*/ 34364 w 603405"/>
              <a:gd name="connsiteY77" fmla="*/ 277782 h 533193"/>
              <a:gd name="connsiteX78" fmla="*/ 31663 w 603405"/>
              <a:gd name="connsiteY78" fmla="*/ 275086 h 533193"/>
              <a:gd name="connsiteX79" fmla="*/ 28962 w 603405"/>
              <a:gd name="connsiteY79" fmla="*/ 277782 h 533193"/>
              <a:gd name="connsiteX80" fmla="*/ 28361 w 603405"/>
              <a:gd name="connsiteY80" fmla="*/ 381894 h 533193"/>
              <a:gd name="connsiteX81" fmla="*/ 14256 w 603405"/>
              <a:gd name="connsiteY81" fmla="*/ 395975 h 533193"/>
              <a:gd name="connsiteX82" fmla="*/ 14106 w 603405"/>
              <a:gd name="connsiteY82" fmla="*/ 395975 h 533193"/>
              <a:gd name="connsiteX83" fmla="*/ 0 w 603405"/>
              <a:gd name="connsiteY83" fmla="*/ 381744 h 533193"/>
              <a:gd name="connsiteX84" fmla="*/ 600 w 603405"/>
              <a:gd name="connsiteY84" fmla="*/ 277633 h 533193"/>
              <a:gd name="connsiteX85" fmla="*/ 34214 w 603405"/>
              <a:gd name="connsiteY85" fmla="*/ 244227 h 533193"/>
              <a:gd name="connsiteX86" fmla="*/ 298774 w 603405"/>
              <a:gd name="connsiteY86" fmla="*/ 232090 h 533193"/>
              <a:gd name="connsiteX87" fmla="*/ 346547 w 603405"/>
              <a:gd name="connsiteY87" fmla="*/ 232090 h 533193"/>
              <a:gd name="connsiteX88" fmla="*/ 322660 w 603405"/>
              <a:gd name="connsiteY88" fmla="*/ 254883 h 533193"/>
              <a:gd name="connsiteX89" fmla="*/ 298774 w 603405"/>
              <a:gd name="connsiteY89" fmla="*/ 232090 h 533193"/>
              <a:gd name="connsiteX90" fmla="*/ 405716 w 603405"/>
              <a:gd name="connsiteY90" fmla="*/ 176061 h 533193"/>
              <a:gd name="connsiteX91" fmla="*/ 435177 w 603405"/>
              <a:gd name="connsiteY91" fmla="*/ 205417 h 533193"/>
              <a:gd name="connsiteX92" fmla="*/ 405716 w 603405"/>
              <a:gd name="connsiteY92" fmla="*/ 234773 h 533193"/>
              <a:gd name="connsiteX93" fmla="*/ 376255 w 603405"/>
              <a:gd name="connsiteY93" fmla="*/ 205417 h 533193"/>
              <a:gd name="connsiteX94" fmla="*/ 405716 w 603405"/>
              <a:gd name="connsiteY94" fmla="*/ 176061 h 533193"/>
              <a:gd name="connsiteX95" fmla="*/ 239817 w 603405"/>
              <a:gd name="connsiteY95" fmla="*/ 176061 h 533193"/>
              <a:gd name="connsiteX96" fmla="*/ 269208 w 603405"/>
              <a:gd name="connsiteY96" fmla="*/ 205417 h 533193"/>
              <a:gd name="connsiteX97" fmla="*/ 239817 w 603405"/>
              <a:gd name="connsiteY97" fmla="*/ 234773 h 533193"/>
              <a:gd name="connsiteX98" fmla="*/ 210426 w 603405"/>
              <a:gd name="connsiteY98" fmla="*/ 205417 h 533193"/>
              <a:gd name="connsiteX99" fmla="*/ 239817 w 603405"/>
              <a:gd name="connsiteY99" fmla="*/ 176061 h 533193"/>
              <a:gd name="connsiteX100" fmla="*/ 72325 w 603405"/>
              <a:gd name="connsiteY100" fmla="*/ 176061 h 533193"/>
              <a:gd name="connsiteX101" fmla="*/ 101897 w 603405"/>
              <a:gd name="connsiteY101" fmla="*/ 205416 h 533193"/>
              <a:gd name="connsiteX102" fmla="*/ 72325 w 603405"/>
              <a:gd name="connsiteY102" fmla="*/ 234772 h 533193"/>
              <a:gd name="connsiteX103" fmla="*/ 42904 w 603405"/>
              <a:gd name="connsiteY103" fmla="*/ 205416 h 533193"/>
              <a:gd name="connsiteX104" fmla="*/ 72325 w 603405"/>
              <a:gd name="connsiteY104" fmla="*/ 176061 h 533193"/>
              <a:gd name="connsiteX105" fmla="*/ 1200 w 603405"/>
              <a:gd name="connsiteY105" fmla="*/ 56241 h 533193"/>
              <a:gd name="connsiteX106" fmla="*/ 384613 w 603405"/>
              <a:gd name="connsiteY106" fmla="*/ 56241 h 533193"/>
              <a:gd name="connsiteX107" fmla="*/ 603405 w 603405"/>
              <a:gd name="connsiteY107" fmla="*/ 274494 h 533193"/>
              <a:gd name="connsiteX108" fmla="*/ 540979 w 603405"/>
              <a:gd name="connsiteY108" fmla="*/ 336809 h 533193"/>
              <a:gd name="connsiteX109" fmla="*/ 494459 w 603405"/>
              <a:gd name="connsiteY109" fmla="*/ 336809 h 533193"/>
              <a:gd name="connsiteX110" fmla="*/ 494159 w 603405"/>
              <a:gd name="connsiteY110" fmla="*/ 277490 h 533193"/>
              <a:gd name="connsiteX111" fmla="*/ 464747 w 603405"/>
              <a:gd name="connsiteY111" fmla="*/ 232102 h 533193"/>
              <a:gd name="connsiteX112" fmla="*/ 551333 w 603405"/>
              <a:gd name="connsiteY112" fmla="*/ 232102 h 533193"/>
              <a:gd name="connsiteX113" fmla="*/ 551483 w 603405"/>
              <a:gd name="connsiteY113" fmla="*/ 232102 h 533193"/>
              <a:gd name="connsiteX114" fmla="*/ 557636 w 603405"/>
              <a:gd name="connsiteY114" fmla="*/ 228806 h 533193"/>
              <a:gd name="connsiteX115" fmla="*/ 558236 w 603405"/>
              <a:gd name="connsiteY115" fmla="*/ 221766 h 533193"/>
              <a:gd name="connsiteX116" fmla="*/ 504663 w 603405"/>
              <a:gd name="connsiteY116" fmla="*/ 136532 h 533193"/>
              <a:gd name="connsiteX117" fmla="*/ 415676 w 603405"/>
              <a:gd name="connsiteY117" fmla="*/ 97585 h 533193"/>
              <a:gd name="connsiteX118" fmla="*/ 397968 w 603405"/>
              <a:gd name="connsiteY118" fmla="*/ 97585 h 533193"/>
              <a:gd name="connsiteX119" fmla="*/ 397968 w 603405"/>
              <a:gd name="connsiteY119" fmla="*/ 159900 h 533193"/>
              <a:gd name="connsiteX120" fmla="*/ 364954 w 603405"/>
              <a:gd name="connsiteY120" fmla="*/ 183568 h 533193"/>
              <a:gd name="connsiteX121" fmla="*/ 364954 w 603405"/>
              <a:gd name="connsiteY121" fmla="*/ 97585 h 533193"/>
              <a:gd name="connsiteX122" fmla="*/ 174223 w 603405"/>
              <a:gd name="connsiteY122" fmla="*/ 97585 h 533193"/>
              <a:gd name="connsiteX123" fmla="*/ 174223 w 603405"/>
              <a:gd name="connsiteY123" fmla="*/ 232102 h 533193"/>
              <a:gd name="connsiteX124" fmla="*/ 180526 w 603405"/>
              <a:gd name="connsiteY124" fmla="*/ 232102 h 533193"/>
              <a:gd name="connsiteX125" fmla="*/ 174223 w 603405"/>
              <a:gd name="connsiteY125" fmla="*/ 235547 h 533193"/>
              <a:gd name="connsiteX126" fmla="*/ 156065 w 603405"/>
              <a:gd name="connsiteY126" fmla="*/ 256369 h 533193"/>
              <a:gd name="connsiteX127" fmla="*/ 141209 w 603405"/>
              <a:gd name="connsiteY127" fmla="*/ 238093 h 533193"/>
              <a:gd name="connsiteX128" fmla="*/ 131455 w 603405"/>
              <a:gd name="connsiteY128" fmla="*/ 232102 h 533193"/>
              <a:gd name="connsiteX129" fmla="*/ 141209 w 603405"/>
              <a:gd name="connsiteY129" fmla="*/ 232102 h 533193"/>
              <a:gd name="connsiteX130" fmla="*/ 141209 w 603405"/>
              <a:gd name="connsiteY130" fmla="*/ 97585 h 533193"/>
              <a:gd name="connsiteX131" fmla="*/ 1200 w 603405"/>
              <a:gd name="connsiteY131" fmla="*/ 97585 h 533193"/>
              <a:gd name="connsiteX132" fmla="*/ 30337 w 603405"/>
              <a:gd name="connsiteY132" fmla="*/ 0 h 533193"/>
              <a:gd name="connsiteX133" fmla="*/ 450496 w 603405"/>
              <a:gd name="connsiteY133" fmla="*/ 0 h 533193"/>
              <a:gd name="connsiteX134" fmla="*/ 467002 w 603405"/>
              <a:gd name="connsiteY134" fmla="*/ 16512 h 533193"/>
              <a:gd name="connsiteX135" fmla="*/ 450496 w 603405"/>
              <a:gd name="connsiteY135" fmla="*/ 33025 h 533193"/>
              <a:gd name="connsiteX136" fmla="*/ 30337 w 603405"/>
              <a:gd name="connsiteY136" fmla="*/ 33025 h 533193"/>
              <a:gd name="connsiteX137" fmla="*/ 13831 w 603405"/>
              <a:gd name="connsiteY137" fmla="*/ 16512 h 533193"/>
              <a:gd name="connsiteX138" fmla="*/ 30337 w 603405"/>
              <a:gd name="connsiteY138" fmla="*/ 0 h 533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603405" h="533193">
                <a:moveTo>
                  <a:pt x="494452" y="356003"/>
                </a:moveTo>
                <a:lnTo>
                  <a:pt x="585270" y="356003"/>
                </a:lnTo>
                <a:cubicBezTo>
                  <a:pt x="594277" y="356003"/>
                  <a:pt x="601782" y="363343"/>
                  <a:pt x="601782" y="372480"/>
                </a:cubicBezTo>
                <a:cubicBezTo>
                  <a:pt x="601782" y="381617"/>
                  <a:pt x="594277" y="388957"/>
                  <a:pt x="585270" y="388957"/>
                </a:cubicBezTo>
                <a:lnTo>
                  <a:pt x="494452" y="388957"/>
                </a:lnTo>
                <a:close/>
                <a:moveTo>
                  <a:pt x="367511" y="244227"/>
                </a:moveTo>
                <a:lnTo>
                  <a:pt x="443780" y="244227"/>
                </a:lnTo>
                <a:cubicBezTo>
                  <a:pt x="462247" y="244227"/>
                  <a:pt x="477261" y="259207"/>
                  <a:pt x="477411" y="277633"/>
                </a:cubicBezTo>
                <a:lnTo>
                  <a:pt x="477861" y="381744"/>
                </a:lnTo>
                <a:cubicBezTo>
                  <a:pt x="478011" y="389534"/>
                  <a:pt x="471706" y="395975"/>
                  <a:pt x="463748" y="395975"/>
                </a:cubicBezTo>
                <a:cubicBezTo>
                  <a:pt x="455941" y="395975"/>
                  <a:pt x="449486" y="389684"/>
                  <a:pt x="449486" y="381894"/>
                </a:cubicBezTo>
                <a:lnTo>
                  <a:pt x="449035" y="277782"/>
                </a:lnTo>
                <a:cubicBezTo>
                  <a:pt x="449035" y="276135"/>
                  <a:pt x="447684" y="274786"/>
                  <a:pt x="446033" y="274786"/>
                </a:cubicBezTo>
                <a:cubicBezTo>
                  <a:pt x="444381" y="274786"/>
                  <a:pt x="443030" y="276135"/>
                  <a:pt x="443030" y="277782"/>
                </a:cubicBezTo>
                <a:cubicBezTo>
                  <a:pt x="443030" y="419944"/>
                  <a:pt x="443330" y="291115"/>
                  <a:pt x="443330" y="516116"/>
                </a:cubicBezTo>
                <a:cubicBezTo>
                  <a:pt x="443330" y="525553"/>
                  <a:pt x="435673" y="533193"/>
                  <a:pt x="426215" y="533193"/>
                </a:cubicBezTo>
                <a:cubicBezTo>
                  <a:pt x="416906" y="533193"/>
                  <a:pt x="409249" y="525553"/>
                  <a:pt x="409249" y="516116"/>
                </a:cubicBezTo>
                <a:lnTo>
                  <a:pt x="409249" y="380096"/>
                </a:lnTo>
                <a:lnTo>
                  <a:pt x="401893" y="380096"/>
                </a:lnTo>
                <a:lnTo>
                  <a:pt x="401893" y="516116"/>
                </a:lnTo>
                <a:cubicBezTo>
                  <a:pt x="401893" y="525553"/>
                  <a:pt x="394236" y="533193"/>
                  <a:pt x="384778" y="533193"/>
                </a:cubicBezTo>
                <a:cubicBezTo>
                  <a:pt x="375319" y="533193"/>
                  <a:pt x="367812" y="525553"/>
                  <a:pt x="367812" y="516116"/>
                </a:cubicBezTo>
                <a:lnTo>
                  <a:pt x="367812" y="380096"/>
                </a:lnTo>
                <a:lnTo>
                  <a:pt x="367812" y="277782"/>
                </a:lnTo>
                <a:cubicBezTo>
                  <a:pt x="367812" y="276284"/>
                  <a:pt x="366461" y="274936"/>
                  <a:pt x="364959" y="274936"/>
                </a:cubicBezTo>
                <a:cubicBezTo>
                  <a:pt x="363458" y="274936"/>
                  <a:pt x="362257" y="276284"/>
                  <a:pt x="362257" y="277782"/>
                </a:cubicBezTo>
                <a:lnTo>
                  <a:pt x="361656" y="381894"/>
                </a:lnTo>
                <a:cubicBezTo>
                  <a:pt x="361656" y="389684"/>
                  <a:pt x="355351" y="395975"/>
                  <a:pt x="347544" y="395975"/>
                </a:cubicBezTo>
                <a:lnTo>
                  <a:pt x="347393" y="395975"/>
                </a:lnTo>
                <a:cubicBezTo>
                  <a:pt x="339586" y="395975"/>
                  <a:pt x="333281" y="389534"/>
                  <a:pt x="333281" y="381744"/>
                </a:cubicBezTo>
                <a:lnTo>
                  <a:pt x="333881" y="277633"/>
                </a:lnTo>
                <a:cubicBezTo>
                  <a:pt x="333881" y="259207"/>
                  <a:pt x="349045" y="244227"/>
                  <a:pt x="367511" y="244227"/>
                </a:cubicBezTo>
                <a:close/>
                <a:moveTo>
                  <a:pt x="201525" y="244227"/>
                </a:moveTo>
                <a:lnTo>
                  <a:pt x="277906" y="244227"/>
                </a:lnTo>
                <a:cubicBezTo>
                  <a:pt x="296213" y="244227"/>
                  <a:pt x="311370" y="259207"/>
                  <a:pt x="311520" y="277633"/>
                </a:cubicBezTo>
                <a:lnTo>
                  <a:pt x="311970" y="381744"/>
                </a:lnTo>
                <a:cubicBezTo>
                  <a:pt x="311970" y="389534"/>
                  <a:pt x="305667" y="395975"/>
                  <a:pt x="297864" y="395975"/>
                </a:cubicBezTo>
                <a:lnTo>
                  <a:pt x="297714" y="395975"/>
                </a:lnTo>
                <a:cubicBezTo>
                  <a:pt x="289911" y="395975"/>
                  <a:pt x="283608" y="389684"/>
                  <a:pt x="283608" y="381894"/>
                </a:cubicBezTo>
                <a:lnTo>
                  <a:pt x="283008" y="277782"/>
                </a:lnTo>
                <a:cubicBezTo>
                  <a:pt x="283008" y="276135"/>
                  <a:pt x="281657" y="274786"/>
                  <a:pt x="280007" y="274786"/>
                </a:cubicBezTo>
                <a:cubicBezTo>
                  <a:pt x="278356" y="274786"/>
                  <a:pt x="277156" y="276135"/>
                  <a:pt x="277156" y="277782"/>
                </a:cubicBezTo>
                <a:cubicBezTo>
                  <a:pt x="277156" y="419944"/>
                  <a:pt x="277456" y="291115"/>
                  <a:pt x="277456" y="516116"/>
                </a:cubicBezTo>
                <a:cubicBezTo>
                  <a:pt x="277456" y="525553"/>
                  <a:pt x="269803" y="533193"/>
                  <a:pt x="260349" y="533193"/>
                </a:cubicBezTo>
                <a:cubicBezTo>
                  <a:pt x="250895" y="533193"/>
                  <a:pt x="243242" y="525553"/>
                  <a:pt x="243242" y="516116"/>
                </a:cubicBezTo>
                <a:lnTo>
                  <a:pt x="243242" y="380096"/>
                </a:lnTo>
                <a:lnTo>
                  <a:pt x="235889" y="380096"/>
                </a:lnTo>
                <a:lnTo>
                  <a:pt x="235889" y="516116"/>
                </a:lnTo>
                <a:cubicBezTo>
                  <a:pt x="235889" y="525553"/>
                  <a:pt x="228386" y="533193"/>
                  <a:pt x="218932" y="533193"/>
                </a:cubicBezTo>
                <a:cubicBezTo>
                  <a:pt x="209478" y="533193"/>
                  <a:pt x="201825" y="525553"/>
                  <a:pt x="201825" y="516116"/>
                </a:cubicBezTo>
                <a:lnTo>
                  <a:pt x="201825" y="380096"/>
                </a:lnTo>
                <a:lnTo>
                  <a:pt x="201825" y="277782"/>
                </a:lnTo>
                <a:cubicBezTo>
                  <a:pt x="201825" y="276284"/>
                  <a:pt x="200624" y="274936"/>
                  <a:pt x="199124" y="274936"/>
                </a:cubicBezTo>
                <a:cubicBezTo>
                  <a:pt x="197623" y="274936"/>
                  <a:pt x="196423" y="276284"/>
                  <a:pt x="196423" y="277782"/>
                </a:cubicBezTo>
                <a:lnTo>
                  <a:pt x="195822" y="381894"/>
                </a:lnTo>
                <a:cubicBezTo>
                  <a:pt x="195822" y="389684"/>
                  <a:pt x="189370" y="395975"/>
                  <a:pt x="181567" y="395975"/>
                </a:cubicBezTo>
                <a:cubicBezTo>
                  <a:pt x="173763" y="395975"/>
                  <a:pt x="167311" y="389534"/>
                  <a:pt x="167461" y="381744"/>
                </a:cubicBezTo>
                <a:lnTo>
                  <a:pt x="167911" y="277633"/>
                </a:lnTo>
                <a:cubicBezTo>
                  <a:pt x="168061" y="259207"/>
                  <a:pt x="183067" y="244227"/>
                  <a:pt x="201525" y="244227"/>
                </a:cubicBezTo>
                <a:close/>
                <a:moveTo>
                  <a:pt x="34214" y="244227"/>
                </a:moveTo>
                <a:lnTo>
                  <a:pt x="110445" y="244227"/>
                </a:lnTo>
                <a:cubicBezTo>
                  <a:pt x="128902" y="244227"/>
                  <a:pt x="143908" y="259207"/>
                  <a:pt x="144059" y="277633"/>
                </a:cubicBezTo>
                <a:lnTo>
                  <a:pt x="144509" y="381744"/>
                </a:lnTo>
                <a:cubicBezTo>
                  <a:pt x="144659" y="389534"/>
                  <a:pt x="138206" y="395975"/>
                  <a:pt x="130403" y="395975"/>
                </a:cubicBezTo>
                <a:cubicBezTo>
                  <a:pt x="122600" y="395975"/>
                  <a:pt x="116147" y="389684"/>
                  <a:pt x="116147" y="381894"/>
                </a:cubicBezTo>
                <a:lnTo>
                  <a:pt x="115697" y="277782"/>
                </a:lnTo>
                <a:cubicBezTo>
                  <a:pt x="115547" y="276135"/>
                  <a:pt x="114346" y="274786"/>
                  <a:pt x="112696" y="274786"/>
                </a:cubicBezTo>
                <a:cubicBezTo>
                  <a:pt x="111045" y="274786"/>
                  <a:pt x="109694" y="276135"/>
                  <a:pt x="109694" y="277782"/>
                </a:cubicBezTo>
                <a:cubicBezTo>
                  <a:pt x="109694" y="343695"/>
                  <a:pt x="109995" y="452450"/>
                  <a:pt x="109995" y="516116"/>
                </a:cubicBezTo>
                <a:cubicBezTo>
                  <a:pt x="109995" y="525553"/>
                  <a:pt x="102341" y="533193"/>
                  <a:pt x="92888" y="533193"/>
                </a:cubicBezTo>
                <a:cubicBezTo>
                  <a:pt x="83584" y="533193"/>
                  <a:pt x="75931" y="525553"/>
                  <a:pt x="75931" y="516116"/>
                </a:cubicBezTo>
                <a:lnTo>
                  <a:pt x="75931" y="380096"/>
                </a:lnTo>
                <a:lnTo>
                  <a:pt x="68578" y="380096"/>
                </a:lnTo>
                <a:lnTo>
                  <a:pt x="68578" y="516116"/>
                </a:lnTo>
                <a:cubicBezTo>
                  <a:pt x="68578" y="525553"/>
                  <a:pt x="60925" y="533193"/>
                  <a:pt x="51471" y="533193"/>
                </a:cubicBezTo>
                <a:cubicBezTo>
                  <a:pt x="42017" y="533193"/>
                  <a:pt x="34364" y="525553"/>
                  <a:pt x="34364" y="516116"/>
                </a:cubicBezTo>
                <a:lnTo>
                  <a:pt x="34364" y="380096"/>
                </a:lnTo>
                <a:lnTo>
                  <a:pt x="34364" y="277782"/>
                </a:lnTo>
                <a:cubicBezTo>
                  <a:pt x="34364" y="276284"/>
                  <a:pt x="33163" y="275086"/>
                  <a:pt x="31663" y="275086"/>
                </a:cubicBezTo>
                <a:cubicBezTo>
                  <a:pt x="30162" y="274936"/>
                  <a:pt x="28962" y="276284"/>
                  <a:pt x="28962" y="277782"/>
                </a:cubicBezTo>
                <a:lnTo>
                  <a:pt x="28361" y="381894"/>
                </a:lnTo>
                <a:cubicBezTo>
                  <a:pt x="28361" y="389684"/>
                  <a:pt x="22059" y="395975"/>
                  <a:pt x="14256" y="395975"/>
                </a:cubicBezTo>
                <a:lnTo>
                  <a:pt x="14106" y="395975"/>
                </a:lnTo>
                <a:cubicBezTo>
                  <a:pt x="6302" y="395975"/>
                  <a:pt x="0" y="389534"/>
                  <a:pt x="0" y="381744"/>
                </a:cubicBezTo>
                <a:lnTo>
                  <a:pt x="600" y="277633"/>
                </a:lnTo>
                <a:cubicBezTo>
                  <a:pt x="600" y="259207"/>
                  <a:pt x="15756" y="244227"/>
                  <a:pt x="34214" y="244227"/>
                </a:cubicBezTo>
                <a:close/>
                <a:moveTo>
                  <a:pt x="298774" y="232090"/>
                </a:moveTo>
                <a:lnTo>
                  <a:pt x="346547" y="232090"/>
                </a:lnTo>
                <a:cubicBezTo>
                  <a:pt x="336331" y="236739"/>
                  <a:pt x="327768" y="244836"/>
                  <a:pt x="322660" y="254883"/>
                </a:cubicBezTo>
                <a:cubicBezTo>
                  <a:pt x="317552" y="244836"/>
                  <a:pt x="309140" y="236739"/>
                  <a:pt x="298774" y="232090"/>
                </a:cubicBezTo>
                <a:close/>
                <a:moveTo>
                  <a:pt x="405716" y="176061"/>
                </a:moveTo>
                <a:cubicBezTo>
                  <a:pt x="421987" y="176061"/>
                  <a:pt x="435177" y="189204"/>
                  <a:pt x="435177" y="205417"/>
                </a:cubicBezTo>
                <a:cubicBezTo>
                  <a:pt x="435177" y="221630"/>
                  <a:pt x="421987" y="234773"/>
                  <a:pt x="405716" y="234773"/>
                </a:cubicBezTo>
                <a:cubicBezTo>
                  <a:pt x="389445" y="234773"/>
                  <a:pt x="376255" y="221630"/>
                  <a:pt x="376255" y="205417"/>
                </a:cubicBezTo>
                <a:cubicBezTo>
                  <a:pt x="376255" y="189204"/>
                  <a:pt x="389445" y="176061"/>
                  <a:pt x="405716" y="176061"/>
                </a:cubicBezTo>
                <a:close/>
                <a:moveTo>
                  <a:pt x="239817" y="176061"/>
                </a:moveTo>
                <a:cubicBezTo>
                  <a:pt x="256049" y="176061"/>
                  <a:pt x="269208" y="189204"/>
                  <a:pt x="269208" y="205417"/>
                </a:cubicBezTo>
                <a:cubicBezTo>
                  <a:pt x="269208" y="221630"/>
                  <a:pt x="256049" y="234773"/>
                  <a:pt x="239817" y="234773"/>
                </a:cubicBezTo>
                <a:cubicBezTo>
                  <a:pt x="223585" y="234773"/>
                  <a:pt x="210426" y="221630"/>
                  <a:pt x="210426" y="205417"/>
                </a:cubicBezTo>
                <a:cubicBezTo>
                  <a:pt x="210426" y="189204"/>
                  <a:pt x="223585" y="176061"/>
                  <a:pt x="239817" y="176061"/>
                </a:cubicBezTo>
                <a:close/>
                <a:moveTo>
                  <a:pt x="72325" y="176061"/>
                </a:moveTo>
                <a:cubicBezTo>
                  <a:pt x="88687" y="176061"/>
                  <a:pt x="101897" y="189241"/>
                  <a:pt x="101897" y="205416"/>
                </a:cubicBezTo>
                <a:cubicBezTo>
                  <a:pt x="101897" y="221592"/>
                  <a:pt x="88687" y="234772"/>
                  <a:pt x="72325" y="234772"/>
                </a:cubicBezTo>
                <a:cubicBezTo>
                  <a:pt x="56113" y="234772"/>
                  <a:pt x="42904" y="221592"/>
                  <a:pt x="42904" y="205416"/>
                </a:cubicBezTo>
                <a:cubicBezTo>
                  <a:pt x="42904" y="189241"/>
                  <a:pt x="55963" y="176061"/>
                  <a:pt x="72325" y="176061"/>
                </a:cubicBezTo>
                <a:close/>
                <a:moveTo>
                  <a:pt x="1200" y="56241"/>
                </a:moveTo>
                <a:lnTo>
                  <a:pt x="384613" y="56241"/>
                </a:lnTo>
                <a:cubicBezTo>
                  <a:pt x="505414" y="56241"/>
                  <a:pt x="603405" y="154058"/>
                  <a:pt x="603405" y="274494"/>
                </a:cubicBezTo>
                <a:cubicBezTo>
                  <a:pt x="603405" y="308947"/>
                  <a:pt x="575493" y="336809"/>
                  <a:pt x="540979" y="336809"/>
                </a:cubicBezTo>
                <a:lnTo>
                  <a:pt x="494459" y="336809"/>
                </a:lnTo>
                <a:lnTo>
                  <a:pt x="494159" y="277490"/>
                </a:lnTo>
                <a:cubicBezTo>
                  <a:pt x="494009" y="257417"/>
                  <a:pt x="482004" y="240041"/>
                  <a:pt x="464747" y="232102"/>
                </a:cubicBezTo>
                <a:lnTo>
                  <a:pt x="551333" y="232102"/>
                </a:lnTo>
                <a:lnTo>
                  <a:pt x="551483" y="232102"/>
                </a:lnTo>
                <a:cubicBezTo>
                  <a:pt x="553884" y="232102"/>
                  <a:pt x="556285" y="230753"/>
                  <a:pt x="557636" y="228806"/>
                </a:cubicBezTo>
                <a:cubicBezTo>
                  <a:pt x="558986" y="226709"/>
                  <a:pt x="559136" y="224013"/>
                  <a:pt x="558236" y="221766"/>
                </a:cubicBezTo>
                <a:cubicBezTo>
                  <a:pt x="550283" y="203790"/>
                  <a:pt x="531825" y="165892"/>
                  <a:pt x="504663" y="136532"/>
                </a:cubicBezTo>
                <a:cubicBezTo>
                  <a:pt x="481704" y="111666"/>
                  <a:pt x="449440" y="97585"/>
                  <a:pt x="415676" y="97585"/>
                </a:cubicBezTo>
                <a:lnTo>
                  <a:pt x="397968" y="97585"/>
                </a:lnTo>
                <a:lnTo>
                  <a:pt x="397968" y="159900"/>
                </a:lnTo>
                <a:cubicBezTo>
                  <a:pt x="383712" y="162297"/>
                  <a:pt x="371707" y="171284"/>
                  <a:pt x="364954" y="183568"/>
                </a:cubicBezTo>
                <a:lnTo>
                  <a:pt x="364954" y="97585"/>
                </a:lnTo>
                <a:lnTo>
                  <a:pt x="174223" y="97585"/>
                </a:lnTo>
                <a:lnTo>
                  <a:pt x="174223" y="232102"/>
                </a:lnTo>
                <a:lnTo>
                  <a:pt x="180526" y="232102"/>
                </a:lnTo>
                <a:cubicBezTo>
                  <a:pt x="178425" y="233150"/>
                  <a:pt x="176324" y="234199"/>
                  <a:pt x="174223" y="235547"/>
                </a:cubicBezTo>
                <a:cubicBezTo>
                  <a:pt x="166420" y="240640"/>
                  <a:pt x="159967" y="247830"/>
                  <a:pt x="156065" y="256369"/>
                </a:cubicBezTo>
                <a:cubicBezTo>
                  <a:pt x="152614" y="249178"/>
                  <a:pt x="147512" y="242887"/>
                  <a:pt x="141209" y="238093"/>
                </a:cubicBezTo>
                <a:cubicBezTo>
                  <a:pt x="138208" y="235697"/>
                  <a:pt x="134906" y="233749"/>
                  <a:pt x="131455" y="232102"/>
                </a:cubicBezTo>
                <a:lnTo>
                  <a:pt x="141209" y="232102"/>
                </a:lnTo>
                <a:lnTo>
                  <a:pt x="141209" y="97585"/>
                </a:lnTo>
                <a:lnTo>
                  <a:pt x="1200" y="97585"/>
                </a:lnTo>
                <a:close/>
                <a:moveTo>
                  <a:pt x="30337" y="0"/>
                </a:moveTo>
                <a:lnTo>
                  <a:pt x="450496" y="0"/>
                </a:lnTo>
                <a:cubicBezTo>
                  <a:pt x="459649" y="0"/>
                  <a:pt x="467002" y="7356"/>
                  <a:pt x="467002" y="16512"/>
                </a:cubicBezTo>
                <a:cubicBezTo>
                  <a:pt x="467002" y="25669"/>
                  <a:pt x="459649" y="33025"/>
                  <a:pt x="450496" y="33025"/>
                </a:cubicBezTo>
                <a:lnTo>
                  <a:pt x="30337" y="33025"/>
                </a:lnTo>
                <a:cubicBezTo>
                  <a:pt x="21184" y="33025"/>
                  <a:pt x="13831" y="25669"/>
                  <a:pt x="13831" y="16512"/>
                </a:cubicBezTo>
                <a:cubicBezTo>
                  <a:pt x="13831" y="7356"/>
                  <a:pt x="21184" y="0"/>
                  <a:pt x="30337" y="0"/>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endParaRPr lang="zh-CN" altLang="en-US">
              <a:solidFill>
                <a:srgbClr val="000000"/>
              </a:solidFill>
              <a:latin typeface="Arial" panose="020F0502020204030204"/>
              <a:ea typeface="微软雅黑"/>
              <a:cs typeface="+mn-ea"/>
              <a:sym typeface="+mn-lt"/>
            </a:endParaRPr>
          </a:p>
        </p:txBody>
      </p:sp>
      <p:pic>
        <p:nvPicPr>
          <p:cNvPr id="2" name="Picture 2" descr="Fig. 1: The machine learning architecture of EZSpecificity.">
            <a:extLst>
              <a:ext uri="{FF2B5EF4-FFF2-40B4-BE49-F238E27FC236}">
                <a16:creationId xmlns:a16="http://schemas.microsoft.com/office/drawing/2014/main" id="{533CF51E-18DA-28AB-F203-09ED026898B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352" t="66" r="40638" b="64539"/>
          <a:stretch>
            <a:fillRect/>
          </a:stretch>
        </p:blipFill>
        <p:spPr bwMode="auto">
          <a:xfrm>
            <a:off x="2340097" y="1888761"/>
            <a:ext cx="6950727" cy="1857060"/>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01FB0426-1AD5-DABF-F8E7-0847142FE32A}"/>
              </a:ext>
            </a:extLst>
          </p:cNvPr>
          <p:cNvSpPr txBox="1"/>
          <p:nvPr/>
        </p:nvSpPr>
        <p:spPr>
          <a:xfrm>
            <a:off x="4286655" y="4272317"/>
            <a:ext cx="3618690" cy="369332"/>
          </a:xfrm>
          <a:prstGeom prst="rect">
            <a:avLst/>
          </a:prstGeom>
          <a:noFill/>
        </p:spPr>
        <p:txBody>
          <a:bodyPr wrap="square" rtlCol="0">
            <a:spAutoFit/>
          </a:bodyPr>
          <a:lstStyle/>
          <a:p>
            <a:r>
              <a:rPr lang="zh-CN" altLang="en-US" dirty="0"/>
              <a:t>使用</a:t>
            </a:r>
            <a:r>
              <a:rPr lang="en-US" altLang="zh-CN" dirty="0"/>
              <a:t>ESM-2</a:t>
            </a:r>
            <a:r>
              <a:rPr lang="zh-CN" altLang="en-US" dirty="0"/>
              <a:t>获得酶的特征表示</a:t>
            </a:r>
          </a:p>
        </p:txBody>
      </p:sp>
      <p:sp>
        <p:nvSpPr>
          <p:cNvPr id="5" name="文本框 4">
            <a:extLst>
              <a:ext uri="{FF2B5EF4-FFF2-40B4-BE49-F238E27FC236}">
                <a16:creationId xmlns:a16="http://schemas.microsoft.com/office/drawing/2014/main" id="{3ED034DE-29A2-762F-6C56-8D1F621E001C}"/>
              </a:ext>
            </a:extLst>
          </p:cNvPr>
          <p:cNvSpPr txBox="1"/>
          <p:nvPr/>
        </p:nvSpPr>
        <p:spPr>
          <a:xfrm>
            <a:off x="5005215" y="1035952"/>
            <a:ext cx="1647217" cy="369332"/>
          </a:xfrm>
          <a:prstGeom prst="rect">
            <a:avLst/>
          </a:prstGeom>
          <a:noFill/>
        </p:spPr>
        <p:txBody>
          <a:bodyPr wrap="square" rtlCol="0">
            <a:spAutoFit/>
          </a:bodyPr>
          <a:lstStyle/>
          <a:p>
            <a:r>
              <a:rPr lang="zh-CN" altLang="en-US" dirty="0"/>
              <a:t>酶的信息编码</a:t>
            </a:r>
          </a:p>
        </p:txBody>
      </p:sp>
    </p:spTree>
    <p:extLst>
      <p:ext uri="{BB962C8B-B14F-4D97-AF65-F5344CB8AC3E}">
        <p14:creationId xmlns:p14="http://schemas.microsoft.com/office/powerpoint/2010/main" val="2022766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B91C2-016B-613E-3DBF-BCE787FF542A}"/>
            </a:ext>
          </a:extLst>
        </p:cNvPr>
        <p:cNvGrpSpPr/>
        <p:nvPr/>
      </p:nvGrpSpPr>
      <p:grpSpPr>
        <a:xfrm>
          <a:off x="0" y="0"/>
          <a:ext cx="0" cy="0"/>
          <a:chOff x="0" y="0"/>
          <a:chExt cx="0" cy="0"/>
        </a:xfrm>
      </p:grpSpPr>
      <p:grpSp>
        <p:nvGrpSpPr>
          <p:cNvPr id="20" name="组合 19">
            <a:extLst>
              <a:ext uri="{FF2B5EF4-FFF2-40B4-BE49-F238E27FC236}">
                <a16:creationId xmlns:a16="http://schemas.microsoft.com/office/drawing/2014/main" id="{C2A92EF6-D93B-4666-FFEF-F54A7E5FC737}"/>
              </a:ext>
            </a:extLst>
          </p:cNvPr>
          <p:cNvGrpSpPr/>
          <p:nvPr/>
        </p:nvGrpSpPr>
        <p:grpSpPr>
          <a:xfrm>
            <a:off x="286653" y="116633"/>
            <a:ext cx="11618694" cy="6681374"/>
            <a:chOff x="286653" y="116633"/>
            <a:chExt cx="11618694" cy="6681374"/>
          </a:xfrm>
        </p:grpSpPr>
        <p:grpSp>
          <p:nvGrpSpPr>
            <p:cNvPr id="21" name="组合 20">
              <a:extLst>
                <a:ext uri="{FF2B5EF4-FFF2-40B4-BE49-F238E27FC236}">
                  <a16:creationId xmlns:a16="http://schemas.microsoft.com/office/drawing/2014/main" id="{68AC5387-2482-F953-9733-86E0A7F9F9AF}"/>
                </a:ext>
              </a:extLst>
            </p:cNvPr>
            <p:cNvGrpSpPr/>
            <p:nvPr/>
          </p:nvGrpSpPr>
          <p:grpSpPr>
            <a:xfrm>
              <a:off x="335361" y="116633"/>
              <a:ext cx="629872" cy="612768"/>
              <a:chOff x="3070727" y="196457"/>
              <a:chExt cx="692047" cy="673255"/>
            </a:xfrm>
          </p:grpSpPr>
          <p:sp>
            <p:nvSpPr>
              <p:cNvPr id="26" name="平行四边形 25">
                <a:extLst>
                  <a:ext uri="{FF2B5EF4-FFF2-40B4-BE49-F238E27FC236}">
                    <a16:creationId xmlns:a16="http://schemas.microsoft.com/office/drawing/2014/main" id="{E6F757FB-3250-447B-BD24-23173318C350}"/>
                  </a:ext>
                </a:extLst>
              </p:cNvPr>
              <p:cNvSpPr/>
              <p:nvPr/>
            </p:nvSpPr>
            <p:spPr>
              <a:xfrm>
                <a:off x="3070727" y="196457"/>
                <a:ext cx="629587" cy="612775"/>
              </a:xfrm>
              <a:prstGeom prst="parallelogram">
                <a:avLst/>
              </a:prstGeom>
              <a:solidFill>
                <a:srgbClr val="6B0261"/>
              </a:solidFill>
              <a:ln w="25400" cap="flat" cmpd="sng" algn="ctr">
                <a:solidFill>
                  <a:srgbClr val="6B026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27" name="平行四边形 26">
                <a:extLst>
                  <a:ext uri="{FF2B5EF4-FFF2-40B4-BE49-F238E27FC236}">
                    <a16:creationId xmlns:a16="http://schemas.microsoft.com/office/drawing/2014/main" id="{4BFD67D3-817C-4B18-CDD3-8A22164D6F5D}"/>
                  </a:ext>
                </a:extLst>
              </p:cNvPr>
              <p:cNvSpPr/>
              <p:nvPr/>
            </p:nvSpPr>
            <p:spPr>
              <a:xfrm>
                <a:off x="3133187" y="256937"/>
                <a:ext cx="629587" cy="612775"/>
              </a:xfrm>
              <a:prstGeom prst="parallelogram">
                <a:avLst/>
              </a:prstGeom>
              <a:noFill/>
              <a:ln w="25400" cap="flat" cmpd="sng" algn="ctr">
                <a:solidFill>
                  <a:srgbClr val="6B026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cxnSp>
          <p:nvCxnSpPr>
            <p:cNvPr id="22" name="直接连接符 21">
              <a:extLst>
                <a:ext uri="{FF2B5EF4-FFF2-40B4-BE49-F238E27FC236}">
                  <a16:creationId xmlns:a16="http://schemas.microsoft.com/office/drawing/2014/main" id="{5D9DCAED-E00C-2C5E-07C7-B29534920846}"/>
                </a:ext>
              </a:extLst>
            </p:cNvPr>
            <p:cNvCxnSpPr>
              <a:cxnSpLocks/>
            </p:cNvCxnSpPr>
            <p:nvPr/>
          </p:nvCxnSpPr>
          <p:spPr>
            <a:xfrm>
              <a:off x="367840" y="809674"/>
              <a:ext cx="11488800" cy="0"/>
            </a:xfrm>
            <a:prstGeom prst="line">
              <a:avLst/>
            </a:prstGeom>
            <a:noFill/>
            <a:ln w="9525" cap="flat" cmpd="sng" algn="ctr">
              <a:solidFill>
                <a:srgbClr val="6B0261"/>
              </a:solidFill>
              <a:prstDash val="solid"/>
            </a:ln>
            <a:effectLst/>
          </p:spPr>
        </p:cxnSp>
        <p:sp>
          <p:nvSpPr>
            <p:cNvPr id="23" name="文本占位符 5">
              <a:extLst>
                <a:ext uri="{FF2B5EF4-FFF2-40B4-BE49-F238E27FC236}">
                  <a16:creationId xmlns:a16="http://schemas.microsoft.com/office/drawing/2014/main" id="{67F92A54-09A2-5755-AED1-E57A29321A9F}"/>
                </a:ext>
              </a:extLst>
            </p:cNvPr>
            <p:cNvSpPr txBox="1">
              <a:spLocks/>
            </p:cNvSpPr>
            <p:nvPr/>
          </p:nvSpPr>
          <p:spPr>
            <a:xfrm>
              <a:off x="1075777" y="214065"/>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rgbClr val="6B0261"/>
                  </a:solidFill>
                </a:rPr>
                <a:t>研究内容</a:t>
              </a:r>
            </a:p>
          </p:txBody>
        </p:sp>
        <p:sp>
          <p:nvSpPr>
            <p:cNvPr id="24" name="文本框 23">
              <a:extLst>
                <a:ext uri="{FF2B5EF4-FFF2-40B4-BE49-F238E27FC236}">
                  <a16:creationId xmlns:a16="http://schemas.microsoft.com/office/drawing/2014/main" id="{8B17386E-70B1-FF77-727C-063AC8F25BAD}"/>
                </a:ext>
              </a:extLst>
            </p:cNvPr>
            <p:cNvSpPr txBox="1"/>
            <p:nvPr/>
          </p:nvSpPr>
          <p:spPr>
            <a:xfrm>
              <a:off x="10805366" y="642867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25" name="图片 24">
              <a:extLst>
                <a:ext uri="{FF2B5EF4-FFF2-40B4-BE49-F238E27FC236}">
                  <a16:creationId xmlns:a16="http://schemas.microsoft.com/office/drawing/2014/main" id="{674F430E-0FF9-6EB2-69F0-AFD48054684B}"/>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a:stretch/>
          </p:blipFill>
          <p:spPr>
            <a:xfrm>
              <a:off x="286653" y="6425619"/>
              <a:ext cx="2520534" cy="369332"/>
            </a:xfrm>
            <a:prstGeom prst="rect">
              <a:avLst/>
            </a:prstGeom>
          </p:spPr>
        </p:pic>
      </p:grpSp>
      <p:grpSp>
        <p:nvGrpSpPr>
          <p:cNvPr id="51" name="组合 50">
            <a:extLst>
              <a:ext uri="{FF2B5EF4-FFF2-40B4-BE49-F238E27FC236}">
                <a16:creationId xmlns:a16="http://schemas.microsoft.com/office/drawing/2014/main" id="{11451B1F-B0D8-207E-EEF2-65D7084E3C15}"/>
              </a:ext>
            </a:extLst>
          </p:cNvPr>
          <p:cNvGrpSpPr/>
          <p:nvPr/>
        </p:nvGrpSpPr>
        <p:grpSpPr>
          <a:xfrm>
            <a:off x="9938479" y="77827"/>
            <a:ext cx="2017490" cy="675447"/>
            <a:chOff x="995884" y="398899"/>
            <a:chExt cx="3658781" cy="1224944"/>
          </a:xfrm>
        </p:grpSpPr>
        <p:pic>
          <p:nvPicPr>
            <p:cNvPr id="52" name="图片 51">
              <a:extLst>
                <a:ext uri="{FF2B5EF4-FFF2-40B4-BE49-F238E27FC236}">
                  <a16:creationId xmlns:a16="http://schemas.microsoft.com/office/drawing/2014/main" id="{D60DEDFA-493F-296F-34A3-6B41FD44102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95884" y="398899"/>
              <a:ext cx="977348" cy="1224944"/>
            </a:xfrm>
            <a:prstGeom prst="rect">
              <a:avLst/>
            </a:prstGeom>
          </p:spPr>
        </p:pic>
        <p:pic>
          <p:nvPicPr>
            <p:cNvPr id="53" name="图片 52">
              <a:extLst>
                <a:ext uri="{FF2B5EF4-FFF2-40B4-BE49-F238E27FC236}">
                  <a16:creationId xmlns:a16="http://schemas.microsoft.com/office/drawing/2014/main" id="{65281F94-D0B8-EF87-2A01-B2F74F3C115F}"/>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173707" y="405382"/>
              <a:ext cx="2384890" cy="796233"/>
            </a:xfrm>
            <a:prstGeom prst="rect">
              <a:avLst/>
            </a:prstGeom>
          </p:spPr>
        </p:pic>
        <p:sp>
          <p:nvSpPr>
            <p:cNvPr id="54" name="矩形 53">
              <a:extLst>
                <a:ext uri="{FF2B5EF4-FFF2-40B4-BE49-F238E27FC236}">
                  <a16:creationId xmlns:a16="http://schemas.microsoft.com/office/drawing/2014/main" id="{B8971BE9-2BD4-3D1E-20FD-A5223BA95BF7}"/>
                </a:ext>
              </a:extLst>
            </p:cNvPr>
            <p:cNvSpPr/>
            <p:nvPr/>
          </p:nvSpPr>
          <p:spPr>
            <a:xfrm>
              <a:off x="2069306" y="1138524"/>
              <a:ext cx="2585359" cy="46048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rPr>
                <a:t>NANJING UNIVERSITY</a:t>
              </a:r>
              <a:endParaRPr kumimoji="0" lang="zh-CN" altLang="en-US" sz="105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endParaRPr>
            </a:p>
          </p:txBody>
        </p:sp>
      </p:grpSp>
      <p:sp>
        <p:nvSpPr>
          <p:cNvPr id="31" name="íŝḷïḓè">
            <a:extLst>
              <a:ext uri="{FF2B5EF4-FFF2-40B4-BE49-F238E27FC236}">
                <a16:creationId xmlns:a16="http://schemas.microsoft.com/office/drawing/2014/main" id="{8FB7BA6D-1962-0C69-00F6-2DA032738E88}"/>
              </a:ext>
            </a:extLst>
          </p:cNvPr>
          <p:cNvSpPr/>
          <p:nvPr/>
        </p:nvSpPr>
        <p:spPr bwMode="auto">
          <a:xfrm>
            <a:off x="5828824" y="4147130"/>
            <a:ext cx="338337" cy="366161"/>
          </a:xfrm>
          <a:custGeom>
            <a:avLst/>
            <a:gdLst>
              <a:gd name="connsiteX0" fmla="*/ 327780 w 561933"/>
              <a:gd name="connsiteY0" fmla="*/ 406780 h 608145"/>
              <a:gd name="connsiteX1" fmla="*/ 285069 w 561933"/>
              <a:gd name="connsiteY1" fmla="*/ 449434 h 608145"/>
              <a:gd name="connsiteX2" fmla="*/ 327780 w 561933"/>
              <a:gd name="connsiteY2" fmla="*/ 492088 h 608145"/>
              <a:gd name="connsiteX3" fmla="*/ 370490 w 561933"/>
              <a:gd name="connsiteY3" fmla="*/ 449434 h 608145"/>
              <a:gd name="connsiteX4" fmla="*/ 327780 w 561933"/>
              <a:gd name="connsiteY4" fmla="*/ 406780 h 608145"/>
              <a:gd name="connsiteX5" fmla="*/ 91381 w 561933"/>
              <a:gd name="connsiteY5" fmla="*/ 406780 h 608145"/>
              <a:gd name="connsiteX6" fmla="*/ 49664 w 561933"/>
              <a:gd name="connsiteY6" fmla="*/ 449434 h 608145"/>
              <a:gd name="connsiteX7" fmla="*/ 91381 w 561933"/>
              <a:gd name="connsiteY7" fmla="*/ 492088 h 608145"/>
              <a:gd name="connsiteX8" fmla="*/ 134092 w 561933"/>
              <a:gd name="connsiteY8" fmla="*/ 449434 h 608145"/>
              <a:gd name="connsiteX9" fmla="*/ 91381 w 561933"/>
              <a:gd name="connsiteY9" fmla="*/ 406780 h 608145"/>
              <a:gd name="connsiteX10" fmla="*/ 130119 w 561933"/>
              <a:gd name="connsiteY10" fmla="*/ 162762 h 608145"/>
              <a:gd name="connsiteX11" fmla="*/ 50657 w 561933"/>
              <a:gd name="connsiteY11" fmla="*/ 243110 h 608145"/>
              <a:gd name="connsiteX12" fmla="*/ 50657 w 561933"/>
              <a:gd name="connsiteY12" fmla="*/ 312546 h 608145"/>
              <a:gd name="connsiteX13" fmla="*/ 78468 w 561933"/>
              <a:gd name="connsiteY13" fmla="*/ 341312 h 608145"/>
              <a:gd name="connsiteX14" fmla="*/ 340692 w 561933"/>
              <a:gd name="connsiteY14" fmla="*/ 341312 h 608145"/>
              <a:gd name="connsiteX15" fmla="*/ 369497 w 561933"/>
              <a:gd name="connsiteY15" fmla="*/ 312546 h 608145"/>
              <a:gd name="connsiteX16" fmla="*/ 369497 w 561933"/>
              <a:gd name="connsiteY16" fmla="*/ 243110 h 608145"/>
              <a:gd name="connsiteX17" fmla="*/ 289042 w 561933"/>
              <a:gd name="connsiteY17" fmla="*/ 162762 h 608145"/>
              <a:gd name="connsiteX18" fmla="*/ 127139 w 561933"/>
              <a:gd name="connsiteY18" fmla="*/ 99278 h 608145"/>
              <a:gd name="connsiteX19" fmla="*/ 293015 w 561933"/>
              <a:gd name="connsiteY19" fmla="*/ 99278 h 608145"/>
              <a:gd name="connsiteX20" fmla="*/ 420154 w 561933"/>
              <a:gd name="connsiteY20" fmla="*/ 226247 h 608145"/>
              <a:gd name="connsiteX21" fmla="*/ 420154 w 561933"/>
              <a:gd name="connsiteY21" fmla="*/ 486136 h 608145"/>
              <a:gd name="connsiteX22" fmla="*/ 382410 w 561933"/>
              <a:gd name="connsiteY22" fmla="*/ 541685 h 608145"/>
              <a:gd name="connsiteX23" fmla="*/ 382410 w 561933"/>
              <a:gd name="connsiteY23" fmla="*/ 561524 h 608145"/>
              <a:gd name="connsiteX24" fmla="*/ 334733 w 561933"/>
              <a:gd name="connsiteY24" fmla="*/ 608145 h 608145"/>
              <a:gd name="connsiteX25" fmla="*/ 326786 w 561933"/>
              <a:gd name="connsiteY25" fmla="*/ 608145 h 608145"/>
              <a:gd name="connsiteX26" fmla="*/ 280103 w 561933"/>
              <a:gd name="connsiteY26" fmla="*/ 561524 h 608145"/>
              <a:gd name="connsiteX27" fmla="*/ 280103 w 561933"/>
              <a:gd name="connsiteY27" fmla="*/ 544661 h 608145"/>
              <a:gd name="connsiteX28" fmla="*/ 140051 w 561933"/>
              <a:gd name="connsiteY28" fmla="*/ 544661 h 608145"/>
              <a:gd name="connsiteX29" fmla="*/ 140051 w 561933"/>
              <a:gd name="connsiteY29" fmla="*/ 561524 h 608145"/>
              <a:gd name="connsiteX30" fmla="*/ 92374 w 561933"/>
              <a:gd name="connsiteY30" fmla="*/ 608145 h 608145"/>
              <a:gd name="connsiteX31" fmla="*/ 84428 w 561933"/>
              <a:gd name="connsiteY31" fmla="*/ 608145 h 608145"/>
              <a:gd name="connsiteX32" fmla="*/ 37744 w 561933"/>
              <a:gd name="connsiteY32" fmla="*/ 561524 h 608145"/>
              <a:gd name="connsiteX33" fmla="*/ 37744 w 561933"/>
              <a:gd name="connsiteY33" fmla="*/ 541685 h 608145"/>
              <a:gd name="connsiteX34" fmla="*/ 0 w 561933"/>
              <a:gd name="connsiteY34" fmla="*/ 486136 h 608145"/>
              <a:gd name="connsiteX35" fmla="*/ 0 w 561933"/>
              <a:gd name="connsiteY35" fmla="*/ 226247 h 608145"/>
              <a:gd name="connsiteX36" fmla="*/ 127139 w 561933"/>
              <a:gd name="connsiteY36" fmla="*/ 99278 h 608145"/>
              <a:gd name="connsiteX37" fmla="*/ 408232 w 561933"/>
              <a:gd name="connsiteY37" fmla="*/ 74504 h 608145"/>
              <a:gd name="connsiteX38" fmla="*/ 424139 w 561933"/>
              <a:gd name="connsiteY38" fmla="*/ 75495 h 608145"/>
              <a:gd name="connsiteX39" fmla="*/ 486772 w 561933"/>
              <a:gd name="connsiteY39" fmla="*/ 185587 h 608145"/>
              <a:gd name="connsiteX40" fmla="*/ 479813 w 561933"/>
              <a:gd name="connsiteY40" fmla="*/ 199473 h 608145"/>
              <a:gd name="connsiteX41" fmla="*/ 464901 w 561933"/>
              <a:gd name="connsiteY41" fmla="*/ 202448 h 608145"/>
              <a:gd name="connsiteX42" fmla="*/ 462912 w 561933"/>
              <a:gd name="connsiteY42" fmla="*/ 201456 h 608145"/>
              <a:gd name="connsiteX43" fmla="*/ 448994 w 561933"/>
              <a:gd name="connsiteY43" fmla="*/ 183604 h 608145"/>
              <a:gd name="connsiteX44" fmla="*/ 406244 w 561933"/>
              <a:gd name="connsiteY44" fmla="*/ 109217 h 608145"/>
              <a:gd name="connsiteX45" fmla="*/ 397296 w 561933"/>
              <a:gd name="connsiteY45" fmla="*/ 89381 h 608145"/>
              <a:gd name="connsiteX46" fmla="*/ 398291 w 561933"/>
              <a:gd name="connsiteY46" fmla="*/ 87397 h 608145"/>
              <a:gd name="connsiteX47" fmla="*/ 408232 w 561933"/>
              <a:gd name="connsiteY47" fmla="*/ 74504 h 608145"/>
              <a:gd name="connsiteX48" fmla="*/ 439969 w 561933"/>
              <a:gd name="connsiteY48" fmla="*/ 1081 h 608145"/>
              <a:gd name="connsiteX49" fmla="*/ 560176 w 561933"/>
              <a:gd name="connsiteY49" fmla="*/ 205408 h 608145"/>
              <a:gd name="connsiteX50" fmla="*/ 552228 w 561933"/>
              <a:gd name="connsiteY50" fmla="*/ 217311 h 608145"/>
              <a:gd name="connsiteX51" fmla="*/ 537326 w 561933"/>
              <a:gd name="connsiteY51" fmla="*/ 220286 h 608145"/>
              <a:gd name="connsiteX52" fmla="*/ 535340 w 561933"/>
              <a:gd name="connsiteY52" fmla="*/ 219294 h 608145"/>
              <a:gd name="connsiteX53" fmla="*/ 522425 w 561933"/>
              <a:gd name="connsiteY53" fmla="*/ 199457 h 608145"/>
              <a:gd name="connsiteX54" fmla="*/ 426061 w 561933"/>
              <a:gd name="connsiteY54" fmla="*/ 36788 h 608145"/>
              <a:gd name="connsiteX55" fmla="*/ 416126 w 561933"/>
              <a:gd name="connsiteY55" fmla="*/ 15959 h 608145"/>
              <a:gd name="connsiteX56" fmla="*/ 416126 w 561933"/>
              <a:gd name="connsiteY56" fmla="*/ 13975 h 608145"/>
              <a:gd name="connsiteX57" fmla="*/ 425067 w 561933"/>
              <a:gd name="connsiteY57" fmla="*/ 2073 h 608145"/>
              <a:gd name="connsiteX58" fmla="*/ 439969 w 561933"/>
              <a:gd name="connsiteY58" fmla="*/ 1081 h 608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61933" h="608145">
                <a:moveTo>
                  <a:pt x="327780" y="406780"/>
                </a:moveTo>
                <a:cubicBezTo>
                  <a:pt x="303941" y="406780"/>
                  <a:pt x="285069" y="425627"/>
                  <a:pt x="285069" y="449434"/>
                </a:cubicBezTo>
                <a:cubicBezTo>
                  <a:pt x="285069" y="473241"/>
                  <a:pt x="303941" y="492088"/>
                  <a:pt x="327780" y="492088"/>
                </a:cubicBezTo>
                <a:cubicBezTo>
                  <a:pt x="350625" y="492088"/>
                  <a:pt x="370490" y="473241"/>
                  <a:pt x="370490" y="449434"/>
                </a:cubicBezTo>
                <a:cubicBezTo>
                  <a:pt x="370490" y="425627"/>
                  <a:pt x="350625" y="406780"/>
                  <a:pt x="327780" y="406780"/>
                </a:cubicBezTo>
                <a:close/>
                <a:moveTo>
                  <a:pt x="91381" y="406780"/>
                </a:moveTo>
                <a:cubicBezTo>
                  <a:pt x="68536" y="406780"/>
                  <a:pt x="49664" y="425627"/>
                  <a:pt x="49664" y="449434"/>
                </a:cubicBezTo>
                <a:cubicBezTo>
                  <a:pt x="49664" y="473241"/>
                  <a:pt x="68536" y="492088"/>
                  <a:pt x="91381" y="492088"/>
                </a:cubicBezTo>
                <a:cubicBezTo>
                  <a:pt x="115220" y="492088"/>
                  <a:pt x="134092" y="473241"/>
                  <a:pt x="134092" y="449434"/>
                </a:cubicBezTo>
                <a:cubicBezTo>
                  <a:pt x="134092" y="425627"/>
                  <a:pt x="115220" y="406780"/>
                  <a:pt x="91381" y="406780"/>
                </a:cubicBezTo>
                <a:close/>
                <a:moveTo>
                  <a:pt x="130119" y="162762"/>
                </a:moveTo>
                <a:cubicBezTo>
                  <a:pt x="86415" y="162762"/>
                  <a:pt x="50657" y="198472"/>
                  <a:pt x="50657" y="243110"/>
                </a:cubicBezTo>
                <a:lnTo>
                  <a:pt x="50657" y="312546"/>
                </a:lnTo>
                <a:cubicBezTo>
                  <a:pt x="50657" y="328417"/>
                  <a:pt x="62576" y="341312"/>
                  <a:pt x="78468" y="341312"/>
                </a:cubicBezTo>
                <a:lnTo>
                  <a:pt x="340692" y="341312"/>
                </a:lnTo>
                <a:cubicBezTo>
                  <a:pt x="356585" y="341312"/>
                  <a:pt x="369497" y="328417"/>
                  <a:pt x="369497" y="312546"/>
                </a:cubicBezTo>
                <a:lnTo>
                  <a:pt x="369497" y="243110"/>
                </a:lnTo>
                <a:cubicBezTo>
                  <a:pt x="369497" y="198472"/>
                  <a:pt x="332746" y="162762"/>
                  <a:pt x="289042" y="162762"/>
                </a:cubicBezTo>
                <a:close/>
                <a:moveTo>
                  <a:pt x="127139" y="99278"/>
                </a:moveTo>
                <a:lnTo>
                  <a:pt x="293015" y="99278"/>
                </a:lnTo>
                <a:cubicBezTo>
                  <a:pt x="363538" y="99278"/>
                  <a:pt x="420154" y="155819"/>
                  <a:pt x="420154" y="226247"/>
                </a:cubicBezTo>
                <a:lnTo>
                  <a:pt x="420154" y="486136"/>
                </a:lnTo>
                <a:cubicBezTo>
                  <a:pt x="420154" y="511926"/>
                  <a:pt x="404262" y="532757"/>
                  <a:pt x="382410" y="541685"/>
                </a:cubicBezTo>
                <a:lnTo>
                  <a:pt x="382410" y="561524"/>
                </a:lnTo>
                <a:cubicBezTo>
                  <a:pt x="382410" y="587314"/>
                  <a:pt x="360558" y="608145"/>
                  <a:pt x="334733" y="608145"/>
                </a:cubicBezTo>
                <a:lnTo>
                  <a:pt x="326786" y="608145"/>
                </a:lnTo>
                <a:cubicBezTo>
                  <a:pt x="300961" y="608145"/>
                  <a:pt x="280103" y="587314"/>
                  <a:pt x="280103" y="561524"/>
                </a:cubicBezTo>
                <a:lnTo>
                  <a:pt x="280103" y="544661"/>
                </a:lnTo>
                <a:lnTo>
                  <a:pt x="140051" y="544661"/>
                </a:lnTo>
                <a:lnTo>
                  <a:pt x="140051" y="561524"/>
                </a:lnTo>
                <a:cubicBezTo>
                  <a:pt x="140051" y="587314"/>
                  <a:pt x="118199" y="608145"/>
                  <a:pt x="92374" y="608145"/>
                </a:cubicBezTo>
                <a:lnTo>
                  <a:pt x="84428" y="608145"/>
                </a:lnTo>
                <a:cubicBezTo>
                  <a:pt x="58603" y="608145"/>
                  <a:pt x="37744" y="587314"/>
                  <a:pt x="37744" y="561524"/>
                </a:cubicBezTo>
                <a:lnTo>
                  <a:pt x="37744" y="541685"/>
                </a:lnTo>
                <a:cubicBezTo>
                  <a:pt x="14899" y="532757"/>
                  <a:pt x="0" y="511926"/>
                  <a:pt x="0" y="486136"/>
                </a:cubicBezTo>
                <a:lnTo>
                  <a:pt x="0" y="226247"/>
                </a:lnTo>
                <a:cubicBezTo>
                  <a:pt x="0" y="155819"/>
                  <a:pt x="56616" y="99278"/>
                  <a:pt x="127139" y="99278"/>
                </a:cubicBezTo>
                <a:close/>
                <a:moveTo>
                  <a:pt x="408232" y="74504"/>
                </a:moveTo>
                <a:cubicBezTo>
                  <a:pt x="413203" y="72520"/>
                  <a:pt x="419168" y="72520"/>
                  <a:pt x="424139" y="75495"/>
                </a:cubicBezTo>
                <a:cubicBezTo>
                  <a:pt x="464901" y="96324"/>
                  <a:pt x="489755" y="139964"/>
                  <a:pt x="486772" y="185587"/>
                </a:cubicBezTo>
                <a:cubicBezTo>
                  <a:pt x="486772" y="190546"/>
                  <a:pt x="483790" y="195505"/>
                  <a:pt x="479813" y="199473"/>
                </a:cubicBezTo>
                <a:cubicBezTo>
                  <a:pt x="475836" y="202448"/>
                  <a:pt x="469871" y="203440"/>
                  <a:pt x="464901" y="202448"/>
                </a:cubicBezTo>
                <a:lnTo>
                  <a:pt x="462912" y="201456"/>
                </a:lnTo>
                <a:cubicBezTo>
                  <a:pt x="453965" y="199473"/>
                  <a:pt x="448994" y="191538"/>
                  <a:pt x="448994" y="183604"/>
                </a:cubicBezTo>
                <a:cubicBezTo>
                  <a:pt x="450982" y="152857"/>
                  <a:pt x="434081" y="123103"/>
                  <a:pt x="406244" y="109217"/>
                </a:cubicBezTo>
                <a:cubicBezTo>
                  <a:pt x="399285" y="105250"/>
                  <a:pt x="395308" y="97315"/>
                  <a:pt x="397296" y="89381"/>
                </a:cubicBezTo>
                <a:lnTo>
                  <a:pt x="398291" y="87397"/>
                </a:lnTo>
                <a:cubicBezTo>
                  <a:pt x="399285" y="81446"/>
                  <a:pt x="403261" y="77479"/>
                  <a:pt x="408232" y="74504"/>
                </a:cubicBezTo>
                <a:close/>
                <a:moveTo>
                  <a:pt x="439969" y="1081"/>
                </a:moveTo>
                <a:cubicBezTo>
                  <a:pt x="522425" y="32821"/>
                  <a:pt x="572097" y="118123"/>
                  <a:pt x="560176" y="205408"/>
                </a:cubicBezTo>
                <a:cubicBezTo>
                  <a:pt x="559182" y="210367"/>
                  <a:pt x="556202" y="214335"/>
                  <a:pt x="552228" y="217311"/>
                </a:cubicBezTo>
                <a:cubicBezTo>
                  <a:pt x="548254" y="220286"/>
                  <a:pt x="542294" y="221278"/>
                  <a:pt x="537326" y="220286"/>
                </a:cubicBezTo>
                <a:lnTo>
                  <a:pt x="535340" y="219294"/>
                </a:lnTo>
                <a:cubicBezTo>
                  <a:pt x="526399" y="217311"/>
                  <a:pt x="520438" y="208384"/>
                  <a:pt x="522425" y="199457"/>
                </a:cubicBezTo>
                <a:cubicBezTo>
                  <a:pt x="531366" y="130025"/>
                  <a:pt x="491628" y="62577"/>
                  <a:pt x="426061" y="36788"/>
                </a:cubicBezTo>
                <a:cubicBezTo>
                  <a:pt x="418113" y="33813"/>
                  <a:pt x="413146" y="24886"/>
                  <a:pt x="416126" y="15959"/>
                </a:cubicBezTo>
                <a:lnTo>
                  <a:pt x="416126" y="13975"/>
                </a:lnTo>
                <a:cubicBezTo>
                  <a:pt x="417120" y="9016"/>
                  <a:pt x="421094" y="4056"/>
                  <a:pt x="425067" y="2073"/>
                </a:cubicBezTo>
                <a:cubicBezTo>
                  <a:pt x="430035" y="89"/>
                  <a:pt x="435002" y="-903"/>
                  <a:pt x="439969" y="1081"/>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endParaRPr lang="zh-CN" altLang="en-US">
              <a:solidFill>
                <a:srgbClr val="000000"/>
              </a:solidFill>
              <a:latin typeface="Arial" panose="020F0502020204030204"/>
              <a:ea typeface="微软雅黑"/>
              <a:cs typeface="+mn-ea"/>
              <a:sym typeface="+mn-lt"/>
            </a:endParaRPr>
          </a:p>
        </p:txBody>
      </p:sp>
      <p:sp>
        <p:nvSpPr>
          <p:cNvPr id="42" name="ïslíḓé">
            <a:extLst>
              <a:ext uri="{FF2B5EF4-FFF2-40B4-BE49-F238E27FC236}">
                <a16:creationId xmlns:a16="http://schemas.microsoft.com/office/drawing/2014/main" id="{E31ED9B2-AA71-E365-D302-5299BB4485A9}"/>
              </a:ext>
            </a:extLst>
          </p:cNvPr>
          <p:cNvSpPr/>
          <p:nvPr/>
        </p:nvSpPr>
        <p:spPr bwMode="auto">
          <a:xfrm>
            <a:off x="5815461" y="5339493"/>
            <a:ext cx="363264" cy="320996"/>
          </a:xfrm>
          <a:custGeom>
            <a:avLst/>
            <a:gdLst>
              <a:gd name="connsiteX0" fmla="*/ 494452 w 603405"/>
              <a:gd name="connsiteY0" fmla="*/ 356003 h 533193"/>
              <a:gd name="connsiteX1" fmla="*/ 585270 w 603405"/>
              <a:gd name="connsiteY1" fmla="*/ 356003 h 533193"/>
              <a:gd name="connsiteX2" fmla="*/ 601782 w 603405"/>
              <a:gd name="connsiteY2" fmla="*/ 372480 h 533193"/>
              <a:gd name="connsiteX3" fmla="*/ 585270 w 603405"/>
              <a:gd name="connsiteY3" fmla="*/ 388957 h 533193"/>
              <a:gd name="connsiteX4" fmla="*/ 494452 w 603405"/>
              <a:gd name="connsiteY4" fmla="*/ 388957 h 533193"/>
              <a:gd name="connsiteX5" fmla="*/ 367511 w 603405"/>
              <a:gd name="connsiteY5" fmla="*/ 244227 h 533193"/>
              <a:gd name="connsiteX6" fmla="*/ 443780 w 603405"/>
              <a:gd name="connsiteY6" fmla="*/ 244227 h 533193"/>
              <a:gd name="connsiteX7" fmla="*/ 477411 w 603405"/>
              <a:gd name="connsiteY7" fmla="*/ 277633 h 533193"/>
              <a:gd name="connsiteX8" fmla="*/ 477861 w 603405"/>
              <a:gd name="connsiteY8" fmla="*/ 381744 h 533193"/>
              <a:gd name="connsiteX9" fmla="*/ 463748 w 603405"/>
              <a:gd name="connsiteY9" fmla="*/ 395975 h 533193"/>
              <a:gd name="connsiteX10" fmla="*/ 449486 w 603405"/>
              <a:gd name="connsiteY10" fmla="*/ 381894 h 533193"/>
              <a:gd name="connsiteX11" fmla="*/ 449035 w 603405"/>
              <a:gd name="connsiteY11" fmla="*/ 277782 h 533193"/>
              <a:gd name="connsiteX12" fmla="*/ 446033 w 603405"/>
              <a:gd name="connsiteY12" fmla="*/ 274786 h 533193"/>
              <a:gd name="connsiteX13" fmla="*/ 443030 w 603405"/>
              <a:gd name="connsiteY13" fmla="*/ 277782 h 533193"/>
              <a:gd name="connsiteX14" fmla="*/ 443330 w 603405"/>
              <a:gd name="connsiteY14" fmla="*/ 516116 h 533193"/>
              <a:gd name="connsiteX15" fmla="*/ 426215 w 603405"/>
              <a:gd name="connsiteY15" fmla="*/ 533193 h 533193"/>
              <a:gd name="connsiteX16" fmla="*/ 409249 w 603405"/>
              <a:gd name="connsiteY16" fmla="*/ 516116 h 533193"/>
              <a:gd name="connsiteX17" fmla="*/ 409249 w 603405"/>
              <a:gd name="connsiteY17" fmla="*/ 380096 h 533193"/>
              <a:gd name="connsiteX18" fmla="*/ 401893 w 603405"/>
              <a:gd name="connsiteY18" fmla="*/ 380096 h 533193"/>
              <a:gd name="connsiteX19" fmla="*/ 401893 w 603405"/>
              <a:gd name="connsiteY19" fmla="*/ 516116 h 533193"/>
              <a:gd name="connsiteX20" fmla="*/ 384778 w 603405"/>
              <a:gd name="connsiteY20" fmla="*/ 533193 h 533193"/>
              <a:gd name="connsiteX21" fmla="*/ 367812 w 603405"/>
              <a:gd name="connsiteY21" fmla="*/ 516116 h 533193"/>
              <a:gd name="connsiteX22" fmla="*/ 367812 w 603405"/>
              <a:gd name="connsiteY22" fmla="*/ 380096 h 533193"/>
              <a:gd name="connsiteX23" fmla="*/ 367812 w 603405"/>
              <a:gd name="connsiteY23" fmla="*/ 277782 h 533193"/>
              <a:gd name="connsiteX24" fmla="*/ 364959 w 603405"/>
              <a:gd name="connsiteY24" fmla="*/ 274936 h 533193"/>
              <a:gd name="connsiteX25" fmla="*/ 362257 w 603405"/>
              <a:gd name="connsiteY25" fmla="*/ 277782 h 533193"/>
              <a:gd name="connsiteX26" fmla="*/ 361656 w 603405"/>
              <a:gd name="connsiteY26" fmla="*/ 381894 h 533193"/>
              <a:gd name="connsiteX27" fmla="*/ 347544 w 603405"/>
              <a:gd name="connsiteY27" fmla="*/ 395975 h 533193"/>
              <a:gd name="connsiteX28" fmla="*/ 347393 w 603405"/>
              <a:gd name="connsiteY28" fmla="*/ 395975 h 533193"/>
              <a:gd name="connsiteX29" fmla="*/ 333281 w 603405"/>
              <a:gd name="connsiteY29" fmla="*/ 381744 h 533193"/>
              <a:gd name="connsiteX30" fmla="*/ 333881 w 603405"/>
              <a:gd name="connsiteY30" fmla="*/ 277633 h 533193"/>
              <a:gd name="connsiteX31" fmla="*/ 367511 w 603405"/>
              <a:gd name="connsiteY31" fmla="*/ 244227 h 533193"/>
              <a:gd name="connsiteX32" fmla="*/ 201525 w 603405"/>
              <a:gd name="connsiteY32" fmla="*/ 244227 h 533193"/>
              <a:gd name="connsiteX33" fmla="*/ 277906 w 603405"/>
              <a:gd name="connsiteY33" fmla="*/ 244227 h 533193"/>
              <a:gd name="connsiteX34" fmla="*/ 311520 w 603405"/>
              <a:gd name="connsiteY34" fmla="*/ 277633 h 533193"/>
              <a:gd name="connsiteX35" fmla="*/ 311970 w 603405"/>
              <a:gd name="connsiteY35" fmla="*/ 381744 h 533193"/>
              <a:gd name="connsiteX36" fmla="*/ 297864 w 603405"/>
              <a:gd name="connsiteY36" fmla="*/ 395975 h 533193"/>
              <a:gd name="connsiteX37" fmla="*/ 297714 w 603405"/>
              <a:gd name="connsiteY37" fmla="*/ 395975 h 533193"/>
              <a:gd name="connsiteX38" fmla="*/ 283608 w 603405"/>
              <a:gd name="connsiteY38" fmla="*/ 381894 h 533193"/>
              <a:gd name="connsiteX39" fmla="*/ 283008 w 603405"/>
              <a:gd name="connsiteY39" fmla="*/ 277782 h 533193"/>
              <a:gd name="connsiteX40" fmla="*/ 280007 w 603405"/>
              <a:gd name="connsiteY40" fmla="*/ 274786 h 533193"/>
              <a:gd name="connsiteX41" fmla="*/ 277156 w 603405"/>
              <a:gd name="connsiteY41" fmla="*/ 277782 h 533193"/>
              <a:gd name="connsiteX42" fmla="*/ 277456 w 603405"/>
              <a:gd name="connsiteY42" fmla="*/ 516116 h 533193"/>
              <a:gd name="connsiteX43" fmla="*/ 260349 w 603405"/>
              <a:gd name="connsiteY43" fmla="*/ 533193 h 533193"/>
              <a:gd name="connsiteX44" fmla="*/ 243242 w 603405"/>
              <a:gd name="connsiteY44" fmla="*/ 516116 h 533193"/>
              <a:gd name="connsiteX45" fmla="*/ 243242 w 603405"/>
              <a:gd name="connsiteY45" fmla="*/ 380096 h 533193"/>
              <a:gd name="connsiteX46" fmla="*/ 235889 w 603405"/>
              <a:gd name="connsiteY46" fmla="*/ 380096 h 533193"/>
              <a:gd name="connsiteX47" fmla="*/ 235889 w 603405"/>
              <a:gd name="connsiteY47" fmla="*/ 516116 h 533193"/>
              <a:gd name="connsiteX48" fmla="*/ 218932 w 603405"/>
              <a:gd name="connsiteY48" fmla="*/ 533193 h 533193"/>
              <a:gd name="connsiteX49" fmla="*/ 201825 w 603405"/>
              <a:gd name="connsiteY49" fmla="*/ 516116 h 533193"/>
              <a:gd name="connsiteX50" fmla="*/ 201825 w 603405"/>
              <a:gd name="connsiteY50" fmla="*/ 380096 h 533193"/>
              <a:gd name="connsiteX51" fmla="*/ 201825 w 603405"/>
              <a:gd name="connsiteY51" fmla="*/ 277782 h 533193"/>
              <a:gd name="connsiteX52" fmla="*/ 199124 w 603405"/>
              <a:gd name="connsiteY52" fmla="*/ 274936 h 533193"/>
              <a:gd name="connsiteX53" fmla="*/ 196423 w 603405"/>
              <a:gd name="connsiteY53" fmla="*/ 277782 h 533193"/>
              <a:gd name="connsiteX54" fmla="*/ 195822 w 603405"/>
              <a:gd name="connsiteY54" fmla="*/ 381894 h 533193"/>
              <a:gd name="connsiteX55" fmla="*/ 181567 w 603405"/>
              <a:gd name="connsiteY55" fmla="*/ 395975 h 533193"/>
              <a:gd name="connsiteX56" fmla="*/ 167461 w 603405"/>
              <a:gd name="connsiteY56" fmla="*/ 381744 h 533193"/>
              <a:gd name="connsiteX57" fmla="*/ 167911 w 603405"/>
              <a:gd name="connsiteY57" fmla="*/ 277633 h 533193"/>
              <a:gd name="connsiteX58" fmla="*/ 201525 w 603405"/>
              <a:gd name="connsiteY58" fmla="*/ 244227 h 533193"/>
              <a:gd name="connsiteX59" fmla="*/ 34214 w 603405"/>
              <a:gd name="connsiteY59" fmla="*/ 244227 h 533193"/>
              <a:gd name="connsiteX60" fmla="*/ 110445 w 603405"/>
              <a:gd name="connsiteY60" fmla="*/ 244227 h 533193"/>
              <a:gd name="connsiteX61" fmla="*/ 144059 w 603405"/>
              <a:gd name="connsiteY61" fmla="*/ 277633 h 533193"/>
              <a:gd name="connsiteX62" fmla="*/ 144509 w 603405"/>
              <a:gd name="connsiteY62" fmla="*/ 381744 h 533193"/>
              <a:gd name="connsiteX63" fmla="*/ 130403 w 603405"/>
              <a:gd name="connsiteY63" fmla="*/ 395975 h 533193"/>
              <a:gd name="connsiteX64" fmla="*/ 116147 w 603405"/>
              <a:gd name="connsiteY64" fmla="*/ 381894 h 533193"/>
              <a:gd name="connsiteX65" fmla="*/ 115697 w 603405"/>
              <a:gd name="connsiteY65" fmla="*/ 277782 h 533193"/>
              <a:gd name="connsiteX66" fmla="*/ 112696 w 603405"/>
              <a:gd name="connsiteY66" fmla="*/ 274786 h 533193"/>
              <a:gd name="connsiteX67" fmla="*/ 109694 w 603405"/>
              <a:gd name="connsiteY67" fmla="*/ 277782 h 533193"/>
              <a:gd name="connsiteX68" fmla="*/ 109995 w 603405"/>
              <a:gd name="connsiteY68" fmla="*/ 516116 h 533193"/>
              <a:gd name="connsiteX69" fmla="*/ 92888 w 603405"/>
              <a:gd name="connsiteY69" fmla="*/ 533193 h 533193"/>
              <a:gd name="connsiteX70" fmla="*/ 75931 w 603405"/>
              <a:gd name="connsiteY70" fmla="*/ 516116 h 533193"/>
              <a:gd name="connsiteX71" fmla="*/ 75931 w 603405"/>
              <a:gd name="connsiteY71" fmla="*/ 380096 h 533193"/>
              <a:gd name="connsiteX72" fmla="*/ 68578 w 603405"/>
              <a:gd name="connsiteY72" fmla="*/ 380096 h 533193"/>
              <a:gd name="connsiteX73" fmla="*/ 68578 w 603405"/>
              <a:gd name="connsiteY73" fmla="*/ 516116 h 533193"/>
              <a:gd name="connsiteX74" fmla="*/ 51471 w 603405"/>
              <a:gd name="connsiteY74" fmla="*/ 533193 h 533193"/>
              <a:gd name="connsiteX75" fmla="*/ 34364 w 603405"/>
              <a:gd name="connsiteY75" fmla="*/ 516116 h 533193"/>
              <a:gd name="connsiteX76" fmla="*/ 34364 w 603405"/>
              <a:gd name="connsiteY76" fmla="*/ 380096 h 533193"/>
              <a:gd name="connsiteX77" fmla="*/ 34364 w 603405"/>
              <a:gd name="connsiteY77" fmla="*/ 277782 h 533193"/>
              <a:gd name="connsiteX78" fmla="*/ 31663 w 603405"/>
              <a:gd name="connsiteY78" fmla="*/ 275086 h 533193"/>
              <a:gd name="connsiteX79" fmla="*/ 28962 w 603405"/>
              <a:gd name="connsiteY79" fmla="*/ 277782 h 533193"/>
              <a:gd name="connsiteX80" fmla="*/ 28361 w 603405"/>
              <a:gd name="connsiteY80" fmla="*/ 381894 h 533193"/>
              <a:gd name="connsiteX81" fmla="*/ 14256 w 603405"/>
              <a:gd name="connsiteY81" fmla="*/ 395975 h 533193"/>
              <a:gd name="connsiteX82" fmla="*/ 14106 w 603405"/>
              <a:gd name="connsiteY82" fmla="*/ 395975 h 533193"/>
              <a:gd name="connsiteX83" fmla="*/ 0 w 603405"/>
              <a:gd name="connsiteY83" fmla="*/ 381744 h 533193"/>
              <a:gd name="connsiteX84" fmla="*/ 600 w 603405"/>
              <a:gd name="connsiteY84" fmla="*/ 277633 h 533193"/>
              <a:gd name="connsiteX85" fmla="*/ 34214 w 603405"/>
              <a:gd name="connsiteY85" fmla="*/ 244227 h 533193"/>
              <a:gd name="connsiteX86" fmla="*/ 298774 w 603405"/>
              <a:gd name="connsiteY86" fmla="*/ 232090 h 533193"/>
              <a:gd name="connsiteX87" fmla="*/ 346547 w 603405"/>
              <a:gd name="connsiteY87" fmla="*/ 232090 h 533193"/>
              <a:gd name="connsiteX88" fmla="*/ 322660 w 603405"/>
              <a:gd name="connsiteY88" fmla="*/ 254883 h 533193"/>
              <a:gd name="connsiteX89" fmla="*/ 298774 w 603405"/>
              <a:gd name="connsiteY89" fmla="*/ 232090 h 533193"/>
              <a:gd name="connsiteX90" fmla="*/ 405716 w 603405"/>
              <a:gd name="connsiteY90" fmla="*/ 176061 h 533193"/>
              <a:gd name="connsiteX91" fmla="*/ 435177 w 603405"/>
              <a:gd name="connsiteY91" fmla="*/ 205417 h 533193"/>
              <a:gd name="connsiteX92" fmla="*/ 405716 w 603405"/>
              <a:gd name="connsiteY92" fmla="*/ 234773 h 533193"/>
              <a:gd name="connsiteX93" fmla="*/ 376255 w 603405"/>
              <a:gd name="connsiteY93" fmla="*/ 205417 h 533193"/>
              <a:gd name="connsiteX94" fmla="*/ 405716 w 603405"/>
              <a:gd name="connsiteY94" fmla="*/ 176061 h 533193"/>
              <a:gd name="connsiteX95" fmla="*/ 239817 w 603405"/>
              <a:gd name="connsiteY95" fmla="*/ 176061 h 533193"/>
              <a:gd name="connsiteX96" fmla="*/ 269208 w 603405"/>
              <a:gd name="connsiteY96" fmla="*/ 205417 h 533193"/>
              <a:gd name="connsiteX97" fmla="*/ 239817 w 603405"/>
              <a:gd name="connsiteY97" fmla="*/ 234773 h 533193"/>
              <a:gd name="connsiteX98" fmla="*/ 210426 w 603405"/>
              <a:gd name="connsiteY98" fmla="*/ 205417 h 533193"/>
              <a:gd name="connsiteX99" fmla="*/ 239817 w 603405"/>
              <a:gd name="connsiteY99" fmla="*/ 176061 h 533193"/>
              <a:gd name="connsiteX100" fmla="*/ 72325 w 603405"/>
              <a:gd name="connsiteY100" fmla="*/ 176061 h 533193"/>
              <a:gd name="connsiteX101" fmla="*/ 101897 w 603405"/>
              <a:gd name="connsiteY101" fmla="*/ 205416 h 533193"/>
              <a:gd name="connsiteX102" fmla="*/ 72325 w 603405"/>
              <a:gd name="connsiteY102" fmla="*/ 234772 h 533193"/>
              <a:gd name="connsiteX103" fmla="*/ 42904 w 603405"/>
              <a:gd name="connsiteY103" fmla="*/ 205416 h 533193"/>
              <a:gd name="connsiteX104" fmla="*/ 72325 w 603405"/>
              <a:gd name="connsiteY104" fmla="*/ 176061 h 533193"/>
              <a:gd name="connsiteX105" fmla="*/ 1200 w 603405"/>
              <a:gd name="connsiteY105" fmla="*/ 56241 h 533193"/>
              <a:gd name="connsiteX106" fmla="*/ 384613 w 603405"/>
              <a:gd name="connsiteY106" fmla="*/ 56241 h 533193"/>
              <a:gd name="connsiteX107" fmla="*/ 603405 w 603405"/>
              <a:gd name="connsiteY107" fmla="*/ 274494 h 533193"/>
              <a:gd name="connsiteX108" fmla="*/ 540979 w 603405"/>
              <a:gd name="connsiteY108" fmla="*/ 336809 h 533193"/>
              <a:gd name="connsiteX109" fmla="*/ 494459 w 603405"/>
              <a:gd name="connsiteY109" fmla="*/ 336809 h 533193"/>
              <a:gd name="connsiteX110" fmla="*/ 494159 w 603405"/>
              <a:gd name="connsiteY110" fmla="*/ 277490 h 533193"/>
              <a:gd name="connsiteX111" fmla="*/ 464747 w 603405"/>
              <a:gd name="connsiteY111" fmla="*/ 232102 h 533193"/>
              <a:gd name="connsiteX112" fmla="*/ 551333 w 603405"/>
              <a:gd name="connsiteY112" fmla="*/ 232102 h 533193"/>
              <a:gd name="connsiteX113" fmla="*/ 551483 w 603405"/>
              <a:gd name="connsiteY113" fmla="*/ 232102 h 533193"/>
              <a:gd name="connsiteX114" fmla="*/ 557636 w 603405"/>
              <a:gd name="connsiteY114" fmla="*/ 228806 h 533193"/>
              <a:gd name="connsiteX115" fmla="*/ 558236 w 603405"/>
              <a:gd name="connsiteY115" fmla="*/ 221766 h 533193"/>
              <a:gd name="connsiteX116" fmla="*/ 504663 w 603405"/>
              <a:gd name="connsiteY116" fmla="*/ 136532 h 533193"/>
              <a:gd name="connsiteX117" fmla="*/ 415676 w 603405"/>
              <a:gd name="connsiteY117" fmla="*/ 97585 h 533193"/>
              <a:gd name="connsiteX118" fmla="*/ 397968 w 603405"/>
              <a:gd name="connsiteY118" fmla="*/ 97585 h 533193"/>
              <a:gd name="connsiteX119" fmla="*/ 397968 w 603405"/>
              <a:gd name="connsiteY119" fmla="*/ 159900 h 533193"/>
              <a:gd name="connsiteX120" fmla="*/ 364954 w 603405"/>
              <a:gd name="connsiteY120" fmla="*/ 183568 h 533193"/>
              <a:gd name="connsiteX121" fmla="*/ 364954 w 603405"/>
              <a:gd name="connsiteY121" fmla="*/ 97585 h 533193"/>
              <a:gd name="connsiteX122" fmla="*/ 174223 w 603405"/>
              <a:gd name="connsiteY122" fmla="*/ 97585 h 533193"/>
              <a:gd name="connsiteX123" fmla="*/ 174223 w 603405"/>
              <a:gd name="connsiteY123" fmla="*/ 232102 h 533193"/>
              <a:gd name="connsiteX124" fmla="*/ 180526 w 603405"/>
              <a:gd name="connsiteY124" fmla="*/ 232102 h 533193"/>
              <a:gd name="connsiteX125" fmla="*/ 174223 w 603405"/>
              <a:gd name="connsiteY125" fmla="*/ 235547 h 533193"/>
              <a:gd name="connsiteX126" fmla="*/ 156065 w 603405"/>
              <a:gd name="connsiteY126" fmla="*/ 256369 h 533193"/>
              <a:gd name="connsiteX127" fmla="*/ 141209 w 603405"/>
              <a:gd name="connsiteY127" fmla="*/ 238093 h 533193"/>
              <a:gd name="connsiteX128" fmla="*/ 131455 w 603405"/>
              <a:gd name="connsiteY128" fmla="*/ 232102 h 533193"/>
              <a:gd name="connsiteX129" fmla="*/ 141209 w 603405"/>
              <a:gd name="connsiteY129" fmla="*/ 232102 h 533193"/>
              <a:gd name="connsiteX130" fmla="*/ 141209 w 603405"/>
              <a:gd name="connsiteY130" fmla="*/ 97585 h 533193"/>
              <a:gd name="connsiteX131" fmla="*/ 1200 w 603405"/>
              <a:gd name="connsiteY131" fmla="*/ 97585 h 533193"/>
              <a:gd name="connsiteX132" fmla="*/ 30337 w 603405"/>
              <a:gd name="connsiteY132" fmla="*/ 0 h 533193"/>
              <a:gd name="connsiteX133" fmla="*/ 450496 w 603405"/>
              <a:gd name="connsiteY133" fmla="*/ 0 h 533193"/>
              <a:gd name="connsiteX134" fmla="*/ 467002 w 603405"/>
              <a:gd name="connsiteY134" fmla="*/ 16512 h 533193"/>
              <a:gd name="connsiteX135" fmla="*/ 450496 w 603405"/>
              <a:gd name="connsiteY135" fmla="*/ 33025 h 533193"/>
              <a:gd name="connsiteX136" fmla="*/ 30337 w 603405"/>
              <a:gd name="connsiteY136" fmla="*/ 33025 h 533193"/>
              <a:gd name="connsiteX137" fmla="*/ 13831 w 603405"/>
              <a:gd name="connsiteY137" fmla="*/ 16512 h 533193"/>
              <a:gd name="connsiteX138" fmla="*/ 30337 w 603405"/>
              <a:gd name="connsiteY138" fmla="*/ 0 h 533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603405" h="533193">
                <a:moveTo>
                  <a:pt x="494452" y="356003"/>
                </a:moveTo>
                <a:lnTo>
                  <a:pt x="585270" y="356003"/>
                </a:lnTo>
                <a:cubicBezTo>
                  <a:pt x="594277" y="356003"/>
                  <a:pt x="601782" y="363343"/>
                  <a:pt x="601782" y="372480"/>
                </a:cubicBezTo>
                <a:cubicBezTo>
                  <a:pt x="601782" y="381617"/>
                  <a:pt x="594277" y="388957"/>
                  <a:pt x="585270" y="388957"/>
                </a:cubicBezTo>
                <a:lnTo>
                  <a:pt x="494452" y="388957"/>
                </a:lnTo>
                <a:close/>
                <a:moveTo>
                  <a:pt x="367511" y="244227"/>
                </a:moveTo>
                <a:lnTo>
                  <a:pt x="443780" y="244227"/>
                </a:lnTo>
                <a:cubicBezTo>
                  <a:pt x="462247" y="244227"/>
                  <a:pt x="477261" y="259207"/>
                  <a:pt x="477411" y="277633"/>
                </a:cubicBezTo>
                <a:lnTo>
                  <a:pt x="477861" y="381744"/>
                </a:lnTo>
                <a:cubicBezTo>
                  <a:pt x="478011" y="389534"/>
                  <a:pt x="471706" y="395975"/>
                  <a:pt x="463748" y="395975"/>
                </a:cubicBezTo>
                <a:cubicBezTo>
                  <a:pt x="455941" y="395975"/>
                  <a:pt x="449486" y="389684"/>
                  <a:pt x="449486" y="381894"/>
                </a:cubicBezTo>
                <a:lnTo>
                  <a:pt x="449035" y="277782"/>
                </a:lnTo>
                <a:cubicBezTo>
                  <a:pt x="449035" y="276135"/>
                  <a:pt x="447684" y="274786"/>
                  <a:pt x="446033" y="274786"/>
                </a:cubicBezTo>
                <a:cubicBezTo>
                  <a:pt x="444381" y="274786"/>
                  <a:pt x="443030" y="276135"/>
                  <a:pt x="443030" y="277782"/>
                </a:cubicBezTo>
                <a:cubicBezTo>
                  <a:pt x="443030" y="419944"/>
                  <a:pt x="443330" y="291115"/>
                  <a:pt x="443330" y="516116"/>
                </a:cubicBezTo>
                <a:cubicBezTo>
                  <a:pt x="443330" y="525553"/>
                  <a:pt x="435673" y="533193"/>
                  <a:pt x="426215" y="533193"/>
                </a:cubicBezTo>
                <a:cubicBezTo>
                  <a:pt x="416906" y="533193"/>
                  <a:pt x="409249" y="525553"/>
                  <a:pt x="409249" y="516116"/>
                </a:cubicBezTo>
                <a:lnTo>
                  <a:pt x="409249" y="380096"/>
                </a:lnTo>
                <a:lnTo>
                  <a:pt x="401893" y="380096"/>
                </a:lnTo>
                <a:lnTo>
                  <a:pt x="401893" y="516116"/>
                </a:lnTo>
                <a:cubicBezTo>
                  <a:pt x="401893" y="525553"/>
                  <a:pt x="394236" y="533193"/>
                  <a:pt x="384778" y="533193"/>
                </a:cubicBezTo>
                <a:cubicBezTo>
                  <a:pt x="375319" y="533193"/>
                  <a:pt x="367812" y="525553"/>
                  <a:pt x="367812" y="516116"/>
                </a:cubicBezTo>
                <a:lnTo>
                  <a:pt x="367812" y="380096"/>
                </a:lnTo>
                <a:lnTo>
                  <a:pt x="367812" y="277782"/>
                </a:lnTo>
                <a:cubicBezTo>
                  <a:pt x="367812" y="276284"/>
                  <a:pt x="366461" y="274936"/>
                  <a:pt x="364959" y="274936"/>
                </a:cubicBezTo>
                <a:cubicBezTo>
                  <a:pt x="363458" y="274936"/>
                  <a:pt x="362257" y="276284"/>
                  <a:pt x="362257" y="277782"/>
                </a:cubicBezTo>
                <a:lnTo>
                  <a:pt x="361656" y="381894"/>
                </a:lnTo>
                <a:cubicBezTo>
                  <a:pt x="361656" y="389684"/>
                  <a:pt x="355351" y="395975"/>
                  <a:pt x="347544" y="395975"/>
                </a:cubicBezTo>
                <a:lnTo>
                  <a:pt x="347393" y="395975"/>
                </a:lnTo>
                <a:cubicBezTo>
                  <a:pt x="339586" y="395975"/>
                  <a:pt x="333281" y="389534"/>
                  <a:pt x="333281" y="381744"/>
                </a:cubicBezTo>
                <a:lnTo>
                  <a:pt x="333881" y="277633"/>
                </a:lnTo>
                <a:cubicBezTo>
                  <a:pt x="333881" y="259207"/>
                  <a:pt x="349045" y="244227"/>
                  <a:pt x="367511" y="244227"/>
                </a:cubicBezTo>
                <a:close/>
                <a:moveTo>
                  <a:pt x="201525" y="244227"/>
                </a:moveTo>
                <a:lnTo>
                  <a:pt x="277906" y="244227"/>
                </a:lnTo>
                <a:cubicBezTo>
                  <a:pt x="296213" y="244227"/>
                  <a:pt x="311370" y="259207"/>
                  <a:pt x="311520" y="277633"/>
                </a:cubicBezTo>
                <a:lnTo>
                  <a:pt x="311970" y="381744"/>
                </a:lnTo>
                <a:cubicBezTo>
                  <a:pt x="311970" y="389534"/>
                  <a:pt x="305667" y="395975"/>
                  <a:pt x="297864" y="395975"/>
                </a:cubicBezTo>
                <a:lnTo>
                  <a:pt x="297714" y="395975"/>
                </a:lnTo>
                <a:cubicBezTo>
                  <a:pt x="289911" y="395975"/>
                  <a:pt x="283608" y="389684"/>
                  <a:pt x="283608" y="381894"/>
                </a:cubicBezTo>
                <a:lnTo>
                  <a:pt x="283008" y="277782"/>
                </a:lnTo>
                <a:cubicBezTo>
                  <a:pt x="283008" y="276135"/>
                  <a:pt x="281657" y="274786"/>
                  <a:pt x="280007" y="274786"/>
                </a:cubicBezTo>
                <a:cubicBezTo>
                  <a:pt x="278356" y="274786"/>
                  <a:pt x="277156" y="276135"/>
                  <a:pt x="277156" y="277782"/>
                </a:cubicBezTo>
                <a:cubicBezTo>
                  <a:pt x="277156" y="419944"/>
                  <a:pt x="277456" y="291115"/>
                  <a:pt x="277456" y="516116"/>
                </a:cubicBezTo>
                <a:cubicBezTo>
                  <a:pt x="277456" y="525553"/>
                  <a:pt x="269803" y="533193"/>
                  <a:pt x="260349" y="533193"/>
                </a:cubicBezTo>
                <a:cubicBezTo>
                  <a:pt x="250895" y="533193"/>
                  <a:pt x="243242" y="525553"/>
                  <a:pt x="243242" y="516116"/>
                </a:cubicBezTo>
                <a:lnTo>
                  <a:pt x="243242" y="380096"/>
                </a:lnTo>
                <a:lnTo>
                  <a:pt x="235889" y="380096"/>
                </a:lnTo>
                <a:lnTo>
                  <a:pt x="235889" y="516116"/>
                </a:lnTo>
                <a:cubicBezTo>
                  <a:pt x="235889" y="525553"/>
                  <a:pt x="228386" y="533193"/>
                  <a:pt x="218932" y="533193"/>
                </a:cubicBezTo>
                <a:cubicBezTo>
                  <a:pt x="209478" y="533193"/>
                  <a:pt x="201825" y="525553"/>
                  <a:pt x="201825" y="516116"/>
                </a:cubicBezTo>
                <a:lnTo>
                  <a:pt x="201825" y="380096"/>
                </a:lnTo>
                <a:lnTo>
                  <a:pt x="201825" y="277782"/>
                </a:lnTo>
                <a:cubicBezTo>
                  <a:pt x="201825" y="276284"/>
                  <a:pt x="200624" y="274936"/>
                  <a:pt x="199124" y="274936"/>
                </a:cubicBezTo>
                <a:cubicBezTo>
                  <a:pt x="197623" y="274936"/>
                  <a:pt x="196423" y="276284"/>
                  <a:pt x="196423" y="277782"/>
                </a:cubicBezTo>
                <a:lnTo>
                  <a:pt x="195822" y="381894"/>
                </a:lnTo>
                <a:cubicBezTo>
                  <a:pt x="195822" y="389684"/>
                  <a:pt x="189370" y="395975"/>
                  <a:pt x="181567" y="395975"/>
                </a:cubicBezTo>
                <a:cubicBezTo>
                  <a:pt x="173763" y="395975"/>
                  <a:pt x="167311" y="389534"/>
                  <a:pt x="167461" y="381744"/>
                </a:cubicBezTo>
                <a:lnTo>
                  <a:pt x="167911" y="277633"/>
                </a:lnTo>
                <a:cubicBezTo>
                  <a:pt x="168061" y="259207"/>
                  <a:pt x="183067" y="244227"/>
                  <a:pt x="201525" y="244227"/>
                </a:cubicBezTo>
                <a:close/>
                <a:moveTo>
                  <a:pt x="34214" y="244227"/>
                </a:moveTo>
                <a:lnTo>
                  <a:pt x="110445" y="244227"/>
                </a:lnTo>
                <a:cubicBezTo>
                  <a:pt x="128902" y="244227"/>
                  <a:pt x="143908" y="259207"/>
                  <a:pt x="144059" y="277633"/>
                </a:cubicBezTo>
                <a:lnTo>
                  <a:pt x="144509" y="381744"/>
                </a:lnTo>
                <a:cubicBezTo>
                  <a:pt x="144659" y="389534"/>
                  <a:pt x="138206" y="395975"/>
                  <a:pt x="130403" y="395975"/>
                </a:cubicBezTo>
                <a:cubicBezTo>
                  <a:pt x="122600" y="395975"/>
                  <a:pt x="116147" y="389684"/>
                  <a:pt x="116147" y="381894"/>
                </a:cubicBezTo>
                <a:lnTo>
                  <a:pt x="115697" y="277782"/>
                </a:lnTo>
                <a:cubicBezTo>
                  <a:pt x="115547" y="276135"/>
                  <a:pt x="114346" y="274786"/>
                  <a:pt x="112696" y="274786"/>
                </a:cubicBezTo>
                <a:cubicBezTo>
                  <a:pt x="111045" y="274786"/>
                  <a:pt x="109694" y="276135"/>
                  <a:pt x="109694" y="277782"/>
                </a:cubicBezTo>
                <a:cubicBezTo>
                  <a:pt x="109694" y="343695"/>
                  <a:pt x="109995" y="452450"/>
                  <a:pt x="109995" y="516116"/>
                </a:cubicBezTo>
                <a:cubicBezTo>
                  <a:pt x="109995" y="525553"/>
                  <a:pt x="102341" y="533193"/>
                  <a:pt x="92888" y="533193"/>
                </a:cubicBezTo>
                <a:cubicBezTo>
                  <a:pt x="83584" y="533193"/>
                  <a:pt x="75931" y="525553"/>
                  <a:pt x="75931" y="516116"/>
                </a:cubicBezTo>
                <a:lnTo>
                  <a:pt x="75931" y="380096"/>
                </a:lnTo>
                <a:lnTo>
                  <a:pt x="68578" y="380096"/>
                </a:lnTo>
                <a:lnTo>
                  <a:pt x="68578" y="516116"/>
                </a:lnTo>
                <a:cubicBezTo>
                  <a:pt x="68578" y="525553"/>
                  <a:pt x="60925" y="533193"/>
                  <a:pt x="51471" y="533193"/>
                </a:cubicBezTo>
                <a:cubicBezTo>
                  <a:pt x="42017" y="533193"/>
                  <a:pt x="34364" y="525553"/>
                  <a:pt x="34364" y="516116"/>
                </a:cubicBezTo>
                <a:lnTo>
                  <a:pt x="34364" y="380096"/>
                </a:lnTo>
                <a:lnTo>
                  <a:pt x="34364" y="277782"/>
                </a:lnTo>
                <a:cubicBezTo>
                  <a:pt x="34364" y="276284"/>
                  <a:pt x="33163" y="275086"/>
                  <a:pt x="31663" y="275086"/>
                </a:cubicBezTo>
                <a:cubicBezTo>
                  <a:pt x="30162" y="274936"/>
                  <a:pt x="28962" y="276284"/>
                  <a:pt x="28962" y="277782"/>
                </a:cubicBezTo>
                <a:lnTo>
                  <a:pt x="28361" y="381894"/>
                </a:lnTo>
                <a:cubicBezTo>
                  <a:pt x="28361" y="389684"/>
                  <a:pt x="22059" y="395975"/>
                  <a:pt x="14256" y="395975"/>
                </a:cubicBezTo>
                <a:lnTo>
                  <a:pt x="14106" y="395975"/>
                </a:lnTo>
                <a:cubicBezTo>
                  <a:pt x="6302" y="395975"/>
                  <a:pt x="0" y="389534"/>
                  <a:pt x="0" y="381744"/>
                </a:cubicBezTo>
                <a:lnTo>
                  <a:pt x="600" y="277633"/>
                </a:lnTo>
                <a:cubicBezTo>
                  <a:pt x="600" y="259207"/>
                  <a:pt x="15756" y="244227"/>
                  <a:pt x="34214" y="244227"/>
                </a:cubicBezTo>
                <a:close/>
                <a:moveTo>
                  <a:pt x="298774" y="232090"/>
                </a:moveTo>
                <a:lnTo>
                  <a:pt x="346547" y="232090"/>
                </a:lnTo>
                <a:cubicBezTo>
                  <a:pt x="336331" y="236739"/>
                  <a:pt x="327768" y="244836"/>
                  <a:pt x="322660" y="254883"/>
                </a:cubicBezTo>
                <a:cubicBezTo>
                  <a:pt x="317552" y="244836"/>
                  <a:pt x="309140" y="236739"/>
                  <a:pt x="298774" y="232090"/>
                </a:cubicBezTo>
                <a:close/>
                <a:moveTo>
                  <a:pt x="405716" y="176061"/>
                </a:moveTo>
                <a:cubicBezTo>
                  <a:pt x="421987" y="176061"/>
                  <a:pt x="435177" y="189204"/>
                  <a:pt x="435177" y="205417"/>
                </a:cubicBezTo>
                <a:cubicBezTo>
                  <a:pt x="435177" y="221630"/>
                  <a:pt x="421987" y="234773"/>
                  <a:pt x="405716" y="234773"/>
                </a:cubicBezTo>
                <a:cubicBezTo>
                  <a:pt x="389445" y="234773"/>
                  <a:pt x="376255" y="221630"/>
                  <a:pt x="376255" y="205417"/>
                </a:cubicBezTo>
                <a:cubicBezTo>
                  <a:pt x="376255" y="189204"/>
                  <a:pt x="389445" y="176061"/>
                  <a:pt x="405716" y="176061"/>
                </a:cubicBezTo>
                <a:close/>
                <a:moveTo>
                  <a:pt x="239817" y="176061"/>
                </a:moveTo>
                <a:cubicBezTo>
                  <a:pt x="256049" y="176061"/>
                  <a:pt x="269208" y="189204"/>
                  <a:pt x="269208" y="205417"/>
                </a:cubicBezTo>
                <a:cubicBezTo>
                  <a:pt x="269208" y="221630"/>
                  <a:pt x="256049" y="234773"/>
                  <a:pt x="239817" y="234773"/>
                </a:cubicBezTo>
                <a:cubicBezTo>
                  <a:pt x="223585" y="234773"/>
                  <a:pt x="210426" y="221630"/>
                  <a:pt x="210426" y="205417"/>
                </a:cubicBezTo>
                <a:cubicBezTo>
                  <a:pt x="210426" y="189204"/>
                  <a:pt x="223585" y="176061"/>
                  <a:pt x="239817" y="176061"/>
                </a:cubicBezTo>
                <a:close/>
                <a:moveTo>
                  <a:pt x="72325" y="176061"/>
                </a:moveTo>
                <a:cubicBezTo>
                  <a:pt x="88687" y="176061"/>
                  <a:pt x="101897" y="189241"/>
                  <a:pt x="101897" y="205416"/>
                </a:cubicBezTo>
                <a:cubicBezTo>
                  <a:pt x="101897" y="221592"/>
                  <a:pt x="88687" y="234772"/>
                  <a:pt x="72325" y="234772"/>
                </a:cubicBezTo>
                <a:cubicBezTo>
                  <a:pt x="56113" y="234772"/>
                  <a:pt x="42904" y="221592"/>
                  <a:pt x="42904" y="205416"/>
                </a:cubicBezTo>
                <a:cubicBezTo>
                  <a:pt x="42904" y="189241"/>
                  <a:pt x="55963" y="176061"/>
                  <a:pt x="72325" y="176061"/>
                </a:cubicBezTo>
                <a:close/>
                <a:moveTo>
                  <a:pt x="1200" y="56241"/>
                </a:moveTo>
                <a:lnTo>
                  <a:pt x="384613" y="56241"/>
                </a:lnTo>
                <a:cubicBezTo>
                  <a:pt x="505414" y="56241"/>
                  <a:pt x="603405" y="154058"/>
                  <a:pt x="603405" y="274494"/>
                </a:cubicBezTo>
                <a:cubicBezTo>
                  <a:pt x="603405" y="308947"/>
                  <a:pt x="575493" y="336809"/>
                  <a:pt x="540979" y="336809"/>
                </a:cubicBezTo>
                <a:lnTo>
                  <a:pt x="494459" y="336809"/>
                </a:lnTo>
                <a:lnTo>
                  <a:pt x="494159" y="277490"/>
                </a:lnTo>
                <a:cubicBezTo>
                  <a:pt x="494009" y="257417"/>
                  <a:pt x="482004" y="240041"/>
                  <a:pt x="464747" y="232102"/>
                </a:cubicBezTo>
                <a:lnTo>
                  <a:pt x="551333" y="232102"/>
                </a:lnTo>
                <a:lnTo>
                  <a:pt x="551483" y="232102"/>
                </a:lnTo>
                <a:cubicBezTo>
                  <a:pt x="553884" y="232102"/>
                  <a:pt x="556285" y="230753"/>
                  <a:pt x="557636" y="228806"/>
                </a:cubicBezTo>
                <a:cubicBezTo>
                  <a:pt x="558986" y="226709"/>
                  <a:pt x="559136" y="224013"/>
                  <a:pt x="558236" y="221766"/>
                </a:cubicBezTo>
                <a:cubicBezTo>
                  <a:pt x="550283" y="203790"/>
                  <a:pt x="531825" y="165892"/>
                  <a:pt x="504663" y="136532"/>
                </a:cubicBezTo>
                <a:cubicBezTo>
                  <a:pt x="481704" y="111666"/>
                  <a:pt x="449440" y="97585"/>
                  <a:pt x="415676" y="97585"/>
                </a:cubicBezTo>
                <a:lnTo>
                  <a:pt x="397968" y="97585"/>
                </a:lnTo>
                <a:lnTo>
                  <a:pt x="397968" y="159900"/>
                </a:lnTo>
                <a:cubicBezTo>
                  <a:pt x="383712" y="162297"/>
                  <a:pt x="371707" y="171284"/>
                  <a:pt x="364954" y="183568"/>
                </a:cubicBezTo>
                <a:lnTo>
                  <a:pt x="364954" y="97585"/>
                </a:lnTo>
                <a:lnTo>
                  <a:pt x="174223" y="97585"/>
                </a:lnTo>
                <a:lnTo>
                  <a:pt x="174223" y="232102"/>
                </a:lnTo>
                <a:lnTo>
                  <a:pt x="180526" y="232102"/>
                </a:lnTo>
                <a:cubicBezTo>
                  <a:pt x="178425" y="233150"/>
                  <a:pt x="176324" y="234199"/>
                  <a:pt x="174223" y="235547"/>
                </a:cubicBezTo>
                <a:cubicBezTo>
                  <a:pt x="166420" y="240640"/>
                  <a:pt x="159967" y="247830"/>
                  <a:pt x="156065" y="256369"/>
                </a:cubicBezTo>
                <a:cubicBezTo>
                  <a:pt x="152614" y="249178"/>
                  <a:pt x="147512" y="242887"/>
                  <a:pt x="141209" y="238093"/>
                </a:cubicBezTo>
                <a:cubicBezTo>
                  <a:pt x="138208" y="235697"/>
                  <a:pt x="134906" y="233749"/>
                  <a:pt x="131455" y="232102"/>
                </a:cubicBezTo>
                <a:lnTo>
                  <a:pt x="141209" y="232102"/>
                </a:lnTo>
                <a:lnTo>
                  <a:pt x="141209" y="97585"/>
                </a:lnTo>
                <a:lnTo>
                  <a:pt x="1200" y="97585"/>
                </a:lnTo>
                <a:close/>
                <a:moveTo>
                  <a:pt x="30337" y="0"/>
                </a:moveTo>
                <a:lnTo>
                  <a:pt x="450496" y="0"/>
                </a:lnTo>
                <a:cubicBezTo>
                  <a:pt x="459649" y="0"/>
                  <a:pt x="467002" y="7356"/>
                  <a:pt x="467002" y="16512"/>
                </a:cubicBezTo>
                <a:cubicBezTo>
                  <a:pt x="467002" y="25669"/>
                  <a:pt x="459649" y="33025"/>
                  <a:pt x="450496" y="33025"/>
                </a:cubicBezTo>
                <a:lnTo>
                  <a:pt x="30337" y="33025"/>
                </a:lnTo>
                <a:cubicBezTo>
                  <a:pt x="21184" y="33025"/>
                  <a:pt x="13831" y="25669"/>
                  <a:pt x="13831" y="16512"/>
                </a:cubicBezTo>
                <a:cubicBezTo>
                  <a:pt x="13831" y="7356"/>
                  <a:pt x="21184" y="0"/>
                  <a:pt x="30337" y="0"/>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endParaRPr lang="zh-CN" altLang="en-US">
              <a:solidFill>
                <a:srgbClr val="000000"/>
              </a:solidFill>
              <a:latin typeface="Arial" panose="020F0502020204030204"/>
              <a:ea typeface="微软雅黑"/>
              <a:cs typeface="+mn-ea"/>
              <a:sym typeface="+mn-lt"/>
            </a:endParaRPr>
          </a:p>
        </p:txBody>
      </p:sp>
      <p:pic>
        <p:nvPicPr>
          <p:cNvPr id="2" name="Picture 2" descr="Fig. 1: The machine learning architecture of EZSpecificity.">
            <a:extLst>
              <a:ext uri="{FF2B5EF4-FFF2-40B4-BE49-F238E27FC236}">
                <a16:creationId xmlns:a16="http://schemas.microsoft.com/office/drawing/2014/main" id="{8E8A4548-EB92-C162-0EE0-C764C6CF045E}"/>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027" t="35708" r="42394"/>
          <a:stretch>
            <a:fillRect/>
          </a:stretch>
        </p:blipFill>
        <p:spPr bwMode="auto">
          <a:xfrm>
            <a:off x="2724130" y="1302030"/>
            <a:ext cx="6776219" cy="3373191"/>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036AB9D4-9E3D-E6D6-13AB-3CCF7E553535}"/>
              </a:ext>
            </a:extLst>
          </p:cNvPr>
          <p:cNvSpPr txBox="1"/>
          <p:nvPr/>
        </p:nvSpPr>
        <p:spPr>
          <a:xfrm>
            <a:off x="4756650" y="879769"/>
            <a:ext cx="2821021" cy="369332"/>
          </a:xfrm>
          <a:prstGeom prst="rect">
            <a:avLst/>
          </a:prstGeom>
          <a:noFill/>
        </p:spPr>
        <p:txBody>
          <a:bodyPr wrap="square" rtlCol="0">
            <a:spAutoFit/>
          </a:bodyPr>
          <a:lstStyle/>
          <a:p>
            <a:r>
              <a:rPr lang="zh-CN" altLang="en-US" dirty="0"/>
              <a:t>催化口袋的信息编码</a:t>
            </a:r>
          </a:p>
        </p:txBody>
      </p:sp>
      <p:sp>
        <p:nvSpPr>
          <p:cNvPr id="5" name="文本框 4">
            <a:extLst>
              <a:ext uri="{FF2B5EF4-FFF2-40B4-BE49-F238E27FC236}">
                <a16:creationId xmlns:a16="http://schemas.microsoft.com/office/drawing/2014/main" id="{40D0B78B-868B-F876-C441-2B9B0165BE1D}"/>
              </a:ext>
            </a:extLst>
          </p:cNvPr>
          <p:cNvSpPr txBox="1"/>
          <p:nvPr/>
        </p:nvSpPr>
        <p:spPr>
          <a:xfrm>
            <a:off x="1718231" y="4827245"/>
            <a:ext cx="8788016" cy="646331"/>
          </a:xfrm>
          <a:prstGeom prst="rect">
            <a:avLst/>
          </a:prstGeom>
          <a:noFill/>
        </p:spPr>
        <p:txBody>
          <a:bodyPr wrap="square">
            <a:spAutoFit/>
          </a:bodyPr>
          <a:lstStyle/>
          <a:p>
            <a:r>
              <a:rPr lang="en-US" altLang="zh-CN" dirty="0"/>
              <a:t>Internal MPNN</a:t>
            </a:r>
            <a:r>
              <a:rPr lang="zh-CN" altLang="en-US" dirty="0"/>
              <a:t>（内部消息传递神经网络）：学习底物分子内部的原子和键的物理特征（如原子类型、键级、局部电子环境），</a:t>
            </a:r>
          </a:p>
        </p:txBody>
      </p:sp>
      <p:sp>
        <p:nvSpPr>
          <p:cNvPr id="9" name="文本框 8">
            <a:extLst>
              <a:ext uri="{FF2B5EF4-FFF2-40B4-BE49-F238E27FC236}">
                <a16:creationId xmlns:a16="http://schemas.microsoft.com/office/drawing/2014/main" id="{074CCCC9-EAA8-AD74-3C15-404420C11063}"/>
              </a:ext>
            </a:extLst>
          </p:cNvPr>
          <p:cNvSpPr txBox="1"/>
          <p:nvPr/>
        </p:nvSpPr>
        <p:spPr>
          <a:xfrm>
            <a:off x="1718231" y="5443606"/>
            <a:ext cx="8812144" cy="923330"/>
          </a:xfrm>
          <a:prstGeom prst="rect">
            <a:avLst/>
          </a:prstGeom>
          <a:noFill/>
        </p:spPr>
        <p:txBody>
          <a:bodyPr wrap="square">
            <a:spAutoFit/>
          </a:bodyPr>
          <a:lstStyle/>
          <a:p>
            <a:r>
              <a:rPr lang="en-US" altLang="zh-CN" dirty="0"/>
              <a:t>Interaction MPNN</a:t>
            </a:r>
            <a:r>
              <a:rPr lang="zh-CN" altLang="en-US" dirty="0"/>
              <a:t>（相互作用消息传递神经网络）：计算底物的每个原子，在多大的距离上，与周围活性口袋的哪些氨基酸残基原子存在什么样的相互作用类型（如氢键、疏水作用、静电作用，这可以通过距离和原子类型推断得到）。</a:t>
            </a:r>
          </a:p>
        </p:txBody>
      </p:sp>
      <p:sp>
        <p:nvSpPr>
          <p:cNvPr id="10" name="文本框 9">
            <a:extLst>
              <a:ext uri="{FF2B5EF4-FFF2-40B4-BE49-F238E27FC236}">
                <a16:creationId xmlns:a16="http://schemas.microsoft.com/office/drawing/2014/main" id="{91263A6B-2318-4A63-F52B-14C77B80C1A2}"/>
              </a:ext>
            </a:extLst>
          </p:cNvPr>
          <p:cNvSpPr txBox="1"/>
          <p:nvPr/>
        </p:nvSpPr>
        <p:spPr>
          <a:xfrm>
            <a:off x="10076532" y="2526960"/>
            <a:ext cx="1780108" cy="923330"/>
          </a:xfrm>
          <a:prstGeom prst="rect">
            <a:avLst/>
          </a:prstGeom>
          <a:noFill/>
        </p:spPr>
        <p:txBody>
          <a:bodyPr wrap="square" rtlCol="0">
            <a:spAutoFit/>
          </a:bodyPr>
          <a:lstStyle/>
          <a:p>
            <a:r>
              <a:rPr lang="zh-CN" altLang="en-US" dirty="0"/>
              <a:t>将两种</a:t>
            </a:r>
            <a:r>
              <a:rPr lang="en-US" altLang="zh-CN" dirty="0"/>
              <a:t>MPNN</a:t>
            </a:r>
            <a:r>
              <a:rPr lang="zh-CN" altLang="en-US" dirty="0"/>
              <a:t>的输出向量各取一半进行拼接</a:t>
            </a:r>
          </a:p>
        </p:txBody>
      </p:sp>
    </p:spTree>
    <p:extLst>
      <p:ext uri="{BB962C8B-B14F-4D97-AF65-F5344CB8AC3E}">
        <p14:creationId xmlns:p14="http://schemas.microsoft.com/office/powerpoint/2010/main" val="1043769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C23DC-4F11-8F12-7559-F5CE424FF89B}"/>
            </a:ext>
          </a:extLst>
        </p:cNvPr>
        <p:cNvGrpSpPr/>
        <p:nvPr/>
      </p:nvGrpSpPr>
      <p:grpSpPr>
        <a:xfrm>
          <a:off x="0" y="0"/>
          <a:ext cx="0" cy="0"/>
          <a:chOff x="0" y="0"/>
          <a:chExt cx="0" cy="0"/>
        </a:xfrm>
      </p:grpSpPr>
      <p:grpSp>
        <p:nvGrpSpPr>
          <p:cNvPr id="20" name="组合 19">
            <a:extLst>
              <a:ext uri="{FF2B5EF4-FFF2-40B4-BE49-F238E27FC236}">
                <a16:creationId xmlns:a16="http://schemas.microsoft.com/office/drawing/2014/main" id="{0F9A4C7A-D265-A8FD-8705-A832B9B8DE0D}"/>
              </a:ext>
            </a:extLst>
          </p:cNvPr>
          <p:cNvGrpSpPr/>
          <p:nvPr/>
        </p:nvGrpSpPr>
        <p:grpSpPr>
          <a:xfrm>
            <a:off x="286653" y="116633"/>
            <a:ext cx="11618694" cy="6681374"/>
            <a:chOff x="286653" y="116633"/>
            <a:chExt cx="11618694" cy="6681374"/>
          </a:xfrm>
        </p:grpSpPr>
        <p:grpSp>
          <p:nvGrpSpPr>
            <p:cNvPr id="21" name="组合 20">
              <a:extLst>
                <a:ext uri="{FF2B5EF4-FFF2-40B4-BE49-F238E27FC236}">
                  <a16:creationId xmlns:a16="http://schemas.microsoft.com/office/drawing/2014/main" id="{7A827128-E01E-6F88-6508-1B9E7B58BFD8}"/>
                </a:ext>
              </a:extLst>
            </p:cNvPr>
            <p:cNvGrpSpPr/>
            <p:nvPr/>
          </p:nvGrpSpPr>
          <p:grpSpPr>
            <a:xfrm>
              <a:off x="335361" y="116633"/>
              <a:ext cx="629872" cy="612768"/>
              <a:chOff x="3070727" y="196457"/>
              <a:chExt cx="692047" cy="673255"/>
            </a:xfrm>
          </p:grpSpPr>
          <p:sp>
            <p:nvSpPr>
              <p:cNvPr id="26" name="平行四边形 25">
                <a:extLst>
                  <a:ext uri="{FF2B5EF4-FFF2-40B4-BE49-F238E27FC236}">
                    <a16:creationId xmlns:a16="http://schemas.microsoft.com/office/drawing/2014/main" id="{E0110154-284F-A888-6A0C-783C45C9058D}"/>
                  </a:ext>
                </a:extLst>
              </p:cNvPr>
              <p:cNvSpPr/>
              <p:nvPr/>
            </p:nvSpPr>
            <p:spPr>
              <a:xfrm>
                <a:off x="3070727" y="196457"/>
                <a:ext cx="629587" cy="612775"/>
              </a:xfrm>
              <a:prstGeom prst="parallelogram">
                <a:avLst/>
              </a:prstGeom>
              <a:solidFill>
                <a:srgbClr val="6B0261"/>
              </a:solidFill>
              <a:ln w="25400" cap="flat" cmpd="sng" algn="ctr">
                <a:solidFill>
                  <a:srgbClr val="6B026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27" name="平行四边形 26">
                <a:extLst>
                  <a:ext uri="{FF2B5EF4-FFF2-40B4-BE49-F238E27FC236}">
                    <a16:creationId xmlns:a16="http://schemas.microsoft.com/office/drawing/2014/main" id="{C05AAE5B-ED1B-8654-6542-8957683F101E}"/>
                  </a:ext>
                </a:extLst>
              </p:cNvPr>
              <p:cNvSpPr/>
              <p:nvPr/>
            </p:nvSpPr>
            <p:spPr>
              <a:xfrm>
                <a:off x="3133187" y="256937"/>
                <a:ext cx="629587" cy="612775"/>
              </a:xfrm>
              <a:prstGeom prst="parallelogram">
                <a:avLst/>
              </a:prstGeom>
              <a:noFill/>
              <a:ln w="25400" cap="flat" cmpd="sng" algn="ctr">
                <a:solidFill>
                  <a:srgbClr val="6B026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cxnSp>
          <p:nvCxnSpPr>
            <p:cNvPr id="22" name="直接连接符 21">
              <a:extLst>
                <a:ext uri="{FF2B5EF4-FFF2-40B4-BE49-F238E27FC236}">
                  <a16:creationId xmlns:a16="http://schemas.microsoft.com/office/drawing/2014/main" id="{6E459F14-8122-CA37-2D95-B911CD18C60F}"/>
                </a:ext>
              </a:extLst>
            </p:cNvPr>
            <p:cNvCxnSpPr>
              <a:cxnSpLocks/>
            </p:cNvCxnSpPr>
            <p:nvPr/>
          </p:nvCxnSpPr>
          <p:spPr>
            <a:xfrm>
              <a:off x="367840" y="809674"/>
              <a:ext cx="11488800" cy="0"/>
            </a:xfrm>
            <a:prstGeom prst="line">
              <a:avLst/>
            </a:prstGeom>
            <a:noFill/>
            <a:ln w="9525" cap="flat" cmpd="sng" algn="ctr">
              <a:solidFill>
                <a:srgbClr val="6B0261"/>
              </a:solidFill>
              <a:prstDash val="solid"/>
            </a:ln>
            <a:effectLst/>
          </p:spPr>
        </p:cxnSp>
        <p:sp>
          <p:nvSpPr>
            <p:cNvPr id="23" name="文本占位符 5">
              <a:extLst>
                <a:ext uri="{FF2B5EF4-FFF2-40B4-BE49-F238E27FC236}">
                  <a16:creationId xmlns:a16="http://schemas.microsoft.com/office/drawing/2014/main" id="{16846207-A4F3-64ED-E7D5-B6A7A7237471}"/>
                </a:ext>
              </a:extLst>
            </p:cNvPr>
            <p:cNvSpPr txBox="1">
              <a:spLocks/>
            </p:cNvSpPr>
            <p:nvPr/>
          </p:nvSpPr>
          <p:spPr>
            <a:xfrm>
              <a:off x="1075777" y="214065"/>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rgbClr val="6B0261"/>
                  </a:solidFill>
                </a:rPr>
                <a:t>研究内容</a:t>
              </a:r>
            </a:p>
          </p:txBody>
        </p:sp>
        <p:sp>
          <p:nvSpPr>
            <p:cNvPr id="24" name="文本框 23">
              <a:extLst>
                <a:ext uri="{FF2B5EF4-FFF2-40B4-BE49-F238E27FC236}">
                  <a16:creationId xmlns:a16="http://schemas.microsoft.com/office/drawing/2014/main" id="{E513A218-A6AE-CE10-F3CF-5864C22CD10C}"/>
                </a:ext>
              </a:extLst>
            </p:cNvPr>
            <p:cNvSpPr txBox="1"/>
            <p:nvPr/>
          </p:nvSpPr>
          <p:spPr>
            <a:xfrm>
              <a:off x="10805366" y="642867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25" name="图片 24">
              <a:extLst>
                <a:ext uri="{FF2B5EF4-FFF2-40B4-BE49-F238E27FC236}">
                  <a16:creationId xmlns:a16="http://schemas.microsoft.com/office/drawing/2014/main" id="{2FEADCC1-90F8-4B1F-2A8D-7C87A896C38D}"/>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a:stretch/>
          </p:blipFill>
          <p:spPr>
            <a:xfrm>
              <a:off x="286653" y="6425619"/>
              <a:ext cx="2520534" cy="369332"/>
            </a:xfrm>
            <a:prstGeom prst="rect">
              <a:avLst/>
            </a:prstGeom>
          </p:spPr>
        </p:pic>
      </p:grpSp>
      <p:grpSp>
        <p:nvGrpSpPr>
          <p:cNvPr id="51" name="组合 50">
            <a:extLst>
              <a:ext uri="{FF2B5EF4-FFF2-40B4-BE49-F238E27FC236}">
                <a16:creationId xmlns:a16="http://schemas.microsoft.com/office/drawing/2014/main" id="{EBDFED6E-DFDC-6428-726E-D38A00FBD54C}"/>
              </a:ext>
            </a:extLst>
          </p:cNvPr>
          <p:cNvGrpSpPr/>
          <p:nvPr/>
        </p:nvGrpSpPr>
        <p:grpSpPr>
          <a:xfrm>
            <a:off x="9938479" y="77827"/>
            <a:ext cx="2017490" cy="675447"/>
            <a:chOff x="995884" y="398899"/>
            <a:chExt cx="3658781" cy="1224944"/>
          </a:xfrm>
        </p:grpSpPr>
        <p:pic>
          <p:nvPicPr>
            <p:cNvPr id="52" name="图片 51">
              <a:extLst>
                <a:ext uri="{FF2B5EF4-FFF2-40B4-BE49-F238E27FC236}">
                  <a16:creationId xmlns:a16="http://schemas.microsoft.com/office/drawing/2014/main" id="{15D93029-2459-6A7B-E90E-EE53D2E78D7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95884" y="398899"/>
              <a:ext cx="977348" cy="1224944"/>
            </a:xfrm>
            <a:prstGeom prst="rect">
              <a:avLst/>
            </a:prstGeom>
          </p:spPr>
        </p:pic>
        <p:pic>
          <p:nvPicPr>
            <p:cNvPr id="53" name="图片 52">
              <a:extLst>
                <a:ext uri="{FF2B5EF4-FFF2-40B4-BE49-F238E27FC236}">
                  <a16:creationId xmlns:a16="http://schemas.microsoft.com/office/drawing/2014/main" id="{A09115C2-DE72-FD41-A267-A3ECA90BB5A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173707" y="405382"/>
              <a:ext cx="2384890" cy="796233"/>
            </a:xfrm>
            <a:prstGeom prst="rect">
              <a:avLst/>
            </a:prstGeom>
          </p:spPr>
        </p:pic>
        <p:sp>
          <p:nvSpPr>
            <p:cNvPr id="54" name="矩形 53">
              <a:extLst>
                <a:ext uri="{FF2B5EF4-FFF2-40B4-BE49-F238E27FC236}">
                  <a16:creationId xmlns:a16="http://schemas.microsoft.com/office/drawing/2014/main" id="{6B7FDB01-D896-7789-2342-6CD31EC7DD8E}"/>
                </a:ext>
              </a:extLst>
            </p:cNvPr>
            <p:cNvSpPr/>
            <p:nvPr/>
          </p:nvSpPr>
          <p:spPr>
            <a:xfrm>
              <a:off x="2069306" y="1138524"/>
              <a:ext cx="2585359" cy="46048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rPr>
                <a:t>NANJING UNIVERSITY</a:t>
              </a:r>
              <a:endParaRPr kumimoji="0" lang="zh-CN" altLang="en-US" sz="105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endParaRPr>
            </a:p>
          </p:txBody>
        </p:sp>
      </p:grpSp>
      <p:sp>
        <p:nvSpPr>
          <p:cNvPr id="31" name="íŝḷïḓè">
            <a:extLst>
              <a:ext uri="{FF2B5EF4-FFF2-40B4-BE49-F238E27FC236}">
                <a16:creationId xmlns:a16="http://schemas.microsoft.com/office/drawing/2014/main" id="{40C380CE-E0DF-42F7-BF79-165E4E772F8C}"/>
              </a:ext>
            </a:extLst>
          </p:cNvPr>
          <p:cNvSpPr/>
          <p:nvPr/>
        </p:nvSpPr>
        <p:spPr bwMode="auto">
          <a:xfrm>
            <a:off x="5828824" y="4147130"/>
            <a:ext cx="338337" cy="366161"/>
          </a:xfrm>
          <a:custGeom>
            <a:avLst/>
            <a:gdLst>
              <a:gd name="connsiteX0" fmla="*/ 327780 w 561933"/>
              <a:gd name="connsiteY0" fmla="*/ 406780 h 608145"/>
              <a:gd name="connsiteX1" fmla="*/ 285069 w 561933"/>
              <a:gd name="connsiteY1" fmla="*/ 449434 h 608145"/>
              <a:gd name="connsiteX2" fmla="*/ 327780 w 561933"/>
              <a:gd name="connsiteY2" fmla="*/ 492088 h 608145"/>
              <a:gd name="connsiteX3" fmla="*/ 370490 w 561933"/>
              <a:gd name="connsiteY3" fmla="*/ 449434 h 608145"/>
              <a:gd name="connsiteX4" fmla="*/ 327780 w 561933"/>
              <a:gd name="connsiteY4" fmla="*/ 406780 h 608145"/>
              <a:gd name="connsiteX5" fmla="*/ 91381 w 561933"/>
              <a:gd name="connsiteY5" fmla="*/ 406780 h 608145"/>
              <a:gd name="connsiteX6" fmla="*/ 49664 w 561933"/>
              <a:gd name="connsiteY6" fmla="*/ 449434 h 608145"/>
              <a:gd name="connsiteX7" fmla="*/ 91381 w 561933"/>
              <a:gd name="connsiteY7" fmla="*/ 492088 h 608145"/>
              <a:gd name="connsiteX8" fmla="*/ 134092 w 561933"/>
              <a:gd name="connsiteY8" fmla="*/ 449434 h 608145"/>
              <a:gd name="connsiteX9" fmla="*/ 91381 w 561933"/>
              <a:gd name="connsiteY9" fmla="*/ 406780 h 608145"/>
              <a:gd name="connsiteX10" fmla="*/ 130119 w 561933"/>
              <a:gd name="connsiteY10" fmla="*/ 162762 h 608145"/>
              <a:gd name="connsiteX11" fmla="*/ 50657 w 561933"/>
              <a:gd name="connsiteY11" fmla="*/ 243110 h 608145"/>
              <a:gd name="connsiteX12" fmla="*/ 50657 w 561933"/>
              <a:gd name="connsiteY12" fmla="*/ 312546 h 608145"/>
              <a:gd name="connsiteX13" fmla="*/ 78468 w 561933"/>
              <a:gd name="connsiteY13" fmla="*/ 341312 h 608145"/>
              <a:gd name="connsiteX14" fmla="*/ 340692 w 561933"/>
              <a:gd name="connsiteY14" fmla="*/ 341312 h 608145"/>
              <a:gd name="connsiteX15" fmla="*/ 369497 w 561933"/>
              <a:gd name="connsiteY15" fmla="*/ 312546 h 608145"/>
              <a:gd name="connsiteX16" fmla="*/ 369497 w 561933"/>
              <a:gd name="connsiteY16" fmla="*/ 243110 h 608145"/>
              <a:gd name="connsiteX17" fmla="*/ 289042 w 561933"/>
              <a:gd name="connsiteY17" fmla="*/ 162762 h 608145"/>
              <a:gd name="connsiteX18" fmla="*/ 127139 w 561933"/>
              <a:gd name="connsiteY18" fmla="*/ 99278 h 608145"/>
              <a:gd name="connsiteX19" fmla="*/ 293015 w 561933"/>
              <a:gd name="connsiteY19" fmla="*/ 99278 h 608145"/>
              <a:gd name="connsiteX20" fmla="*/ 420154 w 561933"/>
              <a:gd name="connsiteY20" fmla="*/ 226247 h 608145"/>
              <a:gd name="connsiteX21" fmla="*/ 420154 w 561933"/>
              <a:gd name="connsiteY21" fmla="*/ 486136 h 608145"/>
              <a:gd name="connsiteX22" fmla="*/ 382410 w 561933"/>
              <a:gd name="connsiteY22" fmla="*/ 541685 h 608145"/>
              <a:gd name="connsiteX23" fmla="*/ 382410 w 561933"/>
              <a:gd name="connsiteY23" fmla="*/ 561524 h 608145"/>
              <a:gd name="connsiteX24" fmla="*/ 334733 w 561933"/>
              <a:gd name="connsiteY24" fmla="*/ 608145 h 608145"/>
              <a:gd name="connsiteX25" fmla="*/ 326786 w 561933"/>
              <a:gd name="connsiteY25" fmla="*/ 608145 h 608145"/>
              <a:gd name="connsiteX26" fmla="*/ 280103 w 561933"/>
              <a:gd name="connsiteY26" fmla="*/ 561524 h 608145"/>
              <a:gd name="connsiteX27" fmla="*/ 280103 w 561933"/>
              <a:gd name="connsiteY27" fmla="*/ 544661 h 608145"/>
              <a:gd name="connsiteX28" fmla="*/ 140051 w 561933"/>
              <a:gd name="connsiteY28" fmla="*/ 544661 h 608145"/>
              <a:gd name="connsiteX29" fmla="*/ 140051 w 561933"/>
              <a:gd name="connsiteY29" fmla="*/ 561524 h 608145"/>
              <a:gd name="connsiteX30" fmla="*/ 92374 w 561933"/>
              <a:gd name="connsiteY30" fmla="*/ 608145 h 608145"/>
              <a:gd name="connsiteX31" fmla="*/ 84428 w 561933"/>
              <a:gd name="connsiteY31" fmla="*/ 608145 h 608145"/>
              <a:gd name="connsiteX32" fmla="*/ 37744 w 561933"/>
              <a:gd name="connsiteY32" fmla="*/ 561524 h 608145"/>
              <a:gd name="connsiteX33" fmla="*/ 37744 w 561933"/>
              <a:gd name="connsiteY33" fmla="*/ 541685 h 608145"/>
              <a:gd name="connsiteX34" fmla="*/ 0 w 561933"/>
              <a:gd name="connsiteY34" fmla="*/ 486136 h 608145"/>
              <a:gd name="connsiteX35" fmla="*/ 0 w 561933"/>
              <a:gd name="connsiteY35" fmla="*/ 226247 h 608145"/>
              <a:gd name="connsiteX36" fmla="*/ 127139 w 561933"/>
              <a:gd name="connsiteY36" fmla="*/ 99278 h 608145"/>
              <a:gd name="connsiteX37" fmla="*/ 408232 w 561933"/>
              <a:gd name="connsiteY37" fmla="*/ 74504 h 608145"/>
              <a:gd name="connsiteX38" fmla="*/ 424139 w 561933"/>
              <a:gd name="connsiteY38" fmla="*/ 75495 h 608145"/>
              <a:gd name="connsiteX39" fmla="*/ 486772 w 561933"/>
              <a:gd name="connsiteY39" fmla="*/ 185587 h 608145"/>
              <a:gd name="connsiteX40" fmla="*/ 479813 w 561933"/>
              <a:gd name="connsiteY40" fmla="*/ 199473 h 608145"/>
              <a:gd name="connsiteX41" fmla="*/ 464901 w 561933"/>
              <a:gd name="connsiteY41" fmla="*/ 202448 h 608145"/>
              <a:gd name="connsiteX42" fmla="*/ 462912 w 561933"/>
              <a:gd name="connsiteY42" fmla="*/ 201456 h 608145"/>
              <a:gd name="connsiteX43" fmla="*/ 448994 w 561933"/>
              <a:gd name="connsiteY43" fmla="*/ 183604 h 608145"/>
              <a:gd name="connsiteX44" fmla="*/ 406244 w 561933"/>
              <a:gd name="connsiteY44" fmla="*/ 109217 h 608145"/>
              <a:gd name="connsiteX45" fmla="*/ 397296 w 561933"/>
              <a:gd name="connsiteY45" fmla="*/ 89381 h 608145"/>
              <a:gd name="connsiteX46" fmla="*/ 398291 w 561933"/>
              <a:gd name="connsiteY46" fmla="*/ 87397 h 608145"/>
              <a:gd name="connsiteX47" fmla="*/ 408232 w 561933"/>
              <a:gd name="connsiteY47" fmla="*/ 74504 h 608145"/>
              <a:gd name="connsiteX48" fmla="*/ 439969 w 561933"/>
              <a:gd name="connsiteY48" fmla="*/ 1081 h 608145"/>
              <a:gd name="connsiteX49" fmla="*/ 560176 w 561933"/>
              <a:gd name="connsiteY49" fmla="*/ 205408 h 608145"/>
              <a:gd name="connsiteX50" fmla="*/ 552228 w 561933"/>
              <a:gd name="connsiteY50" fmla="*/ 217311 h 608145"/>
              <a:gd name="connsiteX51" fmla="*/ 537326 w 561933"/>
              <a:gd name="connsiteY51" fmla="*/ 220286 h 608145"/>
              <a:gd name="connsiteX52" fmla="*/ 535340 w 561933"/>
              <a:gd name="connsiteY52" fmla="*/ 219294 h 608145"/>
              <a:gd name="connsiteX53" fmla="*/ 522425 w 561933"/>
              <a:gd name="connsiteY53" fmla="*/ 199457 h 608145"/>
              <a:gd name="connsiteX54" fmla="*/ 426061 w 561933"/>
              <a:gd name="connsiteY54" fmla="*/ 36788 h 608145"/>
              <a:gd name="connsiteX55" fmla="*/ 416126 w 561933"/>
              <a:gd name="connsiteY55" fmla="*/ 15959 h 608145"/>
              <a:gd name="connsiteX56" fmla="*/ 416126 w 561933"/>
              <a:gd name="connsiteY56" fmla="*/ 13975 h 608145"/>
              <a:gd name="connsiteX57" fmla="*/ 425067 w 561933"/>
              <a:gd name="connsiteY57" fmla="*/ 2073 h 608145"/>
              <a:gd name="connsiteX58" fmla="*/ 439969 w 561933"/>
              <a:gd name="connsiteY58" fmla="*/ 1081 h 608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61933" h="608145">
                <a:moveTo>
                  <a:pt x="327780" y="406780"/>
                </a:moveTo>
                <a:cubicBezTo>
                  <a:pt x="303941" y="406780"/>
                  <a:pt x="285069" y="425627"/>
                  <a:pt x="285069" y="449434"/>
                </a:cubicBezTo>
                <a:cubicBezTo>
                  <a:pt x="285069" y="473241"/>
                  <a:pt x="303941" y="492088"/>
                  <a:pt x="327780" y="492088"/>
                </a:cubicBezTo>
                <a:cubicBezTo>
                  <a:pt x="350625" y="492088"/>
                  <a:pt x="370490" y="473241"/>
                  <a:pt x="370490" y="449434"/>
                </a:cubicBezTo>
                <a:cubicBezTo>
                  <a:pt x="370490" y="425627"/>
                  <a:pt x="350625" y="406780"/>
                  <a:pt x="327780" y="406780"/>
                </a:cubicBezTo>
                <a:close/>
                <a:moveTo>
                  <a:pt x="91381" y="406780"/>
                </a:moveTo>
                <a:cubicBezTo>
                  <a:pt x="68536" y="406780"/>
                  <a:pt x="49664" y="425627"/>
                  <a:pt x="49664" y="449434"/>
                </a:cubicBezTo>
                <a:cubicBezTo>
                  <a:pt x="49664" y="473241"/>
                  <a:pt x="68536" y="492088"/>
                  <a:pt x="91381" y="492088"/>
                </a:cubicBezTo>
                <a:cubicBezTo>
                  <a:pt x="115220" y="492088"/>
                  <a:pt x="134092" y="473241"/>
                  <a:pt x="134092" y="449434"/>
                </a:cubicBezTo>
                <a:cubicBezTo>
                  <a:pt x="134092" y="425627"/>
                  <a:pt x="115220" y="406780"/>
                  <a:pt x="91381" y="406780"/>
                </a:cubicBezTo>
                <a:close/>
                <a:moveTo>
                  <a:pt x="130119" y="162762"/>
                </a:moveTo>
                <a:cubicBezTo>
                  <a:pt x="86415" y="162762"/>
                  <a:pt x="50657" y="198472"/>
                  <a:pt x="50657" y="243110"/>
                </a:cubicBezTo>
                <a:lnTo>
                  <a:pt x="50657" y="312546"/>
                </a:lnTo>
                <a:cubicBezTo>
                  <a:pt x="50657" y="328417"/>
                  <a:pt x="62576" y="341312"/>
                  <a:pt x="78468" y="341312"/>
                </a:cubicBezTo>
                <a:lnTo>
                  <a:pt x="340692" y="341312"/>
                </a:lnTo>
                <a:cubicBezTo>
                  <a:pt x="356585" y="341312"/>
                  <a:pt x="369497" y="328417"/>
                  <a:pt x="369497" y="312546"/>
                </a:cubicBezTo>
                <a:lnTo>
                  <a:pt x="369497" y="243110"/>
                </a:lnTo>
                <a:cubicBezTo>
                  <a:pt x="369497" y="198472"/>
                  <a:pt x="332746" y="162762"/>
                  <a:pt x="289042" y="162762"/>
                </a:cubicBezTo>
                <a:close/>
                <a:moveTo>
                  <a:pt x="127139" y="99278"/>
                </a:moveTo>
                <a:lnTo>
                  <a:pt x="293015" y="99278"/>
                </a:lnTo>
                <a:cubicBezTo>
                  <a:pt x="363538" y="99278"/>
                  <a:pt x="420154" y="155819"/>
                  <a:pt x="420154" y="226247"/>
                </a:cubicBezTo>
                <a:lnTo>
                  <a:pt x="420154" y="486136"/>
                </a:lnTo>
                <a:cubicBezTo>
                  <a:pt x="420154" y="511926"/>
                  <a:pt x="404262" y="532757"/>
                  <a:pt x="382410" y="541685"/>
                </a:cubicBezTo>
                <a:lnTo>
                  <a:pt x="382410" y="561524"/>
                </a:lnTo>
                <a:cubicBezTo>
                  <a:pt x="382410" y="587314"/>
                  <a:pt x="360558" y="608145"/>
                  <a:pt x="334733" y="608145"/>
                </a:cubicBezTo>
                <a:lnTo>
                  <a:pt x="326786" y="608145"/>
                </a:lnTo>
                <a:cubicBezTo>
                  <a:pt x="300961" y="608145"/>
                  <a:pt x="280103" y="587314"/>
                  <a:pt x="280103" y="561524"/>
                </a:cubicBezTo>
                <a:lnTo>
                  <a:pt x="280103" y="544661"/>
                </a:lnTo>
                <a:lnTo>
                  <a:pt x="140051" y="544661"/>
                </a:lnTo>
                <a:lnTo>
                  <a:pt x="140051" y="561524"/>
                </a:lnTo>
                <a:cubicBezTo>
                  <a:pt x="140051" y="587314"/>
                  <a:pt x="118199" y="608145"/>
                  <a:pt x="92374" y="608145"/>
                </a:cubicBezTo>
                <a:lnTo>
                  <a:pt x="84428" y="608145"/>
                </a:lnTo>
                <a:cubicBezTo>
                  <a:pt x="58603" y="608145"/>
                  <a:pt x="37744" y="587314"/>
                  <a:pt x="37744" y="561524"/>
                </a:cubicBezTo>
                <a:lnTo>
                  <a:pt x="37744" y="541685"/>
                </a:lnTo>
                <a:cubicBezTo>
                  <a:pt x="14899" y="532757"/>
                  <a:pt x="0" y="511926"/>
                  <a:pt x="0" y="486136"/>
                </a:cubicBezTo>
                <a:lnTo>
                  <a:pt x="0" y="226247"/>
                </a:lnTo>
                <a:cubicBezTo>
                  <a:pt x="0" y="155819"/>
                  <a:pt x="56616" y="99278"/>
                  <a:pt x="127139" y="99278"/>
                </a:cubicBezTo>
                <a:close/>
                <a:moveTo>
                  <a:pt x="408232" y="74504"/>
                </a:moveTo>
                <a:cubicBezTo>
                  <a:pt x="413203" y="72520"/>
                  <a:pt x="419168" y="72520"/>
                  <a:pt x="424139" y="75495"/>
                </a:cubicBezTo>
                <a:cubicBezTo>
                  <a:pt x="464901" y="96324"/>
                  <a:pt x="489755" y="139964"/>
                  <a:pt x="486772" y="185587"/>
                </a:cubicBezTo>
                <a:cubicBezTo>
                  <a:pt x="486772" y="190546"/>
                  <a:pt x="483790" y="195505"/>
                  <a:pt x="479813" y="199473"/>
                </a:cubicBezTo>
                <a:cubicBezTo>
                  <a:pt x="475836" y="202448"/>
                  <a:pt x="469871" y="203440"/>
                  <a:pt x="464901" y="202448"/>
                </a:cubicBezTo>
                <a:lnTo>
                  <a:pt x="462912" y="201456"/>
                </a:lnTo>
                <a:cubicBezTo>
                  <a:pt x="453965" y="199473"/>
                  <a:pt x="448994" y="191538"/>
                  <a:pt x="448994" y="183604"/>
                </a:cubicBezTo>
                <a:cubicBezTo>
                  <a:pt x="450982" y="152857"/>
                  <a:pt x="434081" y="123103"/>
                  <a:pt x="406244" y="109217"/>
                </a:cubicBezTo>
                <a:cubicBezTo>
                  <a:pt x="399285" y="105250"/>
                  <a:pt x="395308" y="97315"/>
                  <a:pt x="397296" y="89381"/>
                </a:cubicBezTo>
                <a:lnTo>
                  <a:pt x="398291" y="87397"/>
                </a:lnTo>
                <a:cubicBezTo>
                  <a:pt x="399285" y="81446"/>
                  <a:pt x="403261" y="77479"/>
                  <a:pt x="408232" y="74504"/>
                </a:cubicBezTo>
                <a:close/>
                <a:moveTo>
                  <a:pt x="439969" y="1081"/>
                </a:moveTo>
                <a:cubicBezTo>
                  <a:pt x="522425" y="32821"/>
                  <a:pt x="572097" y="118123"/>
                  <a:pt x="560176" y="205408"/>
                </a:cubicBezTo>
                <a:cubicBezTo>
                  <a:pt x="559182" y="210367"/>
                  <a:pt x="556202" y="214335"/>
                  <a:pt x="552228" y="217311"/>
                </a:cubicBezTo>
                <a:cubicBezTo>
                  <a:pt x="548254" y="220286"/>
                  <a:pt x="542294" y="221278"/>
                  <a:pt x="537326" y="220286"/>
                </a:cubicBezTo>
                <a:lnTo>
                  <a:pt x="535340" y="219294"/>
                </a:lnTo>
                <a:cubicBezTo>
                  <a:pt x="526399" y="217311"/>
                  <a:pt x="520438" y="208384"/>
                  <a:pt x="522425" y="199457"/>
                </a:cubicBezTo>
                <a:cubicBezTo>
                  <a:pt x="531366" y="130025"/>
                  <a:pt x="491628" y="62577"/>
                  <a:pt x="426061" y="36788"/>
                </a:cubicBezTo>
                <a:cubicBezTo>
                  <a:pt x="418113" y="33813"/>
                  <a:pt x="413146" y="24886"/>
                  <a:pt x="416126" y="15959"/>
                </a:cubicBezTo>
                <a:lnTo>
                  <a:pt x="416126" y="13975"/>
                </a:lnTo>
                <a:cubicBezTo>
                  <a:pt x="417120" y="9016"/>
                  <a:pt x="421094" y="4056"/>
                  <a:pt x="425067" y="2073"/>
                </a:cubicBezTo>
                <a:cubicBezTo>
                  <a:pt x="430035" y="89"/>
                  <a:pt x="435002" y="-903"/>
                  <a:pt x="439969" y="1081"/>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endParaRPr lang="zh-CN" altLang="en-US">
              <a:solidFill>
                <a:srgbClr val="000000"/>
              </a:solidFill>
              <a:latin typeface="Arial" panose="020F0502020204030204"/>
              <a:ea typeface="微软雅黑"/>
              <a:cs typeface="+mn-ea"/>
              <a:sym typeface="+mn-lt"/>
            </a:endParaRPr>
          </a:p>
        </p:txBody>
      </p:sp>
      <p:sp>
        <p:nvSpPr>
          <p:cNvPr id="42" name="ïslíḓé">
            <a:extLst>
              <a:ext uri="{FF2B5EF4-FFF2-40B4-BE49-F238E27FC236}">
                <a16:creationId xmlns:a16="http://schemas.microsoft.com/office/drawing/2014/main" id="{31C1941A-03C4-46C2-9204-5BF2778DCFD0}"/>
              </a:ext>
            </a:extLst>
          </p:cNvPr>
          <p:cNvSpPr/>
          <p:nvPr/>
        </p:nvSpPr>
        <p:spPr bwMode="auto">
          <a:xfrm>
            <a:off x="5815461" y="5339493"/>
            <a:ext cx="363264" cy="320996"/>
          </a:xfrm>
          <a:custGeom>
            <a:avLst/>
            <a:gdLst>
              <a:gd name="connsiteX0" fmla="*/ 494452 w 603405"/>
              <a:gd name="connsiteY0" fmla="*/ 356003 h 533193"/>
              <a:gd name="connsiteX1" fmla="*/ 585270 w 603405"/>
              <a:gd name="connsiteY1" fmla="*/ 356003 h 533193"/>
              <a:gd name="connsiteX2" fmla="*/ 601782 w 603405"/>
              <a:gd name="connsiteY2" fmla="*/ 372480 h 533193"/>
              <a:gd name="connsiteX3" fmla="*/ 585270 w 603405"/>
              <a:gd name="connsiteY3" fmla="*/ 388957 h 533193"/>
              <a:gd name="connsiteX4" fmla="*/ 494452 w 603405"/>
              <a:gd name="connsiteY4" fmla="*/ 388957 h 533193"/>
              <a:gd name="connsiteX5" fmla="*/ 367511 w 603405"/>
              <a:gd name="connsiteY5" fmla="*/ 244227 h 533193"/>
              <a:gd name="connsiteX6" fmla="*/ 443780 w 603405"/>
              <a:gd name="connsiteY6" fmla="*/ 244227 h 533193"/>
              <a:gd name="connsiteX7" fmla="*/ 477411 w 603405"/>
              <a:gd name="connsiteY7" fmla="*/ 277633 h 533193"/>
              <a:gd name="connsiteX8" fmla="*/ 477861 w 603405"/>
              <a:gd name="connsiteY8" fmla="*/ 381744 h 533193"/>
              <a:gd name="connsiteX9" fmla="*/ 463748 w 603405"/>
              <a:gd name="connsiteY9" fmla="*/ 395975 h 533193"/>
              <a:gd name="connsiteX10" fmla="*/ 449486 w 603405"/>
              <a:gd name="connsiteY10" fmla="*/ 381894 h 533193"/>
              <a:gd name="connsiteX11" fmla="*/ 449035 w 603405"/>
              <a:gd name="connsiteY11" fmla="*/ 277782 h 533193"/>
              <a:gd name="connsiteX12" fmla="*/ 446033 w 603405"/>
              <a:gd name="connsiteY12" fmla="*/ 274786 h 533193"/>
              <a:gd name="connsiteX13" fmla="*/ 443030 w 603405"/>
              <a:gd name="connsiteY13" fmla="*/ 277782 h 533193"/>
              <a:gd name="connsiteX14" fmla="*/ 443330 w 603405"/>
              <a:gd name="connsiteY14" fmla="*/ 516116 h 533193"/>
              <a:gd name="connsiteX15" fmla="*/ 426215 w 603405"/>
              <a:gd name="connsiteY15" fmla="*/ 533193 h 533193"/>
              <a:gd name="connsiteX16" fmla="*/ 409249 w 603405"/>
              <a:gd name="connsiteY16" fmla="*/ 516116 h 533193"/>
              <a:gd name="connsiteX17" fmla="*/ 409249 w 603405"/>
              <a:gd name="connsiteY17" fmla="*/ 380096 h 533193"/>
              <a:gd name="connsiteX18" fmla="*/ 401893 w 603405"/>
              <a:gd name="connsiteY18" fmla="*/ 380096 h 533193"/>
              <a:gd name="connsiteX19" fmla="*/ 401893 w 603405"/>
              <a:gd name="connsiteY19" fmla="*/ 516116 h 533193"/>
              <a:gd name="connsiteX20" fmla="*/ 384778 w 603405"/>
              <a:gd name="connsiteY20" fmla="*/ 533193 h 533193"/>
              <a:gd name="connsiteX21" fmla="*/ 367812 w 603405"/>
              <a:gd name="connsiteY21" fmla="*/ 516116 h 533193"/>
              <a:gd name="connsiteX22" fmla="*/ 367812 w 603405"/>
              <a:gd name="connsiteY22" fmla="*/ 380096 h 533193"/>
              <a:gd name="connsiteX23" fmla="*/ 367812 w 603405"/>
              <a:gd name="connsiteY23" fmla="*/ 277782 h 533193"/>
              <a:gd name="connsiteX24" fmla="*/ 364959 w 603405"/>
              <a:gd name="connsiteY24" fmla="*/ 274936 h 533193"/>
              <a:gd name="connsiteX25" fmla="*/ 362257 w 603405"/>
              <a:gd name="connsiteY25" fmla="*/ 277782 h 533193"/>
              <a:gd name="connsiteX26" fmla="*/ 361656 w 603405"/>
              <a:gd name="connsiteY26" fmla="*/ 381894 h 533193"/>
              <a:gd name="connsiteX27" fmla="*/ 347544 w 603405"/>
              <a:gd name="connsiteY27" fmla="*/ 395975 h 533193"/>
              <a:gd name="connsiteX28" fmla="*/ 347393 w 603405"/>
              <a:gd name="connsiteY28" fmla="*/ 395975 h 533193"/>
              <a:gd name="connsiteX29" fmla="*/ 333281 w 603405"/>
              <a:gd name="connsiteY29" fmla="*/ 381744 h 533193"/>
              <a:gd name="connsiteX30" fmla="*/ 333881 w 603405"/>
              <a:gd name="connsiteY30" fmla="*/ 277633 h 533193"/>
              <a:gd name="connsiteX31" fmla="*/ 367511 w 603405"/>
              <a:gd name="connsiteY31" fmla="*/ 244227 h 533193"/>
              <a:gd name="connsiteX32" fmla="*/ 201525 w 603405"/>
              <a:gd name="connsiteY32" fmla="*/ 244227 h 533193"/>
              <a:gd name="connsiteX33" fmla="*/ 277906 w 603405"/>
              <a:gd name="connsiteY33" fmla="*/ 244227 h 533193"/>
              <a:gd name="connsiteX34" fmla="*/ 311520 w 603405"/>
              <a:gd name="connsiteY34" fmla="*/ 277633 h 533193"/>
              <a:gd name="connsiteX35" fmla="*/ 311970 w 603405"/>
              <a:gd name="connsiteY35" fmla="*/ 381744 h 533193"/>
              <a:gd name="connsiteX36" fmla="*/ 297864 w 603405"/>
              <a:gd name="connsiteY36" fmla="*/ 395975 h 533193"/>
              <a:gd name="connsiteX37" fmla="*/ 297714 w 603405"/>
              <a:gd name="connsiteY37" fmla="*/ 395975 h 533193"/>
              <a:gd name="connsiteX38" fmla="*/ 283608 w 603405"/>
              <a:gd name="connsiteY38" fmla="*/ 381894 h 533193"/>
              <a:gd name="connsiteX39" fmla="*/ 283008 w 603405"/>
              <a:gd name="connsiteY39" fmla="*/ 277782 h 533193"/>
              <a:gd name="connsiteX40" fmla="*/ 280007 w 603405"/>
              <a:gd name="connsiteY40" fmla="*/ 274786 h 533193"/>
              <a:gd name="connsiteX41" fmla="*/ 277156 w 603405"/>
              <a:gd name="connsiteY41" fmla="*/ 277782 h 533193"/>
              <a:gd name="connsiteX42" fmla="*/ 277456 w 603405"/>
              <a:gd name="connsiteY42" fmla="*/ 516116 h 533193"/>
              <a:gd name="connsiteX43" fmla="*/ 260349 w 603405"/>
              <a:gd name="connsiteY43" fmla="*/ 533193 h 533193"/>
              <a:gd name="connsiteX44" fmla="*/ 243242 w 603405"/>
              <a:gd name="connsiteY44" fmla="*/ 516116 h 533193"/>
              <a:gd name="connsiteX45" fmla="*/ 243242 w 603405"/>
              <a:gd name="connsiteY45" fmla="*/ 380096 h 533193"/>
              <a:gd name="connsiteX46" fmla="*/ 235889 w 603405"/>
              <a:gd name="connsiteY46" fmla="*/ 380096 h 533193"/>
              <a:gd name="connsiteX47" fmla="*/ 235889 w 603405"/>
              <a:gd name="connsiteY47" fmla="*/ 516116 h 533193"/>
              <a:gd name="connsiteX48" fmla="*/ 218932 w 603405"/>
              <a:gd name="connsiteY48" fmla="*/ 533193 h 533193"/>
              <a:gd name="connsiteX49" fmla="*/ 201825 w 603405"/>
              <a:gd name="connsiteY49" fmla="*/ 516116 h 533193"/>
              <a:gd name="connsiteX50" fmla="*/ 201825 w 603405"/>
              <a:gd name="connsiteY50" fmla="*/ 380096 h 533193"/>
              <a:gd name="connsiteX51" fmla="*/ 201825 w 603405"/>
              <a:gd name="connsiteY51" fmla="*/ 277782 h 533193"/>
              <a:gd name="connsiteX52" fmla="*/ 199124 w 603405"/>
              <a:gd name="connsiteY52" fmla="*/ 274936 h 533193"/>
              <a:gd name="connsiteX53" fmla="*/ 196423 w 603405"/>
              <a:gd name="connsiteY53" fmla="*/ 277782 h 533193"/>
              <a:gd name="connsiteX54" fmla="*/ 195822 w 603405"/>
              <a:gd name="connsiteY54" fmla="*/ 381894 h 533193"/>
              <a:gd name="connsiteX55" fmla="*/ 181567 w 603405"/>
              <a:gd name="connsiteY55" fmla="*/ 395975 h 533193"/>
              <a:gd name="connsiteX56" fmla="*/ 167461 w 603405"/>
              <a:gd name="connsiteY56" fmla="*/ 381744 h 533193"/>
              <a:gd name="connsiteX57" fmla="*/ 167911 w 603405"/>
              <a:gd name="connsiteY57" fmla="*/ 277633 h 533193"/>
              <a:gd name="connsiteX58" fmla="*/ 201525 w 603405"/>
              <a:gd name="connsiteY58" fmla="*/ 244227 h 533193"/>
              <a:gd name="connsiteX59" fmla="*/ 34214 w 603405"/>
              <a:gd name="connsiteY59" fmla="*/ 244227 h 533193"/>
              <a:gd name="connsiteX60" fmla="*/ 110445 w 603405"/>
              <a:gd name="connsiteY60" fmla="*/ 244227 h 533193"/>
              <a:gd name="connsiteX61" fmla="*/ 144059 w 603405"/>
              <a:gd name="connsiteY61" fmla="*/ 277633 h 533193"/>
              <a:gd name="connsiteX62" fmla="*/ 144509 w 603405"/>
              <a:gd name="connsiteY62" fmla="*/ 381744 h 533193"/>
              <a:gd name="connsiteX63" fmla="*/ 130403 w 603405"/>
              <a:gd name="connsiteY63" fmla="*/ 395975 h 533193"/>
              <a:gd name="connsiteX64" fmla="*/ 116147 w 603405"/>
              <a:gd name="connsiteY64" fmla="*/ 381894 h 533193"/>
              <a:gd name="connsiteX65" fmla="*/ 115697 w 603405"/>
              <a:gd name="connsiteY65" fmla="*/ 277782 h 533193"/>
              <a:gd name="connsiteX66" fmla="*/ 112696 w 603405"/>
              <a:gd name="connsiteY66" fmla="*/ 274786 h 533193"/>
              <a:gd name="connsiteX67" fmla="*/ 109694 w 603405"/>
              <a:gd name="connsiteY67" fmla="*/ 277782 h 533193"/>
              <a:gd name="connsiteX68" fmla="*/ 109995 w 603405"/>
              <a:gd name="connsiteY68" fmla="*/ 516116 h 533193"/>
              <a:gd name="connsiteX69" fmla="*/ 92888 w 603405"/>
              <a:gd name="connsiteY69" fmla="*/ 533193 h 533193"/>
              <a:gd name="connsiteX70" fmla="*/ 75931 w 603405"/>
              <a:gd name="connsiteY70" fmla="*/ 516116 h 533193"/>
              <a:gd name="connsiteX71" fmla="*/ 75931 w 603405"/>
              <a:gd name="connsiteY71" fmla="*/ 380096 h 533193"/>
              <a:gd name="connsiteX72" fmla="*/ 68578 w 603405"/>
              <a:gd name="connsiteY72" fmla="*/ 380096 h 533193"/>
              <a:gd name="connsiteX73" fmla="*/ 68578 w 603405"/>
              <a:gd name="connsiteY73" fmla="*/ 516116 h 533193"/>
              <a:gd name="connsiteX74" fmla="*/ 51471 w 603405"/>
              <a:gd name="connsiteY74" fmla="*/ 533193 h 533193"/>
              <a:gd name="connsiteX75" fmla="*/ 34364 w 603405"/>
              <a:gd name="connsiteY75" fmla="*/ 516116 h 533193"/>
              <a:gd name="connsiteX76" fmla="*/ 34364 w 603405"/>
              <a:gd name="connsiteY76" fmla="*/ 380096 h 533193"/>
              <a:gd name="connsiteX77" fmla="*/ 34364 w 603405"/>
              <a:gd name="connsiteY77" fmla="*/ 277782 h 533193"/>
              <a:gd name="connsiteX78" fmla="*/ 31663 w 603405"/>
              <a:gd name="connsiteY78" fmla="*/ 275086 h 533193"/>
              <a:gd name="connsiteX79" fmla="*/ 28962 w 603405"/>
              <a:gd name="connsiteY79" fmla="*/ 277782 h 533193"/>
              <a:gd name="connsiteX80" fmla="*/ 28361 w 603405"/>
              <a:gd name="connsiteY80" fmla="*/ 381894 h 533193"/>
              <a:gd name="connsiteX81" fmla="*/ 14256 w 603405"/>
              <a:gd name="connsiteY81" fmla="*/ 395975 h 533193"/>
              <a:gd name="connsiteX82" fmla="*/ 14106 w 603405"/>
              <a:gd name="connsiteY82" fmla="*/ 395975 h 533193"/>
              <a:gd name="connsiteX83" fmla="*/ 0 w 603405"/>
              <a:gd name="connsiteY83" fmla="*/ 381744 h 533193"/>
              <a:gd name="connsiteX84" fmla="*/ 600 w 603405"/>
              <a:gd name="connsiteY84" fmla="*/ 277633 h 533193"/>
              <a:gd name="connsiteX85" fmla="*/ 34214 w 603405"/>
              <a:gd name="connsiteY85" fmla="*/ 244227 h 533193"/>
              <a:gd name="connsiteX86" fmla="*/ 298774 w 603405"/>
              <a:gd name="connsiteY86" fmla="*/ 232090 h 533193"/>
              <a:gd name="connsiteX87" fmla="*/ 346547 w 603405"/>
              <a:gd name="connsiteY87" fmla="*/ 232090 h 533193"/>
              <a:gd name="connsiteX88" fmla="*/ 322660 w 603405"/>
              <a:gd name="connsiteY88" fmla="*/ 254883 h 533193"/>
              <a:gd name="connsiteX89" fmla="*/ 298774 w 603405"/>
              <a:gd name="connsiteY89" fmla="*/ 232090 h 533193"/>
              <a:gd name="connsiteX90" fmla="*/ 405716 w 603405"/>
              <a:gd name="connsiteY90" fmla="*/ 176061 h 533193"/>
              <a:gd name="connsiteX91" fmla="*/ 435177 w 603405"/>
              <a:gd name="connsiteY91" fmla="*/ 205417 h 533193"/>
              <a:gd name="connsiteX92" fmla="*/ 405716 w 603405"/>
              <a:gd name="connsiteY92" fmla="*/ 234773 h 533193"/>
              <a:gd name="connsiteX93" fmla="*/ 376255 w 603405"/>
              <a:gd name="connsiteY93" fmla="*/ 205417 h 533193"/>
              <a:gd name="connsiteX94" fmla="*/ 405716 w 603405"/>
              <a:gd name="connsiteY94" fmla="*/ 176061 h 533193"/>
              <a:gd name="connsiteX95" fmla="*/ 239817 w 603405"/>
              <a:gd name="connsiteY95" fmla="*/ 176061 h 533193"/>
              <a:gd name="connsiteX96" fmla="*/ 269208 w 603405"/>
              <a:gd name="connsiteY96" fmla="*/ 205417 h 533193"/>
              <a:gd name="connsiteX97" fmla="*/ 239817 w 603405"/>
              <a:gd name="connsiteY97" fmla="*/ 234773 h 533193"/>
              <a:gd name="connsiteX98" fmla="*/ 210426 w 603405"/>
              <a:gd name="connsiteY98" fmla="*/ 205417 h 533193"/>
              <a:gd name="connsiteX99" fmla="*/ 239817 w 603405"/>
              <a:gd name="connsiteY99" fmla="*/ 176061 h 533193"/>
              <a:gd name="connsiteX100" fmla="*/ 72325 w 603405"/>
              <a:gd name="connsiteY100" fmla="*/ 176061 h 533193"/>
              <a:gd name="connsiteX101" fmla="*/ 101897 w 603405"/>
              <a:gd name="connsiteY101" fmla="*/ 205416 h 533193"/>
              <a:gd name="connsiteX102" fmla="*/ 72325 w 603405"/>
              <a:gd name="connsiteY102" fmla="*/ 234772 h 533193"/>
              <a:gd name="connsiteX103" fmla="*/ 42904 w 603405"/>
              <a:gd name="connsiteY103" fmla="*/ 205416 h 533193"/>
              <a:gd name="connsiteX104" fmla="*/ 72325 w 603405"/>
              <a:gd name="connsiteY104" fmla="*/ 176061 h 533193"/>
              <a:gd name="connsiteX105" fmla="*/ 1200 w 603405"/>
              <a:gd name="connsiteY105" fmla="*/ 56241 h 533193"/>
              <a:gd name="connsiteX106" fmla="*/ 384613 w 603405"/>
              <a:gd name="connsiteY106" fmla="*/ 56241 h 533193"/>
              <a:gd name="connsiteX107" fmla="*/ 603405 w 603405"/>
              <a:gd name="connsiteY107" fmla="*/ 274494 h 533193"/>
              <a:gd name="connsiteX108" fmla="*/ 540979 w 603405"/>
              <a:gd name="connsiteY108" fmla="*/ 336809 h 533193"/>
              <a:gd name="connsiteX109" fmla="*/ 494459 w 603405"/>
              <a:gd name="connsiteY109" fmla="*/ 336809 h 533193"/>
              <a:gd name="connsiteX110" fmla="*/ 494159 w 603405"/>
              <a:gd name="connsiteY110" fmla="*/ 277490 h 533193"/>
              <a:gd name="connsiteX111" fmla="*/ 464747 w 603405"/>
              <a:gd name="connsiteY111" fmla="*/ 232102 h 533193"/>
              <a:gd name="connsiteX112" fmla="*/ 551333 w 603405"/>
              <a:gd name="connsiteY112" fmla="*/ 232102 h 533193"/>
              <a:gd name="connsiteX113" fmla="*/ 551483 w 603405"/>
              <a:gd name="connsiteY113" fmla="*/ 232102 h 533193"/>
              <a:gd name="connsiteX114" fmla="*/ 557636 w 603405"/>
              <a:gd name="connsiteY114" fmla="*/ 228806 h 533193"/>
              <a:gd name="connsiteX115" fmla="*/ 558236 w 603405"/>
              <a:gd name="connsiteY115" fmla="*/ 221766 h 533193"/>
              <a:gd name="connsiteX116" fmla="*/ 504663 w 603405"/>
              <a:gd name="connsiteY116" fmla="*/ 136532 h 533193"/>
              <a:gd name="connsiteX117" fmla="*/ 415676 w 603405"/>
              <a:gd name="connsiteY117" fmla="*/ 97585 h 533193"/>
              <a:gd name="connsiteX118" fmla="*/ 397968 w 603405"/>
              <a:gd name="connsiteY118" fmla="*/ 97585 h 533193"/>
              <a:gd name="connsiteX119" fmla="*/ 397968 w 603405"/>
              <a:gd name="connsiteY119" fmla="*/ 159900 h 533193"/>
              <a:gd name="connsiteX120" fmla="*/ 364954 w 603405"/>
              <a:gd name="connsiteY120" fmla="*/ 183568 h 533193"/>
              <a:gd name="connsiteX121" fmla="*/ 364954 w 603405"/>
              <a:gd name="connsiteY121" fmla="*/ 97585 h 533193"/>
              <a:gd name="connsiteX122" fmla="*/ 174223 w 603405"/>
              <a:gd name="connsiteY122" fmla="*/ 97585 h 533193"/>
              <a:gd name="connsiteX123" fmla="*/ 174223 w 603405"/>
              <a:gd name="connsiteY123" fmla="*/ 232102 h 533193"/>
              <a:gd name="connsiteX124" fmla="*/ 180526 w 603405"/>
              <a:gd name="connsiteY124" fmla="*/ 232102 h 533193"/>
              <a:gd name="connsiteX125" fmla="*/ 174223 w 603405"/>
              <a:gd name="connsiteY125" fmla="*/ 235547 h 533193"/>
              <a:gd name="connsiteX126" fmla="*/ 156065 w 603405"/>
              <a:gd name="connsiteY126" fmla="*/ 256369 h 533193"/>
              <a:gd name="connsiteX127" fmla="*/ 141209 w 603405"/>
              <a:gd name="connsiteY127" fmla="*/ 238093 h 533193"/>
              <a:gd name="connsiteX128" fmla="*/ 131455 w 603405"/>
              <a:gd name="connsiteY128" fmla="*/ 232102 h 533193"/>
              <a:gd name="connsiteX129" fmla="*/ 141209 w 603405"/>
              <a:gd name="connsiteY129" fmla="*/ 232102 h 533193"/>
              <a:gd name="connsiteX130" fmla="*/ 141209 w 603405"/>
              <a:gd name="connsiteY130" fmla="*/ 97585 h 533193"/>
              <a:gd name="connsiteX131" fmla="*/ 1200 w 603405"/>
              <a:gd name="connsiteY131" fmla="*/ 97585 h 533193"/>
              <a:gd name="connsiteX132" fmla="*/ 30337 w 603405"/>
              <a:gd name="connsiteY132" fmla="*/ 0 h 533193"/>
              <a:gd name="connsiteX133" fmla="*/ 450496 w 603405"/>
              <a:gd name="connsiteY133" fmla="*/ 0 h 533193"/>
              <a:gd name="connsiteX134" fmla="*/ 467002 w 603405"/>
              <a:gd name="connsiteY134" fmla="*/ 16512 h 533193"/>
              <a:gd name="connsiteX135" fmla="*/ 450496 w 603405"/>
              <a:gd name="connsiteY135" fmla="*/ 33025 h 533193"/>
              <a:gd name="connsiteX136" fmla="*/ 30337 w 603405"/>
              <a:gd name="connsiteY136" fmla="*/ 33025 h 533193"/>
              <a:gd name="connsiteX137" fmla="*/ 13831 w 603405"/>
              <a:gd name="connsiteY137" fmla="*/ 16512 h 533193"/>
              <a:gd name="connsiteX138" fmla="*/ 30337 w 603405"/>
              <a:gd name="connsiteY138" fmla="*/ 0 h 533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603405" h="533193">
                <a:moveTo>
                  <a:pt x="494452" y="356003"/>
                </a:moveTo>
                <a:lnTo>
                  <a:pt x="585270" y="356003"/>
                </a:lnTo>
                <a:cubicBezTo>
                  <a:pt x="594277" y="356003"/>
                  <a:pt x="601782" y="363343"/>
                  <a:pt x="601782" y="372480"/>
                </a:cubicBezTo>
                <a:cubicBezTo>
                  <a:pt x="601782" y="381617"/>
                  <a:pt x="594277" y="388957"/>
                  <a:pt x="585270" y="388957"/>
                </a:cubicBezTo>
                <a:lnTo>
                  <a:pt x="494452" y="388957"/>
                </a:lnTo>
                <a:close/>
                <a:moveTo>
                  <a:pt x="367511" y="244227"/>
                </a:moveTo>
                <a:lnTo>
                  <a:pt x="443780" y="244227"/>
                </a:lnTo>
                <a:cubicBezTo>
                  <a:pt x="462247" y="244227"/>
                  <a:pt x="477261" y="259207"/>
                  <a:pt x="477411" y="277633"/>
                </a:cubicBezTo>
                <a:lnTo>
                  <a:pt x="477861" y="381744"/>
                </a:lnTo>
                <a:cubicBezTo>
                  <a:pt x="478011" y="389534"/>
                  <a:pt x="471706" y="395975"/>
                  <a:pt x="463748" y="395975"/>
                </a:cubicBezTo>
                <a:cubicBezTo>
                  <a:pt x="455941" y="395975"/>
                  <a:pt x="449486" y="389684"/>
                  <a:pt x="449486" y="381894"/>
                </a:cubicBezTo>
                <a:lnTo>
                  <a:pt x="449035" y="277782"/>
                </a:lnTo>
                <a:cubicBezTo>
                  <a:pt x="449035" y="276135"/>
                  <a:pt x="447684" y="274786"/>
                  <a:pt x="446033" y="274786"/>
                </a:cubicBezTo>
                <a:cubicBezTo>
                  <a:pt x="444381" y="274786"/>
                  <a:pt x="443030" y="276135"/>
                  <a:pt x="443030" y="277782"/>
                </a:cubicBezTo>
                <a:cubicBezTo>
                  <a:pt x="443030" y="419944"/>
                  <a:pt x="443330" y="291115"/>
                  <a:pt x="443330" y="516116"/>
                </a:cubicBezTo>
                <a:cubicBezTo>
                  <a:pt x="443330" y="525553"/>
                  <a:pt x="435673" y="533193"/>
                  <a:pt x="426215" y="533193"/>
                </a:cubicBezTo>
                <a:cubicBezTo>
                  <a:pt x="416906" y="533193"/>
                  <a:pt x="409249" y="525553"/>
                  <a:pt x="409249" y="516116"/>
                </a:cubicBezTo>
                <a:lnTo>
                  <a:pt x="409249" y="380096"/>
                </a:lnTo>
                <a:lnTo>
                  <a:pt x="401893" y="380096"/>
                </a:lnTo>
                <a:lnTo>
                  <a:pt x="401893" y="516116"/>
                </a:lnTo>
                <a:cubicBezTo>
                  <a:pt x="401893" y="525553"/>
                  <a:pt x="394236" y="533193"/>
                  <a:pt x="384778" y="533193"/>
                </a:cubicBezTo>
                <a:cubicBezTo>
                  <a:pt x="375319" y="533193"/>
                  <a:pt x="367812" y="525553"/>
                  <a:pt x="367812" y="516116"/>
                </a:cubicBezTo>
                <a:lnTo>
                  <a:pt x="367812" y="380096"/>
                </a:lnTo>
                <a:lnTo>
                  <a:pt x="367812" y="277782"/>
                </a:lnTo>
                <a:cubicBezTo>
                  <a:pt x="367812" y="276284"/>
                  <a:pt x="366461" y="274936"/>
                  <a:pt x="364959" y="274936"/>
                </a:cubicBezTo>
                <a:cubicBezTo>
                  <a:pt x="363458" y="274936"/>
                  <a:pt x="362257" y="276284"/>
                  <a:pt x="362257" y="277782"/>
                </a:cubicBezTo>
                <a:lnTo>
                  <a:pt x="361656" y="381894"/>
                </a:lnTo>
                <a:cubicBezTo>
                  <a:pt x="361656" y="389684"/>
                  <a:pt x="355351" y="395975"/>
                  <a:pt x="347544" y="395975"/>
                </a:cubicBezTo>
                <a:lnTo>
                  <a:pt x="347393" y="395975"/>
                </a:lnTo>
                <a:cubicBezTo>
                  <a:pt x="339586" y="395975"/>
                  <a:pt x="333281" y="389534"/>
                  <a:pt x="333281" y="381744"/>
                </a:cubicBezTo>
                <a:lnTo>
                  <a:pt x="333881" y="277633"/>
                </a:lnTo>
                <a:cubicBezTo>
                  <a:pt x="333881" y="259207"/>
                  <a:pt x="349045" y="244227"/>
                  <a:pt x="367511" y="244227"/>
                </a:cubicBezTo>
                <a:close/>
                <a:moveTo>
                  <a:pt x="201525" y="244227"/>
                </a:moveTo>
                <a:lnTo>
                  <a:pt x="277906" y="244227"/>
                </a:lnTo>
                <a:cubicBezTo>
                  <a:pt x="296213" y="244227"/>
                  <a:pt x="311370" y="259207"/>
                  <a:pt x="311520" y="277633"/>
                </a:cubicBezTo>
                <a:lnTo>
                  <a:pt x="311970" y="381744"/>
                </a:lnTo>
                <a:cubicBezTo>
                  <a:pt x="311970" y="389534"/>
                  <a:pt x="305667" y="395975"/>
                  <a:pt x="297864" y="395975"/>
                </a:cubicBezTo>
                <a:lnTo>
                  <a:pt x="297714" y="395975"/>
                </a:lnTo>
                <a:cubicBezTo>
                  <a:pt x="289911" y="395975"/>
                  <a:pt x="283608" y="389684"/>
                  <a:pt x="283608" y="381894"/>
                </a:cubicBezTo>
                <a:lnTo>
                  <a:pt x="283008" y="277782"/>
                </a:lnTo>
                <a:cubicBezTo>
                  <a:pt x="283008" y="276135"/>
                  <a:pt x="281657" y="274786"/>
                  <a:pt x="280007" y="274786"/>
                </a:cubicBezTo>
                <a:cubicBezTo>
                  <a:pt x="278356" y="274786"/>
                  <a:pt x="277156" y="276135"/>
                  <a:pt x="277156" y="277782"/>
                </a:cubicBezTo>
                <a:cubicBezTo>
                  <a:pt x="277156" y="419944"/>
                  <a:pt x="277456" y="291115"/>
                  <a:pt x="277456" y="516116"/>
                </a:cubicBezTo>
                <a:cubicBezTo>
                  <a:pt x="277456" y="525553"/>
                  <a:pt x="269803" y="533193"/>
                  <a:pt x="260349" y="533193"/>
                </a:cubicBezTo>
                <a:cubicBezTo>
                  <a:pt x="250895" y="533193"/>
                  <a:pt x="243242" y="525553"/>
                  <a:pt x="243242" y="516116"/>
                </a:cubicBezTo>
                <a:lnTo>
                  <a:pt x="243242" y="380096"/>
                </a:lnTo>
                <a:lnTo>
                  <a:pt x="235889" y="380096"/>
                </a:lnTo>
                <a:lnTo>
                  <a:pt x="235889" y="516116"/>
                </a:lnTo>
                <a:cubicBezTo>
                  <a:pt x="235889" y="525553"/>
                  <a:pt x="228386" y="533193"/>
                  <a:pt x="218932" y="533193"/>
                </a:cubicBezTo>
                <a:cubicBezTo>
                  <a:pt x="209478" y="533193"/>
                  <a:pt x="201825" y="525553"/>
                  <a:pt x="201825" y="516116"/>
                </a:cubicBezTo>
                <a:lnTo>
                  <a:pt x="201825" y="380096"/>
                </a:lnTo>
                <a:lnTo>
                  <a:pt x="201825" y="277782"/>
                </a:lnTo>
                <a:cubicBezTo>
                  <a:pt x="201825" y="276284"/>
                  <a:pt x="200624" y="274936"/>
                  <a:pt x="199124" y="274936"/>
                </a:cubicBezTo>
                <a:cubicBezTo>
                  <a:pt x="197623" y="274936"/>
                  <a:pt x="196423" y="276284"/>
                  <a:pt x="196423" y="277782"/>
                </a:cubicBezTo>
                <a:lnTo>
                  <a:pt x="195822" y="381894"/>
                </a:lnTo>
                <a:cubicBezTo>
                  <a:pt x="195822" y="389684"/>
                  <a:pt x="189370" y="395975"/>
                  <a:pt x="181567" y="395975"/>
                </a:cubicBezTo>
                <a:cubicBezTo>
                  <a:pt x="173763" y="395975"/>
                  <a:pt x="167311" y="389534"/>
                  <a:pt x="167461" y="381744"/>
                </a:cubicBezTo>
                <a:lnTo>
                  <a:pt x="167911" y="277633"/>
                </a:lnTo>
                <a:cubicBezTo>
                  <a:pt x="168061" y="259207"/>
                  <a:pt x="183067" y="244227"/>
                  <a:pt x="201525" y="244227"/>
                </a:cubicBezTo>
                <a:close/>
                <a:moveTo>
                  <a:pt x="34214" y="244227"/>
                </a:moveTo>
                <a:lnTo>
                  <a:pt x="110445" y="244227"/>
                </a:lnTo>
                <a:cubicBezTo>
                  <a:pt x="128902" y="244227"/>
                  <a:pt x="143908" y="259207"/>
                  <a:pt x="144059" y="277633"/>
                </a:cubicBezTo>
                <a:lnTo>
                  <a:pt x="144509" y="381744"/>
                </a:lnTo>
                <a:cubicBezTo>
                  <a:pt x="144659" y="389534"/>
                  <a:pt x="138206" y="395975"/>
                  <a:pt x="130403" y="395975"/>
                </a:cubicBezTo>
                <a:cubicBezTo>
                  <a:pt x="122600" y="395975"/>
                  <a:pt x="116147" y="389684"/>
                  <a:pt x="116147" y="381894"/>
                </a:cubicBezTo>
                <a:lnTo>
                  <a:pt x="115697" y="277782"/>
                </a:lnTo>
                <a:cubicBezTo>
                  <a:pt x="115547" y="276135"/>
                  <a:pt x="114346" y="274786"/>
                  <a:pt x="112696" y="274786"/>
                </a:cubicBezTo>
                <a:cubicBezTo>
                  <a:pt x="111045" y="274786"/>
                  <a:pt x="109694" y="276135"/>
                  <a:pt x="109694" y="277782"/>
                </a:cubicBezTo>
                <a:cubicBezTo>
                  <a:pt x="109694" y="343695"/>
                  <a:pt x="109995" y="452450"/>
                  <a:pt x="109995" y="516116"/>
                </a:cubicBezTo>
                <a:cubicBezTo>
                  <a:pt x="109995" y="525553"/>
                  <a:pt x="102341" y="533193"/>
                  <a:pt x="92888" y="533193"/>
                </a:cubicBezTo>
                <a:cubicBezTo>
                  <a:pt x="83584" y="533193"/>
                  <a:pt x="75931" y="525553"/>
                  <a:pt x="75931" y="516116"/>
                </a:cubicBezTo>
                <a:lnTo>
                  <a:pt x="75931" y="380096"/>
                </a:lnTo>
                <a:lnTo>
                  <a:pt x="68578" y="380096"/>
                </a:lnTo>
                <a:lnTo>
                  <a:pt x="68578" y="516116"/>
                </a:lnTo>
                <a:cubicBezTo>
                  <a:pt x="68578" y="525553"/>
                  <a:pt x="60925" y="533193"/>
                  <a:pt x="51471" y="533193"/>
                </a:cubicBezTo>
                <a:cubicBezTo>
                  <a:pt x="42017" y="533193"/>
                  <a:pt x="34364" y="525553"/>
                  <a:pt x="34364" y="516116"/>
                </a:cubicBezTo>
                <a:lnTo>
                  <a:pt x="34364" y="380096"/>
                </a:lnTo>
                <a:lnTo>
                  <a:pt x="34364" y="277782"/>
                </a:lnTo>
                <a:cubicBezTo>
                  <a:pt x="34364" y="276284"/>
                  <a:pt x="33163" y="275086"/>
                  <a:pt x="31663" y="275086"/>
                </a:cubicBezTo>
                <a:cubicBezTo>
                  <a:pt x="30162" y="274936"/>
                  <a:pt x="28962" y="276284"/>
                  <a:pt x="28962" y="277782"/>
                </a:cubicBezTo>
                <a:lnTo>
                  <a:pt x="28361" y="381894"/>
                </a:lnTo>
                <a:cubicBezTo>
                  <a:pt x="28361" y="389684"/>
                  <a:pt x="22059" y="395975"/>
                  <a:pt x="14256" y="395975"/>
                </a:cubicBezTo>
                <a:lnTo>
                  <a:pt x="14106" y="395975"/>
                </a:lnTo>
                <a:cubicBezTo>
                  <a:pt x="6302" y="395975"/>
                  <a:pt x="0" y="389534"/>
                  <a:pt x="0" y="381744"/>
                </a:cubicBezTo>
                <a:lnTo>
                  <a:pt x="600" y="277633"/>
                </a:lnTo>
                <a:cubicBezTo>
                  <a:pt x="600" y="259207"/>
                  <a:pt x="15756" y="244227"/>
                  <a:pt x="34214" y="244227"/>
                </a:cubicBezTo>
                <a:close/>
                <a:moveTo>
                  <a:pt x="298774" y="232090"/>
                </a:moveTo>
                <a:lnTo>
                  <a:pt x="346547" y="232090"/>
                </a:lnTo>
                <a:cubicBezTo>
                  <a:pt x="336331" y="236739"/>
                  <a:pt x="327768" y="244836"/>
                  <a:pt x="322660" y="254883"/>
                </a:cubicBezTo>
                <a:cubicBezTo>
                  <a:pt x="317552" y="244836"/>
                  <a:pt x="309140" y="236739"/>
                  <a:pt x="298774" y="232090"/>
                </a:cubicBezTo>
                <a:close/>
                <a:moveTo>
                  <a:pt x="405716" y="176061"/>
                </a:moveTo>
                <a:cubicBezTo>
                  <a:pt x="421987" y="176061"/>
                  <a:pt x="435177" y="189204"/>
                  <a:pt x="435177" y="205417"/>
                </a:cubicBezTo>
                <a:cubicBezTo>
                  <a:pt x="435177" y="221630"/>
                  <a:pt x="421987" y="234773"/>
                  <a:pt x="405716" y="234773"/>
                </a:cubicBezTo>
                <a:cubicBezTo>
                  <a:pt x="389445" y="234773"/>
                  <a:pt x="376255" y="221630"/>
                  <a:pt x="376255" y="205417"/>
                </a:cubicBezTo>
                <a:cubicBezTo>
                  <a:pt x="376255" y="189204"/>
                  <a:pt x="389445" y="176061"/>
                  <a:pt x="405716" y="176061"/>
                </a:cubicBezTo>
                <a:close/>
                <a:moveTo>
                  <a:pt x="239817" y="176061"/>
                </a:moveTo>
                <a:cubicBezTo>
                  <a:pt x="256049" y="176061"/>
                  <a:pt x="269208" y="189204"/>
                  <a:pt x="269208" y="205417"/>
                </a:cubicBezTo>
                <a:cubicBezTo>
                  <a:pt x="269208" y="221630"/>
                  <a:pt x="256049" y="234773"/>
                  <a:pt x="239817" y="234773"/>
                </a:cubicBezTo>
                <a:cubicBezTo>
                  <a:pt x="223585" y="234773"/>
                  <a:pt x="210426" y="221630"/>
                  <a:pt x="210426" y="205417"/>
                </a:cubicBezTo>
                <a:cubicBezTo>
                  <a:pt x="210426" y="189204"/>
                  <a:pt x="223585" y="176061"/>
                  <a:pt x="239817" y="176061"/>
                </a:cubicBezTo>
                <a:close/>
                <a:moveTo>
                  <a:pt x="72325" y="176061"/>
                </a:moveTo>
                <a:cubicBezTo>
                  <a:pt x="88687" y="176061"/>
                  <a:pt x="101897" y="189241"/>
                  <a:pt x="101897" y="205416"/>
                </a:cubicBezTo>
                <a:cubicBezTo>
                  <a:pt x="101897" y="221592"/>
                  <a:pt x="88687" y="234772"/>
                  <a:pt x="72325" y="234772"/>
                </a:cubicBezTo>
                <a:cubicBezTo>
                  <a:pt x="56113" y="234772"/>
                  <a:pt x="42904" y="221592"/>
                  <a:pt x="42904" y="205416"/>
                </a:cubicBezTo>
                <a:cubicBezTo>
                  <a:pt x="42904" y="189241"/>
                  <a:pt x="55963" y="176061"/>
                  <a:pt x="72325" y="176061"/>
                </a:cubicBezTo>
                <a:close/>
                <a:moveTo>
                  <a:pt x="1200" y="56241"/>
                </a:moveTo>
                <a:lnTo>
                  <a:pt x="384613" y="56241"/>
                </a:lnTo>
                <a:cubicBezTo>
                  <a:pt x="505414" y="56241"/>
                  <a:pt x="603405" y="154058"/>
                  <a:pt x="603405" y="274494"/>
                </a:cubicBezTo>
                <a:cubicBezTo>
                  <a:pt x="603405" y="308947"/>
                  <a:pt x="575493" y="336809"/>
                  <a:pt x="540979" y="336809"/>
                </a:cubicBezTo>
                <a:lnTo>
                  <a:pt x="494459" y="336809"/>
                </a:lnTo>
                <a:lnTo>
                  <a:pt x="494159" y="277490"/>
                </a:lnTo>
                <a:cubicBezTo>
                  <a:pt x="494009" y="257417"/>
                  <a:pt x="482004" y="240041"/>
                  <a:pt x="464747" y="232102"/>
                </a:cubicBezTo>
                <a:lnTo>
                  <a:pt x="551333" y="232102"/>
                </a:lnTo>
                <a:lnTo>
                  <a:pt x="551483" y="232102"/>
                </a:lnTo>
                <a:cubicBezTo>
                  <a:pt x="553884" y="232102"/>
                  <a:pt x="556285" y="230753"/>
                  <a:pt x="557636" y="228806"/>
                </a:cubicBezTo>
                <a:cubicBezTo>
                  <a:pt x="558986" y="226709"/>
                  <a:pt x="559136" y="224013"/>
                  <a:pt x="558236" y="221766"/>
                </a:cubicBezTo>
                <a:cubicBezTo>
                  <a:pt x="550283" y="203790"/>
                  <a:pt x="531825" y="165892"/>
                  <a:pt x="504663" y="136532"/>
                </a:cubicBezTo>
                <a:cubicBezTo>
                  <a:pt x="481704" y="111666"/>
                  <a:pt x="449440" y="97585"/>
                  <a:pt x="415676" y="97585"/>
                </a:cubicBezTo>
                <a:lnTo>
                  <a:pt x="397968" y="97585"/>
                </a:lnTo>
                <a:lnTo>
                  <a:pt x="397968" y="159900"/>
                </a:lnTo>
                <a:cubicBezTo>
                  <a:pt x="383712" y="162297"/>
                  <a:pt x="371707" y="171284"/>
                  <a:pt x="364954" y="183568"/>
                </a:cubicBezTo>
                <a:lnTo>
                  <a:pt x="364954" y="97585"/>
                </a:lnTo>
                <a:lnTo>
                  <a:pt x="174223" y="97585"/>
                </a:lnTo>
                <a:lnTo>
                  <a:pt x="174223" y="232102"/>
                </a:lnTo>
                <a:lnTo>
                  <a:pt x="180526" y="232102"/>
                </a:lnTo>
                <a:cubicBezTo>
                  <a:pt x="178425" y="233150"/>
                  <a:pt x="176324" y="234199"/>
                  <a:pt x="174223" y="235547"/>
                </a:cubicBezTo>
                <a:cubicBezTo>
                  <a:pt x="166420" y="240640"/>
                  <a:pt x="159967" y="247830"/>
                  <a:pt x="156065" y="256369"/>
                </a:cubicBezTo>
                <a:cubicBezTo>
                  <a:pt x="152614" y="249178"/>
                  <a:pt x="147512" y="242887"/>
                  <a:pt x="141209" y="238093"/>
                </a:cubicBezTo>
                <a:cubicBezTo>
                  <a:pt x="138208" y="235697"/>
                  <a:pt x="134906" y="233749"/>
                  <a:pt x="131455" y="232102"/>
                </a:cubicBezTo>
                <a:lnTo>
                  <a:pt x="141209" y="232102"/>
                </a:lnTo>
                <a:lnTo>
                  <a:pt x="141209" y="97585"/>
                </a:lnTo>
                <a:lnTo>
                  <a:pt x="1200" y="97585"/>
                </a:lnTo>
                <a:close/>
                <a:moveTo>
                  <a:pt x="30337" y="0"/>
                </a:moveTo>
                <a:lnTo>
                  <a:pt x="450496" y="0"/>
                </a:lnTo>
                <a:cubicBezTo>
                  <a:pt x="459649" y="0"/>
                  <a:pt x="467002" y="7356"/>
                  <a:pt x="467002" y="16512"/>
                </a:cubicBezTo>
                <a:cubicBezTo>
                  <a:pt x="467002" y="25669"/>
                  <a:pt x="459649" y="33025"/>
                  <a:pt x="450496" y="33025"/>
                </a:cubicBezTo>
                <a:lnTo>
                  <a:pt x="30337" y="33025"/>
                </a:lnTo>
                <a:cubicBezTo>
                  <a:pt x="21184" y="33025"/>
                  <a:pt x="13831" y="25669"/>
                  <a:pt x="13831" y="16512"/>
                </a:cubicBezTo>
                <a:cubicBezTo>
                  <a:pt x="13831" y="7356"/>
                  <a:pt x="21184" y="0"/>
                  <a:pt x="30337" y="0"/>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endParaRPr lang="zh-CN" altLang="en-US">
              <a:solidFill>
                <a:srgbClr val="000000"/>
              </a:solidFill>
              <a:latin typeface="Arial" panose="020F0502020204030204"/>
              <a:ea typeface="微软雅黑"/>
              <a:cs typeface="+mn-ea"/>
              <a:sym typeface="+mn-lt"/>
            </a:endParaRPr>
          </a:p>
        </p:txBody>
      </p:sp>
      <p:pic>
        <p:nvPicPr>
          <p:cNvPr id="2" name="Picture 2" descr="Fig. 1: The machine learning architecture of EZSpecificity.">
            <a:extLst>
              <a:ext uri="{FF2B5EF4-FFF2-40B4-BE49-F238E27FC236}">
                <a16:creationId xmlns:a16="http://schemas.microsoft.com/office/drawing/2014/main" id="{6F470232-EDEB-3A2D-0B36-C7C9EB4C4323}"/>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60213" t="2284" r="958" b="24905"/>
          <a:stretch>
            <a:fillRect/>
          </a:stretch>
        </p:blipFill>
        <p:spPr bwMode="auto">
          <a:xfrm>
            <a:off x="440123" y="1020622"/>
            <a:ext cx="4734128" cy="3820118"/>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3E2D0AE7-9CDA-D504-581A-4873AC8DBC5E}"/>
              </a:ext>
            </a:extLst>
          </p:cNvPr>
          <p:cNvSpPr txBox="1"/>
          <p:nvPr/>
        </p:nvSpPr>
        <p:spPr>
          <a:xfrm>
            <a:off x="5793149" y="1422449"/>
            <a:ext cx="5447490" cy="369332"/>
          </a:xfrm>
          <a:prstGeom prst="rect">
            <a:avLst/>
          </a:prstGeom>
          <a:noFill/>
        </p:spPr>
        <p:txBody>
          <a:bodyPr wrap="square" rtlCol="0">
            <a:spAutoFit/>
          </a:bodyPr>
          <a:lstStyle/>
          <a:p>
            <a:r>
              <a:rPr lang="zh-CN" altLang="en-US" dirty="0"/>
              <a:t>使用双向交叉注意力机制融合序列信息与结构信息</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A7E706E-F603-6BDC-8F96-98B82A2238BD}"/>
                  </a:ext>
                </a:extLst>
              </p:cNvPr>
              <p:cNvSpPr txBox="1"/>
              <p:nvPr/>
            </p:nvSpPr>
            <p:spPr>
              <a:xfrm>
                <a:off x="5259356" y="2129308"/>
                <a:ext cx="6096000" cy="108523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zh-CN" altLang="en-US" b="0" smtClean="0"/>
                        <m:t>Attention</m:t>
                      </m:r>
                      <m:d>
                        <m:dPr>
                          <m:ctrlPr>
                            <a:rPr lang="zh-CN" altLang="en-US" b="0" i="1">
                              <a:latin typeface="Cambria Math" panose="02040503050406030204" pitchFamily="18" charset="0"/>
                            </a:rPr>
                          </m:ctrlPr>
                        </m:dPr>
                        <m:e>
                          <m:r>
                            <a:rPr lang="zh-CN" altLang="en-US" b="0" i="1">
                              <a:latin typeface="Cambria Math" panose="02040503050406030204" pitchFamily="18" charset="0"/>
                            </a:rPr>
                            <m:t>𝑄</m:t>
                          </m:r>
                          <m:r>
                            <a:rPr lang="zh-CN" altLang="en-US" b="0" i="0">
                              <a:latin typeface="Cambria Math" panose="02040503050406030204" pitchFamily="18" charset="0"/>
                            </a:rPr>
                            <m:t>,</m:t>
                          </m:r>
                          <m:r>
                            <a:rPr lang="zh-CN" altLang="en-US" b="0" i="1">
                              <a:latin typeface="Cambria Math" panose="02040503050406030204" pitchFamily="18" charset="0"/>
                            </a:rPr>
                            <m:t>𝐾</m:t>
                          </m:r>
                          <m:r>
                            <a:rPr lang="zh-CN" altLang="en-US" b="0" i="0">
                              <a:latin typeface="Cambria Math" panose="02040503050406030204" pitchFamily="18" charset="0"/>
                            </a:rPr>
                            <m:t>,</m:t>
                          </m:r>
                          <m:r>
                            <a:rPr lang="zh-CN" altLang="en-US" b="0" i="1">
                              <a:latin typeface="Cambria Math" panose="02040503050406030204" pitchFamily="18" charset="0"/>
                            </a:rPr>
                            <m:t>𝑉</m:t>
                          </m:r>
                        </m:e>
                      </m:d>
                      <m:r>
                        <a:rPr lang="zh-CN" altLang="en-US" b="0" i="0">
                          <a:latin typeface="Cambria Math" panose="02040503050406030204" pitchFamily="18" charset="0"/>
                        </a:rPr>
                        <m:t>=</m:t>
                      </m:r>
                      <m:r>
                        <m:rPr>
                          <m:nor/>
                        </m:rPr>
                        <a:rPr lang="zh-CN" altLang="en-US" b="0" i="1">
                          <a:latin typeface="Cambria Math" panose="02040503050406030204" pitchFamily="18" charset="0"/>
                        </a:rPr>
                        <m:t>softmax</m:t>
                      </m:r>
                      <m:d>
                        <m:dPr>
                          <m:ctrlPr>
                            <a:rPr lang="zh-CN" altLang="en-US" b="0" i="1">
                              <a:latin typeface="Cambria Math" panose="02040503050406030204" pitchFamily="18" charset="0"/>
                            </a:rPr>
                          </m:ctrlPr>
                        </m:dPr>
                        <m:e>
                          <m:f>
                            <m:fPr>
                              <m:ctrlPr>
                                <a:rPr lang="zh-CN" altLang="en-US" b="0" i="1">
                                  <a:latin typeface="Cambria Math" panose="02040503050406030204" pitchFamily="18" charset="0"/>
                                </a:rPr>
                              </m:ctrlPr>
                            </m:fPr>
                            <m:num>
                              <m:r>
                                <a:rPr lang="zh-CN" altLang="en-US" b="0" i="1">
                                  <a:latin typeface="Cambria Math" panose="02040503050406030204" pitchFamily="18" charset="0"/>
                                </a:rPr>
                                <m:t>𝑄</m:t>
                              </m:r>
                              <m:sSup>
                                <m:sSupPr>
                                  <m:ctrlPr>
                                    <a:rPr lang="zh-CN" altLang="en-US" b="0" i="1">
                                      <a:latin typeface="Cambria Math" panose="02040503050406030204" pitchFamily="18" charset="0"/>
                                    </a:rPr>
                                  </m:ctrlPr>
                                </m:sSupPr>
                                <m:e>
                                  <m:r>
                                    <a:rPr lang="zh-CN" altLang="en-US" b="0" i="1">
                                      <a:latin typeface="Cambria Math" panose="02040503050406030204" pitchFamily="18" charset="0"/>
                                    </a:rPr>
                                    <m:t>𝐾</m:t>
                                  </m:r>
                                </m:e>
                                <m:sup>
                                  <m:r>
                                    <a:rPr lang="zh-CN" altLang="en-US" b="0" i="1">
                                      <a:latin typeface="Cambria Math" panose="02040503050406030204" pitchFamily="18" charset="0"/>
                                    </a:rPr>
                                    <m:t>𝑇</m:t>
                                  </m:r>
                                </m:sup>
                              </m:sSup>
                            </m:num>
                            <m:den>
                              <m:rad>
                                <m:radPr>
                                  <m:degHide m:val="on"/>
                                  <m:ctrlPr>
                                    <a:rPr lang="zh-CN" altLang="en-US" b="0" i="1">
                                      <a:latin typeface="Cambria Math" panose="02040503050406030204" pitchFamily="18" charset="0"/>
                                    </a:rPr>
                                  </m:ctrlPr>
                                </m:radPr>
                                <m:deg/>
                                <m:e>
                                  <m:sSub>
                                    <m:sSubPr>
                                      <m:ctrlPr>
                                        <a:rPr lang="zh-CN" altLang="en-US" b="0" i="1">
                                          <a:latin typeface="Cambria Math" panose="02040503050406030204" pitchFamily="18" charset="0"/>
                                        </a:rPr>
                                      </m:ctrlPr>
                                    </m:sSubPr>
                                    <m:e>
                                      <m:r>
                                        <a:rPr lang="zh-CN" altLang="en-US" b="0" i="1">
                                          <a:latin typeface="Cambria Math" panose="02040503050406030204" pitchFamily="18" charset="0"/>
                                        </a:rPr>
                                        <m:t>𝑑</m:t>
                                      </m:r>
                                    </m:e>
                                    <m:sub>
                                      <m:r>
                                        <a:rPr lang="zh-CN" altLang="en-US" b="0" i="1">
                                          <a:latin typeface="Cambria Math" panose="02040503050406030204" pitchFamily="18" charset="0"/>
                                        </a:rPr>
                                        <m:t>𝑘</m:t>
                                      </m:r>
                                    </m:sub>
                                  </m:sSub>
                                </m:e>
                              </m:rad>
                            </m:den>
                          </m:f>
                        </m:e>
                      </m:d>
                      <m:r>
                        <a:rPr lang="zh-CN" altLang="en-US" b="0" i="1">
                          <a:latin typeface="Cambria Math" panose="02040503050406030204" pitchFamily="18" charset="0"/>
                        </a:rPr>
                        <m:t>𝑉</m:t>
                      </m:r>
                    </m:oMath>
                  </m:oMathPara>
                </a14:m>
                <a:endParaRPr lang="en-US" altLang="zh-CN" b="0" dirty="0"/>
              </a:p>
              <a:p>
                <a:r>
                  <a:rPr lang="en-US" altLang="zh-CN" dirty="0"/>
                  <a:t>	</a:t>
                </a:r>
                <a14:m>
                  <m:oMath xmlns:m="http://schemas.openxmlformats.org/officeDocument/2006/math">
                    <m:r>
                      <a:rPr lang="zh-CN" altLang="en-US" i="1">
                        <a:latin typeface="Cambria Math" panose="02040503050406030204" pitchFamily="18" charset="0"/>
                      </a:rPr>
                      <m:t>𝑄</m:t>
                    </m:r>
                  </m:oMath>
                </a14:m>
                <a:r>
                  <a:rPr lang="en-US" altLang="zh-CN" dirty="0"/>
                  <a:t>(Query/</a:t>
                </a:r>
                <a:r>
                  <a:rPr lang="zh-CN" altLang="en-US" dirty="0"/>
                  <a:t>查询</a:t>
                </a:r>
                <a:r>
                  <a:rPr lang="en-US" altLang="zh-CN" dirty="0"/>
                  <a:t>)</a:t>
                </a:r>
                <a:r>
                  <a:rPr lang="zh-CN" altLang="en-US" dirty="0"/>
                  <a:t>、</a:t>
                </a:r>
                <a14:m>
                  <m:oMath xmlns:m="http://schemas.openxmlformats.org/officeDocument/2006/math">
                    <m:r>
                      <a:rPr lang="zh-CN" altLang="en-US" i="1">
                        <a:latin typeface="Cambria Math" panose="02040503050406030204" pitchFamily="18" charset="0"/>
                      </a:rPr>
                      <m:t>𝐾</m:t>
                    </m:r>
                  </m:oMath>
                </a14:m>
                <a:r>
                  <a:rPr lang="en-US" altLang="zh-CN" dirty="0"/>
                  <a:t>(Key/</a:t>
                </a:r>
                <a:r>
                  <a:rPr lang="zh-CN" altLang="en-US" dirty="0"/>
                  <a:t>键</a:t>
                </a:r>
                <a:r>
                  <a:rPr lang="en-US" altLang="zh-CN" dirty="0"/>
                  <a:t>)</a:t>
                </a:r>
                <a:r>
                  <a:rPr lang="zh-CN" altLang="en-US" dirty="0"/>
                  <a:t> 和</a:t>
                </a:r>
                <a14:m>
                  <m:oMath xmlns:m="http://schemas.openxmlformats.org/officeDocument/2006/math">
                    <m:r>
                      <a:rPr lang="zh-CN" altLang="en-US" i="1">
                        <a:latin typeface="Cambria Math" panose="02040503050406030204" pitchFamily="18" charset="0"/>
                      </a:rPr>
                      <m:t>𝑉</m:t>
                    </m:r>
                  </m:oMath>
                </a14:m>
                <a:r>
                  <a:rPr lang="en-US" altLang="zh-CN" dirty="0"/>
                  <a:t>(Value/</a:t>
                </a:r>
                <a:r>
                  <a:rPr lang="zh-CN" altLang="en-US" dirty="0"/>
                  <a:t>值</a:t>
                </a:r>
                <a:r>
                  <a:rPr lang="en-US" altLang="zh-CN" dirty="0"/>
                  <a:t>)</a:t>
                </a:r>
                <a:r>
                  <a:rPr lang="zh-CN" altLang="en-US" dirty="0"/>
                  <a:t>。</a:t>
                </a:r>
              </a:p>
            </p:txBody>
          </p:sp>
        </mc:Choice>
        <mc:Fallback xmlns="">
          <p:sp>
            <p:nvSpPr>
              <p:cNvPr id="7" name="文本框 6">
                <a:extLst>
                  <a:ext uri="{FF2B5EF4-FFF2-40B4-BE49-F238E27FC236}">
                    <a16:creationId xmlns:a16="http://schemas.microsoft.com/office/drawing/2014/main" id="{4A7E706E-F603-6BDC-8F96-98B82A2238BD}"/>
                  </a:ext>
                </a:extLst>
              </p:cNvPr>
              <p:cNvSpPr txBox="1">
                <a:spLocks noRot="1" noChangeAspect="1" noMove="1" noResize="1" noEditPoints="1" noAdjustHandles="1" noChangeArrowheads="1" noChangeShapeType="1" noTextEdit="1"/>
              </p:cNvSpPr>
              <p:nvPr/>
            </p:nvSpPr>
            <p:spPr>
              <a:xfrm>
                <a:off x="5259356" y="2129308"/>
                <a:ext cx="6096000" cy="1085233"/>
              </a:xfrm>
              <a:prstGeom prst="rect">
                <a:avLst/>
              </a:prstGeom>
              <a:blipFill>
                <a:blip r:embed="rId7"/>
                <a:stretch>
                  <a:fillRect b="-786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2E9A9B0B-6BBD-AB0D-CB48-12361C494F05}"/>
                  </a:ext>
                </a:extLst>
              </p:cNvPr>
              <p:cNvSpPr txBox="1"/>
              <p:nvPr/>
            </p:nvSpPr>
            <p:spPr>
              <a:xfrm>
                <a:off x="5403610" y="3270401"/>
                <a:ext cx="6226567" cy="1200329"/>
              </a:xfrm>
              <a:prstGeom prst="rect">
                <a:avLst/>
              </a:prstGeom>
              <a:noFill/>
            </p:spPr>
            <p:txBody>
              <a:bodyPr wrap="square" rtlCol="0">
                <a:spAutoFit/>
              </a:bodyPr>
              <a:lstStyle/>
              <a:p>
                <a:r>
                  <a:rPr lang="zh-CN" altLang="en-US" dirty="0"/>
                  <a:t>自注意力中：</a:t>
                </a:r>
                <a:r>
                  <a:rPr lang="zh-CN" altLang="en-US" b="0" dirty="0"/>
                  <a:t> </a:t>
                </a:r>
                <a14:m>
                  <m:oMath xmlns:m="http://schemas.openxmlformats.org/officeDocument/2006/math">
                    <m:d>
                      <m:dPr>
                        <m:ctrlPr>
                          <a:rPr lang="zh-CN" altLang="en-US" b="0" i="1">
                            <a:latin typeface="Cambria Math" panose="02040503050406030204" pitchFamily="18" charset="0"/>
                          </a:rPr>
                        </m:ctrlPr>
                      </m:dPr>
                      <m:e>
                        <m:r>
                          <a:rPr lang="zh-CN" altLang="en-US" b="0" i="1">
                            <a:latin typeface="Cambria Math" panose="02040503050406030204" pitchFamily="18" charset="0"/>
                          </a:rPr>
                          <m:t>𝑄</m:t>
                        </m:r>
                        <m:r>
                          <a:rPr lang="zh-CN" altLang="en-US" b="0" i="0">
                            <a:latin typeface="Cambria Math" panose="02040503050406030204" pitchFamily="18" charset="0"/>
                          </a:rPr>
                          <m:t>,</m:t>
                        </m:r>
                        <m:r>
                          <a:rPr lang="zh-CN" altLang="en-US" b="0" i="1">
                            <a:latin typeface="Cambria Math" panose="02040503050406030204" pitchFamily="18" charset="0"/>
                          </a:rPr>
                          <m:t>𝐾</m:t>
                        </m:r>
                        <m:r>
                          <a:rPr lang="zh-CN" altLang="en-US" b="0" i="0">
                            <a:latin typeface="Cambria Math" panose="02040503050406030204" pitchFamily="18" charset="0"/>
                          </a:rPr>
                          <m:t>,</m:t>
                        </m:r>
                        <m:r>
                          <a:rPr lang="zh-CN" altLang="en-US" b="0" i="1">
                            <a:latin typeface="Cambria Math" panose="02040503050406030204" pitchFamily="18" charset="0"/>
                          </a:rPr>
                          <m:t>𝑉</m:t>
                        </m:r>
                      </m:e>
                    </m:d>
                  </m:oMath>
                </a14:m>
                <a:r>
                  <a:rPr lang="en-US" altLang="zh-CN" dirty="0"/>
                  <a:t> </a:t>
                </a:r>
                <a:r>
                  <a:rPr lang="zh-CN" altLang="en-US" dirty="0"/>
                  <a:t>都来自于同一个数据序列（比如都在处理同一个蛋白序列），模型是在寻找序列内部的联系。</a:t>
                </a:r>
                <a:endParaRPr lang="en-US" altLang="zh-CN" dirty="0"/>
              </a:p>
              <a:p>
                <a:endParaRPr lang="en-US" altLang="zh-CN" dirty="0"/>
              </a:p>
              <a:p>
                <a:r>
                  <a:rPr lang="zh-CN" altLang="en-US" dirty="0"/>
                  <a:t>交叉注意力：</a:t>
                </a:r>
                <a:r>
                  <a:rPr lang="zh-CN" altLang="en-US" b="0" dirty="0"/>
                  <a:t> </a:t>
                </a:r>
                <a14:m>
                  <m:oMath xmlns:m="http://schemas.openxmlformats.org/officeDocument/2006/math">
                    <m:d>
                      <m:dPr>
                        <m:ctrlPr>
                          <a:rPr lang="zh-CN" altLang="en-US" b="0" i="1">
                            <a:latin typeface="Cambria Math" panose="02040503050406030204" pitchFamily="18" charset="0"/>
                          </a:rPr>
                        </m:ctrlPr>
                      </m:dPr>
                      <m:e>
                        <m:r>
                          <a:rPr lang="zh-CN" altLang="en-US" b="0" i="1">
                            <a:latin typeface="Cambria Math" panose="02040503050406030204" pitchFamily="18" charset="0"/>
                          </a:rPr>
                          <m:t>𝑄</m:t>
                        </m:r>
                        <m:r>
                          <a:rPr lang="zh-CN" altLang="en-US" b="0" i="0">
                            <a:latin typeface="Cambria Math" panose="02040503050406030204" pitchFamily="18" charset="0"/>
                          </a:rPr>
                          <m:t>,</m:t>
                        </m:r>
                        <m:r>
                          <a:rPr lang="zh-CN" altLang="en-US" b="0" i="1">
                            <a:latin typeface="Cambria Math" panose="02040503050406030204" pitchFamily="18" charset="0"/>
                          </a:rPr>
                          <m:t>𝐾</m:t>
                        </m:r>
                        <m:r>
                          <a:rPr lang="zh-CN" altLang="en-US" b="0" i="0">
                            <a:latin typeface="Cambria Math" panose="02040503050406030204" pitchFamily="18" charset="0"/>
                          </a:rPr>
                          <m:t>,</m:t>
                        </m:r>
                        <m:r>
                          <a:rPr lang="zh-CN" altLang="en-US" b="0" i="1">
                            <a:latin typeface="Cambria Math" panose="02040503050406030204" pitchFamily="18" charset="0"/>
                          </a:rPr>
                          <m:t>𝑉</m:t>
                        </m:r>
                      </m:e>
                    </m:d>
                  </m:oMath>
                </a14:m>
                <a:r>
                  <a:rPr lang="zh-CN" altLang="en-US" dirty="0"/>
                  <a:t>来自于不同的数据序列。</a:t>
                </a:r>
              </a:p>
            </p:txBody>
          </p:sp>
        </mc:Choice>
        <mc:Fallback xmlns="">
          <p:sp>
            <p:nvSpPr>
              <p:cNvPr id="9" name="文本框 8">
                <a:extLst>
                  <a:ext uri="{FF2B5EF4-FFF2-40B4-BE49-F238E27FC236}">
                    <a16:creationId xmlns:a16="http://schemas.microsoft.com/office/drawing/2014/main" id="{2E9A9B0B-6BBD-AB0D-CB48-12361C494F05}"/>
                  </a:ext>
                </a:extLst>
              </p:cNvPr>
              <p:cNvSpPr txBox="1">
                <a:spLocks noRot="1" noChangeAspect="1" noMove="1" noResize="1" noEditPoints="1" noAdjustHandles="1" noChangeArrowheads="1" noChangeShapeType="1" noTextEdit="1"/>
              </p:cNvSpPr>
              <p:nvPr/>
            </p:nvSpPr>
            <p:spPr>
              <a:xfrm>
                <a:off x="5403610" y="3270401"/>
                <a:ext cx="6226567" cy="1200329"/>
              </a:xfrm>
              <a:prstGeom prst="rect">
                <a:avLst/>
              </a:prstGeom>
              <a:blipFill>
                <a:blip r:embed="rId8"/>
                <a:stretch>
                  <a:fillRect l="-783" t="-2538" r="-294" b="-710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772044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24190-ADEC-A5B9-6D65-00E4B293EC9A}"/>
            </a:ext>
          </a:extLst>
        </p:cNvPr>
        <p:cNvGrpSpPr/>
        <p:nvPr/>
      </p:nvGrpSpPr>
      <p:grpSpPr>
        <a:xfrm>
          <a:off x="0" y="0"/>
          <a:ext cx="0" cy="0"/>
          <a:chOff x="0" y="0"/>
          <a:chExt cx="0" cy="0"/>
        </a:xfrm>
      </p:grpSpPr>
      <p:grpSp>
        <p:nvGrpSpPr>
          <p:cNvPr id="20" name="组合 19">
            <a:extLst>
              <a:ext uri="{FF2B5EF4-FFF2-40B4-BE49-F238E27FC236}">
                <a16:creationId xmlns:a16="http://schemas.microsoft.com/office/drawing/2014/main" id="{DDB91446-F481-A569-736B-530C533A4A7B}"/>
              </a:ext>
            </a:extLst>
          </p:cNvPr>
          <p:cNvGrpSpPr/>
          <p:nvPr/>
        </p:nvGrpSpPr>
        <p:grpSpPr>
          <a:xfrm>
            <a:off x="286653" y="116633"/>
            <a:ext cx="11618694" cy="6681374"/>
            <a:chOff x="286653" y="116633"/>
            <a:chExt cx="11618694" cy="6681374"/>
          </a:xfrm>
        </p:grpSpPr>
        <p:grpSp>
          <p:nvGrpSpPr>
            <p:cNvPr id="21" name="组合 20">
              <a:extLst>
                <a:ext uri="{FF2B5EF4-FFF2-40B4-BE49-F238E27FC236}">
                  <a16:creationId xmlns:a16="http://schemas.microsoft.com/office/drawing/2014/main" id="{F64D1E71-BB98-FCA0-91E1-DF31DDF17546}"/>
                </a:ext>
              </a:extLst>
            </p:cNvPr>
            <p:cNvGrpSpPr/>
            <p:nvPr/>
          </p:nvGrpSpPr>
          <p:grpSpPr>
            <a:xfrm>
              <a:off x="335361" y="116633"/>
              <a:ext cx="629872" cy="612768"/>
              <a:chOff x="3070727" y="196457"/>
              <a:chExt cx="692047" cy="673255"/>
            </a:xfrm>
          </p:grpSpPr>
          <p:sp>
            <p:nvSpPr>
              <p:cNvPr id="26" name="平行四边形 25">
                <a:extLst>
                  <a:ext uri="{FF2B5EF4-FFF2-40B4-BE49-F238E27FC236}">
                    <a16:creationId xmlns:a16="http://schemas.microsoft.com/office/drawing/2014/main" id="{4DC0E062-C1F4-EE8A-A235-8DC229D49341}"/>
                  </a:ext>
                </a:extLst>
              </p:cNvPr>
              <p:cNvSpPr/>
              <p:nvPr/>
            </p:nvSpPr>
            <p:spPr>
              <a:xfrm>
                <a:off x="3070727" y="196457"/>
                <a:ext cx="629587" cy="612775"/>
              </a:xfrm>
              <a:prstGeom prst="parallelogram">
                <a:avLst/>
              </a:prstGeom>
              <a:solidFill>
                <a:srgbClr val="6B0261"/>
              </a:solidFill>
              <a:ln w="25400" cap="flat" cmpd="sng" algn="ctr">
                <a:solidFill>
                  <a:srgbClr val="6B026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27" name="平行四边形 26">
                <a:extLst>
                  <a:ext uri="{FF2B5EF4-FFF2-40B4-BE49-F238E27FC236}">
                    <a16:creationId xmlns:a16="http://schemas.microsoft.com/office/drawing/2014/main" id="{F31F0F16-F2B8-E99A-1E07-B6E4FE15417D}"/>
                  </a:ext>
                </a:extLst>
              </p:cNvPr>
              <p:cNvSpPr/>
              <p:nvPr/>
            </p:nvSpPr>
            <p:spPr>
              <a:xfrm>
                <a:off x="3133187" y="256937"/>
                <a:ext cx="629587" cy="612775"/>
              </a:xfrm>
              <a:prstGeom prst="parallelogram">
                <a:avLst/>
              </a:prstGeom>
              <a:noFill/>
              <a:ln w="25400" cap="flat" cmpd="sng" algn="ctr">
                <a:solidFill>
                  <a:srgbClr val="6B026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cxnSp>
          <p:nvCxnSpPr>
            <p:cNvPr id="22" name="直接连接符 21">
              <a:extLst>
                <a:ext uri="{FF2B5EF4-FFF2-40B4-BE49-F238E27FC236}">
                  <a16:creationId xmlns:a16="http://schemas.microsoft.com/office/drawing/2014/main" id="{102D8419-48A7-E8AC-3D55-A76A080CAFE9}"/>
                </a:ext>
              </a:extLst>
            </p:cNvPr>
            <p:cNvCxnSpPr>
              <a:cxnSpLocks/>
            </p:cNvCxnSpPr>
            <p:nvPr/>
          </p:nvCxnSpPr>
          <p:spPr>
            <a:xfrm>
              <a:off x="367840" y="809674"/>
              <a:ext cx="11488800" cy="0"/>
            </a:xfrm>
            <a:prstGeom prst="line">
              <a:avLst/>
            </a:prstGeom>
            <a:noFill/>
            <a:ln w="9525" cap="flat" cmpd="sng" algn="ctr">
              <a:solidFill>
                <a:srgbClr val="6B0261"/>
              </a:solidFill>
              <a:prstDash val="solid"/>
            </a:ln>
            <a:effectLst/>
          </p:spPr>
        </p:cxnSp>
        <p:sp>
          <p:nvSpPr>
            <p:cNvPr id="23" name="文本占位符 5">
              <a:extLst>
                <a:ext uri="{FF2B5EF4-FFF2-40B4-BE49-F238E27FC236}">
                  <a16:creationId xmlns:a16="http://schemas.microsoft.com/office/drawing/2014/main" id="{4310D823-E31C-CF26-ACB4-23697A700983}"/>
                </a:ext>
              </a:extLst>
            </p:cNvPr>
            <p:cNvSpPr txBox="1">
              <a:spLocks/>
            </p:cNvSpPr>
            <p:nvPr/>
          </p:nvSpPr>
          <p:spPr>
            <a:xfrm>
              <a:off x="1075777" y="214065"/>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rgbClr val="6B0261"/>
                  </a:solidFill>
                </a:rPr>
                <a:t>研究内容</a:t>
              </a:r>
            </a:p>
          </p:txBody>
        </p:sp>
        <p:sp>
          <p:nvSpPr>
            <p:cNvPr id="24" name="文本框 23">
              <a:extLst>
                <a:ext uri="{FF2B5EF4-FFF2-40B4-BE49-F238E27FC236}">
                  <a16:creationId xmlns:a16="http://schemas.microsoft.com/office/drawing/2014/main" id="{EF25887C-98FC-373A-67DF-AF7D557288C4}"/>
                </a:ext>
              </a:extLst>
            </p:cNvPr>
            <p:cNvSpPr txBox="1"/>
            <p:nvPr/>
          </p:nvSpPr>
          <p:spPr>
            <a:xfrm>
              <a:off x="10805366" y="642867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25" name="图片 24">
              <a:extLst>
                <a:ext uri="{FF2B5EF4-FFF2-40B4-BE49-F238E27FC236}">
                  <a16:creationId xmlns:a16="http://schemas.microsoft.com/office/drawing/2014/main" id="{323DD498-21FE-903F-54B9-196B4DCC44E9}"/>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a:stretch/>
          </p:blipFill>
          <p:spPr>
            <a:xfrm>
              <a:off x="286653" y="6425619"/>
              <a:ext cx="2520534" cy="369332"/>
            </a:xfrm>
            <a:prstGeom prst="rect">
              <a:avLst/>
            </a:prstGeom>
          </p:spPr>
        </p:pic>
      </p:grpSp>
      <p:grpSp>
        <p:nvGrpSpPr>
          <p:cNvPr id="51" name="组合 50">
            <a:extLst>
              <a:ext uri="{FF2B5EF4-FFF2-40B4-BE49-F238E27FC236}">
                <a16:creationId xmlns:a16="http://schemas.microsoft.com/office/drawing/2014/main" id="{86273EDE-42E6-EA5C-541F-392DDB9E14E6}"/>
              </a:ext>
            </a:extLst>
          </p:cNvPr>
          <p:cNvGrpSpPr/>
          <p:nvPr/>
        </p:nvGrpSpPr>
        <p:grpSpPr>
          <a:xfrm>
            <a:off x="9938479" y="77827"/>
            <a:ext cx="2017490" cy="675447"/>
            <a:chOff x="995884" y="398899"/>
            <a:chExt cx="3658781" cy="1224944"/>
          </a:xfrm>
        </p:grpSpPr>
        <p:pic>
          <p:nvPicPr>
            <p:cNvPr id="52" name="图片 51">
              <a:extLst>
                <a:ext uri="{FF2B5EF4-FFF2-40B4-BE49-F238E27FC236}">
                  <a16:creationId xmlns:a16="http://schemas.microsoft.com/office/drawing/2014/main" id="{A3A8931E-35C7-FC9B-2181-1E2C586F9E7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95884" y="398899"/>
              <a:ext cx="977348" cy="1224944"/>
            </a:xfrm>
            <a:prstGeom prst="rect">
              <a:avLst/>
            </a:prstGeom>
          </p:spPr>
        </p:pic>
        <p:pic>
          <p:nvPicPr>
            <p:cNvPr id="53" name="图片 52">
              <a:extLst>
                <a:ext uri="{FF2B5EF4-FFF2-40B4-BE49-F238E27FC236}">
                  <a16:creationId xmlns:a16="http://schemas.microsoft.com/office/drawing/2014/main" id="{BE816227-A07E-B918-841A-83D687A6E4C9}"/>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173707" y="405382"/>
              <a:ext cx="2384890" cy="796233"/>
            </a:xfrm>
            <a:prstGeom prst="rect">
              <a:avLst/>
            </a:prstGeom>
          </p:spPr>
        </p:pic>
        <p:sp>
          <p:nvSpPr>
            <p:cNvPr id="54" name="矩形 53">
              <a:extLst>
                <a:ext uri="{FF2B5EF4-FFF2-40B4-BE49-F238E27FC236}">
                  <a16:creationId xmlns:a16="http://schemas.microsoft.com/office/drawing/2014/main" id="{246882DD-5761-986C-6D5A-585FD38EED71}"/>
                </a:ext>
              </a:extLst>
            </p:cNvPr>
            <p:cNvSpPr/>
            <p:nvPr/>
          </p:nvSpPr>
          <p:spPr>
            <a:xfrm>
              <a:off x="2069306" y="1138524"/>
              <a:ext cx="2585359" cy="46048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rPr>
                <a:t>NANJING UNIVERSITY</a:t>
              </a:r>
              <a:endParaRPr kumimoji="0" lang="zh-CN" altLang="en-US" sz="105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endParaRPr>
            </a:p>
          </p:txBody>
        </p:sp>
      </p:grpSp>
      <p:sp>
        <p:nvSpPr>
          <p:cNvPr id="31" name="íŝḷïḓè">
            <a:extLst>
              <a:ext uri="{FF2B5EF4-FFF2-40B4-BE49-F238E27FC236}">
                <a16:creationId xmlns:a16="http://schemas.microsoft.com/office/drawing/2014/main" id="{66610725-6C5F-66C5-F885-018D66F93EFA}"/>
              </a:ext>
            </a:extLst>
          </p:cNvPr>
          <p:cNvSpPr/>
          <p:nvPr/>
        </p:nvSpPr>
        <p:spPr bwMode="auto">
          <a:xfrm>
            <a:off x="5828824" y="4147130"/>
            <a:ext cx="338337" cy="366161"/>
          </a:xfrm>
          <a:custGeom>
            <a:avLst/>
            <a:gdLst>
              <a:gd name="connsiteX0" fmla="*/ 327780 w 561933"/>
              <a:gd name="connsiteY0" fmla="*/ 406780 h 608145"/>
              <a:gd name="connsiteX1" fmla="*/ 285069 w 561933"/>
              <a:gd name="connsiteY1" fmla="*/ 449434 h 608145"/>
              <a:gd name="connsiteX2" fmla="*/ 327780 w 561933"/>
              <a:gd name="connsiteY2" fmla="*/ 492088 h 608145"/>
              <a:gd name="connsiteX3" fmla="*/ 370490 w 561933"/>
              <a:gd name="connsiteY3" fmla="*/ 449434 h 608145"/>
              <a:gd name="connsiteX4" fmla="*/ 327780 w 561933"/>
              <a:gd name="connsiteY4" fmla="*/ 406780 h 608145"/>
              <a:gd name="connsiteX5" fmla="*/ 91381 w 561933"/>
              <a:gd name="connsiteY5" fmla="*/ 406780 h 608145"/>
              <a:gd name="connsiteX6" fmla="*/ 49664 w 561933"/>
              <a:gd name="connsiteY6" fmla="*/ 449434 h 608145"/>
              <a:gd name="connsiteX7" fmla="*/ 91381 w 561933"/>
              <a:gd name="connsiteY7" fmla="*/ 492088 h 608145"/>
              <a:gd name="connsiteX8" fmla="*/ 134092 w 561933"/>
              <a:gd name="connsiteY8" fmla="*/ 449434 h 608145"/>
              <a:gd name="connsiteX9" fmla="*/ 91381 w 561933"/>
              <a:gd name="connsiteY9" fmla="*/ 406780 h 608145"/>
              <a:gd name="connsiteX10" fmla="*/ 130119 w 561933"/>
              <a:gd name="connsiteY10" fmla="*/ 162762 h 608145"/>
              <a:gd name="connsiteX11" fmla="*/ 50657 w 561933"/>
              <a:gd name="connsiteY11" fmla="*/ 243110 h 608145"/>
              <a:gd name="connsiteX12" fmla="*/ 50657 w 561933"/>
              <a:gd name="connsiteY12" fmla="*/ 312546 h 608145"/>
              <a:gd name="connsiteX13" fmla="*/ 78468 w 561933"/>
              <a:gd name="connsiteY13" fmla="*/ 341312 h 608145"/>
              <a:gd name="connsiteX14" fmla="*/ 340692 w 561933"/>
              <a:gd name="connsiteY14" fmla="*/ 341312 h 608145"/>
              <a:gd name="connsiteX15" fmla="*/ 369497 w 561933"/>
              <a:gd name="connsiteY15" fmla="*/ 312546 h 608145"/>
              <a:gd name="connsiteX16" fmla="*/ 369497 w 561933"/>
              <a:gd name="connsiteY16" fmla="*/ 243110 h 608145"/>
              <a:gd name="connsiteX17" fmla="*/ 289042 w 561933"/>
              <a:gd name="connsiteY17" fmla="*/ 162762 h 608145"/>
              <a:gd name="connsiteX18" fmla="*/ 127139 w 561933"/>
              <a:gd name="connsiteY18" fmla="*/ 99278 h 608145"/>
              <a:gd name="connsiteX19" fmla="*/ 293015 w 561933"/>
              <a:gd name="connsiteY19" fmla="*/ 99278 h 608145"/>
              <a:gd name="connsiteX20" fmla="*/ 420154 w 561933"/>
              <a:gd name="connsiteY20" fmla="*/ 226247 h 608145"/>
              <a:gd name="connsiteX21" fmla="*/ 420154 w 561933"/>
              <a:gd name="connsiteY21" fmla="*/ 486136 h 608145"/>
              <a:gd name="connsiteX22" fmla="*/ 382410 w 561933"/>
              <a:gd name="connsiteY22" fmla="*/ 541685 h 608145"/>
              <a:gd name="connsiteX23" fmla="*/ 382410 w 561933"/>
              <a:gd name="connsiteY23" fmla="*/ 561524 h 608145"/>
              <a:gd name="connsiteX24" fmla="*/ 334733 w 561933"/>
              <a:gd name="connsiteY24" fmla="*/ 608145 h 608145"/>
              <a:gd name="connsiteX25" fmla="*/ 326786 w 561933"/>
              <a:gd name="connsiteY25" fmla="*/ 608145 h 608145"/>
              <a:gd name="connsiteX26" fmla="*/ 280103 w 561933"/>
              <a:gd name="connsiteY26" fmla="*/ 561524 h 608145"/>
              <a:gd name="connsiteX27" fmla="*/ 280103 w 561933"/>
              <a:gd name="connsiteY27" fmla="*/ 544661 h 608145"/>
              <a:gd name="connsiteX28" fmla="*/ 140051 w 561933"/>
              <a:gd name="connsiteY28" fmla="*/ 544661 h 608145"/>
              <a:gd name="connsiteX29" fmla="*/ 140051 w 561933"/>
              <a:gd name="connsiteY29" fmla="*/ 561524 h 608145"/>
              <a:gd name="connsiteX30" fmla="*/ 92374 w 561933"/>
              <a:gd name="connsiteY30" fmla="*/ 608145 h 608145"/>
              <a:gd name="connsiteX31" fmla="*/ 84428 w 561933"/>
              <a:gd name="connsiteY31" fmla="*/ 608145 h 608145"/>
              <a:gd name="connsiteX32" fmla="*/ 37744 w 561933"/>
              <a:gd name="connsiteY32" fmla="*/ 561524 h 608145"/>
              <a:gd name="connsiteX33" fmla="*/ 37744 w 561933"/>
              <a:gd name="connsiteY33" fmla="*/ 541685 h 608145"/>
              <a:gd name="connsiteX34" fmla="*/ 0 w 561933"/>
              <a:gd name="connsiteY34" fmla="*/ 486136 h 608145"/>
              <a:gd name="connsiteX35" fmla="*/ 0 w 561933"/>
              <a:gd name="connsiteY35" fmla="*/ 226247 h 608145"/>
              <a:gd name="connsiteX36" fmla="*/ 127139 w 561933"/>
              <a:gd name="connsiteY36" fmla="*/ 99278 h 608145"/>
              <a:gd name="connsiteX37" fmla="*/ 408232 w 561933"/>
              <a:gd name="connsiteY37" fmla="*/ 74504 h 608145"/>
              <a:gd name="connsiteX38" fmla="*/ 424139 w 561933"/>
              <a:gd name="connsiteY38" fmla="*/ 75495 h 608145"/>
              <a:gd name="connsiteX39" fmla="*/ 486772 w 561933"/>
              <a:gd name="connsiteY39" fmla="*/ 185587 h 608145"/>
              <a:gd name="connsiteX40" fmla="*/ 479813 w 561933"/>
              <a:gd name="connsiteY40" fmla="*/ 199473 h 608145"/>
              <a:gd name="connsiteX41" fmla="*/ 464901 w 561933"/>
              <a:gd name="connsiteY41" fmla="*/ 202448 h 608145"/>
              <a:gd name="connsiteX42" fmla="*/ 462912 w 561933"/>
              <a:gd name="connsiteY42" fmla="*/ 201456 h 608145"/>
              <a:gd name="connsiteX43" fmla="*/ 448994 w 561933"/>
              <a:gd name="connsiteY43" fmla="*/ 183604 h 608145"/>
              <a:gd name="connsiteX44" fmla="*/ 406244 w 561933"/>
              <a:gd name="connsiteY44" fmla="*/ 109217 h 608145"/>
              <a:gd name="connsiteX45" fmla="*/ 397296 w 561933"/>
              <a:gd name="connsiteY45" fmla="*/ 89381 h 608145"/>
              <a:gd name="connsiteX46" fmla="*/ 398291 w 561933"/>
              <a:gd name="connsiteY46" fmla="*/ 87397 h 608145"/>
              <a:gd name="connsiteX47" fmla="*/ 408232 w 561933"/>
              <a:gd name="connsiteY47" fmla="*/ 74504 h 608145"/>
              <a:gd name="connsiteX48" fmla="*/ 439969 w 561933"/>
              <a:gd name="connsiteY48" fmla="*/ 1081 h 608145"/>
              <a:gd name="connsiteX49" fmla="*/ 560176 w 561933"/>
              <a:gd name="connsiteY49" fmla="*/ 205408 h 608145"/>
              <a:gd name="connsiteX50" fmla="*/ 552228 w 561933"/>
              <a:gd name="connsiteY50" fmla="*/ 217311 h 608145"/>
              <a:gd name="connsiteX51" fmla="*/ 537326 w 561933"/>
              <a:gd name="connsiteY51" fmla="*/ 220286 h 608145"/>
              <a:gd name="connsiteX52" fmla="*/ 535340 w 561933"/>
              <a:gd name="connsiteY52" fmla="*/ 219294 h 608145"/>
              <a:gd name="connsiteX53" fmla="*/ 522425 w 561933"/>
              <a:gd name="connsiteY53" fmla="*/ 199457 h 608145"/>
              <a:gd name="connsiteX54" fmla="*/ 426061 w 561933"/>
              <a:gd name="connsiteY54" fmla="*/ 36788 h 608145"/>
              <a:gd name="connsiteX55" fmla="*/ 416126 w 561933"/>
              <a:gd name="connsiteY55" fmla="*/ 15959 h 608145"/>
              <a:gd name="connsiteX56" fmla="*/ 416126 w 561933"/>
              <a:gd name="connsiteY56" fmla="*/ 13975 h 608145"/>
              <a:gd name="connsiteX57" fmla="*/ 425067 w 561933"/>
              <a:gd name="connsiteY57" fmla="*/ 2073 h 608145"/>
              <a:gd name="connsiteX58" fmla="*/ 439969 w 561933"/>
              <a:gd name="connsiteY58" fmla="*/ 1081 h 608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61933" h="608145">
                <a:moveTo>
                  <a:pt x="327780" y="406780"/>
                </a:moveTo>
                <a:cubicBezTo>
                  <a:pt x="303941" y="406780"/>
                  <a:pt x="285069" y="425627"/>
                  <a:pt x="285069" y="449434"/>
                </a:cubicBezTo>
                <a:cubicBezTo>
                  <a:pt x="285069" y="473241"/>
                  <a:pt x="303941" y="492088"/>
                  <a:pt x="327780" y="492088"/>
                </a:cubicBezTo>
                <a:cubicBezTo>
                  <a:pt x="350625" y="492088"/>
                  <a:pt x="370490" y="473241"/>
                  <a:pt x="370490" y="449434"/>
                </a:cubicBezTo>
                <a:cubicBezTo>
                  <a:pt x="370490" y="425627"/>
                  <a:pt x="350625" y="406780"/>
                  <a:pt x="327780" y="406780"/>
                </a:cubicBezTo>
                <a:close/>
                <a:moveTo>
                  <a:pt x="91381" y="406780"/>
                </a:moveTo>
                <a:cubicBezTo>
                  <a:pt x="68536" y="406780"/>
                  <a:pt x="49664" y="425627"/>
                  <a:pt x="49664" y="449434"/>
                </a:cubicBezTo>
                <a:cubicBezTo>
                  <a:pt x="49664" y="473241"/>
                  <a:pt x="68536" y="492088"/>
                  <a:pt x="91381" y="492088"/>
                </a:cubicBezTo>
                <a:cubicBezTo>
                  <a:pt x="115220" y="492088"/>
                  <a:pt x="134092" y="473241"/>
                  <a:pt x="134092" y="449434"/>
                </a:cubicBezTo>
                <a:cubicBezTo>
                  <a:pt x="134092" y="425627"/>
                  <a:pt x="115220" y="406780"/>
                  <a:pt x="91381" y="406780"/>
                </a:cubicBezTo>
                <a:close/>
                <a:moveTo>
                  <a:pt x="130119" y="162762"/>
                </a:moveTo>
                <a:cubicBezTo>
                  <a:pt x="86415" y="162762"/>
                  <a:pt x="50657" y="198472"/>
                  <a:pt x="50657" y="243110"/>
                </a:cubicBezTo>
                <a:lnTo>
                  <a:pt x="50657" y="312546"/>
                </a:lnTo>
                <a:cubicBezTo>
                  <a:pt x="50657" y="328417"/>
                  <a:pt x="62576" y="341312"/>
                  <a:pt x="78468" y="341312"/>
                </a:cubicBezTo>
                <a:lnTo>
                  <a:pt x="340692" y="341312"/>
                </a:lnTo>
                <a:cubicBezTo>
                  <a:pt x="356585" y="341312"/>
                  <a:pt x="369497" y="328417"/>
                  <a:pt x="369497" y="312546"/>
                </a:cubicBezTo>
                <a:lnTo>
                  <a:pt x="369497" y="243110"/>
                </a:lnTo>
                <a:cubicBezTo>
                  <a:pt x="369497" y="198472"/>
                  <a:pt x="332746" y="162762"/>
                  <a:pt x="289042" y="162762"/>
                </a:cubicBezTo>
                <a:close/>
                <a:moveTo>
                  <a:pt x="127139" y="99278"/>
                </a:moveTo>
                <a:lnTo>
                  <a:pt x="293015" y="99278"/>
                </a:lnTo>
                <a:cubicBezTo>
                  <a:pt x="363538" y="99278"/>
                  <a:pt x="420154" y="155819"/>
                  <a:pt x="420154" y="226247"/>
                </a:cubicBezTo>
                <a:lnTo>
                  <a:pt x="420154" y="486136"/>
                </a:lnTo>
                <a:cubicBezTo>
                  <a:pt x="420154" y="511926"/>
                  <a:pt x="404262" y="532757"/>
                  <a:pt x="382410" y="541685"/>
                </a:cubicBezTo>
                <a:lnTo>
                  <a:pt x="382410" y="561524"/>
                </a:lnTo>
                <a:cubicBezTo>
                  <a:pt x="382410" y="587314"/>
                  <a:pt x="360558" y="608145"/>
                  <a:pt x="334733" y="608145"/>
                </a:cubicBezTo>
                <a:lnTo>
                  <a:pt x="326786" y="608145"/>
                </a:lnTo>
                <a:cubicBezTo>
                  <a:pt x="300961" y="608145"/>
                  <a:pt x="280103" y="587314"/>
                  <a:pt x="280103" y="561524"/>
                </a:cubicBezTo>
                <a:lnTo>
                  <a:pt x="280103" y="544661"/>
                </a:lnTo>
                <a:lnTo>
                  <a:pt x="140051" y="544661"/>
                </a:lnTo>
                <a:lnTo>
                  <a:pt x="140051" y="561524"/>
                </a:lnTo>
                <a:cubicBezTo>
                  <a:pt x="140051" y="587314"/>
                  <a:pt x="118199" y="608145"/>
                  <a:pt x="92374" y="608145"/>
                </a:cubicBezTo>
                <a:lnTo>
                  <a:pt x="84428" y="608145"/>
                </a:lnTo>
                <a:cubicBezTo>
                  <a:pt x="58603" y="608145"/>
                  <a:pt x="37744" y="587314"/>
                  <a:pt x="37744" y="561524"/>
                </a:cubicBezTo>
                <a:lnTo>
                  <a:pt x="37744" y="541685"/>
                </a:lnTo>
                <a:cubicBezTo>
                  <a:pt x="14899" y="532757"/>
                  <a:pt x="0" y="511926"/>
                  <a:pt x="0" y="486136"/>
                </a:cubicBezTo>
                <a:lnTo>
                  <a:pt x="0" y="226247"/>
                </a:lnTo>
                <a:cubicBezTo>
                  <a:pt x="0" y="155819"/>
                  <a:pt x="56616" y="99278"/>
                  <a:pt x="127139" y="99278"/>
                </a:cubicBezTo>
                <a:close/>
                <a:moveTo>
                  <a:pt x="408232" y="74504"/>
                </a:moveTo>
                <a:cubicBezTo>
                  <a:pt x="413203" y="72520"/>
                  <a:pt x="419168" y="72520"/>
                  <a:pt x="424139" y="75495"/>
                </a:cubicBezTo>
                <a:cubicBezTo>
                  <a:pt x="464901" y="96324"/>
                  <a:pt x="489755" y="139964"/>
                  <a:pt x="486772" y="185587"/>
                </a:cubicBezTo>
                <a:cubicBezTo>
                  <a:pt x="486772" y="190546"/>
                  <a:pt x="483790" y="195505"/>
                  <a:pt x="479813" y="199473"/>
                </a:cubicBezTo>
                <a:cubicBezTo>
                  <a:pt x="475836" y="202448"/>
                  <a:pt x="469871" y="203440"/>
                  <a:pt x="464901" y="202448"/>
                </a:cubicBezTo>
                <a:lnTo>
                  <a:pt x="462912" y="201456"/>
                </a:lnTo>
                <a:cubicBezTo>
                  <a:pt x="453965" y="199473"/>
                  <a:pt x="448994" y="191538"/>
                  <a:pt x="448994" y="183604"/>
                </a:cubicBezTo>
                <a:cubicBezTo>
                  <a:pt x="450982" y="152857"/>
                  <a:pt x="434081" y="123103"/>
                  <a:pt x="406244" y="109217"/>
                </a:cubicBezTo>
                <a:cubicBezTo>
                  <a:pt x="399285" y="105250"/>
                  <a:pt x="395308" y="97315"/>
                  <a:pt x="397296" y="89381"/>
                </a:cubicBezTo>
                <a:lnTo>
                  <a:pt x="398291" y="87397"/>
                </a:lnTo>
                <a:cubicBezTo>
                  <a:pt x="399285" y="81446"/>
                  <a:pt x="403261" y="77479"/>
                  <a:pt x="408232" y="74504"/>
                </a:cubicBezTo>
                <a:close/>
                <a:moveTo>
                  <a:pt x="439969" y="1081"/>
                </a:moveTo>
                <a:cubicBezTo>
                  <a:pt x="522425" y="32821"/>
                  <a:pt x="572097" y="118123"/>
                  <a:pt x="560176" y="205408"/>
                </a:cubicBezTo>
                <a:cubicBezTo>
                  <a:pt x="559182" y="210367"/>
                  <a:pt x="556202" y="214335"/>
                  <a:pt x="552228" y="217311"/>
                </a:cubicBezTo>
                <a:cubicBezTo>
                  <a:pt x="548254" y="220286"/>
                  <a:pt x="542294" y="221278"/>
                  <a:pt x="537326" y="220286"/>
                </a:cubicBezTo>
                <a:lnTo>
                  <a:pt x="535340" y="219294"/>
                </a:lnTo>
                <a:cubicBezTo>
                  <a:pt x="526399" y="217311"/>
                  <a:pt x="520438" y="208384"/>
                  <a:pt x="522425" y="199457"/>
                </a:cubicBezTo>
                <a:cubicBezTo>
                  <a:pt x="531366" y="130025"/>
                  <a:pt x="491628" y="62577"/>
                  <a:pt x="426061" y="36788"/>
                </a:cubicBezTo>
                <a:cubicBezTo>
                  <a:pt x="418113" y="33813"/>
                  <a:pt x="413146" y="24886"/>
                  <a:pt x="416126" y="15959"/>
                </a:cubicBezTo>
                <a:lnTo>
                  <a:pt x="416126" y="13975"/>
                </a:lnTo>
                <a:cubicBezTo>
                  <a:pt x="417120" y="9016"/>
                  <a:pt x="421094" y="4056"/>
                  <a:pt x="425067" y="2073"/>
                </a:cubicBezTo>
                <a:cubicBezTo>
                  <a:pt x="430035" y="89"/>
                  <a:pt x="435002" y="-903"/>
                  <a:pt x="439969" y="1081"/>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endParaRPr lang="zh-CN" altLang="en-US">
              <a:solidFill>
                <a:srgbClr val="000000"/>
              </a:solidFill>
              <a:latin typeface="Arial" panose="020F0502020204030204"/>
              <a:ea typeface="微软雅黑"/>
              <a:cs typeface="+mn-ea"/>
              <a:sym typeface="+mn-lt"/>
            </a:endParaRPr>
          </a:p>
        </p:txBody>
      </p:sp>
      <p:sp>
        <p:nvSpPr>
          <p:cNvPr id="42" name="ïslíḓé">
            <a:extLst>
              <a:ext uri="{FF2B5EF4-FFF2-40B4-BE49-F238E27FC236}">
                <a16:creationId xmlns:a16="http://schemas.microsoft.com/office/drawing/2014/main" id="{D5EAC15A-F110-0485-132D-71CA0DF5185A}"/>
              </a:ext>
            </a:extLst>
          </p:cNvPr>
          <p:cNvSpPr/>
          <p:nvPr/>
        </p:nvSpPr>
        <p:spPr bwMode="auto">
          <a:xfrm>
            <a:off x="5815461" y="5339493"/>
            <a:ext cx="363264" cy="320996"/>
          </a:xfrm>
          <a:custGeom>
            <a:avLst/>
            <a:gdLst>
              <a:gd name="connsiteX0" fmla="*/ 494452 w 603405"/>
              <a:gd name="connsiteY0" fmla="*/ 356003 h 533193"/>
              <a:gd name="connsiteX1" fmla="*/ 585270 w 603405"/>
              <a:gd name="connsiteY1" fmla="*/ 356003 h 533193"/>
              <a:gd name="connsiteX2" fmla="*/ 601782 w 603405"/>
              <a:gd name="connsiteY2" fmla="*/ 372480 h 533193"/>
              <a:gd name="connsiteX3" fmla="*/ 585270 w 603405"/>
              <a:gd name="connsiteY3" fmla="*/ 388957 h 533193"/>
              <a:gd name="connsiteX4" fmla="*/ 494452 w 603405"/>
              <a:gd name="connsiteY4" fmla="*/ 388957 h 533193"/>
              <a:gd name="connsiteX5" fmla="*/ 367511 w 603405"/>
              <a:gd name="connsiteY5" fmla="*/ 244227 h 533193"/>
              <a:gd name="connsiteX6" fmla="*/ 443780 w 603405"/>
              <a:gd name="connsiteY6" fmla="*/ 244227 h 533193"/>
              <a:gd name="connsiteX7" fmla="*/ 477411 w 603405"/>
              <a:gd name="connsiteY7" fmla="*/ 277633 h 533193"/>
              <a:gd name="connsiteX8" fmla="*/ 477861 w 603405"/>
              <a:gd name="connsiteY8" fmla="*/ 381744 h 533193"/>
              <a:gd name="connsiteX9" fmla="*/ 463748 w 603405"/>
              <a:gd name="connsiteY9" fmla="*/ 395975 h 533193"/>
              <a:gd name="connsiteX10" fmla="*/ 449486 w 603405"/>
              <a:gd name="connsiteY10" fmla="*/ 381894 h 533193"/>
              <a:gd name="connsiteX11" fmla="*/ 449035 w 603405"/>
              <a:gd name="connsiteY11" fmla="*/ 277782 h 533193"/>
              <a:gd name="connsiteX12" fmla="*/ 446033 w 603405"/>
              <a:gd name="connsiteY12" fmla="*/ 274786 h 533193"/>
              <a:gd name="connsiteX13" fmla="*/ 443030 w 603405"/>
              <a:gd name="connsiteY13" fmla="*/ 277782 h 533193"/>
              <a:gd name="connsiteX14" fmla="*/ 443330 w 603405"/>
              <a:gd name="connsiteY14" fmla="*/ 516116 h 533193"/>
              <a:gd name="connsiteX15" fmla="*/ 426215 w 603405"/>
              <a:gd name="connsiteY15" fmla="*/ 533193 h 533193"/>
              <a:gd name="connsiteX16" fmla="*/ 409249 w 603405"/>
              <a:gd name="connsiteY16" fmla="*/ 516116 h 533193"/>
              <a:gd name="connsiteX17" fmla="*/ 409249 w 603405"/>
              <a:gd name="connsiteY17" fmla="*/ 380096 h 533193"/>
              <a:gd name="connsiteX18" fmla="*/ 401893 w 603405"/>
              <a:gd name="connsiteY18" fmla="*/ 380096 h 533193"/>
              <a:gd name="connsiteX19" fmla="*/ 401893 w 603405"/>
              <a:gd name="connsiteY19" fmla="*/ 516116 h 533193"/>
              <a:gd name="connsiteX20" fmla="*/ 384778 w 603405"/>
              <a:gd name="connsiteY20" fmla="*/ 533193 h 533193"/>
              <a:gd name="connsiteX21" fmla="*/ 367812 w 603405"/>
              <a:gd name="connsiteY21" fmla="*/ 516116 h 533193"/>
              <a:gd name="connsiteX22" fmla="*/ 367812 w 603405"/>
              <a:gd name="connsiteY22" fmla="*/ 380096 h 533193"/>
              <a:gd name="connsiteX23" fmla="*/ 367812 w 603405"/>
              <a:gd name="connsiteY23" fmla="*/ 277782 h 533193"/>
              <a:gd name="connsiteX24" fmla="*/ 364959 w 603405"/>
              <a:gd name="connsiteY24" fmla="*/ 274936 h 533193"/>
              <a:gd name="connsiteX25" fmla="*/ 362257 w 603405"/>
              <a:gd name="connsiteY25" fmla="*/ 277782 h 533193"/>
              <a:gd name="connsiteX26" fmla="*/ 361656 w 603405"/>
              <a:gd name="connsiteY26" fmla="*/ 381894 h 533193"/>
              <a:gd name="connsiteX27" fmla="*/ 347544 w 603405"/>
              <a:gd name="connsiteY27" fmla="*/ 395975 h 533193"/>
              <a:gd name="connsiteX28" fmla="*/ 347393 w 603405"/>
              <a:gd name="connsiteY28" fmla="*/ 395975 h 533193"/>
              <a:gd name="connsiteX29" fmla="*/ 333281 w 603405"/>
              <a:gd name="connsiteY29" fmla="*/ 381744 h 533193"/>
              <a:gd name="connsiteX30" fmla="*/ 333881 w 603405"/>
              <a:gd name="connsiteY30" fmla="*/ 277633 h 533193"/>
              <a:gd name="connsiteX31" fmla="*/ 367511 w 603405"/>
              <a:gd name="connsiteY31" fmla="*/ 244227 h 533193"/>
              <a:gd name="connsiteX32" fmla="*/ 201525 w 603405"/>
              <a:gd name="connsiteY32" fmla="*/ 244227 h 533193"/>
              <a:gd name="connsiteX33" fmla="*/ 277906 w 603405"/>
              <a:gd name="connsiteY33" fmla="*/ 244227 h 533193"/>
              <a:gd name="connsiteX34" fmla="*/ 311520 w 603405"/>
              <a:gd name="connsiteY34" fmla="*/ 277633 h 533193"/>
              <a:gd name="connsiteX35" fmla="*/ 311970 w 603405"/>
              <a:gd name="connsiteY35" fmla="*/ 381744 h 533193"/>
              <a:gd name="connsiteX36" fmla="*/ 297864 w 603405"/>
              <a:gd name="connsiteY36" fmla="*/ 395975 h 533193"/>
              <a:gd name="connsiteX37" fmla="*/ 297714 w 603405"/>
              <a:gd name="connsiteY37" fmla="*/ 395975 h 533193"/>
              <a:gd name="connsiteX38" fmla="*/ 283608 w 603405"/>
              <a:gd name="connsiteY38" fmla="*/ 381894 h 533193"/>
              <a:gd name="connsiteX39" fmla="*/ 283008 w 603405"/>
              <a:gd name="connsiteY39" fmla="*/ 277782 h 533193"/>
              <a:gd name="connsiteX40" fmla="*/ 280007 w 603405"/>
              <a:gd name="connsiteY40" fmla="*/ 274786 h 533193"/>
              <a:gd name="connsiteX41" fmla="*/ 277156 w 603405"/>
              <a:gd name="connsiteY41" fmla="*/ 277782 h 533193"/>
              <a:gd name="connsiteX42" fmla="*/ 277456 w 603405"/>
              <a:gd name="connsiteY42" fmla="*/ 516116 h 533193"/>
              <a:gd name="connsiteX43" fmla="*/ 260349 w 603405"/>
              <a:gd name="connsiteY43" fmla="*/ 533193 h 533193"/>
              <a:gd name="connsiteX44" fmla="*/ 243242 w 603405"/>
              <a:gd name="connsiteY44" fmla="*/ 516116 h 533193"/>
              <a:gd name="connsiteX45" fmla="*/ 243242 w 603405"/>
              <a:gd name="connsiteY45" fmla="*/ 380096 h 533193"/>
              <a:gd name="connsiteX46" fmla="*/ 235889 w 603405"/>
              <a:gd name="connsiteY46" fmla="*/ 380096 h 533193"/>
              <a:gd name="connsiteX47" fmla="*/ 235889 w 603405"/>
              <a:gd name="connsiteY47" fmla="*/ 516116 h 533193"/>
              <a:gd name="connsiteX48" fmla="*/ 218932 w 603405"/>
              <a:gd name="connsiteY48" fmla="*/ 533193 h 533193"/>
              <a:gd name="connsiteX49" fmla="*/ 201825 w 603405"/>
              <a:gd name="connsiteY49" fmla="*/ 516116 h 533193"/>
              <a:gd name="connsiteX50" fmla="*/ 201825 w 603405"/>
              <a:gd name="connsiteY50" fmla="*/ 380096 h 533193"/>
              <a:gd name="connsiteX51" fmla="*/ 201825 w 603405"/>
              <a:gd name="connsiteY51" fmla="*/ 277782 h 533193"/>
              <a:gd name="connsiteX52" fmla="*/ 199124 w 603405"/>
              <a:gd name="connsiteY52" fmla="*/ 274936 h 533193"/>
              <a:gd name="connsiteX53" fmla="*/ 196423 w 603405"/>
              <a:gd name="connsiteY53" fmla="*/ 277782 h 533193"/>
              <a:gd name="connsiteX54" fmla="*/ 195822 w 603405"/>
              <a:gd name="connsiteY54" fmla="*/ 381894 h 533193"/>
              <a:gd name="connsiteX55" fmla="*/ 181567 w 603405"/>
              <a:gd name="connsiteY55" fmla="*/ 395975 h 533193"/>
              <a:gd name="connsiteX56" fmla="*/ 167461 w 603405"/>
              <a:gd name="connsiteY56" fmla="*/ 381744 h 533193"/>
              <a:gd name="connsiteX57" fmla="*/ 167911 w 603405"/>
              <a:gd name="connsiteY57" fmla="*/ 277633 h 533193"/>
              <a:gd name="connsiteX58" fmla="*/ 201525 w 603405"/>
              <a:gd name="connsiteY58" fmla="*/ 244227 h 533193"/>
              <a:gd name="connsiteX59" fmla="*/ 34214 w 603405"/>
              <a:gd name="connsiteY59" fmla="*/ 244227 h 533193"/>
              <a:gd name="connsiteX60" fmla="*/ 110445 w 603405"/>
              <a:gd name="connsiteY60" fmla="*/ 244227 h 533193"/>
              <a:gd name="connsiteX61" fmla="*/ 144059 w 603405"/>
              <a:gd name="connsiteY61" fmla="*/ 277633 h 533193"/>
              <a:gd name="connsiteX62" fmla="*/ 144509 w 603405"/>
              <a:gd name="connsiteY62" fmla="*/ 381744 h 533193"/>
              <a:gd name="connsiteX63" fmla="*/ 130403 w 603405"/>
              <a:gd name="connsiteY63" fmla="*/ 395975 h 533193"/>
              <a:gd name="connsiteX64" fmla="*/ 116147 w 603405"/>
              <a:gd name="connsiteY64" fmla="*/ 381894 h 533193"/>
              <a:gd name="connsiteX65" fmla="*/ 115697 w 603405"/>
              <a:gd name="connsiteY65" fmla="*/ 277782 h 533193"/>
              <a:gd name="connsiteX66" fmla="*/ 112696 w 603405"/>
              <a:gd name="connsiteY66" fmla="*/ 274786 h 533193"/>
              <a:gd name="connsiteX67" fmla="*/ 109694 w 603405"/>
              <a:gd name="connsiteY67" fmla="*/ 277782 h 533193"/>
              <a:gd name="connsiteX68" fmla="*/ 109995 w 603405"/>
              <a:gd name="connsiteY68" fmla="*/ 516116 h 533193"/>
              <a:gd name="connsiteX69" fmla="*/ 92888 w 603405"/>
              <a:gd name="connsiteY69" fmla="*/ 533193 h 533193"/>
              <a:gd name="connsiteX70" fmla="*/ 75931 w 603405"/>
              <a:gd name="connsiteY70" fmla="*/ 516116 h 533193"/>
              <a:gd name="connsiteX71" fmla="*/ 75931 w 603405"/>
              <a:gd name="connsiteY71" fmla="*/ 380096 h 533193"/>
              <a:gd name="connsiteX72" fmla="*/ 68578 w 603405"/>
              <a:gd name="connsiteY72" fmla="*/ 380096 h 533193"/>
              <a:gd name="connsiteX73" fmla="*/ 68578 w 603405"/>
              <a:gd name="connsiteY73" fmla="*/ 516116 h 533193"/>
              <a:gd name="connsiteX74" fmla="*/ 51471 w 603405"/>
              <a:gd name="connsiteY74" fmla="*/ 533193 h 533193"/>
              <a:gd name="connsiteX75" fmla="*/ 34364 w 603405"/>
              <a:gd name="connsiteY75" fmla="*/ 516116 h 533193"/>
              <a:gd name="connsiteX76" fmla="*/ 34364 w 603405"/>
              <a:gd name="connsiteY76" fmla="*/ 380096 h 533193"/>
              <a:gd name="connsiteX77" fmla="*/ 34364 w 603405"/>
              <a:gd name="connsiteY77" fmla="*/ 277782 h 533193"/>
              <a:gd name="connsiteX78" fmla="*/ 31663 w 603405"/>
              <a:gd name="connsiteY78" fmla="*/ 275086 h 533193"/>
              <a:gd name="connsiteX79" fmla="*/ 28962 w 603405"/>
              <a:gd name="connsiteY79" fmla="*/ 277782 h 533193"/>
              <a:gd name="connsiteX80" fmla="*/ 28361 w 603405"/>
              <a:gd name="connsiteY80" fmla="*/ 381894 h 533193"/>
              <a:gd name="connsiteX81" fmla="*/ 14256 w 603405"/>
              <a:gd name="connsiteY81" fmla="*/ 395975 h 533193"/>
              <a:gd name="connsiteX82" fmla="*/ 14106 w 603405"/>
              <a:gd name="connsiteY82" fmla="*/ 395975 h 533193"/>
              <a:gd name="connsiteX83" fmla="*/ 0 w 603405"/>
              <a:gd name="connsiteY83" fmla="*/ 381744 h 533193"/>
              <a:gd name="connsiteX84" fmla="*/ 600 w 603405"/>
              <a:gd name="connsiteY84" fmla="*/ 277633 h 533193"/>
              <a:gd name="connsiteX85" fmla="*/ 34214 w 603405"/>
              <a:gd name="connsiteY85" fmla="*/ 244227 h 533193"/>
              <a:gd name="connsiteX86" fmla="*/ 298774 w 603405"/>
              <a:gd name="connsiteY86" fmla="*/ 232090 h 533193"/>
              <a:gd name="connsiteX87" fmla="*/ 346547 w 603405"/>
              <a:gd name="connsiteY87" fmla="*/ 232090 h 533193"/>
              <a:gd name="connsiteX88" fmla="*/ 322660 w 603405"/>
              <a:gd name="connsiteY88" fmla="*/ 254883 h 533193"/>
              <a:gd name="connsiteX89" fmla="*/ 298774 w 603405"/>
              <a:gd name="connsiteY89" fmla="*/ 232090 h 533193"/>
              <a:gd name="connsiteX90" fmla="*/ 405716 w 603405"/>
              <a:gd name="connsiteY90" fmla="*/ 176061 h 533193"/>
              <a:gd name="connsiteX91" fmla="*/ 435177 w 603405"/>
              <a:gd name="connsiteY91" fmla="*/ 205417 h 533193"/>
              <a:gd name="connsiteX92" fmla="*/ 405716 w 603405"/>
              <a:gd name="connsiteY92" fmla="*/ 234773 h 533193"/>
              <a:gd name="connsiteX93" fmla="*/ 376255 w 603405"/>
              <a:gd name="connsiteY93" fmla="*/ 205417 h 533193"/>
              <a:gd name="connsiteX94" fmla="*/ 405716 w 603405"/>
              <a:gd name="connsiteY94" fmla="*/ 176061 h 533193"/>
              <a:gd name="connsiteX95" fmla="*/ 239817 w 603405"/>
              <a:gd name="connsiteY95" fmla="*/ 176061 h 533193"/>
              <a:gd name="connsiteX96" fmla="*/ 269208 w 603405"/>
              <a:gd name="connsiteY96" fmla="*/ 205417 h 533193"/>
              <a:gd name="connsiteX97" fmla="*/ 239817 w 603405"/>
              <a:gd name="connsiteY97" fmla="*/ 234773 h 533193"/>
              <a:gd name="connsiteX98" fmla="*/ 210426 w 603405"/>
              <a:gd name="connsiteY98" fmla="*/ 205417 h 533193"/>
              <a:gd name="connsiteX99" fmla="*/ 239817 w 603405"/>
              <a:gd name="connsiteY99" fmla="*/ 176061 h 533193"/>
              <a:gd name="connsiteX100" fmla="*/ 72325 w 603405"/>
              <a:gd name="connsiteY100" fmla="*/ 176061 h 533193"/>
              <a:gd name="connsiteX101" fmla="*/ 101897 w 603405"/>
              <a:gd name="connsiteY101" fmla="*/ 205416 h 533193"/>
              <a:gd name="connsiteX102" fmla="*/ 72325 w 603405"/>
              <a:gd name="connsiteY102" fmla="*/ 234772 h 533193"/>
              <a:gd name="connsiteX103" fmla="*/ 42904 w 603405"/>
              <a:gd name="connsiteY103" fmla="*/ 205416 h 533193"/>
              <a:gd name="connsiteX104" fmla="*/ 72325 w 603405"/>
              <a:gd name="connsiteY104" fmla="*/ 176061 h 533193"/>
              <a:gd name="connsiteX105" fmla="*/ 1200 w 603405"/>
              <a:gd name="connsiteY105" fmla="*/ 56241 h 533193"/>
              <a:gd name="connsiteX106" fmla="*/ 384613 w 603405"/>
              <a:gd name="connsiteY106" fmla="*/ 56241 h 533193"/>
              <a:gd name="connsiteX107" fmla="*/ 603405 w 603405"/>
              <a:gd name="connsiteY107" fmla="*/ 274494 h 533193"/>
              <a:gd name="connsiteX108" fmla="*/ 540979 w 603405"/>
              <a:gd name="connsiteY108" fmla="*/ 336809 h 533193"/>
              <a:gd name="connsiteX109" fmla="*/ 494459 w 603405"/>
              <a:gd name="connsiteY109" fmla="*/ 336809 h 533193"/>
              <a:gd name="connsiteX110" fmla="*/ 494159 w 603405"/>
              <a:gd name="connsiteY110" fmla="*/ 277490 h 533193"/>
              <a:gd name="connsiteX111" fmla="*/ 464747 w 603405"/>
              <a:gd name="connsiteY111" fmla="*/ 232102 h 533193"/>
              <a:gd name="connsiteX112" fmla="*/ 551333 w 603405"/>
              <a:gd name="connsiteY112" fmla="*/ 232102 h 533193"/>
              <a:gd name="connsiteX113" fmla="*/ 551483 w 603405"/>
              <a:gd name="connsiteY113" fmla="*/ 232102 h 533193"/>
              <a:gd name="connsiteX114" fmla="*/ 557636 w 603405"/>
              <a:gd name="connsiteY114" fmla="*/ 228806 h 533193"/>
              <a:gd name="connsiteX115" fmla="*/ 558236 w 603405"/>
              <a:gd name="connsiteY115" fmla="*/ 221766 h 533193"/>
              <a:gd name="connsiteX116" fmla="*/ 504663 w 603405"/>
              <a:gd name="connsiteY116" fmla="*/ 136532 h 533193"/>
              <a:gd name="connsiteX117" fmla="*/ 415676 w 603405"/>
              <a:gd name="connsiteY117" fmla="*/ 97585 h 533193"/>
              <a:gd name="connsiteX118" fmla="*/ 397968 w 603405"/>
              <a:gd name="connsiteY118" fmla="*/ 97585 h 533193"/>
              <a:gd name="connsiteX119" fmla="*/ 397968 w 603405"/>
              <a:gd name="connsiteY119" fmla="*/ 159900 h 533193"/>
              <a:gd name="connsiteX120" fmla="*/ 364954 w 603405"/>
              <a:gd name="connsiteY120" fmla="*/ 183568 h 533193"/>
              <a:gd name="connsiteX121" fmla="*/ 364954 w 603405"/>
              <a:gd name="connsiteY121" fmla="*/ 97585 h 533193"/>
              <a:gd name="connsiteX122" fmla="*/ 174223 w 603405"/>
              <a:gd name="connsiteY122" fmla="*/ 97585 h 533193"/>
              <a:gd name="connsiteX123" fmla="*/ 174223 w 603405"/>
              <a:gd name="connsiteY123" fmla="*/ 232102 h 533193"/>
              <a:gd name="connsiteX124" fmla="*/ 180526 w 603405"/>
              <a:gd name="connsiteY124" fmla="*/ 232102 h 533193"/>
              <a:gd name="connsiteX125" fmla="*/ 174223 w 603405"/>
              <a:gd name="connsiteY125" fmla="*/ 235547 h 533193"/>
              <a:gd name="connsiteX126" fmla="*/ 156065 w 603405"/>
              <a:gd name="connsiteY126" fmla="*/ 256369 h 533193"/>
              <a:gd name="connsiteX127" fmla="*/ 141209 w 603405"/>
              <a:gd name="connsiteY127" fmla="*/ 238093 h 533193"/>
              <a:gd name="connsiteX128" fmla="*/ 131455 w 603405"/>
              <a:gd name="connsiteY128" fmla="*/ 232102 h 533193"/>
              <a:gd name="connsiteX129" fmla="*/ 141209 w 603405"/>
              <a:gd name="connsiteY129" fmla="*/ 232102 h 533193"/>
              <a:gd name="connsiteX130" fmla="*/ 141209 w 603405"/>
              <a:gd name="connsiteY130" fmla="*/ 97585 h 533193"/>
              <a:gd name="connsiteX131" fmla="*/ 1200 w 603405"/>
              <a:gd name="connsiteY131" fmla="*/ 97585 h 533193"/>
              <a:gd name="connsiteX132" fmla="*/ 30337 w 603405"/>
              <a:gd name="connsiteY132" fmla="*/ 0 h 533193"/>
              <a:gd name="connsiteX133" fmla="*/ 450496 w 603405"/>
              <a:gd name="connsiteY133" fmla="*/ 0 h 533193"/>
              <a:gd name="connsiteX134" fmla="*/ 467002 w 603405"/>
              <a:gd name="connsiteY134" fmla="*/ 16512 h 533193"/>
              <a:gd name="connsiteX135" fmla="*/ 450496 w 603405"/>
              <a:gd name="connsiteY135" fmla="*/ 33025 h 533193"/>
              <a:gd name="connsiteX136" fmla="*/ 30337 w 603405"/>
              <a:gd name="connsiteY136" fmla="*/ 33025 h 533193"/>
              <a:gd name="connsiteX137" fmla="*/ 13831 w 603405"/>
              <a:gd name="connsiteY137" fmla="*/ 16512 h 533193"/>
              <a:gd name="connsiteX138" fmla="*/ 30337 w 603405"/>
              <a:gd name="connsiteY138" fmla="*/ 0 h 533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603405" h="533193">
                <a:moveTo>
                  <a:pt x="494452" y="356003"/>
                </a:moveTo>
                <a:lnTo>
                  <a:pt x="585270" y="356003"/>
                </a:lnTo>
                <a:cubicBezTo>
                  <a:pt x="594277" y="356003"/>
                  <a:pt x="601782" y="363343"/>
                  <a:pt x="601782" y="372480"/>
                </a:cubicBezTo>
                <a:cubicBezTo>
                  <a:pt x="601782" y="381617"/>
                  <a:pt x="594277" y="388957"/>
                  <a:pt x="585270" y="388957"/>
                </a:cubicBezTo>
                <a:lnTo>
                  <a:pt x="494452" y="388957"/>
                </a:lnTo>
                <a:close/>
                <a:moveTo>
                  <a:pt x="367511" y="244227"/>
                </a:moveTo>
                <a:lnTo>
                  <a:pt x="443780" y="244227"/>
                </a:lnTo>
                <a:cubicBezTo>
                  <a:pt x="462247" y="244227"/>
                  <a:pt x="477261" y="259207"/>
                  <a:pt x="477411" y="277633"/>
                </a:cubicBezTo>
                <a:lnTo>
                  <a:pt x="477861" y="381744"/>
                </a:lnTo>
                <a:cubicBezTo>
                  <a:pt x="478011" y="389534"/>
                  <a:pt x="471706" y="395975"/>
                  <a:pt x="463748" y="395975"/>
                </a:cubicBezTo>
                <a:cubicBezTo>
                  <a:pt x="455941" y="395975"/>
                  <a:pt x="449486" y="389684"/>
                  <a:pt x="449486" y="381894"/>
                </a:cubicBezTo>
                <a:lnTo>
                  <a:pt x="449035" y="277782"/>
                </a:lnTo>
                <a:cubicBezTo>
                  <a:pt x="449035" y="276135"/>
                  <a:pt x="447684" y="274786"/>
                  <a:pt x="446033" y="274786"/>
                </a:cubicBezTo>
                <a:cubicBezTo>
                  <a:pt x="444381" y="274786"/>
                  <a:pt x="443030" y="276135"/>
                  <a:pt x="443030" y="277782"/>
                </a:cubicBezTo>
                <a:cubicBezTo>
                  <a:pt x="443030" y="419944"/>
                  <a:pt x="443330" y="291115"/>
                  <a:pt x="443330" y="516116"/>
                </a:cubicBezTo>
                <a:cubicBezTo>
                  <a:pt x="443330" y="525553"/>
                  <a:pt x="435673" y="533193"/>
                  <a:pt x="426215" y="533193"/>
                </a:cubicBezTo>
                <a:cubicBezTo>
                  <a:pt x="416906" y="533193"/>
                  <a:pt x="409249" y="525553"/>
                  <a:pt x="409249" y="516116"/>
                </a:cubicBezTo>
                <a:lnTo>
                  <a:pt x="409249" y="380096"/>
                </a:lnTo>
                <a:lnTo>
                  <a:pt x="401893" y="380096"/>
                </a:lnTo>
                <a:lnTo>
                  <a:pt x="401893" y="516116"/>
                </a:lnTo>
                <a:cubicBezTo>
                  <a:pt x="401893" y="525553"/>
                  <a:pt x="394236" y="533193"/>
                  <a:pt x="384778" y="533193"/>
                </a:cubicBezTo>
                <a:cubicBezTo>
                  <a:pt x="375319" y="533193"/>
                  <a:pt x="367812" y="525553"/>
                  <a:pt x="367812" y="516116"/>
                </a:cubicBezTo>
                <a:lnTo>
                  <a:pt x="367812" y="380096"/>
                </a:lnTo>
                <a:lnTo>
                  <a:pt x="367812" y="277782"/>
                </a:lnTo>
                <a:cubicBezTo>
                  <a:pt x="367812" y="276284"/>
                  <a:pt x="366461" y="274936"/>
                  <a:pt x="364959" y="274936"/>
                </a:cubicBezTo>
                <a:cubicBezTo>
                  <a:pt x="363458" y="274936"/>
                  <a:pt x="362257" y="276284"/>
                  <a:pt x="362257" y="277782"/>
                </a:cubicBezTo>
                <a:lnTo>
                  <a:pt x="361656" y="381894"/>
                </a:lnTo>
                <a:cubicBezTo>
                  <a:pt x="361656" y="389684"/>
                  <a:pt x="355351" y="395975"/>
                  <a:pt x="347544" y="395975"/>
                </a:cubicBezTo>
                <a:lnTo>
                  <a:pt x="347393" y="395975"/>
                </a:lnTo>
                <a:cubicBezTo>
                  <a:pt x="339586" y="395975"/>
                  <a:pt x="333281" y="389534"/>
                  <a:pt x="333281" y="381744"/>
                </a:cubicBezTo>
                <a:lnTo>
                  <a:pt x="333881" y="277633"/>
                </a:lnTo>
                <a:cubicBezTo>
                  <a:pt x="333881" y="259207"/>
                  <a:pt x="349045" y="244227"/>
                  <a:pt x="367511" y="244227"/>
                </a:cubicBezTo>
                <a:close/>
                <a:moveTo>
                  <a:pt x="201525" y="244227"/>
                </a:moveTo>
                <a:lnTo>
                  <a:pt x="277906" y="244227"/>
                </a:lnTo>
                <a:cubicBezTo>
                  <a:pt x="296213" y="244227"/>
                  <a:pt x="311370" y="259207"/>
                  <a:pt x="311520" y="277633"/>
                </a:cubicBezTo>
                <a:lnTo>
                  <a:pt x="311970" y="381744"/>
                </a:lnTo>
                <a:cubicBezTo>
                  <a:pt x="311970" y="389534"/>
                  <a:pt x="305667" y="395975"/>
                  <a:pt x="297864" y="395975"/>
                </a:cubicBezTo>
                <a:lnTo>
                  <a:pt x="297714" y="395975"/>
                </a:lnTo>
                <a:cubicBezTo>
                  <a:pt x="289911" y="395975"/>
                  <a:pt x="283608" y="389684"/>
                  <a:pt x="283608" y="381894"/>
                </a:cubicBezTo>
                <a:lnTo>
                  <a:pt x="283008" y="277782"/>
                </a:lnTo>
                <a:cubicBezTo>
                  <a:pt x="283008" y="276135"/>
                  <a:pt x="281657" y="274786"/>
                  <a:pt x="280007" y="274786"/>
                </a:cubicBezTo>
                <a:cubicBezTo>
                  <a:pt x="278356" y="274786"/>
                  <a:pt x="277156" y="276135"/>
                  <a:pt x="277156" y="277782"/>
                </a:cubicBezTo>
                <a:cubicBezTo>
                  <a:pt x="277156" y="419944"/>
                  <a:pt x="277456" y="291115"/>
                  <a:pt x="277456" y="516116"/>
                </a:cubicBezTo>
                <a:cubicBezTo>
                  <a:pt x="277456" y="525553"/>
                  <a:pt x="269803" y="533193"/>
                  <a:pt x="260349" y="533193"/>
                </a:cubicBezTo>
                <a:cubicBezTo>
                  <a:pt x="250895" y="533193"/>
                  <a:pt x="243242" y="525553"/>
                  <a:pt x="243242" y="516116"/>
                </a:cubicBezTo>
                <a:lnTo>
                  <a:pt x="243242" y="380096"/>
                </a:lnTo>
                <a:lnTo>
                  <a:pt x="235889" y="380096"/>
                </a:lnTo>
                <a:lnTo>
                  <a:pt x="235889" y="516116"/>
                </a:lnTo>
                <a:cubicBezTo>
                  <a:pt x="235889" y="525553"/>
                  <a:pt x="228386" y="533193"/>
                  <a:pt x="218932" y="533193"/>
                </a:cubicBezTo>
                <a:cubicBezTo>
                  <a:pt x="209478" y="533193"/>
                  <a:pt x="201825" y="525553"/>
                  <a:pt x="201825" y="516116"/>
                </a:cubicBezTo>
                <a:lnTo>
                  <a:pt x="201825" y="380096"/>
                </a:lnTo>
                <a:lnTo>
                  <a:pt x="201825" y="277782"/>
                </a:lnTo>
                <a:cubicBezTo>
                  <a:pt x="201825" y="276284"/>
                  <a:pt x="200624" y="274936"/>
                  <a:pt x="199124" y="274936"/>
                </a:cubicBezTo>
                <a:cubicBezTo>
                  <a:pt x="197623" y="274936"/>
                  <a:pt x="196423" y="276284"/>
                  <a:pt x="196423" y="277782"/>
                </a:cubicBezTo>
                <a:lnTo>
                  <a:pt x="195822" y="381894"/>
                </a:lnTo>
                <a:cubicBezTo>
                  <a:pt x="195822" y="389684"/>
                  <a:pt x="189370" y="395975"/>
                  <a:pt x="181567" y="395975"/>
                </a:cubicBezTo>
                <a:cubicBezTo>
                  <a:pt x="173763" y="395975"/>
                  <a:pt x="167311" y="389534"/>
                  <a:pt x="167461" y="381744"/>
                </a:cubicBezTo>
                <a:lnTo>
                  <a:pt x="167911" y="277633"/>
                </a:lnTo>
                <a:cubicBezTo>
                  <a:pt x="168061" y="259207"/>
                  <a:pt x="183067" y="244227"/>
                  <a:pt x="201525" y="244227"/>
                </a:cubicBezTo>
                <a:close/>
                <a:moveTo>
                  <a:pt x="34214" y="244227"/>
                </a:moveTo>
                <a:lnTo>
                  <a:pt x="110445" y="244227"/>
                </a:lnTo>
                <a:cubicBezTo>
                  <a:pt x="128902" y="244227"/>
                  <a:pt x="143908" y="259207"/>
                  <a:pt x="144059" y="277633"/>
                </a:cubicBezTo>
                <a:lnTo>
                  <a:pt x="144509" y="381744"/>
                </a:lnTo>
                <a:cubicBezTo>
                  <a:pt x="144659" y="389534"/>
                  <a:pt x="138206" y="395975"/>
                  <a:pt x="130403" y="395975"/>
                </a:cubicBezTo>
                <a:cubicBezTo>
                  <a:pt x="122600" y="395975"/>
                  <a:pt x="116147" y="389684"/>
                  <a:pt x="116147" y="381894"/>
                </a:cubicBezTo>
                <a:lnTo>
                  <a:pt x="115697" y="277782"/>
                </a:lnTo>
                <a:cubicBezTo>
                  <a:pt x="115547" y="276135"/>
                  <a:pt x="114346" y="274786"/>
                  <a:pt x="112696" y="274786"/>
                </a:cubicBezTo>
                <a:cubicBezTo>
                  <a:pt x="111045" y="274786"/>
                  <a:pt x="109694" y="276135"/>
                  <a:pt x="109694" y="277782"/>
                </a:cubicBezTo>
                <a:cubicBezTo>
                  <a:pt x="109694" y="343695"/>
                  <a:pt x="109995" y="452450"/>
                  <a:pt x="109995" y="516116"/>
                </a:cubicBezTo>
                <a:cubicBezTo>
                  <a:pt x="109995" y="525553"/>
                  <a:pt x="102341" y="533193"/>
                  <a:pt x="92888" y="533193"/>
                </a:cubicBezTo>
                <a:cubicBezTo>
                  <a:pt x="83584" y="533193"/>
                  <a:pt x="75931" y="525553"/>
                  <a:pt x="75931" y="516116"/>
                </a:cubicBezTo>
                <a:lnTo>
                  <a:pt x="75931" y="380096"/>
                </a:lnTo>
                <a:lnTo>
                  <a:pt x="68578" y="380096"/>
                </a:lnTo>
                <a:lnTo>
                  <a:pt x="68578" y="516116"/>
                </a:lnTo>
                <a:cubicBezTo>
                  <a:pt x="68578" y="525553"/>
                  <a:pt x="60925" y="533193"/>
                  <a:pt x="51471" y="533193"/>
                </a:cubicBezTo>
                <a:cubicBezTo>
                  <a:pt x="42017" y="533193"/>
                  <a:pt x="34364" y="525553"/>
                  <a:pt x="34364" y="516116"/>
                </a:cubicBezTo>
                <a:lnTo>
                  <a:pt x="34364" y="380096"/>
                </a:lnTo>
                <a:lnTo>
                  <a:pt x="34364" y="277782"/>
                </a:lnTo>
                <a:cubicBezTo>
                  <a:pt x="34364" y="276284"/>
                  <a:pt x="33163" y="275086"/>
                  <a:pt x="31663" y="275086"/>
                </a:cubicBezTo>
                <a:cubicBezTo>
                  <a:pt x="30162" y="274936"/>
                  <a:pt x="28962" y="276284"/>
                  <a:pt x="28962" y="277782"/>
                </a:cubicBezTo>
                <a:lnTo>
                  <a:pt x="28361" y="381894"/>
                </a:lnTo>
                <a:cubicBezTo>
                  <a:pt x="28361" y="389684"/>
                  <a:pt x="22059" y="395975"/>
                  <a:pt x="14256" y="395975"/>
                </a:cubicBezTo>
                <a:lnTo>
                  <a:pt x="14106" y="395975"/>
                </a:lnTo>
                <a:cubicBezTo>
                  <a:pt x="6302" y="395975"/>
                  <a:pt x="0" y="389534"/>
                  <a:pt x="0" y="381744"/>
                </a:cubicBezTo>
                <a:lnTo>
                  <a:pt x="600" y="277633"/>
                </a:lnTo>
                <a:cubicBezTo>
                  <a:pt x="600" y="259207"/>
                  <a:pt x="15756" y="244227"/>
                  <a:pt x="34214" y="244227"/>
                </a:cubicBezTo>
                <a:close/>
                <a:moveTo>
                  <a:pt x="298774" y="232090"/>
                </a:moveTo>
                <a:lnTo>
                  <a:pt x="346547" y="232090"/>
                </a:lnTo>
                <a:cubicBezTo>
                  <a:pt x="336331" y="236739"/>
                  <a:pt x="327768" y="244836"/>
                  <a:pt x="322660" y="254883"/>
                </a:cubicBezTo>
                <a:cubicBezTo>
                  <a:pt x="317552" y="244836"/>
                  <a:pt x="309140" y="236739"/>
                  <a:pt x="298774" y="232090"/>
                </a:cubicBezTo>
                <a:close/>
                <a:moveTo>
                  <a:pt x="405716" y="176061"/>
                </a:moveTo>
                <a:cubicBezTo>
                  <a:pt x="421987" y="176061"/>
                  <a:pt x="435177" y="189204"/>
                  <a:pt x="435177" y="205417"/>
                </a:cubicBezTo>
                <a:cubicBezTo>
                  <a:pt x="435177" y="221630"/>
                  <a:pt x="421987" y="234773"/>
                  <a:pt x="405716" y="234773"/>
                </a:cubicBezTo>
                <a:cubicBezTo>
                  <a:pt x="389445" y="234773"/>
                  <a:pt x="376255" y="221630"/>
                  <a:pt x="376255" y="205417"/>
                </a:cubicBezTo>
                <a:cubicBezTo>
                  <a:pt x="376255" y="189204"/>
                  <a:pt x="389445" y="176061"/>
                  <a:pt x="405716" y="176061"/>
                </a:cubicBezTo>
                <a:close/>
                <a:moveTo>
                  <a:pt x="239817" y="176061"/>
                </a:moveTo>
                <a:cubicBezTo>
                  <a:pt x="256049" y="176061"/>
                  <a:pt x="269208" y="189204"/>
                  <a:pt x="269208" y="205417"/>
                </a:cubicBezTo>
                <a:cubicBezTo>
                  <a:pt x="269208" y="221630"/>
                  <a:pt x="256049" y="234773"/>
                  <a:pt x="239817" y="234773"/>
                </a:cubicBezTo>
                <a:cubicBezTo>
                  <a:pt x="223585" y="234773"/>
                  <a:pt x="210426" y="221630"/>
                  <a:pt x="210426" y="205417"/>
                </a:cubicBezTo>
                <a:cubicBezTo>
                  <a:pt x="210426" y="189204"/>
                  <a:pt x="223585" y="176061"/>
                  <a:pt x="239817" y="176061"/>
                </a:cubicBezTo>
                <a:close/>
                <a:moveTo>
                  <a:pt x="72325" y="176061"/>
                </a:moveTo>
                <a:cubicBezTo>
                  <a:pt x="88687" y="176061"/>
                  <a:pt x="101897" y="189241"/>
                  <a:pt x="101897" y="205416"/>
                </a:cubicBezTo>
                <a:cubicBezTo>
                  <a:pt x="101897" y="221592"/>
                  <a:pt x="88687" y="234772"/>
                  <a:pt x="72325" y="234772"/>
                </a:cubicBezTo>
                <a:cubicBezTo>
                  <a:pt x="56113" y="234772"/>
                  <a:pt x="42904" y="221592"/>
                  <a:pt x="42904" y="205416"/>
                </a:cubicBezTo>
                <a:cubicBezTo>
                  <a:pt x="42904" y="189241"/>
                  <a:pt x="55963" y="176061"/>
                  <a:pt x="72325" y="176061"/>
                </a:cubicBezTo>
                <a:close/>
                <a:moveTo>
                  <a:pt x="1200" y="56241"/>
                </a:moveTo>
                <a:lnTo>
                  <a:pt x="384613" y="56241"/>
                </a:lnTo>
                <a:cubicBezTo>
                  <a:pt x="505414" y="56241"/>
                  <a:pt x="603405" y="154058"/>
                  <a:pt x="603405" y="274494"/>
                </a:cubicBezTo>
                <a:cubicBezTo>
                  <a:pt x="603405" y="308947"/>
                  <a:pt x="575493" y="336809"/>
                  <a:pt x="540979" y="336809"/>
                </a:cubicBezTo>
                <a:lnTo>
                  <a:pt x="494459" y="336809"/>
                </a:lnTo>
                <a:lnTo>
                  <a:pt x="494159" y="277490"/>
                </a:lnTo>
                <a:cubicBezTo>
                  <a:pt x="494009" y="257417"/>
                  <a:pt x="482004" y="240041"/>
                  <a:pt x="464747" y="232102"/>
                </a:cubicBezTo>
                <a:lnTo>
                  <a:pt x="551333" y="232102"/>
                </a:lnTo>
                <a:lnTo>
                  <a:pt x="551483" y="232102"/>
                </a:lnTo>
                <a:cubicBezTo>
                  <a:pt x="553884" y="232102"/>
                  <a:pt x="556285" y="230753"/>
                  <a:pt x="557636" y="228806"/>
                </a:cubicBezTo>
                <a:cubicBezTo>
                  <a:pt x="558986" y="226709"/>
                  <a:pt x="559136" y="224013"/>
                  <a:pt x="558236" y="221766"/>
                </a:cubicBezTo>
                <a:cubicBezTo>
                  <a:pt x="550283" y="203790"/>
                  <a:pt x="531825" y="165892"/>
                  <a:pt x="504663" y="136532"/>
                </a:cubicBezTo>
                <a:cubicBezTo>
                  <a:pt x="481704" y="111666"/>
                  <a:pt x="449440" y="97585"/>
                  <a:pt x="415676" y="97585"/>
                </a:cubicBezTo>
                <a:lnTo>
                  <a:pt x="397968" y="97585"/>
                </a:lnTo>
                <a:lnTo>
                  <a:pt x="397968" y="159900"/>
                </a:lnTo>
                <a:cubicBezTo>
                  <a:pt x="383712" y="162297"/>
                  <a:pt x="371707" y="171284"/>
                  <a:pt x="364954" y="183568"/>
                </a:cubicBezTo>
                <a:lnTo>
                  <a:pt x="364954" y="97585"/>
                </a:lnTo>
                <a:lnTo>
                  <a:pt x="174223" y="97585"/>
                </a:lnTo>
                <a:lnTo>
                  <a:pt x="174223" y="232102"/>
                </a:lnTo>
                <a:lnTo>
                  <a:pt x="180526" y="232102"/>
                </a:lnTo>
                <a:cubicBezTo>
                  <a:pt x="178425" y="233150"/>
                  <a:pt x="176324" y="234199"/>
                  <a:pt x="174223" y="235547"/>
                </a:cubicBezTo>
                <a:cubicBezTo>
                  <a:pt x="166420" y="240640"/>
                  <a:pt x="159967" y="247830"/>
                  <a:pt x="156065" y="256369"/>
                </a:cubicBezTo>
                <a:cubicBezTo>
                  <a:pt x="152614" y="249178"/>
                  <a:pt x="147512" y="242887"/>
                  <a:pt x="141209" y="238093"/>
                </a:cubicBezTo>
                <a:cubicBezTo>
                  <a:pt x="138208" y="235697"/>
                  <a:pt x="134906" y="233749"/>
                  <a:pt x="131455" y="232102"/>
                </a:cubicBezTo>
                <a:lnTo>
                  <a:pt x="141209" y="232102"/>
                </a:lnTo>
                <a:lnTo>
                  <a:pt x="141209" y="97585"/>
                </a:lnTo>
                <a:lnTo>
                  <a:pt x="1200" y="97585"/>
                </a:lnTo>
                <a:close/>
                <a:moveTo>
                  <a:pt x="30337" y="0"/>
                </a:moveTo>
                <a:lnTo>
                  <a:pt x="450496" y="0"/>
                </a:lnTo>
                <a:cubicBezTo>
                  <a:pt x="459649" y="0"/>
                  <a:pt x="467002" y="7356"/>
                  <a:pt x="467002" y="16512"/>
                </a:cubicBezTo>
                <a:cubicBezTo>
                  <a:pt x="467002" y="25669"/>
                  <a:pt x="459649" y="33025"/>
                  <a:pt x="450496" y="33025"/>
                </a:cubicBezTo>
                <a:lnTo>
                  <a:pt x="30337" y="33025"/>
                </a:lnTo>
                <a:cubicBezTo>
                  <a:pt x="21184" y="33025"/>
                  <a:pt x="13831" y="25669"/>
                  <a:pt x="13831" y="16512"/>
                </a:cubicBezTo>
                <a:cubicBezTo>
                  <a:pt x="13831" y="7356"/>
                  <a:pt x="21184" y="0"/>
                  <a:pt x="30337" y="0"/>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endParaRPr lang="zh-CN" altLang="en-US">
              <a:solidFill>
                <a:srgbClr val="000000"/>
              </a:solidFill>
              <a:latin typeface="Arial" panose="020F0502020204030204"/>
              <a:ea typeface="微软雅黑"/>
              <a:cs typeface="+mn-ea"/>
              <a:sym typeface="+mn-lt"/>
            </a:endParaRPr>
          </a:p>
        </p:txBody>
      </p:sp>
      <p:pic>
        <p:nvPicPr>
          <p:cNvPr id="2" name="Picture 2" descr="Fig. 1: The machine learning architecture of EZSpecificity.">
            <a:extLst>
              <a:ext uri="{FF2B5EF4-FFF2-40B4-BE49-F238E27FC236}">
                <a16:creationId xmlns:a16="http://schemas.microsoft.com/office/drawing/2014/main" id="{C5F55C41-6C92-25EC-241B-B2142D26B160}"/>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60213" t="2284" r="958" b="24905"/>
          <a:stretch>
            <a:fillRect/>
          </a:stretch>
        </p:blipFill>
        <p:spPr bwMode="auto">
          <a:xfrm>
            <a:off x="440123" y="1020622"/>
            <a:ext cx="4734128" cy="382011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2" name="文本框 11">
                <a:extLst>
                  <a:ext uri="{FF2B5EF4-FFF2-40B4-BE49-F238E27FC236}">
                    <a16:creationId xmlns:a16="http://schemas.microsoft.com/office/drawing/2014/main" id="{174BC0D3-B95E-A4AA-13B4-061B115D7E09}"/>
                  </a:ext>
                </a:extLst>
              </p:cNvPr>
              <p:cNvSpPr txBox="1"/>
              <p:nvPr/>
            </p:nvSpPr>
            <p:spPr>
              <a:xfrm>
                <a:off x="5997093" y="1779205"/>
                <a:ext cx="5425178" cy="646331"/>
              </a:xfrm>
              <a:prstGeom prst="rect">
                <a:avLst/>
              </a:prstGeom>
              <a:noFill/>
            </p:spPr>
            <p:txBody>
              <a:bodyPr wrap="square" rtlCol="0">
                <a:spAutoFit/>
              </a:bodyPr>
              <a:lstStyle/>
              <a:p>
                <a:r>
                  <a:rPr lang="zh-CN" altLang="en-US" dirty="0"/>
                  <a:t>交叉注意力一：</a:t>
                </a:r>
                <a:r>
                  <a:rPr lang="en-US" altLang="zh-CN" dirty="0"/>
                  <a:t>ESM-2 </a:t>
                </a:r>
                <a:r>
                  <a:rPr lang="zh-CN" altLang="en-US" dirty="0"/>
                  <a:t>提取的序列作为查询向量</a:t>
                </a:r>
                <a14:m>
                  <m:oMath xmlns:m="http://schemas.openxmlformats.org/officeDocument/2006/math">
                    <m:r>
                      <a:rPr lang="zh-CN" altLang="en-US" i="1">
                        <a:latin typeface="Cambria Math" panose="02040503050406030204" pitchFamily="18" charset="0"/>
                      </a:rPr>
                      <m:t>𝑄</m:t>
                    </m:r>
                  </m:oMath>
                </a14:m>
                <a:r>
                  <a:rPr lang="zh-CN" altLang="en-US" dirty="0"/>
                  <a:t>，而 </a:t>
                </a:r>
                <a:r>
                  <a:rPr lang="en-US" altLang="zh-CN" dirty="0"/>
                  <a:t>3D </a:t>
                </a:r>
                <a:r>
                  <a:rPr lang="zh-CN" altLang="en-US" dirty="0"/>
                  <a:t>微环境特征作为键向量</a:t>
                </a:r>
                <a14:m>
                  <m:oMath xmlns:m="http://schemas.openxmlformats.org/officeDocument/2006/math">
                    <m:r>
                      <a:rPr lang="zh-CN" altLang="en-US" i="1">
                        <a:latin typeface="Cambria Math" panose="02040503050406030204" pitchFamily="18" charset="0"/>
                      </a:rPr>
                      <m:t>𝐾</m:t>
                    </m:r>
                  </m:oMath>
                </a14:m>
                <a:r>
                  <a:rPr lang="zh-CN" altLang="en-US" dirty="0"/>
                  <a:t>和值向量</a:t>
                </a:r>
                <a14:m>
                  <m:oMath xmlns:m="http://schemas.openxmlformats.org/officeDocument/2006/math">
                    <m:r>
                      <a:rPr lang="zh-CN" altLang="en-US" i="1">
                        <a:latin typeface="Cambria Math" panose="02040503050406030204" pitchFamily="18" charset="0"/>
                      </a:rPr>
                      <m:t>𝑉</m:t>
                    </m:r>
                  </m:oMath>
                </a14:m>
                <a:r>
                  <a:rPr lang="zh-CN" altLang="en-US" dirty="0"/>
                  <a:t>。</a:t>
                </a:r>
              </a:p>
            </p:txBody>
          </p:sp>
        </mc:Choice>
        <mc:Fallback>
          <p:sp>
            <p:nvSpPr>
              <p:cNvPr id="12" name="文本框 11">
                <a:extLst>
                  <a:ext uri="{FF2B5EF4-FFF2-40B4-BE49-F238E27FC236}">
                    <a16:creationId xmlns:a16="http://schemas.microsoft.com/office/drawing/2014/main" id="{174BC0D3-B95E-A4AA-13B4-061B115D7E09}"/>
                  </a:ext>
                </a:extLst>
              </p:cNvPr>
              <p:cNvSpPr txBox="1">
                <a:spLocks noRot="1" noChangeAspect="1" noMove="1" noResize="1" noEditPoints="1" noAdjustHandles="1" noChangeArrowheads="1" noChangeShapeType="1" noTextEdit="1"/>
              </p:cNvSpPr>
              <p:nvPr/>
            </p:nvSpPr>
            <p:spPr>
              <a:xfrm>
                <a:off x="5997093" y="1779205"/>
                <a:ext cx="5425178" cy="646331"/>
              </a:xfrm>
              <a:prstGeom prst="rect">
                <a:avLst/>
              </a:prstGeom>
              <a:blipFill>
                <a:blip r:embed="rId7"/>
                <a:stretch>
                  <a:fillRect l="-1011" t="-5660" r="-899" b="-14151"/>
                </a:stretch>
              </a:blipFill>
            </p:spPr>
            <p:txBody>
              <a:bodyPr/>
              <a:lstStyle/>
              <a:p>
                <a:r>
                  <a:rPr lang="zh-CN" altLang="en-US">
                    <a:noFill/>
                  </a:rPr>
                  <a:t> </a:t>
                </a:r>
              </a:p>
            </p:txBody>
          </p:sp>
        </mc:Fallback>
      </mc:AlternateContent>
      <p:cxnSp>
        <p:nvCxnSpPr>
          <p:cNvPr id="5" name="直接箭头连接符 4">
            <a:extLst>
              <a:ext uri="{FF2B5EF4-FFF2-40B4-BE49-F238E27FC236}">
                <a16:creationId xmlns:a16="http://schemas.microsoft.com/office/drawing/2014/main" id="{6E2DD536-616E-EAF9-48C8-5876AF230F47}"/>
              </a:ext>
            </a:extLst>
          </p:cNvPr>
          <p:cNvCxnSpPr/>
          <p:nvPr/>
        </p:nvCxnSpPr>
        <p:spPr>
          <a:xfrm>
            <a:off x="5324272" y="2075234"/>
            <a:ext cx="49118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接箭头连接符 5">
            <a:extLst>
              <a:ext uri="{FF2B5EF4-FFF2-40B4-BE49-F238E27FC236}">
                <a16:creationId xmlns:a16="http://schemas.microsoft.com/office/drawing/2014/main" id="{2BAA09EC-A2EB-9BAB-DD27-1F507E075AD8}"/>
              </a:ext>
            </a:extLst>
          </p:cNvPr>
          <p:cNvCxnSpPr/>
          <p:nvPr/>
        </p:nvCxnSpPr>
        <p:spPr>
          <a:xfrm>
            <a:off x="5324271" y="3725693"/>
            <a:ext cx="49118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A4A5220E-AEFF-2737-44FA-866C756D27A7}"/>
                  </a:ext>
                </a:extLst>
              </p:cNvPr>
              <p:cNvSpPr txBox="1"/>
              <p:nvPr/>
            </p:nvSpPr>
            <p:spPr>
              <a:xfrm>
                <a:off x="5997093" y="3547703"/>
                <a:ext cx="5350213" cy="646331"/>
              </a:xfrm>
              <a:prstGeom prst="rect">
                <a:avLst/>
              </a:prstGeom>
              <a:noFill/>
            </p:spPr>
            <p:txBody>
              <a:bodyPr wrap="square" rtlCol="0">
                <a:spAutoFit/>
              </a:bodyPr>
              <a:lstStyle/>
              <a:p>
                <a:r>
                  <a:rPr lang="zh-CN" altLang="en-US" dirty="0"/>
                  <a:t>交叉注意力二：</a:t>
                </a:r>
                <a:r>
                  <a:rPr lang="en-US" altLang="zh-CN" dirty="0"/>
                  <a:t>3D </a:t>
                </a:r>
                <a:r>
                  <a:rPr lang="zh-CN" altLang="en-US" dirty="0"/>
                  <a:t>微环境特征作为查询向量</a:t>
                </a:r>
                <a14:m>
                  <m:oMath xmlns:m="http://schemas.openxmlformats.org/officeDocument/2006/math">
                    <m:r>
                      <a:rPr lang="zh-CN" altLang="en-US" i="1">
                        <a:latin typeface="Cambria Math" panose="02040503050406030204" pitchFamily="18" charset="0"/>
                      </a:rPr>
                      <m:t>𝑄</m:t>
                    </m:r>
                  </m:oMath>
                </a14:m>
                <a:r>
                  <a:rPr lang="zh-CN" altLang="en-US" dirty="0"/>
                  <a:t>，而序列特征作为键向量</a:t>
                </a:r>
                <a14:m>
                  <m:oMath xmlns:m="http://schemas.openxmlformats.org/officeDocument/2006/math">
                    <m:r>
                      <a:rPr lang="zh-CN" altLang="en-US" i="1">
                        <a:latin typeface="Cambria Math" panose="02040503050406030204" pitchFamily="18" charset="0"/>
                      </a:rPr>
                      <m:t>𝐾</m:t>
                    </m:r>
                  </m:oMath>
                </a14:m>
                <a:r>
                  <a:rPr lang="zh-CN" altLang="en-US" dirty="0"/>
                  <a:t>和值向量</a:t>
                </a:r>
                <a14:m>
                  <m:oMath xmlns:m="http://schemas.openxmlformats.org/officeDocument/2006/math">
                    <m:r>
                      <a:rPr lang="zh-CN" altLang="en-US" i="1">
                        <a:latin typeface="Cambria Math" panose="02040503050406030204" pitchFamily="18" charset="0"/>
                      </a:rPr>
                      <m:t>𝑉</m:t>
                    </m:r>
                  </m:oMath>
                </a14:m>
                <a:r>
                  <a:rPr lang="zh-CN" altLang="en-US" dirty="0"/>
                  <a:t>。</a:t>
                </a:r>
              </a:p>
            </p:txBody>
          </p:sp>
        </mc:Choice>
        <mc:Fallback xmlns="">
          <p:sp>
            <p:nvSpPr>
              <p:cNvPr id="8" name="文本框 7">
                <a:extLst>
                  <a:ext uri="{FF2B5EF4-FFF2-40B4-BE49-F238E27FC236}">
                    <a16:creationId xmlns:a16="http://schemas.microsoft.com/office/drawing/2014/main" id="{A4A5220E-AEFF-2737-44FA-866C756D27A7}"/>
                  </a:ext>
                </a:extLst>
              </p:cNvPr>
              <p:cNvSpPr txBox="1">
                <a:spLocks noRot="1" noChangeAspect="1" noMove="1" noResize="1" noEditPoints="1" noAdjustHandles="1" noChangeArrowheads="1" noChangeShapeType="1" noTextEdit="1"/>
              </p:cNvSpPr>
              <p:nvPr/>
            </p:nvSpPr>
            <p:spPr>
              <a:xfrm>
                <a:off x="5997093" y="3547703"/>
                <a:ext cx="5350213" cy="646331"/>
              </a:xfrm>
              <a:prstGeom prst="rect">
                <a:avLst/>
              </a:prstGeom>
              <a:blipFill>
                <a:blip r:embed="rId8"/>
                <a:stretch>
                  <a:fillRect l="-1026" t="-5660" b="-14151"/>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4A9D80CE-D8DC-550B-06B4-552296DAA897}"/>
              </a:ext>
            </a:extLst>
          </p:cNvPr>
          <p:cNvSpPr txBox="1"/>
          <p:nvPr/>
        </p:nvSpPr>
        <p:spPr>
          <a:xfrm>
            <a:off x="5997093" y="2440639"/>
            <a:ext cx="5295935" cy="830997"/>
          </a:xfrm>
          <a:prstGeom prst="rect">
            <a:avLst/>
          </a:prstGeom>
          <a:noFill/>
        </p:spPr>
        <p:txBody>
          <a:bodyPr wrap="square" rtlCol="0">
            <a:spAutoFit/>
          </a:bodyPr>
          <a:lstStyle/>
          <a:p>
            <a:r>
              <a:rPr lang="zh-CN" altLang="en-US" sz="1600" i="1" dirty="0"/>
              <a:t>相当于酶的氨基酸序列在主动提问：“根据我（特定酶）的整体序列构成，在这个由底物对接形成的 </a:t>
            </a:r>
            <a:r>
              <a:rPr lang="en-US" altLang="zh-CN" sz="1600" i="1" dirty="0"/>
              <a:t>3D </a:t>
            </a:r>
            <a:r>
              <a:rPr lang="zh-CN" altLang="en-US" sz="1600" i="1" dirty="0"/>
              <a:t>物理化学环境中，我应该把注意力集中在哪些空间相互作用上？”</a:t>
            </a:r>
          </a:p>
        </p:txBody>
      </p:sp>
      <p:sp>
        <p:nvSpPr>
          <p:cNvPr id="13" name="文本框 12">
            <a:extLst>
              <a:ext uri="{FF2B5EF4-FFF2-40B4-BE49-F238E27FC236}">
                <a16:creationId xmlns:a16="http://schemas.microsoft.com/office/drawing/2014/main" id="{2F77030F-0BB9-B3DF-C1BC-5CDC940B054B}"/>
              </a:ext>
            </a:extLst>
          </p:cNvPr>
          <p:cNvSpPr txBox="1"/>
          <p:nvPr/>
        </p:nvSpPr>
        <p:spPr>
          <a:xfrm>
            <a:off x="6096000" y="4238531"/>
            <a:ext cx="4897837" cy="830997"/>
          </a:xfrm>
          <a:prstGeom prst="rect">
            <a:avLst/>
          </a:prstGeom>
          <a:noFill/>
        </p:spPr>
        <p:txBody>
          <a:bodyPr wrap="square" rtlCol="0">
            <a:spAutoFit/>
          </a:bodyPr>
          <a:lstStyle/>
          <a:p>
            <a:r>
              <a:rPr lang="zh-CN" altLang="en-US" sz="1600" i="1" dirty="0"/>
              <a:t>这相当于底物的 </a:t>
            </a:r>
            <a:r>
              <a:rPr lang="en-US" altLang="zh-CN" sz="1600" i="1" dirty="0"/>
              <a:t>3D </a:t>
            </a:r>
            <a:r>
              <a:rPr lang="zh-CN" altLang="en-US" sz="1600" i="1" dirty="0"/>
              <a:t>空间环境在提问：“为了维持我现在这个稳定的能量姿态，并发生特定的化学键断裂</a:t>
            </a:r>
            <a:r>
              <a:rPr lang="en-US" altLang="zh-CN" sz="1600" i="1" dirty="0"/>
              <a:t>/</a:t>
            </a:r>
            <a:r>
              <a:rPr lang="zh-CN" altLang="en-US" sz="1600" i="1" dirty="0"/>
              <a:t>生成，酶序列上的哪几个氨基酸残基在出大力气？”</a:t>
            </a:r>
          </a:p>
        </p:txBody>
      </p:sp>
    </p:spTree>
    <p:extLst>
      <p:ext uri="{BB962C8B-B14F-4D97-AF65-F5344CB8AC3E}">
        <p14:creationId xmlns:p14="http://schemas.microsoft.com/office/powerpoint/2010/main" val="22698849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92C9F-660B-ADE8-3F9F-0297D5D2C730}"/>
            </a:ext>
          </a:extLst>
        </p:cNvPr>
        <p:cNvGrpSpPr/>
        <p:nvPr/>
      </p:nvGrpSpPr>
      <p:grpSpPr>
        <a:xfrm>
          <a:off x="0" y="0"/>
          <a:ext cx="0" cy="0"/>
          <a:chOff x="0" y="0"/>
          <a:chExt cx="0" cy="0"/>
        </a:xfrm>
      </p:grpSpPr>
      <p:grpSp>
        <p:nvGrpSpPr>
          <p:cNvPr id="20" name="组合 19">
            <a:extLst>
              <a:ext uri="{FF2B5EF4-FFF2-40B4-BE49-F238E27FC236}">
                <a16:creationId xmlns:a16="http://schemas.microsoft.com/office/drawing/2014/main" id="{AD5299D1-4DB0-2700-E179-8D4516372A45}"/>
              </a:ext>
            </a:extLst>
          </p:cNvPr>
          <p:cNvGrpSpPr/>
          <p:nvPr/>
        </p:nvGrpSpPr>
        <p:grpSpPr>
          <a:xfrm>
            <a:off x="286653" y="116633"/>
            <a:ext cx="11618694" cy="6681374"/>
            <a:chOff x="286653" y="116633"/>
            <a:chExt cx="11618694" cy="6681374"/>
          </a:xfrm>
        </p:grpSpPr>
        <p:grpSp>
          <p:nvGrpSpPr>
            <p:cNvPr id="21" name="组合 20">
              <a:extLst>
                <a:ext uri="{FF2B5EF4-FFF2-40B4-BE49-F238E27FC236}">
                  <a16:creationId xmlns:a16="http://schemas.microsoft.com/office/drawing/2014/main" id="{C6561F16-182B-C8AA-85B1-AA2E0B469D0B}"/>
                </a:ext>
              </a:extLst>
            </p:cNvPr>
            <p:cNvGrpSpPr/>
            <p:nvPr/>
          </p:nvGrpSpPr>
          <p:grpSpPr>
            <a:xfrm>
              <a:off x="335361" y="116633"/>
              <a:ext cx="629872" cy="612768"/>
              <a:chOff x="3070727" y="196457"/>
              <a:chExt cx="692047" cy="673255"/>
            </a:xfrm>
          </p:grpSpPr>
          <p:sp>
            <p:nvSpPr>
              <p:cNvPr id="26" name="平行四边形 25">
                <a:extLst>
                  <a:ext uri="{FF2B5EF4-FFF2-40B4-BE49-F238E27FC236}">
                    <a16:creationId xmlns:a16="http://schemas.microsoft.com/office/drawing/2014/main" id="{182CDD6B-9B4F-8BCA-ABA0-F3DBC3C9AA02}"/>
                  </a:ext>
                </a:extLst>
              </p:cNvPr>
              <p:cNvSpPr/>
              <p:nvPr/>
            </p:nvSpPr>
            <p:spPr>
              <a:xfrm>
                <a:off x="3070727" y="196457"/>
                <a:ext cx="629587" cy="612775"/>
              </a:xfrm>
              <a:prstGeom prst="parallelogram">
                <a:avLst/>
              </a:prstGeom>
              <a:solidFill>
                <a:srgbClr val="6B0261"/>
              </a:solidFill>
              <a:ln w="25400" cap="flat" cmpd="sng" algn="ctr">
                <a:solidFill>
                  <a:srgbClr val="6B026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27" name="平行四边形 26">
                <a:extLst>
                  <a:ext uri="{FF2B5EF4-FFF2-40B4-BE49-F238E27FC236}">
                    <a16:creationId xmlns:a16="http://schemas.microsoft.com/office/drawing/2014/main" id="{FC7B175D-4EA0-AD01-8810-5E9142B8AEF9}"/>
                  </a:ext>
                </a:extLst>
              </p:cNvPr>
              <p:cNvSpPr/>
              <p:nvPr/>
            </p:nvSpPr>
            <p:spPr>
              <a:xfrm>
                <a:off x="3133187" y="256937"/>
                <a:ext cx="629587" cy="612775"/>
              </a:xfrm>
              <a:prstGeom prst="parallelogram">
                <a:avLst/>
              </a:prstGeom>
              <a:noFill/>
              <a:ln w="25400" cap="flat" cmpd="sng" algn="ctr">
                <a:solidFill>
                  <a:srgbClr val="6B026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cxnSp>
          <p:nvCxnSpPr>
            <p:cNvPr id="22" name="直接连接符 21">
              <a:extLst>
                <a:ext uri="{FF2B5EF4-FFF2-40B4-BE49-F238E27FC236}">
                  <a16:creationId xmlns:a16="http://schemas.microsoft.com/office/drawing/2014/main" id="{472FEC83-3D5B-C9C5-DC60-FCD87125A646}"/>
                </a:ext>
              </a:extLst>
            </p:cNvPr>
            <p:cNvCxnSpPr>
              <a:cxnSpLocks/>
            </p:cNvCxnSpPr>
            <p:nvPr/>
          </p:nvCxnSpPr>
          <p:spPr>
            <a:xfrm>
              <a:off x="367840" y="809674"/>
              <a:ext cx="11488800" cy="0"/>
            </a:xfrm>
            <a:prstGeom prst="line">
              <a:avLst/>
            </a:prstGeom>
            <a:noFill/>
            <a:ln w="9525" cap="flat" cmpd="sng" algn="ctr">
              <a:solidFill>
                <a:srgbClr val="6B0261"/>
              </a:solidFill>
              <a:prstDash val="solid"/>
            </a:ln>
            <a:effectLst/>
          </p:spPr>
        </p:cxnSp>
        <p:sp>
          <p:nvSpPr>
            <p:cNvPr id="23" name="文本占位符 5">
              <a:extLst>
                <a:ext uri="{FF2B5EF4-FFF2-40B4-BE49-F238E27FC236}">
                  <a16:creationId xmlns:a16="http://schemas.microsoft.com/office/drawing/2014/main" id="{51CAF246-72A6-5A2B-1D67-975DAB5C38C7}"/>
                </a:ext>
              </a:extLst>
            </p:cNvPr>
            <p:cNvSpPr txBox="1">
              <a:spLocks/>
            </p:cNvSpPr>
            <p:nvPr/>
          </p:nvSpPr>
          <p:spPr>
            <a:xfrm>
              <a:off x="1075777" y="214065"/>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rgbClr val="6B0261"/>
                  </a:solidFill>
                </a:rPr>
                <a:t>研究内容</a:t>
              </a:r>
            </a:p>
          </p:txBody>
        </p:sp>
        <p:sp>
          <p:nvSpPr>
            <p:cNvPr id="24" name="文本框 23">
              <a:extLst>
                <a:ext uri="{FF2B5EF4-FFF2-40B4-BE49-F238E27FC236}">
                  <a16:creationId xmlns:a16="http://schemas.microsoft.com/office/drawing/2014/main" id="{098174DB-9A44-AA16-70CD-1DDCFE8B0531}"/>
                </a:ext>
              </a:extLst>
            </p:cNvPr>
            <p:cNvSpPr txBox="1"/>
            <p:nvPr/>
          </p:nvSpPr>
          <p:spPr>
            <a:xfrm>
              <a:off x="10805366" y="642867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25" name="图片 24">
              <a:extLst>
                <a:ext uri="{FF2B5EF4-FFF2-40B4-BE49-F238E27FC236}">
                  <a16:creationId xmlns:a16="http://schemas.microsoft.com/office/drawing/2014/main" id="{F2988369-FEB9-44AA-9DDC-1138C64D0437}"/>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a:stretch/>
          </p:blipFill>
          <p:spPr>
            <a:xfrm>
              <a:off x="286653" y="6425619"/>
              <a:ext cx="2520534" cy="369332"/>
            </a:xfrm>
            <a:prstGeom prst="rect">
              <a:avLst/>
            </a:prstGeom>
          </p:spPr>
        </p:pic>
      </p:grpSp>
      <p:grpSp>
        <p:nvGrpSpPr>
          <p:cNvPr id="51" name="组合 50">
            <a:extLst>
              <a:ext uri="{FF2B5EF4-FFF2-40B4-BE49-F238E27FC236}">
                <a16:creationId xmlns:a16="http://schemas.microsoft.com/office/drawing/2014/main" id="{4E32B16F-DA78-54BC-5B6A-7A24E73FDAC8}"/>
              </a:ext>
            </a:extLst>
          </p:cNvPr>
          <p:cNvGrpSpPr/>
          <p:nvPr/>
        </p:nvGrpSpPr>
        <p:grpSpPr>
          <a:xfrm>
            <a:off x="9938479" y="77827"/>
            <a:ext cx="2017490" cy="675447"/>
            <a:chOff x="995884" y="398899"/>
            <a:chExt cx="3658781" cy="1224944"/>
          </a:xfrm>
        </p:grpSpPr>
        <p:pic>
          <p:nvPicPr>
            <p:cNvPr id="52" name="图片 51">
              <a:extLst>
                <a:ext uri="{FF2B5EF4-FFF2-40B4-BE49-F238E27FC236}">
                  <a16:creationId xmlns:a16="http://schemas.microsoft.com/office/drawing/2014/main" id="{C0AB93D0-064C-255A-CE60-02DD0DADA247}"/>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95884" y="398899"/>
              <a:ext cx="977348" cy="1224944"/>
            </a:xfrm>
            <a:prstGeom prst="rect">
              <a:avLst/>
            </a:prstGeom>
          </p:spPr>
        </p:pic>
        <p:pic>
          <p:nvPicPr>
            <p:cNvPr id="53" name="图片 52">
              <a:extLst>
                <a:ext uri="{FF2B5EF4-FFF2-40B4-BE49-F238E27FC236}">
                  <a16:creationId xmlns:a16="http://schemas.microsoft.com/office/drawing/2014/main" id="{6C95E9C5-F86C-CDBF-9014-A8CBB70EFE00}"/>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173707" y="405382"/>
              <a:ext cx="2384890" cy="796233"/>
            </a:xfrm>
            <a:prstGeom prst="rect">
              <a:avLst/>
            </a:prstGeom>
          </p:spPr>
        </p:pic>
        <p:sp>
          <p:nvSpPr>
            <p:cNvPr id="54" name="矩形 53">
              <a:extLst>
                <a:ext uri="{FF2B5EF4-FFF2-40B4-BE49-F238E27FC236}">
                  <a16:creationId xmlns:a16="http://schemas.microsoft.com/office/drawing/2014/main" id="{BCCA73E5-9FBE-BA25-A65C-5558742F3E10}"/>
                </a:ext>
              </a:extLst>
            </p:cNvPr>
            <p:cNvSpPr/>
            <p:nvPr/>
          </p:nvSpPr>
          <p:spPr>
            <a:xfrm>
              <a:off x="2069306" y="1138524"/>
              <a:ext cx="2585359" cy="46048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rPr>
                <a:t>NANJING UNIVERSITY</a:t>
              </a:r>
              <a:endParaRPr kumimoji="0" lang="zh-CN" altLang="en-US" sz="105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endParaRPr>
            </a:p>
          </p:txBody>
        </p:sp>
      </p:grpSp>
      <p:sp>
        <p:nvSpPr>
          <p:cNvPr id="31" name="íŝḷïḓè">
            <a:extLst>
              <a:ext uri="{FF2B5EF4-FFF2-40B4-BE49-F238E27FC236}">
                <a16:creationId xmlns:a16="http://schemas.microsoft.com/office/drawing/2014/main" id="{3E4BF7AE-69BE-FE0E-4365-DE633ED5C670}"/>
              </a:ext>
            </a:extLst>
          </p:cNvPr>
          <p:cNvSpPr/>
          <p:nvPr/>
        </p:nvSpPr>
        <p:spPr bwMode="auto">
          <a:xfrm>
            <a:off x="5828824" y="4147130"/>
            <a:ext cx="338337" cy="366161"/>
          </a:xfrm>
          <a:custGeom>
            <a:avLst/>
            <a:gdLst>
              <a:gd name="connsiteX0" fmla="*/ 327780 w 561933"/>
              <a:gd name="connsiteY0" fmla="*/ 406780 h 608145"/>
              <a:gd name="connsiteX1" fmla="*/ 285069 w 561933"/>
              <a:gd name="connsiteY1" fmla="*/ 449434 h 608145"/>
              <a:gd name="connsiteX2" fmla="*/ 327780 w 561933"/>
              <a:gd name="connsiteY2" fmla="*/ 492088 h 608145"/>
              <a:gd name="connsiteX3" fmla="*/ 370490 w 561933"/>
              <a:gd name="connsiteY3" fmla="*/ 449434 h 608145"/>
              <a:gd name="connsiteX4" fmla="*/ 327780 w 561933"/>
              <a:gd name="connsiteY4" fmla="*/ 406780 h 608145"/>
              <a:gd name="connsiteX5" fmla="*/ 91381 w 561933"/>
              <a:gd name="connsiteY5" fmla="*/ 406780 h 608145"/>
              <a:gd name="connsiteX6" fmla="*/ 49664 w 561933"/>
              <a:gd name="connsiteY6" fmla="*/ 449434 h 608145"/>
              <a:gd name="connsiteX7" fmla="*/ 91381 w 561933"/>
              <a:gd name="connsiteY7" fmla="*/ 492088 h 608145"/>
              <a:gd name="connsiteX8" fmla="*/ 134092 w 561933"/>
              <a:gd name="connsiteY8" fmla="*/ 449434 h 608145"/>
              <a:gd name="connsiteX9" fmla="*/ 91381 w 561933"/>
              <a:gd name="connsiteY9" fmla="*/ 406780 h 608145"/>
              <a:gd name="connsiteX10" fmla="*/ 130119 w 561933"/>
              <a:gd name="connsiteY10" fmla="*/ 162762 h 608145"/>
              <a:gd name="connsiteX11" fmla="*/ 50657 w 561933"/>
              <a:gd name="connsiteY11" fmla="*/ 243110 h 608145"/>
              <a:gd name="connsiteX12" fmla="*/ 50657 w 561933"/>
              <a:gd name="connsiteY12" fmla="*/ 312546 h 608145"/>
              <a:gd name="connsiteX13" fmla="*/ 78468 w 561933"/>
              <a:gd name="connsiteY13" fmla="*/ 341312 h 608145"/>
              <a:gd name="connsiteX14" fmla="*/ 340692 w 561933"/>
              <a:gd name="connsiteY14" fmla="*/ 341312 h 608145"/>
              <a:gd name="connsiteX15" fmla="*/ 369497 w 561933"/>
              <a:gd name="connsiteY15" fmla="*/ 312546 h 608145"/>
              <a:gd name="connsiteX16" fmla="*/ 369497 w 561933"/>
              <a:gd name="connsiteY16" fmla="*/ 243110 h 608145"/>
              <a:gd name="connsiteX17" fmla="*/ 289042 w 561933"/>
              <a:gd name="connsiteY17" fmla="*/ 162762 h 608145"/>
              <a:gd name="connsiteX18" fmla="*/ 127139 w 561933"/>
              <a:gd name="connsiteY18" fmla="*/ 99278 h 608145"/>
              <a:gd name="connsiteX19" fmla="*/ 293015 w 561933"/>
              <a:gd name="connsiteY19" fmla="*/ 99278 h 608145"/>
              <a:gd name="connsiteX20" fmla="*/ 420154 w 561933"/>
              <a:gd name="connsiteY20" fmla="*/ 226247 h 608145"/>
              <a:gd name="connsiteX21" fmla="*/ 420154 w 561933"/>
              <a:gd name="connsiteY21" fmla="*/ 486136 h 608145"/>
              <a:gd name="connsiteX22" fmla="*/ 382410 w 561933"/>
              <a:gd name="connsiteY22" fmla="*/ 541685 h 608145"/>
              <a:gd name="connsiteX23" fmla="*/ 382410 w 561933"/>
              <a:gd name="connsiteY23" fmla="*/ 561524 h 608145"/>
              <a:gd name="connsiteX24" fmla="*/ 334733 w 561933"/>
              <a:gd name="connsiteY24" fmla="*/ 608145 h 608145"/>
              <a:gd name="connsiteX25" fmla="*/ 326786 w 561933"/>
              <a:gd name="connsiteY25" fmla="*/ 608145 h 608145"/>
              <a:gd name="connsiteX26" fmla="*/ 280103 w 561933"/>
              <a:gd name="connsiteY26" fmla="*/ 561524 h 608145"/>
              <a:gd name="connsiteX27" fmla="*/ 280103 w 561933"/>
              <a:gd name="connsiteY27" fmla="*/ 544661 h 608145"/>
              <a:gd name="connsiteX28" fmla="*/ 140051 w 561933"/>
              <a:gd name="connsiteY28" fmla="*/ 544661 h 608145"/>
              <a:gd name="connsiteX29" fmla="*/ 140051 w 561933"/>
              <a:gd name="connsiteY29" fmla="*/ 561524 h 608145"/>
              <a:gd name="connsiteX30" fmla="*/ 92374 w 561933"/>
              <a:gd name="connsiteY30" fmla="*/ 608145 h 608145"/>
              <a:gd name="connsiteX31" fmla="*/ 84428 w 561933"/>
              <a:gd name="connsiteY31" fmla="*/ 608145 h 608145"/>
              <a:gd name="connsiteX32" fmla="*/ 37744 w 561933"/>
              <a:gd name="connsiteY32" fmla="*/ 561524 h 608145"/>
              <a:gd name="connsiteX33" fmla="*/ 37744 w 561933"/>
              <a:gd name="connsiteY33" fmla="*/ 541685 h 608145"/>
              <a:gd name="connsiteX34" fmla="*/ 0 w 561933"/>
              <a:gd name="connsiteY34" fmla="*/ 486136 h 608145"/>
              <a:gd name="connsiteX35" fmla="*/ 0 w 561933"/>
              <a:gd name="connsiteY35" fmla="*/ 226247 h 608145"/>
              <a:gd name="connsiteX36" fmla="*/ 127139 w 561933"/>
              <a:gd name="connsiteY36" fmla="*/ 99278 h 608145"/>
              <a:gd name="connsiteX37" fmla="*/ 408232 w 561933"/>
              <a:gd name="connsiteY37" fmla="*/ 74504 h 608145"/>
              <a:gd name="connsiteX38" fmla="*/ 424139 w 561933"/>
              <a:gd name="connsiteY38" fmla="*/ 75495 h 608145"/>
              <a:gd name="connsiteX39" fmla="*/ 486772 w 561933"/>
              <a:gd name="connsiteY39" fmla="*/ 185587 h 608145"/>
              <a:gd name="connsiteX40" fmla="*/ 479813 w 561933"/>
              <a:gd name="connsiteY40" fmla="*/ 199473 h 608145"/>
              <a:gd name="connsiteX41" fmla="*/ 464901 w 561933"/>
              <a:gd name="connsiteY41" fmla="*/ 202448 h 608145"/>
              <a:gd name="connsiteX42" fmla="*/ 462912 w 561933"/>
              <a:gd name="connsiteY42" fmla="*/ 201456 h 608145"/>
              <a:gd name="connsiteX43" fmla="*/ 448994 w 561933"/>
              <a:gd name="connsiteY43" fmla="*/ 183604 h 608145"/>
              <a:gd name="connsiteX44" fmla="*/ 406244 w 561933"/>
              <a:gd name="connsiteY44" fmla="*/ 109217 h 608145"/>
              <a:gd name="connsiteX45" fmla="*/ 397296 w 561933"/>
              <a:gd name="connsiteY45" fmla="*/ 89381 h 608145"/>
              <a:gd name="connsiteX46" fmla="*/ 398291 w 561933"/>
              <a:gd name="connsiteY46" fmla="*/ 87397 h 608145"/>
              <a:gd name="connsiteX47" fmla="*/ 408232 w 561933"/>
              <a:gd name="connsiteY47" fmla="*/ 74504 h 608145"/>
              <a:gd name="connsiteX48" fmla="*/ 439969 w 561933"/>
              <a:gd name="connsiteY48" fmla="*/ 1081 h 608145"/>
              <a:gd name="connsiteX49" fmla="*/ 560176 w 561933"/>
              <a:gd name="connsiteY49" fmla="*/ 205408 h 608145"/>
              <a:gd name="connsiteX50" fmla="*/ 552228 w 561933"/>
              <a:gd name="connsiteY50" fmla="*/ 217311 h 608145"/>
              <a:gd name="connsiteX51" fmla="*/ 537326 w 561933"/>
              <a:gd name="connsiteY51" fmla="*/ 220286 h 608145"/>
              <a:gd name="connsiteX52" fmla="*/ 535340 w 561933"/>
              <a:gd name="connsiteY52" fmla="*/ 219294 h 608145"/>
              <a:gd name="connsiteX53" fmla="*/ 522425 w 561933"/>
              <a:gd name="connsiteY53" fmla="*/ 199457 h 608145"/>
              <a:gd name="connsiteX54" fmla="*/ 426061 w 561933"/>
              <a:gd name="connsiteY54" fmla="*/ 36788 h 608145"/>
              <a:gd name="connsiteX55" fmla="*/ 416126 w 561933"/>
              <a:gd name="connsiteY55" fmla="*/ 15959 h 608145"/>
              <a:gd name="connsiteX56" fmla="*/ 416126 w 561933"/>
              <a:gd name="connsiteY56" fmla="*/ 13975 h 608145"/>
              <a:gd name="connsiteX57" fmla="*/ 425067 w 561933"/>
              <a:gd name="connsiteY57" fmla="*/ 2073 h 608145"/>
              <a:gd name="connsiteX58" fmla="*/ 439969 w 561933"/>
              <a:gd name="connsiteY58" fmla="*/ 1081 h 608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61933" h="608145">
                <a:moveTo>
                  <a:pt x="327780" y="406780"/>
                </a:moveTo>
                <a:cubicBezTo>
                  <a:pt x="303941" y="406780"/>
                  <a:pt x="285069" y="425627"/>
                  <a:pt x="285069" y="449434"/>
                </a:cubicBezTo>
                <a:cubicBezTo>
                  <a:pt x="285069" y="473241"/>
                  <a:pt x="303941" y="492088"/>
                  <a:pt x="327780" y="492088"/>
                </a:cubicBezTo>
                <a:cubicBezTo>
                  <a:pt x="350625" y="492088"/>
                  <a:pt x="370490" y="473241"/>
                  <a:pt x="370490" y="449434"/>
                </a:cubicBezTo>
                <a:cubicBezTo>
                  <a:pt x="370490" y="425627"/>
                  <a:pt x="350625" y="406780"/>
                  <a:pt x="327780" y="406780"/>
                </a:cubicBezTo>
                <a:close/>
                <a:moveTo>
                  <a:pt x="91381" y="406780"/>
                </a:moveTo>
                <a:cubicBezTo>
                  <a:pt x="68536" y="406780"/>
                  <a:pt x="49664" y="425627"/>
                  <a:pt x="49664" y="449434"/>
                </a:cubicBezTo>
                <a:cubicBezTo>
                  <a:pt x="49664" y="473241"/>
                  <a:pt x="68536" y="492088"/>
                  <a:pt x="91381" y="492088"/>
                </a:cubicBezTo>
                <a:cubicBezTo>
                  <a:pt x="115220" y="492088"/>
                  <a:pt x="134092" y="473241"/>
                  <a:pt x="134092" y="449434"/>
                </a:cubicBezTo>
                <a:cubicBezTo>
                  <a:pt x="134092" y="425627"/>
                  <a:pt x="115220" y="406780"/>
                  <a:pt x="91381" y="406780"/>
                </a:cubicBezTo>
                <a:close/>
                <a:moveTo>
                  <a:pt x="130119" y="162762"/>
                </a:moveTo>
                <a:cubicBezTo>
                  <a:pt x="86415" y="162762"/>
                  <a:pt x="50657" y="198472"/>
                  <a:pt x="50657" y="243110"/>
                </a:cubicBezTo>
                <a:lnTo>
                  <a:pt x="50657" y="312546"/>
                </a:lnTo>
                <a:cubicBezTo>
                  <a:pt x="50657" y="328417"/>
                  <a:pt x="62576" y="341312"/>
                  <a:pt x="78468" y="341312"/>
                </a:cubicBezTo>
                <a:lnTo>
                  <a:pt x="340692" y="341312"/>
                </a:lnTo>
                <a:cubicBezTo>
                  <a:pt x="356585" y="341312"/>
                  <a:pt x="369497" y="328417"/>
                  <a:pt x="369497" y="312546"/>
                </a:cubicBezTo>
                <a:lnTo>
                  <a:pt x="369497" y="243110"/>
                </a:lnTo>
                <a:cubicBezTo>
                  <a:pt x="369497" y="198472"/>
                  <a:pt x="332746" y="162762"/>
                  <a:pt x="289042" y="162762"/>
                </a:cubicBezTo>
                <a:close/>
                <a:moveTo>
                  <a:pt x="127139" y="99278"/>
                </a:moveTo>
                <a:lnTo>
                  <a:pt x="293015" y="99278"/>
                </a:lnTo>
                <a:cubicBezTo>
                  <a:pt x="363538" y="99278"/>
                  <a:pt x="420154" y="155819"/>
                  <a:pt x="420154" y="226247"/>
                </a:cubicBezTo>
                <a:lnTo>
                  <a:pt x="420154" y="486136"/>
                </a:lnTo>
                <a:cubicBezTo>
                  <a:pt x="420154" y="511926"/>
                  <a:pt x="404262" y="532757"/>
                  <a:pt x="382410" y="541685"/>
                </a:cubicBezTo>
                <a:lnTo>
                  <a:pt x="382410" y="561524"/>
                </a:lnTo>
                <a:cubicBezTo>
                  <a:pt x="382410" y="587314"/>
                  <a:pt x="360558" y="608145"/>
                  <a:pt x="334733" y="608145"/>
                </a:cubicBezTo>
                <a:lnTo>
                  <a:pt x="326786" y="608145"/>
                </a:lnTo>
                <a:cubicBezTo>
                  <a:pt x="300961" y="608145"/>
                  <a:pt x="280103" y="587314"/>
                  <a:pt x="280103" y="561524"/>
                </a:cubicBezTo>
                <a:lnTo>
                  <a:pt x="280103" y="544661"/>
                </a:lnTo>
                <a:lnTo>
                  <a:pt x="140051" y="544661"/>
                </a:lnTo>
                <a:lnTo>
                  <a:pt x="140051" y="561524"/>
                </a:lnTo>
                <a:cubicBezTo>
                  <a:pt x="140051" y="587314"/>
                  <a:pt x="118199" y="608145"/>
                  <a:pt x="92374" y="608145"/>
                </a:cubicBezTo>
                <a:lnTo>
                  <a:pt x="84428" y="608145"/>
                </a:lnTo>
                <a:cubicBezTo>
                  <a:pt x="58603" y="608145"/>
                  <a:pt x="37744" y="587314"/>
                  <a:pt x="37744" y="561524"/>
                </a:cubicBezTo>
                <a:lnTo>
                  <a:pt x="37744" y="541685"/>
                </a:lnTo>
                <a:cubicBezTo>
                  <a:pt x="14899" y="532757"/>
                  <a:pt x="0" y="511926"/>
                  <a:pt x="0" y="486136"/>
                </a:cubicBezTo>
                <a:lnTo>
                  <a:pt x="0" y="226247"/>
                </a:lnTo>
                <a:cubicBezTo>
                  <a:pt x="0" y="155819"/>
                  <a:pt x="56616" y="99278"/>
                  <a:pt x="127139" y="99278"/>
                </a:cubicBezTo>
                <a:close/>
                <a:moveTo>
                  <a:pt x="408232" y="74504"/>
                </a:moveTo>
                <a:cubicBezTo>
                  <a:pt x="413203" y="72520"/>
                  <a:pt x="419168" y="72520"/>
                  <a:pt x="424139" y="75495"/>
                </a:cubicBezTo>
                <a:cubicBezTo>
                  <a:pt x="464901" y="96324"/>
                  <a:pt x="489755" y="139964"/>
                  <a:pt x="486772" y="185587"/>
                </a:cubicBezTo>
                <a:cubicBezTo>
                  <a:pt x="486772" y="190546"/>
                  <a:pt x="483790" y="195505"/>
                  <a:pt x="479813" y="199473"/>
                </a:cubicBezTo>
                <a:cubicBezTo>
                  <a:pt x="475836" y="202448"/>
                  <a:pt x="469871" y="203440"/>
                  <a:pt x="464901" y="202448"/>
                </a:cubicBezTo>
                <a:lnTo>
                  <a:pt x="462912" y="201456"/>
                </a:lnTo>
                <a:cubicBezTo>
                  <a:pt x="453965" y="199473"/>
                  <a:pt x="448994" y="191538"/>
                  <a:pt x="448994" y="183604"/>
                </a:cubicBezTo>
                <a:cubicBezTo>
                  <a:pt x="450982" y="152857"/>
                  <a:pt x="434081" y="123103"/>
                  <a:pt x="406244" y="109217"/>
                </a:cubicBezTo>
                <a:cubicBezTo>
                  <a:pt x="399285" y="105250"/>
                  <a:pt x="395308" y="97315"/>
                  <a:pt x="397296" y="89381"/>
                </a:cubicBezTo>
                <a:lnTo>
                  <a:pt x="398291" y="87397"/>
                </a:lnTo>
                <a:cubicBezTo>
                  <a:pt x="399285" y="81446"/>
                  <a:pt x="403261" y="77479"/>
                  <a:pt x="408232" y="74504"/>
                </a:cubicBezTo>
                <a:close/>
                <a:moveTo>
                  <a:pt x="439969" y="1081"/>
                </a:moveTo>
                <a:cubicBezTo>
                  <a:pt x="522425" y="32821"/>
                  <a:pt x="572097" y="118123"/>
                  <a:pt x="560176" y="205408"/>
                </a:cubicBezTo>
                <a:cubicBezTo>
                  <a:pt x="559182" y="210367"/>
                  <a:pt x="556202" y="214335"/>
                  <a:pt x="552228" y="217311"/>
                </a:cubicBezTo>
                <a:cubicBezTo>
                  <a:pt x="548254" y="220286"/>
                  <a:pt x="542294" y="221278"/>
                  <a:pt x="537326" y="220286"/>
                </a:cubicBezTo>
                <a:lnTo>
                  <a:pt x="535340" y="219294"/>
                </a:lnTo>
                <a:cubicBezTo>
                  <a:pt x="526399" y="217311"/>
                  <a:pt x="520438" y="208384"/>
                  <a:pt x="522425" y="199457"/>
                </a:cubicBezTo>
                <a:cubicBezTo>
                  <a:pt x="531366" y="130025"/>
                  <a:pt x="491628" y="62577"/>
                  <a:pt x="426061" y="36788"/>
                </a:cubicBezTo>
                <a:cubicBezTo>
                  <a:pt x="418113" y="33813"/>
                  <a:pt x="413146" y="24886"/>
                  <a:pt x="416126" y="15959"/>
                </a:cubicBezTo>
                <a:lnTo>
                  <a:pt x="416126" y="13975"/>
                </a:lnTo>
                <a:cubicBezTo>
                  <a:pt x="417120" y="9016"/>
                  <a:pt x="421094" y="4056"/>
                  <a:pt x="425067" y="2073"/>
                </a:cubicBezTo>
                <a:cubicBezTo>
                  <a:pt x="430035" y="89"/>
                  <a:pt x="435002" y="-903"/>
                  <a:pt x="439969" y="1081"/>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endParaRPr lang="zh-CN" altLang="en-US">
              <a:solidFill>
                <a:srgbClr val="000000"/>
              </a:solidFill>
              <a:latin typeface="Arial" panose="020F0502020204030204"/>
              <a:ea typeface="微软雅黑"/>
              <a:cs typeface="+mn-ea"/>
              <a:sym typeface="+mn-lt"/>
            </a:endParaRPr>
          </a:p>
        </p:txBody>
      </p:sp>
      <p:sp>
        <p:nvSpPr>
          <p:cNvPr id="42" name="ïslíḓé">
            <a:extLst>
              <a:ext uri="{FF2B5EF4-FFF2-40B4-BE49-F238E27FC236}">
                <a16:creationId xmlns:a16="http://schemas.microsoft.com/office/drawing/2014/main" id="{C1019E8B-EE01-CF0F-96E5-93442556F0C3}"/>
              </a:ext>
            </a:extLst>
          </p:cNvPr>
          <p:cNvSpPr/>
          <p:nvPr/>
        </p:nvSpPr>
        <p:spPr bwMode="auto">
          <a:xfrm>
            <a:off x="5815461" y="5339493"/>
            <a:ext cx="363264" cy="320996"/>
          </a:xfrm>
          <a:custGeom>
            <a:avLst/>
            <a:gdLst>
              <a:gd name="connsiteX0" fmla="*/ 494452 w 603405"/>
              <a:gd name="connsiteY0" fmla="*/ 356003 h 533193"/>
              <a:gd name="connsiteX1" fmla="*/ 585270 w 603405"/>
              <a:gd name="connsiteY1" fmla="*/ 356003 h 533193"/>
              <a:gd name="connsiteX2" fmla="*/ 601782 w 603405"/>
              <a:gd name="connsiteY2" fmla="*/ 372480 h 533193"/>
              <a:gd name="connsiteX3" fmla="*/ 585270 w 603405"/>
              <a:gd name="connsiteY3" fmla="*/ 388957 h 533193"/>
              <a:gd name="connsiteX4" fmla="*/ 494452 w 603405"/>
              <a:gd name="connsiteY4" fmla="*/ 388957 h 533193"/>
              <a:gd name="connsiteX5" fmla="*/ 367511 w 603405"/>
              <a:gd name="connsiteY5" fmla="*/ 244227 h 533193"/>
              <a:gd name="connsiteX6" fmla="*/ 443780 w 603405"/>
              <a:gd name="connsiteY6" fmla="*/ 244227 h 533193"/>
              <a:gd name="connsiteX7" fmla="*/ 477411 w 603405"/>
              <a:gd name="connsiteY7" fmla="*/ 277633 h 533193"/>
              <a:gd name="connsiteX8" fmla="*/ 477861 w 603405"/>
              <a:gd name="connsiteY8" fmla="*/ 381744 h 533193"/>
              <a:gd name="connsiteX9" fmla="*/ 463748 w 603405"/>
              <a:gd name="connsiteY9" fmla="*/ 395975 h 533193"/>
              <a:gd name="connsiteX10" fmla="*/ 449486 w 603405"/>
              <a:gd name="connsiteY10" fmla="*/ 381894 h 533193"/>
              <a:gd name="connsiteX11" fmla="*/ 449035 w 603405"/>
              <a:gd name="connsiteY11" fmla="*/ 277782 h 533193"/>
              <a:gd name="connsiteX12" fmla="*/ 446033 w 603405"/>
              <a:gd name="connsiteY12" fmla="*/ 274786 h 533193"/>
              <a:gd name="connsiteX13" fmla="*/ 443030 w 603405"/>
              <a:gd name="connsiteY13" fmla="*/ 277782 h 533193"/>
              <a:gd name="connsiteX14" fmla="*/ 443330 w 603405"/>
              <a:gd name="connsiteY14" fmla="*/ 516116 h 533193"/>
              <a:gd name="connsiteX15" fmla="*/ 426215 w 603405"/>
              <a:gd name="connsiteY15" fmla="*/ 533193 h 533193"/>
              <a:gd name="connsiteX16" fmla="*/ 409249 w 603405"/>
              <a:gd name="connsiteY16" fmla="*/ 516116 h 533193"/>
              <a:gd name="connsiteX17" fmla="*/ 409249 w 603405"/>
              <a:gd name="connsiteY17" fmla="*/ 380096 h 533193"/>
              <a:gd name="connsiteX18" fmla="*/ 401893 w 603405"/>
              <a:gd name="connsiteY18" fmla="*/ 380096 h 533193"/>
              <a:gd name="connsiteX19" fmla="*/ 401893 w 603405"/>
              <a:gd name="connsiteY19" fmla="*/ 516116 h 533193"/>
              <a:gd name="connsiteX20" fmla="*/ 384778 w 603405"/>
              <a:gd name="connsiteY20" fmla="*/ 533193 h 533193"/>
              <a:gd name="connsiteX21" fmla="*/ 367812 w 603405"/>
              <a:gd name="connsiteY21" fmla="*/ 516116 h 533193"/>
              <a:gd name="connsiteX22" fmla="*/ 367812 w 603405"/>
              <a:gd name="connsiteY22" fmla="*/ 380096 h 533193"/>
              <a:gd name="connsiteX23" fmla="*/ 367812 w 603405"/>
              <a:gd name="connsiteY23" fmla="*/ 277782 h 533193"/>
              <a:gd name="connsiteX24" fmla="*/ 364959 w 603405"/>
              <a:gd name="connsiteY24" fmla="*/ 274936 h 533193"/>
              <a:gd name="connsiteX25" fmla="*/ 362257 w 603405"/>
              <a:gd name="connsiteY25" fmla="*/ 277782 h 533193"/>
              <a:gd name="connsiteX26" fmla="*/ 361656 w 603405"/>
              <a:gd name="connsiteY26" fmla="*/ 381894 h 533193"/>
              <a:gd name="connsiteX27" fmla="*/ 347544 w 603405"/>
              <a:gd name="connsiteY27" fmla="*/ 395975 h 533193"/>
              <a:gd name="connsiteX28" fmla="*/ 347393 w 603405"/>
              <a:gd name="connsiteY28" fmla="*/ 395975 h 533193"/>
              <a:gd name="connsiteX29" fmla="*/ 333281 w 603405"/>
              <a:gd name="connsiteY29" fmla="*/ 381744 h 533193"/>
              <a:gd name="connsiteX30" fmla="*/ 333881 w 603405"/>
              <a:gd name="connsiteY30" fmla="*/ 277633 h 533193"/>
              <a:gd name="connsiteX31" fmla="*/ 367511 w 603405"/>
              <a:gd name="connsiteY31" fmla="*/ 244227 h 533193"/>
              <a:gd name="connsiteX32" fmla="*/ 201525 w 603405"/>
              <a:gd name="connsiteY32" fmla="*/ 244227 h 533193"/>
              <a:gd name="connsiteX33" fmla="*/ 277906 w 603405"/>
              <a:gd name="connsiteY33" fmla="*/ 244227 h 533193"/>
              <a:gd name="connsiteX34" fmla="*/ 311520 w 603405"/>
              <a:gd name="connsiteY34" fmla="*/ 277633 h 533193"/>
              <a:gd name="connsiteX35" fmla="*/ 311970 w 603405"/>
              <a:gd name="connsiteY35" fmla="*/ 381744 h 533193"/>
              <a:gd name="connsiteX36" fmla="*/ 297864 w 603405"/>
              <a:gd name="connsiteY36" fmla="*/ 395975 h 533193"/>
              <a:gd name="connsiteX37" fmla="*/ 297714 w 603405"/>
              <a:gd name="connsiteY37" fmla="*/ 395975 h 533193"/>
              <a:gd name="connsiteX38" fmla="*/ 283608 w 603405"/>
              <a:gd name="connsiteY38" fmla="*/ 381894 h 533193"/>
              <a:gd name="connsiteX39" fmla="*/ 283008 w 603405"/>
              <a:gd name="connsiteY39" fmla="*/ 277782 h 533193"/>
              <a:gd name="connsiteX40" fmla="*/ 280007 w 603405"/>
              <a:gd name="connsiteY40" fmla="*/ 274786 h 533193"/>
              <a:gd name="connsiteX41" fmla="*/ 277156 w 603405"/>
              <a:gd name="connsiteY41" fmla="*/ 277782 h 533193"/>
              <a:gd name="connsiteX42" fmla="*/ 277456 w 603405"/>
              <a:gd name="connsiteY42" fmla="*/ 516116 h 533193"/>
              <a:gd name="connsiteX43" fmla="*/ 260349 w 603405"/>
              <a:gd name="connsiteY43" fmla="*/ 533193 h 533193"/>
              <a:gd name="connsiteX44" fmla="*/ 243242 w 603405"/>
              <a:gd name="connsiteY44" fmla="*/ 516116 h 533193"/>
              <a:gd name="connsiteX45" fmla="*/ 243242 w 603405"/>
              <a:gd name="connsiteY45" fmla="*/ 380096 h 533193"/>
              <a:gd name="connsiteX46" fmla="*/ 235889 w 603405"/>
              <a:gd name="connsiteY46" fmla="*/ 380096 h 533193"/>
              <a:gd name="connsiteX47" fmla="*/ 235889 w 603405"/>
              <a:gd name="connsiteY47" fmla="*/ 516116 h 533193"/>
              <a:gd name="connsiteX48" fmla="*/ 218932 w 603405"/>
              <a:gd name="connsiteY48" fmla="*/ 533193 h 533193"/>
              <a:gd name="connsiteX49" fmla="*/ 201825 w 603405"/>
              <a:gd name="connsiteY49" fmla="*/ 516116 h 533193"/>
              <a:gd name="connsiteX50" fmla="*/ 201825 w 603405"/>
              <a:gd name="connsiteY50" fmla="*/ 380096 h 533193"/>
              <a:gd name="connsiteX51" fmla="*/ 201825 w 603405"/>
              <a:gd name="connsiteY51" fmla="*/ 277782 h 533193"/>
              <a:gd name="connsiteX52" fmla="*/ 199124 w 603405"/>
              <a:gd name="connsiteY52" fmla="*/ 274936 h 533193"/>
              <a:gd name="connsiteX53" fmla="*/ 196423 w 603405"/>
              <a:gd name="connsiteY53" fmla="*/ 277782 h 533193"/>
              <a:gd name="connsiteX54" fmla="*/ 195822 w 603405"/>
              <a:gd name="connsiteY54" fmla="*/ 381894 h 533193"/>
              <a:gd name="connsiteX55" fmla="*/ 181567 w 603405"/>
              <a:gd name="connsiteY55" fmla="*/ 395975 h 533193"/>
              <a:gd name="connsiteX56" fmla="*/ 167461 w 603405"/>
              <a:gd name="connsiteY56" fmla="*/ 381744 h 533193"/>
              <a:gd name="connsiteX57" fmla="*/ 167911 w 603405"/>
              <a:gd name="connsiteY57" fmla="*/ 277633 h 533193"/>
              <a:gd name="connsiteX58" fmla="*/ 201525 w 603405"/>
              <a:gd name="connsiteY58" fmla="*/ 244227 h 533193"/>
              <a:gd name="connsiteX59" fmla="*/ 34214 w 603405"/>
              <a:gd name="connsiteY59" fmla="*/ 244227 h 533193"/>
              <a:gd name="connsiteX60" fmla="*/ 110445 w 603405"/>
              <a:gd name="connsiteY60" fmla="*/ 244227 h 533193"/>
              <a:gd name="connsiteX61" fmla="*/ 144059 w 603405"/>
              <a:gd name="connsiteY61" fmla="*/ 277633 h 533193"/>
              <a:gd name="connsiteX62" fmla="*/ 144509 w 603405"/>
              <a:gd name="connsiteY62" fmla="*/ 381744 h 533193"/>
              <a:gd name="connsiteX63" fmla="*/ 130403 w 603405"/>
              <a:gd name="connsiteY63" fmla="*/ 395975 h 533193"/>
              <a:gd name="connsiteX64" fmla="*/ 116147 w 603405"/>
              <a:gd name="connsiteY64" fmla="*/ 381894 h 533193"/>
              <a:gd name="connsiteX65" fmla="*/ 115697 w 603405"/>
              <a:gd name="connsiteY65" fmla="*/ 277782 h 533193"/>
              <a:gd name="connsiteX66" fmla="*/ 112696 w 603405"/>
              <a:gd name="connsiteY66" fmla="*/ 274786 h 533193"/>
              <a:gd name="connsiteX67" fmla="*/ 109694 w 603405"/>
              <a:gd name="connsiteY67" fmla="*/ 277782 h 533193"/>
              <a:gd name="connsiteX68" fmla="*/ 109995 w 603405"/>
              <a:gd name="connsiteY68" fmla="*/ 516116 h 533193"/>
              <a:gd name="connsiteX69" fmla="*/ 92888 w 603405"/>
              <a:gd name="connsiteY69" fmla="*/ 533193 h 533193"/>
              <a:gd name="connsiteX70" fmla="*/ 75931 w 603405"/>
              <a:gd name="connsiteY70" fmla="*/ 516116 h 533193"/>
              <a:gd name="connsiteX71" fmla="*/ 75931 w 603405"/>
              <a:gd name="connsiteY71" fmla="*/ 380096 h 533193"/>
              <a:gd name="connsiteX72" fmla="*/ 68578 w 603405"/>
              <a:gd name="connsiteY72" fmla="*/ 380096 h 533193"/>
              <a:gd name="connsiteX73" fmla="*/ 68578 w 603405"/>
              <a:gd name="connsiteY73" fmla="*/ 516116 h 533193"/>
              <a:gd name="connsiteX74" fmla="*/ 51471 w 603405"/>
              <a:gd name="connsiteY74" fmla="*/ 533193 h 533193"/>
              <a:gd name="connsiteX75" fmla="*/ 34364 w 603405"/>
              <a:gd name="connsiteY75" fmla="*/ 516116 h 533193"/>
              <a:gd name="connsiteX76" fmla="*/ 34364 w 603405"/>
              <a:gd name="connsiteY76" fmla="*/ 380096 h 533193"/>
              <a:gd name="connsiteX77" fmla="*/ 34364 w 603405"/>
              <a:gd name="connsiteY77" fmla="*/ 277782 h 533193"/>
              <a:gd name="connsiteX78" fmla="*/ 31663 w 603405"/>
              <a:gd name="connsiteY78" fmla="*/ 275086 h 533193"/>
              <a:gd name="connsiteX79" fmla="*/ 28962 w 603405"/>
              <a:gd name="connsiteY79" fmla="*/ 277782 h 533193"/>
              <a:gd name="connsiteX80" fmla="*/ 28361 w 603405"/>
              <a:gd name="connsiteY80" fmla="*/ 381894 h 533193"/>
              <a:gd name="connsiteX81" fmla="*/ 14256 w 603405"/>
              <a:gd name="connsiteY81" fmla="*/ 395975 h 533193"/>
              <a:gd name="connsiteX82" fmla="*/ 14106 w 603405"/>
              <a:gd name="connsiteY82" fmla="*/ 395975 h 533193"/>
              <a:gd name="connsiteX83" fmla="*/ 0 w 603405"/>
              <a:gd name="connsiteY83" fmla="*/ 381744 h 533193"/>
              <a:gd name="connsiteX84" fmla="*/ 600 w 603405"/>
              <a:gd name="connsiteY84" fmla="*/ 277633 h 533193"/>
              <a:gd name="connsiteX85" fmla="*/ 34214 w 603405"/>
              <a:gd name="connsiteY85" fmla="*/ 244227 h 533193"/>
              <a:gd name="connsiteX86" fmla="*/ 298774 w 603405"/>
              <a:gd name="connsiteY86" fmla="*/ 232090 h 533193"/>
              <a:gd name="connsiteX87" fmla="*/ 346547 w 603405"/>
              <a:gd name="connsiteY87" fmla="*/ 232090 h 533193"/>
              <a:gd name="connsiteX88" fmla="*/ 322660 w 603405"/>
              <a:gd name="connsiteY88" fmla="*/ 254883 h 533193"/>
              <a:gd name="connsiteX89" fmla="*/ 298774 w 603405"/>
              <a:gd name="connsiteY89" fmla="*/ 232090 h 533193"/>
              <a:gd name="connsiteX90" fmla="*/ 405716 w 603405"/>
              <a:gd name="connsiteY90" fmla="*/ 176061 h 533193"/>
              <a:gd name="connsiteX91" fmla="*/ 435177 w 603405"/>
              <a:gd name="connsiteY91" fmla="*/ 205417 h 533193"/>
              <a:gd name="connsiteX92" fmla="*/ 405716 w 603405"/>
              <a:gd name="connsiteY92" fmla="*/ 234773 h 533193"/>
              <a:gd name="connsiteX93" fmla="*/ 376255 w 603405"/>
              <a:gd name="connsiteY93" fmla="*/ 205417 h 533193"/>
              <a:gd name="connsiteX94" fmla="*/ 405716 w 603405"/>
              <a:gd name="connsiteY94" fmla="*/ 176061 h 533193"/>
              <a:gd name="connsiteX95" fmla="*/ 239817 w 603405"/>
              <a:gd name="connsiteY95" fmla="*/ 176061 h 533193"/>
              <a:gd name="connsiteX96" fmla="*/ 269208 w 603405"/>
              <a:gd name="connsiteY96" fmla="*/ 205417 h 533193"/>
              <a:gd name="connsiteX97" fmla="*/ 239817 w 603405"/>
              <a:gd name="connsiteY97" fmla="*/ 234773 h 533193"/>
              <a:gd name="connsiteX98" fmla="*/ 210426 w 603405"/>
              <a:gd name="connsiteY98" fmla="*/ 205417 h 533193"/>
              <a:gd name="connsiteX99" fmla="*/ 239817 w 603405"/>
              <a:gd name="connsiteY99" fmla="*/ 176061 h 533193"/>
              <a:gd name="connsiteX100" fmla="*/ 72325 w 603405"/>
              <a:gd name="connsiteY100" fmla="*/ 176061 h 533193"/>
              <a:gd name="connsiteX101" fmla="*/ 101897 w 603405"/>
              <a:gd name="connsiteY101" fmla="*/ 205416 h 533193"/>
              <a:gd name="connsiteX102" fmla="*/ 72325 w 603405"/>
              <a:gd name="connsiteY102" fmla="*/ 234772 h 533193"/>
              <a:gd name="connsiteX103" fmla="*/ 42904 w 603405"/>
              <a:gd name="connsiteY103" fmla="*/ 205416 h 533193"/>
              <a:gd name="connsiteX104" fmla="*/ 72325 w 603405"/>
              <a:gd name="connsiteY104" fmla="*/ 176061 h 533193"/>
              <a:gd name="connsiteX105" fmla="*/ 1200 w 603405"/>
              <a:gd name="connsiteY105" fmla="*/ 56241 h 533193"/>
              <a:gd name="connsiteX106" fmla="*/ 384613 w 603405"/>
              <a:gd name="connsiteY106" fmla="*/ 56241 h 533193"/>
              <a:gd name="connsiteX107" fmla="*/ 603405 w 603405"/>
              <a:gd name="connsiteY107" fmla="*/ 274494 h 533193"/>
              <a:gd name="connsiteX108" fmla="*/ 540979 w 603405"/>
              <a:gd name="connsiteY108" fmla="*/ 336809 h 533193"/>
              <a:gd name="connsiteX109" fmla="*/ 494459 w 603405"/>
              <a:gd name="connsiteY109" fmla="*/ 336809 h 533193"/>
              <a:gd name="connsiteX110" fmla="*/ 494159 w 603405"/>
              <a:gd name="connsiteY110" fmla="*/ 277490 h 533193"/>
              <a:gd name="connsiteX111" fmla="*/ 464747 w 603405"/>
              <a:gd name="connsiteY111" fmla="*/ 232102 h 533193"/>
              <a:gd name="connsiteX112" fmla="*/ 551333 w 603405"/>
              <a:gd name="connsiteY112" fmla="*/ 232102 h 533193"/>
              <a:gd name="connsiteX113" fmla="*/ 551483 w 603405"/>
              <a:gd name="connsiteY113" fmla="*/ 232102 h 533193"/>
              <a:gd name="connsiteX114" fmla="*/ 557636 w 603405"/>
              <a:gd name="connsiteY114" fmla="*/ 228806 h 533193"/>
              <a:gd name="connsiteX115" fmla="*/ 558236 w 603405"/>
              <a:gd name="connsiteY115" fmla="*/ 221766 h 533193"/>
              <a:gd name="connsiteX116" fmla="*/ 504663 w 603405"/>
              <a:gd name="connsiteY116" fmla="*/ 136532 h 533193"/>
              <a:gd name="connsiteX117" fmla="*/ 415676 w 603405"/>
              <a:gd name="connsiteY117" fmla="*/ 97585 h 533193"/>
              <a:gd name="connsiteX118" fmla="*/ 397968 w 603405"/>
              <a:gd name="connsiteY118" fmla="*/ 97585 h 533193"/>
              <a:gd name="connsiteX119" fmla="*/ 397968 w 603405"/>
              <a:gd name="connsiteY119" fmla="*/ 159900 h 533193"/>
              <a:gd name="connsiteX120" fmla="*/ 364954 w 603405"/>
              <a:gd name="connsiteY120" fmla="*/ 183568 h 533193"/>
              <a:gd name="connsiteX121" fmla="*/ 364954 w 603405"/>
              <a:gd name="connsiteY121" fmla="*/ 97585 h 533193"/>
              <a:gd name="connsiteX122" fmla="*/ 174223 w 603405"/>
              <a:gd name="connsiteY122" fmla="*/ 97585 h 533193"/>
              <a:gd name="connsiteX123" fmla="*/ 174223 w 603405"/>
              <a:gd name="connsiteY123" fmla="*/ 232102 h 533193"/>
              <a:gd name="connsiteX124" fmla="*/ 180526 w 603405"/>
              <a:gd name="connsiteY124" fmla="*/ 232102 h 533193"/>
              <a:gd name="connsiteX125" fmla="*/ 174223 w 603405"/>
              <a:gd name="connsiteY125" fmla="*/ 235547 h 533193"/>
              <a:gd name="connsiteX126" fmla="*/ 156065 w 603405"/>
              <a:gd name="connsiteY126" fmla="*/ 256369 h 533193"/>
              <a:gd name="connsiteX127" fmla="*/ 141209 w 603405"/>
              <a:gd name="connsiteY127" fmla="*/ 238093 h 533193"/>
              <a:gd name="connsiteX128" fmla="*/ 131455 w 603405"/>
              <a:gd name="connsiteY128" fmla="*/ 232102 h 533193"/>
              <a:gd name="connsiteX129" fmla="*/ 141209 w 603405"/>
              <a:gd name="connsiteY129" fmla="*/ 232102 h 533193"/>
              <a:gd name="connsiteX130" fmla="*/ 141209 w 603405"/>
              <a:gd name="connsiteY130" fmla="*/ 97585 h 533193"/>
              <a:gd name="connsiteX131" fmla="*/ 1200 w 603405"/>
              <a:gd name="connsiteY131" fmla="*/ 97585 h 533193"/>
              <a:gd name="connsiteX132" fmla="*/ 30337 w 603405"/>
              <a:gd name="connsiteY132" fmla="*/ 0 h 533193"/>
              <a:gd name="connsiteX133" fmla="*/ 450496 w 603405"/>
              <a:gd name="connsiteY133" fmla="*/ 0 h 533193"/>
              <a:gd name="connsiteX134" fmla="*/ 467002 w 603405"/>
              <a:gd name="connsiteY134" fmla="*/ 16512 h 533193"/>
              <a:gd name="connsiteX135" fmla="*/ 450496 w 603405"/>
              <a:gd name="connsiteY135" fmla="*/ 33025 h 533193"/>
              <a:gd name="connsiteX136" fmla="*/ 30337 w 603405"/>
              <a:gd name="connsiteY136" fmla="*/ 33025 h 533193"/>
              <a:gd name="connsiteX137" fmla="*/ 13831 w 603405"/>
              <a:gd name="connsiteY137" fmla="*/ 16512 h 533193"/>
              <a:gd name="connsiteX138" fmla="*/ 30337 w 603405"/>
              <a:gd name="connsiteY138" fmla="*/ 0 h 533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603405" h="533193">
                <a:moveTo>
                  <a:pt x="494452" y="356003"/>
                </a:moveTo>
                <a:lnTo>
                  <a:pt x="585270" y="356003"/>
                </a:lnTo>
                <a:cubicBezTo>
                  <a:pt x="594277" y="356003"/>
                  <a:pt x="601782" y="363343"/>
                  <a:pt x="601782" y="372480"/>
                </a:cubicBezTo>
                <a:cubicBezTo>
                  <a:pt x="601782" y="381617"/>
                  <a:pt x="594277" y="388957"/>
                  <a:pt x="585270" y="388957"/>
                </a:cubicBezTo>
                <a:lnTo>
                  <a:pt x="494452" y="388957"/>
                </a:lnTo>
                <a:close/>
                <a:moveTo>
                  <a:pt x="367511" y="244227"/>
                </a:moveTo>
                <a:lnTo>
                  <a:pt x="443780" y="244227"/>
                </a:lnTo>
                <a:cubicBezTo>
                  <a:pt x="462247" y="244227"/>
                  <a:pt x="477261" y="259207"/>
                  <a:pt x="477411" y="277633"/>
                </a:cubicBezTo>
                <a:lnTo>
                  <a:pt x="477861" y="381744"/>
                </a:lnTo>
                <a:cubicBezTo>
                  <a:pt x="478011" y="389534"/>
                  <a:pt x="471706" y="395975"/>
                  <a:pt x="463748" y="395975"/>
                </a:cubicBezTo>
                <a:cubicBezTo>
                  <a:pt x="455941" y="395975"/>
                  <a:pt x="449486" y="389684"/>
                  <a:pt x="449486" y="381894"/>
                </a:cubicBezTo>
                <a:lnTo>
                  <a:pt x="449035" y="277782"/>
                </a:lnTo>
                <a:cubicBezTo>
                  <a:pt x="449035" y="276135"/>
                  <a:pt x="447684" y="274786"/>
                  <a:pt x="446033" y="274786"/>
                </a:cubicBezTo>
                <a:cubicBezTo>
                  <a:pt x="444381" y="274786"/>
                  <a:pt x="443030" y="276135"/>
                  <a:pt x="443030" y="277782"/>
                </a:cubicBezTo>
                <a:cubicBezTo>
                  <a:pt x="443030" y="419944"/>
                  <a:pt x="443330" y="291115"/>
                  <a:pt x="443330" y="516116"/>
                </a:cubicBezTo>
                <a:cubicBezTo>
                  <a:pt x="443330" y="525553"/>
                  <a:pt x="435673" y="533193"/>
                  <a:pt x="426215" y="533193"/>
                </a:cubicBezTo>
                <a:cubicBezTo>
                  <a:pt x="416906" y="533193"/>
                  <a:pt x="409249" y="525553"/>
                  <a:pt x="409249" y="516116"/>
                </a:cubicBezTo>
                <a:lnTo>
                  <a:pt x="409249" y="380096"/>
                </a:lnTo>
                <a:lnTo>
                  <a:pt x="401893" y="380096"/>
                </a:lnTo>
                <a:lnTo>
                  <a:pt x="401893" y="516116"/>
                </a:lnTo>
                <a:cubicBezTo>
                  <a:pt x="401893" y="525553"/>
                  <a:pt x="394236" y="533193"/>
                  <a:pt x="384778" y="533193"/>
                </a:cubicBezTo>
                <a:cubicBezTo>
                  <a:pt x="375319" y="533193"/>
                  <a:pt x="367812" y="525553"/>
                  <a:pt x="367812" y="516116"/>
                </a:cubicBezTo>
                <a:lnTo>
                  <a:pt x="367812" y="380096"/>
                </a:lnTo>
                <a:lnTo>
                  <a:pt x="367812" y="277782"/>
                </a:lnTo>
                <a:cubicBezTo>
                  <a:pt x="367812" y="276284"/>
                  <a:pt x="366461" y="274936"/>
                  <a:pt x="364959" y="274936"/>
                </a:cubicBezTo>
                <a:cubicBezTo>
                  <a:pt x="363458" y="274936"/>
                  <a:pt x="362257" y="276284"/>
                  <a:pt x="362257" y="277782"/>
                </a:cubicBezTo>
                <a:lnTo>
                  <a:pt x="361656" y="381894"/>
                </a:lnTo>
                <a:cubicBezTo>
                  <a:pt x="361656" y="389684"/>
                  <a:pt x="355351" y="395975"/>
                  <a:pt x="347544" y="395975"/>
                </a:cubicBezTo>
                <a:lnTo>
                  <a:pt x="347393" y="395975"/>
                </a:lnTo>
                <a:cubicBezTo>
                  <a:pt x="339586" y="395975"/>
                  <a:pt x="333281" y="389534"/>
                  <a:pt x="333281" y="381744"/>
                </a:cubicBezTo>
                <a:lnTo>
                  <a:pt x="333881" y="277633"/>
                </a:lnTo>
                <a:cubicBezTo>
                  <a:pt x="333881" y="259207"/>
                  <a:pt x="349045" y="244227"/>
                  <a:pt x="367511" y="244227"/>
                </a:cubicBezTo>
                <a:close/>
                <a:moveTo>
                  <a:pt x="201525" y="244227"/>
                </a:moveTo>
                <a:lnTo>
                  <a:pt x="277906" y="244227"/>
                </a:lnTo>
                <a:cubicBezTo>
                  <a:pt x="296213" y="244227"/>
                  <a:pt x="311370" y="259207"/>
                  <a:pt x="311520" y="277633"/>
                </a:cubicBezTo>
                <a:lnTo>
                  <a:pt x="311970" y="381744"/>
                </a:lnTo>
                <a:cubicBezTo>
                  <a:pt x="311970" y="389534"/>
                  <a:pt x="305667" y="395975"/>
                  <a:pt x="297864" y="395975"/>
                </a:cubicBezTo>
                <a:lnTo>
                  <a:pt x="297714" y="395975"/>
                </a:lnTo>
                <a:cubicBezTo>
                  <a:pt x="289911" y="395975"/>
                  <a:pt x="283608" y="389684"/>
                  <a:pt x="283608" y="381894"/>
                </a:cubicBezTo>
                <a:lnTo>
                  <a:pt x="283008" y="277782"/>
                </a:lnTo>
                <a:cubicBezTo>
                  <a:pt x="283008" y="276135"/>
                  <a:pt x="281657" y="274786"/>
                  <a:pt x="280007" y="274786"/>
                </a:cubicBezTo>
                <a:cubicBezTo>
                  <a:pt x="278356" y="274786"/>
                  <a:pt x="277156" y="276135"/>
                  <a:pt x="277156" y="277782"/>
                </a:cubicBezTo>
                <a:cubicBezTo>
                  <a:pt x="277156" y="419944"/>
                  <a:pt x="277456" y="291115"/>
                  <a:pt x="277456" y="516116"/>
                </a:cubicBezTo>
                <a:cubicBezTo>
                  <a:pt x="277456" y="525553"/>
                  <a:pt x="269803" y="533193"/>
                  <a:pt x="260349" y="533193"/>
                </a:cubicBezTo>
                <a:cubicBezTo>
                  <a:pt x="250895" y="533193"/>
                  <a:pt x="243242" y="525553"/>
                  <a:pt x="243242" y="516116"/>
                </a:cubicBezTo>
                <a:lnTo>
                  <a:pt x="243242" y="380096"/>
                </a:lnTo>
                <a:lnTo>
                  <a:pt x="235889" y="380096"/>
                </a:lnTo>
                <a:lnTo>
                  <a:pt x="235889" y="516116"/>
                </a:lnTo>
                <a:cubicBezTo>
                  <a:pt x="235889" y="525553"/>
                  <a:pt x="228386" y="533193"/>
                  <a:pt x="218932" y="533193"/>
                </a:cubicBezTo>
                <a:cubicBezTo>
                  <a:pt x="209478" y="533193"/>
                  <a:pt x="201825" y="525553"/>
                  <a:pt x="201825" y="516116"/>
                </a:cubicBezTo>
                <a:lnTo>
                  <a:pt x="201825" y="380096"/>
                </a:lnTo>
                <a:lnTo>
                  <a:pt x="201825" y="277782"/>
                </a:lnTo>
                <a:cubicBezTo>
                  <a:pt x="201825" y="276284"/>
                  <a:pt x="200624" y="274936"/>
                  <a:pt x="199124" y="274936"/>
                </a:cubicBezTo>
                <a:cubicBezTo>
                  <a:pt x="197623" y="274936"/>
                  <a:pt x="196423" y="276284"/>
                  <a:pt x="196423" y="277782"/>
                </a:cubicBezTo>
                <a:lnTo>
                  <a:pt x="195822" y="381894"/>
                </a:lnTo>
                <a:cubicBezTo>
                  <a:pt x="195822" y="389684"/>
                  <a:pt x="189370" y="395975"/>
                  <a:pt x="181567" y="395975"/>
                </a:cubicBezTo>
                <a:cubicBezTo>
                  <a:pt x="173763" y="395975"/>
                  <a:pt x="167311" y="389534"/>
                  <a:pt x="167461" y="381744"/>
                </a:cubicBezTo>
                <a:lnTo>
                  <a:pt x="167911" y="277633"/>
                </a:lnTo>
                <a:cubicBezTo>
                  <a:pt x="168061" y="259207"/>
                  <a:pt x="183067" y="244227"/>
                  <a:pt x="201525" y="244227"/>
                </a:cubicBezTo>
                <a:close/>
                <a:moveTo>
                  <a:pt x="34214" y="244227"/>
                </a:moveTo>
                <a:lnTo>
                  <a:pt x="110445" y="244227"/>
                </a:lnTo>
                <a:cubicBezTo>
                  <a:pt x="128902" y="244227"/>
                  <a:pt x="143908" y="259207"/>
                  <a:pt x="144059" y="277633"/>
                </a:cubicBezTo>
                <a:lnTo>
                  <a:pt x="144509" y="381744"/>
                </a:lnTo>
                <a:cubicBezTo>
                  <a:pt x="144659" y="389534"/>
                  <a:pt x="138206" y="395975"/>
                  <a:pt x="130403" y="395975"/>
                </a:cubicBezTo>
                <a:cubicBezTo>
                  <a:pt x="122600" y="395975"/>
                  <a:pt x="116147" y="389684"/>
                  <a:pt x="116147" y="381894"/>
                </a:cubicBezTo>
                <a:lnTo>
                  <a:pt x="115697" y="277782"/>
                </a:lnTo>
                <a:cubicBezTo>
                  <a:pt x="115547" y="276135"/>
                  <a:pt x="114346" y="274786"/>
                  <a:pt x="112696" y="274786"/>
                </a:cubicBezTo>
                <a:cubicBezTo>
                  <a:pt x="111045" y="274786"/>
                  <a:pt x="109694" y="276135"/>
                  <a:pt x="109694" y="277782"/>
                </a:cubicBezTo>
                <a:cubicBezTo>
                  <a:pt x="109694" y="343695"/>
                  <a:pt x="109995" y="452450"/>
                  <a:pt x="109995" y="516116"/>
                </a:cubicBezTo>
                <a:cubicBezTo>
                  <a:pt x="109995" y="525553"/>
                  <a:pt x="102341" y="533193"/>
                  <a:pt x="92888" y="533193"/>
                </a:cubicBezTo>
                <a:cubicBezTo>
                  <a:pt x="83584" y="533193"/>
                  <a:pt x="75931" y="525553"/>
                  <a:pt x="75931" y="516116"/>
                </a:cubicBezTo>
                <a:lnTo>
                  <a:pt x="75931" y="380096"/>
                </a:lnTo>
                <a:lnTo>
                  <a:pt x="68578" y="380096"/>
                </a:lnTo>
                <a:lnTo>
                  <a:pt x="68578" y="516116"/>
                </a:lnTo>
                <a:cubicBezTo>
                  <a:pt x="68578" y="525553"/>
                  <a:pt x="60925" y="533193"/>
                  <a:pt x="51471" y="533193"/>
                </a:cubicBezTo>
                <a:cubicBezTo>
                  <a:pt x="42017" y="533193"/>
                  <a:pt x="34364" y="525553"/>
                  <a:pt x="34364" y="516116"/>
                </a:cubicBezTo>
                <a:lnTo>
                  <a:pt x="34364" y="380096"/>
                </a:lnTo>
                <a:lnTo>
                  <a:pt x="34364" y="277782"/>
                </a:lnTo>
                <a:cubicBezTo>
                  <a:pt x="34364" y="276284"/>
                  <a:pt x="33163" y="275086"/>
                  <a:pt x="31663" y="275086"/>
                </a:cubicBezTo>
                <a:cubicBezTo>
                  <a:pt x="30162" y="274936"/>
                  <a:pt x="28962" y="276284"/>
                  <a:pt x="28962" y="277782"/>
                </a:cubicBezTo>
                <a:lnTo>
                  <a:pt x="28361" y="381894"/>
                </a:lnTo>
                <a:cubicBezTo>
                  <a:pt x="28361" y="389684"/>
                  <a:pt x="22059" y="395975"/>
                  <a:pt x="14256" y="395975"/>
                </a:cubicBezTo>
                <a:lnTo>
                  <a:pt x="14106" y="395975"/>
                </a:lnTo>
                <a:cubicBezTo>
                  <a:pt x="6302" y="395975"/>
                  <a:pt x="0" y="389534"/>
                  <a:pt x="0" y="381744"/>
                </a:cubicBezTo>
                <a:lnTo>
                  <a:pt x="600" y="277633"/>
                </a:lnTo>
                <a:cubicBezTo>
                  <a:pt x="600" y="259207"/>
                  <a:pt x="15756" y="244227"/>
                  <a:pt x="34214" y="244227"/>
                </a:cubicBezTo>
                <a:close/>
                <a:moveTo>
                  <a:pt x="298774" y="232090"/>
                </a:moveTo>
                <a:lnTo>
                  <a:pt x="346547" y="232090"/>
                </a:lnTo>
                <a:cubicBezTo>
                  <a:pt x="336331" y="236739"/>
                  <a:pt x="327768" y="244836"/>
                  <a:pt x="322660" y="254883"/>
                </a:cubicBezTo>
                <a:cubicBezTo>
                  <a:pt x="317552" y="244836"/>
                  <a:pt x="309140" y="236739"/>
                  <a:pt x="298774" y="232090"/>
                </a:cubicBezTo>
                <a:close/>
                <a:moveTo>
                  <a:pt x="405716" y="176061"/>
                </a:moveTo>
                <a:cubicBezTo>
                  <a:pt x="421987" y="176061"/>
                  <a:pt x="435177" y="189204"/>
                  <a:pt x="435177" y="205417"/>
                </a:cubicBezTo>
                <a:cubicBezTo>
                  <a:pt x="435177" y="221630"/>
                  <a:pt x="421987" y="234773"/>
                  <a:pt x="405716" y="234773"/>
                </a:cubicBezTo>
                <a:cubicBezTo>
                  <a:pt x="389445" y="234773"/>
                  <a:pt x="376255" y="221630"/>
                  <a:pt x="376255" y="205417"/>
                </a:cubicBezTo>
                <a:cubicBezTo>
                  <a:pt x="376255" y="189204"/>
                  <a:pt x="389445" y="176061"/>
                  <a:pt x="405716" y="176061"/>
                </a:cubicBezTo>
                <a:close/>
                <a:moveTo>
                  <a:pt x="239817" y="176061"/>
                </a:moveTo>
                <a:cubicBezTo>
                  <a:pt x="256049" y="176061"/>
                  <a:pt x="269208" y="189204"/>
                  <a:pt x="269208" y="205417"/>
                </a:cubicBezTo>
                <a:cubicBezTo>
                  <a:pt x="269208" y="221630"/>
                  <a:pt x="256049" y="234773"/>
                  <a:pt x="239817" y="234773"/>
                </a:cubicBezTo>
                <a:cubicBezTo>
                  <a:pt x="223585" y="234773"/>
                  <a:pt x="210426" y="221630"/>
                  <a:pt x="210426" y="205417"/>
                </a:cubicBezTo>
                <a:cubicBezTo>
                  <a:pt x="210426" y="189204"/>
                  <a:pt x="223585" y="176061"/>
                  <a:pt x="239817" y="176061"/>
                </a:cubicBezTo>
                <a:close/>
                <a:moveTo>
                  <a:pt x="72325" y="176061"/>
                </a:moveTo>
                <a:cubicBezTo>
                  <a:pt x="88687" y="176061"/>
                  <a:pt x="101897" y="189241"/>
                  <a:pt x="101897" y="205416"/>
                </a:cubicBezTo>
                <a:cubicBezTo>
                  <a:pt x="101897" y="221592"/>
                  <a:pt x="88687" y="234772"/>
                  <a:pt x="72325" y="234772"/>
                </a:cubicBezTo>
                <a:cubicBezTo>
                  <a:pt x="56113" y="234772"/>
                  <a:pt x="42904" y="221592"/>
                  <a:pt x="42904" y="205416"/>
                </a:cubicBezTo>
                <a:cubicBezTo>
                  <a:pt x="42904" y="189241"/>
                  <a:pt x="55963" y="176061"/>
                  <a:pt x="72325" y="176061"/>
                </a:cubicBezTo>
                <a:close/>
                <a:moveTo>
                  <a:pt x="1200" y="56241"/>
                </a:moveTo>
                <a:lnTo>
                  <a:pt x="384613" y="56241"/>
                </a:lnTo>
                <a:cubicBezTo>
                  <a:pt x="505414" y="56241"/>
                  <a:pt x="603405" y="154058"/>
                  <a:pt x="603405" y="274494"/>
                </a:cubicBezTo>
                <a:cubicBezTo>
                  <a:pt x="603405" y="308947"/>
                  <a:pt x="575493" y="336809"/>
                  <a:pt x="540979" y="336809"/>
                </a:cubicBezTo>
                <a:lnTo>
                  <a:pt x="494459" y="336809"/>
                </a:lnTo>
                <a:lnTo>
                  <a:pt x="494159" y="277490"/>
                </a:lnTo>
                <a:cubicBezTo>
                  <a:pt x="494009" y="257417"/>
                  <a:pt x="482004" y="240041"/>
                  <a:pt x="464747" y="232102"/>
                </a:cubicBezTo>
                <a:lnTo>
                  <a:pt x="551333" y="232102"/>
                </a:lnTo>
                <a:lnTo>
                  <a:pt x="551483" y="232102"/>
                </a:lnTo>
                <a:cubicBezTo>
                  <a:pt x="553884" y="232102"/>
                  <a:pt x="556285" y="230753"/>
                  <a:pt x="557636" y="228806"/>
                </a:cubicBezTo>
                <a:cubicBezTo>
                  <a:pt x="558986" y="226709"/>
                  <a:pt x="559136" y="224013"/>
                  <a:pt x="558236" y="221766"/>
                </a:cubicBezTo>
                <a:cubicBezTo>
                  <a:pt x="550283" y="203790"/>
                  <a:pt x="531825" y="165892"/>
                  <a:pt x="504663" y="136532"/>
                </a:cubicBezTo>
                <a:cubicBezTo>
                  <a:pt x="481704" y="111666"/>
                  <a:pt x="449440" y="97585"/>
                  <a:pt x="415676" y="97585"/>
                </a:cubicBezTo>
                <a:lnTo>
                  <a:pt x="397968" y="97585"/>
                </a:lnTo>
                <a:lnTo>
                  <a:pt x="397968" y="159900"/>
                </a:lnTo>
                <a:cubicBezTo>
                  <a:pt x="383712" y="162297"/>
                  <a:pt x="371707" y="171284"/>
                  <a:pt x="364954" y="183568"/>
                </a:cubicBezTo>
                <a:lnTo>
                  <a:pt x="364954" y="97585"/>
                </a:lnTo>
                <a:lnTo>
                  <a:pt x="174223" y="97585"/>
                </a:lnTo>
                <a:lnTo>
                  <a:pt x="174223" y="232102"/>
                </a:lnTo>
                <a:lnTo>
                  <a:pt x="180526" y="232102"/>
                </a:lnTo>
                <a:cubicBezTo>
                  <a:pt x="178425" y="233150"/>
                  <a:pt x="176324" y="234199"/>
                  <a:pt x="174223" y="235547"/>
                </a:cubicBezTo>
                <a:cubicBezTo>
                  <a:pt x="166420" y="240640"/>
                  <a:pt x="159967" y="247830"/>
                  <a:pt x="156065" y="256369"/>
                </a:cubicBezTo>
                <a:cubicBezTo>
                  <a:pt x="152614" y="249178"/>
                  <a:pt x="147512" y="242887"/>
                  <a:pt x="141209" y="238093"/>
                </a:cubicBezTo>
                <a:cubicBezTo>
                  <a:pt x="138208" y="235697"/>
                  <a:pt x="134906" y="233749"/>
                  <a:pt x="131455" y="232102"/>
                </a:cubicBezTo>
                <a:lnTo>
                  <a:pt x="141209" y="232102"/>
                </a:lnTo>
                <a:lnTo>
                  <a:pt x="141209" y="97585"/>
                </a:lnTo>
                <a:lnTo>
                  <a:pt x="1200" y="97585"/>
                </a:lnTo>
                <a:close/>
                <a:moveTo>
                  <a:pt x="30337" y="0"/>
                </a:moveTo>
                <a:lnTo>
                  <a:pt x="450496" y="0"/>
                </a:lnTo>
                <a:cubicBezTo>
                  <a:pt x="459649" y="0"/>
                  <a:pt x="467002" y="7356"/>
                  <a:pt x="467002" y="16512"/>
                </a:cubicBezTo>
                <a:cubicBezTo>
                  <a:pt x="467002" y="25669"/>
                  <a:pt x="459649" y="33025"/>
                  <a:pt x="450496" y="33025"/>
                </a:cubicBezTo>
                <a:lnTo>
                  <a:pt x="30337" y="33025"/>
                </a:lnTo>
                <a:cubicBezTo>
                  <a:pt x="21184" y="33025"/>
                  <a:pt x="13831" y="25669"/>
                  <a:pt x="13831" y="16512"/>
                </a:cubicBezTo>
                <a:cubicBezTo>
                  <a:pt x="13831" y="7356"/>
                  <a:pt x="21184" y="0"/>
                  <a:pt x="30337" y="0"/>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endParaRPr lang="zh-CN" altLang="en-US">
              <a:solidFill>
                <a:srgbClr val="000000"/>
              </a:solidFill>
              <a:latin typeface="Arial" panose="020F0502020204030204"/>
              <a:ea typeface="微软雅黑"/>
              <a:cs typeface="+mn-ea"/>
              <a:sym typeface="+mn-lt"/>
            </a:endParaRPr>
          </a:p>
        </p:txBody>
      </p:sp>
      <p:pic>
        <p:nvPicPr>
          <p:cNvPr id="3" name="图片 2">
            <a:extLst>
              <a:ext uri="{FF2B5EF4-FFF2-40B4-BE49-F238E27FC236}">
                <a16:creationId xmlns:a16="http://schemas.microsoft.com/office/drawing/2014/main" id="{CE814758-2F09-CD3C-B2CB-4284E8C920BD}"/>
              </a:ext>
            </a:extLst>
          </p:cNvPr>
          <p:cNvPicPr>
            <a:picLocks noChangeAspect="1"/>
          </p:cNvPicPr>
          <p:nvPr/>
        </p:nvPicPr>
        <p:blipFill>
          <a:blip r:embed="rId6"/>
          <a:stretch>
            <a:fillRect/>
          </a:stretch>
        </p:blipFill>
        <p:spPr>
          <a:xfrm>
            <a:off x="335361" y="2125800"/>
            <a:ext cx="4591691" cy="2848373"/>
          </a:xfrm>
          <a:prstGeom prst="rect">
            <a:avLst/>
          </a:prstGeom>
        </p:spPr>
      </p:pic>
      <p:sp>
        <p:nvSpPr>
          <p:cNvPr id="4" name="文本框 3">
            <a:extLst>
              <a:ext uri="{FF2B5EF4-FFF2-40B4-BE49-F238E27FC236}">
                <a16:creationId xmlns:a16="http://schemas.microsoft.com/office/drawing/2014/main" id="{DDFCCB43-F61D-AB8F-0666-203D451EA078}"/>
              </a:ext>
            </a:extLst>
          </p:cNvPr>
          <p:cNvSpPr txBox="1"/>
          <p:nvPr/>
        </p:nvSpPr>
        <p:spPr>
          <a:xfrm>
            <a:off x="6437700" y="2828835"/>
            <a:ext cx="4345022" cy="1200329"/>
          </a:xfrm>
          <a:prstGeom prst="rect">
            <a:avLst/>
          </a:prstGeom>
          <a:noFill/>
        </p:spPr>
        <p:txBody>
          <a:bodyPr wrap="square" rtlCol="0">
            <a:spAutoFit/>
          </a:bodyPr>
          <a:lstStyle/>
          <a:p>
            <a:r>
              <a:rPr lang="zh-CN" altLang="en-US" dirty="0"/>
              <a:t>通过全连接层逐渐降维刚刚生成的特征向量，最终输出一个 </a:t>
            </a:r>
            <a:r>
              <a:rPr lang="en-US" altLang="zh-CN" dirty="0"/>
              <a:t>0 </a:t>
            </a:r>
            <a:r>
              <a:rPr lang="zh-CN" altLang="en-US" dirty="0"/>
              <a:t>到 </a:t>
            </a:r>
            <a:r>
              <a:rPr lang="en-US" altLang="zh-CN" dirty="0"/>
              <a:t>1 </a:t>
            </a:r>
            <a:r>
              <a:rPr lang="zh-CN" altLang="en-US" dirty="0"/>
              <a:t>的概率值。去拟合我们的真实实验标签 </a:t>
            </a:r>
            <a:r>
              <a:rPr lang="en-US" altLang="zh-CN" dirty="0"/>
              <a:t>y</a:t>
            </a:r>
            <a:r>
              <a:rPr lang="zh-CN" altLang="en-US" dirty="0"/>
              <a:t>：即该酶是否能催化该底物（</a:t>
            </a:r>
            <a:r>
              <a:rPr lang="en-US" altLang="zh-CN" dirty="0"/>
              <a:t>1 </a:t>
            </a:r>
            <a:r>
              <a:rPr lang="zh-CN" altLang="en-US" dirty="0"/>
              <a:t>为能，</a:t>
            </a:r>
            <a:r>
              <a:rPr lang="en-US" altLang="zh-CN" dirty="0"/>
              <a:t>0 </a:t>
            </a:r>
            <a:r>
              <a:rPr lang="zh-CN" altLang="en-US" dirty="0"/>
              <a:t>为否）。</a:t>
            </a:r>
          </a:p>
        </p:txBody>
      </p:sp>
    </p:spTree>
    <p:extLst>
      <p:ext uri="{BB962C8B-B14F-4D97-AF65-F5344CB8AC3E}">
        <p14:creationId xmlns:p14="http://schemas.microsoft.com/office/powerpoint/2010/main" val="33991456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D5D60-D8D1-B9D1-9FF9-E042622A33E7}"/>
            </a:ext>
          </a:extLst>
        </p:cNvPr>
        <p:cNvGrpSpPr/>
        <p:nvPr/>
      </p:nvGrpSpPr>
      <p:grpSpPr>
        <a:xfrm>
          <a:off x="0" y="0"/>
          <a:ext cx="0" cy="0"/>
          <a:chOff x="0" y="0"/>
          <a:chExt cx="0" cy="0"/>
        </a:xfrm>
      </p:grpSpPr>
      <p:grpSp>
        <p:nvGrpSpPr>
          <p:cNvPr id="20" name="组合 19">
            <a:extLst>
              <a:ext uri="{FF2B5EF4-FFF2-40B4-BE49-F238E27FC236}">
                <a16:creationId xmlns:a16="http://schemas.microsoft.com/office/drawing/2014/main" id="{D4AA9044-B561-E855-A652-E161D6EF4681}"/>
              </a:ext>
            </a:extLst>
          </p:cNvPr>
          <p:cNvGrpSpPr/>
          <p:nvPr/>
        </p:nvGrpSpPr>
        <p:grpSpPr>
          <a:xfrm>
            <a:off x="286653" y="116633"/>
            <a:ext cx="11618694" cy="6681374"/>
            <a:chOff x="286653" y="116633"/>
            <a:chExt cx="11618694" cy="6681374"/>
          </a:xfrm>
        </p:grpSpPr>
        <p:grpSp>
          <p:nvGrpSpPr>
            <p:cNvPr id="21" name="组合 20">
              <a:extLst>
                <a:ext uri="{FF2B5EF4-FFF2-40B4-BE49-F238E27FC236}">
                  <a16:creationId xmlns:a16="http://schemas.microsoft.com/office/drawing/2014/main" id="{2E319E8E-946E-B63B-E831-65635A4A7E11}"/>
                </a:ext>
              </a:extLst>
            </p:cNvPr>
            <p:cNvGrpSpPr/>
            <p:nvPr/>
          </p:nvGrpSpPr>
          <p:grpSpPr>
            <a:xfrm>
              <a:off x="335361" y="116633"/>
              <a:ext cx="629872" cy="612768"/>
              <a:chOff x="3070727" y="196457"/>
              <a:chExt cx="692047" cy="673255"/>
            </a:xfrm>
          </p:grpSpPr>
          <p:sp>
            <p:nvSpPr>
              <p:cNvPr id="26" name="平行四边形 25">
                <a:extLst>
                  <a:ext uri="{FF2B5EF4-FFF2-40B4-BE49-F238E27FC236}">
                    <a16:creationId xmlns:a16="http://schemas.microsoft.com/office/drawing/2014/main" id="{14408C71-7A88-0A2A-9B39-3C107E9EC9B8}"/>
                  </a:ext>
                </a:extLst>
              </p:cNvPr>
              <p:cNvSpPr/>
              <p:nvPr/>
            </p:nvSpPr>
            <p:spPr>
              <a:xfrm>
                <a:off x="3070727" y="196457"/>
                <a:ext cx="629587" cy="612775"/>
              </a:xfrm>
              <a:prstGeom prst="parallelogram">
                <a:avLst/>
              </a:prstGeom>
              <a:solidFill>
                <a:srgbClr val="6B0261"/>
              </a:solidFill>
              <a:ln w="25400" cap="flat" cmpd="sng" algn="ctr">
                <a:solidFill>
                  <a:srgbClr val="6B026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27" name="平行四边形 26">
                <a:extLst>
                  <a:ext uri="{FF2B5EF4-FFF2-40B4-BE49-F238E27FC236}">
                    <a16:creationId xmlns:a16="http://schemas.microsoft.com/office/drawing/2014/main" id="{09E076B6-A6BC-5D48-6323-54FDF8D2BAA0}"/>
                  </a:ext>
                </a:extLst>
              </p:cNvPr>
              <p:cNvSpPr/>
              <p:nvPr/>
            </p:nvSpPr>
            <p:spPr>
              <a:xfrm>
                <a:off x="3133187" y="256937"/>
                <a:ext cx="629587" cy="612775"/>
              </a:xfrm>
              <a:prstGeom prst="parallelogram">
                <a:avLst/>
              </a:prstGeom>
              <a:noFill/>
              <a:ln w="25400" cap="flat" cmpd="sng" algn="ctr">
                <a:solidFill>
                  <a:srgbClr val="6B026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cxnSp>
          <p:nvCxnSpPr>
            <p:cNvPr id="22" name="直接连接符 21">
              <a:extLst>
                <a:ext uri="{FF2B5EF4-FFF2-40B4-BE49-F238E27FC236}">
                  <a16:creationId xmlns:a16="http://schemas.microsoft.com/office/drawing/2014/main" id="{1C3ADC45-E6AF-AB10-3200-E9196D929898}"/>
                </a:ext>
              </a:extLst>
            </p:cNvPr>
            <p:cNvCxnSpPr>
              <a:cxnSpLocks/>
            </p:cNvCxnSpPr>
            <p:nvPr/>
          </p:nvCxnSpPr>
          <p:spPr>
            <a:xfrm>
              <a:off x="367840" y="809674"/>
              <a:ext cx="11488800" cy="0"/>
            </a:xfrm>
            <a:prstGeom prst="line">
              <a:avLst/>
            </a:prstGeom>
            <a:noFill/>
            <a:ln w="9525" cap="flat" cmpd="sng" algn="ctr">
              <a:solidFill>
                <a:srgbClr val="6B0261"/>
              </a:solidFill>
              <a:prstDash val="solid"/>
            </a:ln>
            <a:effectLst/>
          </p:spPr>
        </p:cxnSp>
        <p:sp>
          <p:nvSpPr>
            <p:cNvPr id="23" name="文本占位符 5">
              <a:extLst>
                <a:ext uri="{FF2B5EF4-FFF2-40B4-BE49-F238E27FC236}">
                  <a16:creationId xmlns:a16="http://schemas.microsoft.com/office/drawing/2014/main" id="{D383A027-0B92-38A1-BC21-404A3124E1FF}"/>
                </a:ext>
              </a:extLst>
            </p:cNvPr>
            <p:cNvSpPr txBox="1">
              <a:spLocks/>
            </p:cNvSpPr>
            <p:nvPr/>
          </p:nvSpPr>
          <p:spPr>
            <a:xfrm>
              <a:off x="1075777" y="214065"/>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rgbClr val="6B0261"/>
                  </a:solidFill>
                </a:rPr>
                <a:t>研究内容</a:t>
              </a:r>
            </a:p>
          </p:txBody>
        </p:sp>
        <p:sp>
          <p:nvSpPr>
            <p:cNvPr id="24" name="文本框 23">
              <a:extLst>
                <a:ext uri="{FF2B5EF4-FFF2-40B4-BE49-F238E27FC236}">
                  <a16:creationId xmlns:a16="http://schemas.microsoft.com/office/drawing/2014/main" id="{574D2EF6-DB89-4A13-C87E-B0E58E5B92EA}"/>
                </a:ext>
              </a:extLst>
            </p:cNvPr>
            <p:cNvSpPr txBox="1"/>
            <p:nvPr/>
          </p:nvSpPr>
          <p:spPr>
            <a:xfrm>
              <a:off x="10805366" y="642867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25" name="图片 24">
              <a:extLst>
                <a:ext uri="{FF2B5EF4-FFF2-40B4-BE49-F238E27FC236}">
                  <a16:creationId xmlns:a16="http://schemas.microsoft.com/office/drawing/2014/main" id="{C93745E0-4126-20FF-0782-9B33AA1DDE17}"/>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a:stretch/>
          </p:blipFill>
          <p:spPr>
            <a:xfrm>
              <a:off x="286653" y="6425619"/>
              <a:ext cx="2520534" cy="369332"/>
            </a:xfrm>
            <a:prstGeom prst="rect">
              <a:avLst/>
            </a:prstGeom>
          </p:spPr>
        </p:pic>
      </p:grpSp>
      <p:grpSp>
        <p:nvGrpSpPr>
          <p:cNvPr id="51" name="组合 50">
            <a:extLst>
              <a:ext uri="{FF2B5EF4-FFF2-40B4-BE49-F238E27FC236}">
                <a16:creationId xmlns:a16="http://schemas.microsoft.com/office/drawing/2014/main" id="{B9BFCE72-3E9C-25AE-2AA9-C20C6BDB5A45}"/>
              </a:ext>
            </a:extLst>
          </p:cNvPr>
          <p:cNvGrpSpPr/>
          <p:nvPr/>
        </p:nvGrpSpPr>
        <p:grpSpPr>
          <a:xfrm>
            <a:off x="9938479" y="77827"/>
            <a:ext cx="2017490" cy="675447"/>
            <a:chOff x="995884" y="398899"/>
            <a:chExt cx="3658781" cy="1224944"/>
          </a:xfrm>
        </p:grpSpPr>
        <p:pic>
          <p:nvPicPr>
            <p:cNvPr id="52" name="图片 51">
              <a:extLst>
                <a:ext uri="{FF2B5EF4-FFF2-40B4-BE49-F238E27FC236}">
                  <a16:creationId xmlns:a16="http://schemas.microsoft.com/office/drawing/2014/main" id="{F45E554E-F685-7B7B-33E3-4BD1165BCC8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95884" y="398899"/>
              <a:ext cx="977348" cy="1224944"/>
            </a:xfrm>
            <a:prstGeom prst="rect">
              <a:avLst/>
            </a:prstGeom>
          </p:spPr>
        </p:pic>
        <p:pic>
          <p:nvPicPr>
            <p:cNvPr id="53" name="图片 52">
              <a:extLst>
                <a:ext uri="{FF2B5EF4-FFF2-40B4-BE49-F238E27FC236}">
                  <a16:creationId xmlns:a16="http://schemas.microsoft.com/office/drawing/2014/main" id="{EE702130-5A2C-67EA-EB76-FE2173D42066}"/>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173707" y="405382"/>
              <a:ext cx="2384890" cy="796233"/>
            </a:xfrm>
            <a:prstGeom prst="rect">
              <a:avLst/>
            </a:prstGeom>
          </p:spPr>
        </p:pic>
        <p:sp>
          <p:nvSpPr>
            <p:cNvPr id="54" name="矩形 53">
              <a:extLst>
                <a:ext uri="{FF2B5EF4-FFF2-40B4-BE49-F238E27FC236}">
                  <a16:creationId xmlns:a16="http://schemas.microsoft.com/office/drawing/2014/main" id="{F10BC949-0500-A09B-C85F-03F554DB8FFE}"/>
                </a:ext>
              </a:extLst>
            </p:cNvPr>
            <p:cNvSpPr/>
            <p:nvPr/>
          </p:nvSpPr>
          <p:spPr>
            <a:xfrm>
              <a:off x="2069306" y="1138524"/>
              <a:ext cx="2585359" cy="46048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rPr>
                <a:t>NANJING UNIVERSITY</a:t>
              </a:r>
              <a:endParaRPr kumimoji="0" lang="zh-CN" altLang="en-US" sz="105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endParaRPr>
            </a:p>
          </p:txBody>
        </p:sp>
      </p:grpSp>
      <p:sp>
        <p:nvSpPr>
          <p:cNvPr id="31" name="íŝḷïḓè">
            <a:extLst>
              <a:ext uri="{FF2B5EF4-FFF2-40B4-BE49-F238E27FC236}">
                <a16:creationId xmlns:a16="http://schemas.microsoft.com/office/drawing/2014/main" id="{02C36AF1-BF82-AAFA-7CB5-68B84AFB7F2E}"/>
              </a:ext>
            </a:extLst>
          </p:cNvPr>
          <p:cNvSpPr/>
          <p:nvPr/>
        </p:nvSpPr>
        <p:spPr bwMode="auto">
          <a:xfrm>
            <a:off x="5828824" y="4147130"/>
            <a:ext cx="338337" cy="366161"/>
          </a:xfrm>
          <a:custGeom>
            <a:avLst/>
            <a:gdLst>
              <a:gd name="connsiteX0" fmla="*/ 327780 w 561933"/>
              <a:gd name="connsiteY0" fmla="*/ 406780 h 608145"/>
              <a:gd name="connsiteX1" fmla="*/ 285069 w 561933"/>
              <a:gd name="connsiteY1" fmla="*/ 449434 h 608145"/>
              <a:gd name="connsiteX2" fmla="*/ 327780 w 561933"/>
              <a:gd name="connsiteY2" fmla="*/ 492088 h 608145"/>
              <a:gd name="connsiteX3" fmla="*/ 370490 w 561933"/>
              <a:gd name="connsiteY3" fmla="*/ 449434 h 608145"/>
              <a:gd name="connsiteX4" fmla="*/ 327780 w 561933"/>
              <a:gd name="connsiteY4" fmla="*/ 406780 h 608145"/>
              <a:gd name="connsiteX5" fmla="*/ 91381 w 561933"/>
              <a:gd name="connsiteY5" fmla="*/ 406780 h 608145"/>
              <a:gd name="connsiteX6" fmla="*/ 49664 w 561933"/>
              <a:gd name="connsiteY6" fmla="*/ 449434 h 608145"/>
              <a:gd name="connsiteX7" fmla="*/ 91381 w 561933"/>
              <a:gd name="connsiteY7" fmla="*/ 492088 h 608145"/>
              <a:gd name="connsiteX8" fmla="*/ 134092 w 561933"/>
              <a:gd name="connsiteY8" fmla="*/ 449434 h 608145"/>
              <a:gd name="connsiteX9" fmla="*/ 91381 w 561933"/>
              <a:gd name="connsiteY9" fmla="*/ 406780 h 608145"/>
              <a:gd name="connsiteX10" fmla="*/ 130119 w 561933"/>
              <a:gd name="connsiteY10" fmla="*/ 162762 h 608145"/>
              <a:gd name="connsiteX11" fmla="*/ 50657 w 561933"/>
              <a:gd name="connsiteY11" fmla="*/ 243110 h 608145"/>
              <a:gd name="connsiteX12" fmla="*/ 50657 w 561933"/>
              <a:gd name="connsiteY12" fmla="*/ 312546 h 608145"/>
              <a:gd name="connsiteX13" fmla="*/ 78468 w 561933"/>
              <a:gd name="connsiteY13" fmla="*/ 341312 h 608145"/>
              <a:gd name="connsiteX14" fmla="*/ 340692 w 561933"/>
              <a:gd name="connsiteY14" fmla="*/ 341312 h 608145"/>
              <a:gd name="connsiteX15" fmla="*/ 369497 w 561933"/>
              <a:gd name="connsiteY15" fmla="*/ 312546 h 608145"/>
              <a:gd name="connsiteX16" fmla="*/ 369497 w 561933"/>
              <a:gd name="connsiteY16" fmla="*/ 243110 h 608145"/>
              <a:gd name="connsiteX17" fmla="*/ 289042 w 561933"/>
              <a:gd name="connsiteY17" fmla="*/ 162762 h 608145"/>
              <a:gd name="connsiteX18" fmla="*/ 127139 w 561933"/>
              <a:gd name="connsiteY18" fmla="*/ 99278 h 608145"/>
              <a:gd name="connsiteX19" fmla="*/ 293015 w 561933"/>
              <a:gd name="connsiteY19" fmla="*/ 99278 h 608145"/>
              <a:gd name="connsiteX20" fmla="*/ 420154 w 561933"/>
              <a:gd name="connsiteY20" fmla="*/ 226247 h 608145"/>
              <a:gd name="connsiteX21" fmla="*/ 420154 w 561933"/>
              <a:gd name="connsiteY21" fmla="*/ 486136 h 608145"/>
              <a:gd name="connsiteX22" fmla="*/ 382410 w 561933"/>
              <a:gd name="connsiteY22" fmla="*/ 541685 h 608145"/>
              <a:gd name="connsiteX23" fmla="*/ 382410 w 561933"/>
              <a:gd name="connsiteY23" fmla="*/ 561524 h 608145"/>
              <a:gd name="connsiteX24" fmla="*/ 334733 w 561933"/>
              <a:gd name="connsiteY24" fmla="*/ 608145 h 608145"/>
              <a:gd name="connsiteX25" fmla="*/ 326786 w 561933"/>
              <a:gd name="connsiteY25" fmla="*/ 608145 h 608145"/>
              <a:gd name="connsiteX26" fmla="*/ 280103 w 561933"/>
              <a:gd name="connsiteY26" fmla="*/ 561524 h 608145"/>
              <a:gd name="connsiteX27" fmla="*/ 280103 w 561933"/>
              <a:gd name="connsiteY27" fmla="*/ 544661 h 608145"/>
              <a:gd name="connsiteX28" fmla="*/ 140051 w 561933"/>
              <a:gd name="connsiteY28" fmla="*/ 544661 h 608145"/>
              <a:gd name="connsiteX29" fmla="*/ 140051 w 561933"/>
              <a:gd name="connsiteY29" fmla="*/ 561524 h 608145"/>
              <a:gd name="connsiteX30" fmla="*/ 92374 w 561933"/>
              <a:gd name="connsiteY30" fmla="*/ 608145 h 608145"/>
              <a:gd name="connsiteX31" fmla="*/ 84428 w 561933"/>
              <a:gd name="connsiteY31" fmla="*/ 608145 h 608145"/>
              <a:gd name="connsiteX32" fmla="*/ 37744 w 561933"/>
              <a:gd name="connsiteY32" fmla="*/ 561524 h 608145"/>
              <a:gd name="connsiteX33" fmla="*/ 37744 w 561933"/>
              <a:gd name="connsiteY33" fmla="*/ 541685 h 608145"/>
              <a:gd name="connsiteX34" fmla="*/ 0 w 561933"/>
              <a:gd name="connsiteY34" fmla="*/ 486136 h 608145"/>
              <a:gd name="connsiteX35" fmla="*/ 0 w 561933"/>
              <a:gd name="connsiteY35" fmla="*/ 226247 h 608145"/>
              <a:gd name="connsiteX36" fmla="*/ 127139 w 561933"/>
              <a:gd name="connsiteY36" fmla="*/ 99278 h 608145"/>
              <a:gd name="connsiteX37" fmla="*/ 408232 w 561933"/>
              <a:gd name="connsiteY37" fmla="*/ 74504 h 608145"/>
              <a:gd name="connsiteX38" fmla="*/ 424139 w 561933"/>
              <a:gd name="connsiteY38" fmla="*/ 75495 h 608145"/>
              <a:gd name="connsiteX39" fmla="*/ 486772 w 561933"/>
              <a:gd name="connsiteY39" fmla="*/ 185587 h 608145"/>
              <a:gd name="connsiteX40" fmla="*/ 479813 w 561933"/>
              <a:gd name="connsiteY40" fmla="*/ 199473 h 608145"/>
              <a:gd name="connsiteX41" fmla="*/ 464901 w 561933"/>
              <a:gd name="connsiteY41" fmla="*/ 202448 h 608145"/>
              <a:gd name="connsiteX42" fmla="*/ 462912 w 561933"/>
              <a:gd name="connsiteY42" fmla="*/ 201456 h 608145"/>
              <a:gd name="connsiteX43" fmla="*/ 448994 w 561933"/>
              <a:gd name="connsiteY43" fmla="*/ 183604 h 608145"/>
              <a:gd name="connsiteX44" fmla="*/ 406244 w 561933"/>
              <a:gd name="connsiteY44" fmla="*/ 109217 h 608145"/>
              <a:gd name="connsiteX45" fmla="*/ 397296 w 561933"/>
              <a:gd name="connsiteY45" fmla="*/ 89381 h 608145"/>
              <a:gd name="connsiteX46" fmla="*/ 398291 w 561933"/>
              <a:gd name="connsiteY46" fmla="*/ 87397 h 608145"/>
              <a:gd name="connsiteX47" fmla="*/ 408232 w 561933"/>
              <a:gd name="connsiteY47" fmla="*/ 74504 h 608145"/>
              <a:gd name="connsiteX48" fmla="*/ 439969 w 561933"/>
              <a:gd name="connsiteY48" fmla="*/ 1081 h 608145"/>
              <a:gd name="connsiteX49" fmla="*/ 560176 w 561933"/>
              <a:gd name="connsiteY49" fmla="*/ 205408 h 608145"/>
              <a:gd name="connsiteX50" fmla="*/ 552228 w 561933"/>
              <a:gd name="connsiteY50" fmla="*/ 217311 h 608145"/>
              <a:gd name="connsiteX51" fmla="*/ 537326 w 561933"/>
              <a:gd name="connsiteY51" fmla="*/ 220286 h 608145"/>
              <a:gd name="connsiteX52" fmla="*/ 535340 w 561933"/>
              <a:gd name="connsiteY52" fmla="*/ 219294 h 608145"/>
              <a:gd name="connsiteX53" fmla="*/ 522425 w 561933"/>
              <a:gd name="connsiteY53" fmla="*/ 199457 h 608145"/>
              <a:gd name="connsiteX54" fmla="*/ 426061 w 561933"/>
              <a:gd name="connsiteY54" fmla="*/ 36788 h 608145"/>
              <a:gd name="connsiteX55" fmla="*/ 416126 w 561933"/>
              <a:gd name="connsiteY55" fmla="*/ 15959 h 608145"/>
              <a:gd name="connsiteX56" fmla="*/ 416126 w 561933"/>
              <a:gd name="connsiteY56" fmla="*/ 13975 h 608145"/>
              <a:gd name="connsiteX57" fmla="*/ 425067 w 561933"/>
              <a:gd name="connsiteY57" fmla="*/ 2073 h 608145"/>
              <a:gd name="connsiteX58" fmla="*/ 439969 w 561933"/>
              <a:gd name="connsiteY58" fmla="*/ 1081 h 608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61933" h="608145">
                <a:moveTo>
                  <a:pt x="327780" y="406780"/>
                </a:moveTo>
                <a:cubicBezTo>
                  <a:pt x="303941" y="406780"/>
                  <a:pt x="285069" y="425627"/>
                  <a:pt x="285069" y="449434"/>
                </a:cubicBezTo>
                <a:cubicBezTo>
                  <a:pt x="285069" y="473241"/>
                  <a:pt x="303941" y="492088"/>
                  <a:pt x="327780" y="492088"/>
                </a:cubicBezTo>
                <a:cubicBezTo>
                  <a:pt x="350625" y="492088"/>
                  <a:pt x="370490" y="473241"/>
                  <a:pt x="370490" y="449434"/>
                </a:cubicBezTo>
                <a:cubicBezTo>
                  <a:pt x="370490" y="425627"/>
                  <a:pt x="350625" y="406780"/>
                  <a:pt x="327780" y="406780"/>
                </a:cubicBezTo>
                <a:close/>
                <a:moveTo>
                  <a:pt x="91381" y="406780"/>
                </a:moveTo>
                <a:cubicBezTo>
                  <a:pt x="68536" y="406780"/>
                  <a:pt x="49664" y="425627"/>
                  <a:pt x="49664" y="449434"/>
                </a:cubicBezTo>
                <a:cubicBezTo>
                  <a:pt x="49664" y="473241"/>
                  <a:pt x="68536" y="492088"/>
                  <a:pt x="91381" y="492088"/>
                </a:cubicBezTo>
                <a:cubicBezTo>
                  <a:pt x="115220" y="492088"/>
                  <a:pt x="134092" y="473241"/>
                  <a:pt x="134092" y="449434"/>
                </a:cubicBezTo>
                <a:cubicBezTo>
                  <a:pt x="134092" y="425627"/>
                  <a:pt x="115220" y="406780"/>
                  <a:pt x="91381" y="406780"/>
                </a:cubicBezTo>
                <a:close/>
                <a:moveTo>
                  <a:pt x="130119" y="162762"/>
                </a:moveTo>
                <a:cubicBezTo>
                  <a:pt x="86415" y="162762"/>
                  <a:pt x="50657" y="198472"/>
                  <a:pt x="50657" y="243110"/>
                </a:cubicBezTo>
                <a:lnTo>
                  <a:pt x="50657" y="312546"/>
                </a:lnTo>
                <a:cubicBezTo>
                  <a:pt x="50657" y="328417"/>
                  <a:pt x="62576" y="341312"/>
                  <a:pt x="78468" y="341312"/>
                </a:cubicBezTo>
                <a:lnTo>
                  <a:pt x="340692" y="341312"/>
                </a:lnTo>
                <a:cubicBezTo>
                  <a:pt x="356585" y="341312"/>
                  <a:pt x="369497" y="328417"/>
                  <a:pt x="369497" y="312546"/>
                </a:cubicBezTo>
                <a:lnTo>
                  <a:pt x="369497" y="243110"/>
                </a:lnTo>
                <a:cubicBezTo>
                  <a:pt x="369497" y="198472"/>
                  <a:pt x="332746" y="162762"/>
                  <a:pt x="289042" y="162762"/>
                </a:cubicBezTo>
                <a:close/>
                <a:moveTo>
                  <a:pt x="127139" y="99278"/>
                </a:moveTo>
                <a:lnTo>
                  <a:pt x="293015" y="99278"/>
                </a:lnTo>
                <a:cubicBezTo>
                  <a:pt x="363538" y="99278"/>
                  <a:pt x="420154" y="155819"/>
                  <a:pt x="420154" y="226247"/>
                </a:cubicBezTo>
                <a:lnTo>
                  <a:pt x="420154" y="486136"/>
                </a:lnTo>
                <a:cubicBezTo>
                  <a:pt x="420154" y="511926"/>
                  <a:pt x="404262" y="532757"/>
                  <a:pt x="382410" y="541685"/>
                </a:cubicBezTo>
                <a:lnTo>
                  <a:pt x="382410" y="561524"/>
                </a:lnTo>
                <a:cubicBezTo>
                  <a:pt x="382410" y="587314"/>
                  <a:pt x="360558" y="608145"/>
                  <a:pt x="334733" y="608145"/>
                </a:cubicBezTo>
                <a:lnTo>
                  <a:pt x="326786" y="608145"/>
                </a:lnTo>
                <a:cubicBezTo>
                  <a:pt x="300961" y="608145"/>
                  <a:pt x="280103" y="587314"/>
                  <a:pt x="280103" y="561524"/>
                </a:cubicBezTo>
                <a:lnTo>
                  <a:pt x="280103" y="544661"/>
                </a:lnTo>
                <a:lnTo>
                  <a:pt x="140051" y="544661"/>
                </a:lnTo>
                <a:lnTo>
                  <a:pt x="140051" y="561524"/>
                </a:lnTo>
                <a:cubicBezTo>
                  <a:pt x="140051" y="587314"/>
                  <a:pt x="118199" y="608145"/>
                  <a:pt x="92374" y="608145"/>
                </a:cubicBezTo>
                <a:lnTo>
                  <a:pt x="84428" y="608145"/>
                </a:lnTo>
                <a:cubicBezTo>
                  <a:pt x="58603" y="608145"/>
                  <a:pt x="37744" y="587314"/>
                  <a:pt x="37744" y="561524"/>
                </a:cubicBezTo>
                <a:lnTo>
                  <a:pt x="37744" y="541685"/>
                </a:lnTo>
                <a:cubicBezTo>
                  <a:pt x="14899" y="532757"/>
                  <a:pt x="0" y="511926"/>
                  <a:pt x="0" y="486136"/>
                </a:cubicBezTo>
                <a:lnTo>
                  <a:pt x="0" y="226247"/>
                </a:lnTo>
                <a:cubicBezTo>
                  <a:pt x="0" y="155819"/>
                  <a:pt x="56616" y="99278"/>
                  <a:pt x="127139" y="99278"/>
                </a:cubicBezTo>
                <a:close/>
                <a:moveTo>
                  <a:pt x="408232" y="74504"/>
                </a:moveTo>
                <a:cubicBezTo>
                  <a:pt x="413203" y="72520"/>
                  <a:pt x="419168" y="72520"/>
                  <a:pt x="424139" y="75495"/>
                </a:cubicBezTo>
                <a:cubicBezTo>
                  <a:pt x="464901" y="96324"/>
                  <a:pt x="489755" y="139964"/>
                  <a:pt x="486772" y="185587"/>
                </a:cubicBezTo>
                <a:cubicBezTo>
                  <a:pt x="486772" y="190546"/>
                  <a:pt x="483790" y="195505"/>
                  <a:pt x="479813" y="199473"/>
                </a:cubicBezTo>
                <a:cubicBezTo>
                  <a:pt x="475836" y="202448"/>
                  <a:pt x="469871" y="203440"/>
                  <a:pt x="464901" y="202448"/>
                </a:cubicBezTo>
                <a:lnTo>
                  <a:pt x="462912" y="201456"/>
                </a:lnTo>
                <a:cubicBezTo>
                  <a:pt x="453965" y="199473"/>
                  <a:pt x="448994" y="191538"/>
                  <a:pt x="448994" y="183604"/>
                </a:cubicBezTo>
                <a:cubicBezTo>
                  <a:pt x="450982" y="152857"/>
                  <a:pt x="434081" y="123103"/>
                  <a:pt x="406244" y="109217"/>
                </a:cubicBezTo>
                <a:cubicBezTo>
                  <a:pt x="399285" y="105250"/>
                  <a:pt x="395308" y="97315"/>
                  <a:pt x="397296" y="89381"/>
                </a:cubicBezTo>
                <a:lnTo>
                  <a:pt x="398291" y="87397"/>
                </a:lnTo>
                <a:cubicBezTo>
                  <a:pt x="399285" y="81446"/>
                  <a:pt x="403261" y="77479"/>
                  <a:pt x="408232" y="74504"/>
                </a:cubicBezTo>
                <a:close/>
                <a:moveTo>
                  <a:pt x="439969" y="1081"/>
                </a:moveTo>
                <a:cubicBezTo>
                  <a:pt x="522425" y="32821"/>
                  <a:pt x="572097" y="118123"/>
                  <a:pt x="560176" y="205408"/>
                </a:cubicBezTo>
                <a:cubicBezTo>
                  <a:pt x="559182" y="210367"/>
                  <a:pt x="556202" y="214335"/>
                  <a:pt x="552228" y="217311"/>
                </a:cubicBezTo>
                <a:cubicBezTo>
                  <a:pt x="548254" y="220286"/>
                  <a:pt x="542294" y="221278"/>
                  <a:pt x="537326" y="220286"/>
                </a:cubicBezTo>
                <a:lnTo>
                  <a:pt x="535340" y="219294"/>
                </a:lnTo>
                <a:cubicBezTo>
                  <a:pt x="526399" y="217311"/>
                  <a:pt x="520438" y="208384"/>
                  <a:pt x="522425" y="199457"/>
                </a:cubicBezTo>
                <a:cubicBezTo>
                  <a:pt x="531366" y="130025"/>
                  <a:pt x="491628" y="62577"/>
                  <a:pt x="426061" y="36788"/>
                </a:cubicBezTo>
                <a:cubicBezTo>
                  <a:pt x="418113" y="33813"/>
                  <a:pt x="413146" y="24886"/>
                  <a:pt x="416126" y="15959"/>
                </a:cubicBezTo>
                <a:lnTo>
                  <a:pt x="416126" y="13975"/>
                </a:lnTo>
                <a:cubicBezTo>
                  <a:pt x="417120" y="9016"/>
                  <a:pt x="421094" y="4056"/>
                  <a:pt x="425067" y="2073"/>
                </a:cubicBezTo>
                <a:cubicBezTo>
                  <a:pt x="430035" y="89"/>
                  <a:pt x="435002" y="-903"/>
                  <a:pt x="439969" y="1081"/>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endParaRPr lang="zh-CN" altLang="en-US">
              <a:solidFill>
                <a:srgbClr val="000000"/>
              </a:solidFill>
              <a:latin typeface="Arial" panose="020F0502020204030204"/>
              <a:ea typeface="微软雅黑"/>
              <a:cs typeface="+mn-ea"/>
              <a:sym typeface="+mn-lt"/>
            </a:endParaRPr>
          </a:p>
        </p:txBody>
      </p:sp>
      <p:sp>
        <p:nvSpPr>
          <p:cNvPr id="42" name="ïslíḓé">
            <a:extLst>
              <a:ext uri="{FF2B5EF4-FFF2-40B4-BE49-F238E27FC236}">
                <a16:creationId xmlns:a16="http://schemas.microsoft.com/office/drawing/2014/main" id="{66D81470-80F3-02E0-D3EF-816BC3E78441}"/>
              </a:ext>
            </a:extLst>
          </p:cNvPr>
          <p:cNvSpPr/>
          <p:nvPr/>
        </p:nvSpPr>
        <p:spPr bwMode="auto">
          <a:xfrm>
            <a:off x="5815461" y="5339493"/>
            <a:ext cx="363264" cy="320996"/>
          </a:xfrm>
          <a:custGeom>
            <a:avLst/>
            <a:gdLst>
              <a:gd name="connsiteX0" fmla="*/ 494452 w 603405"/>
              <a:gd name="connsiteY0" fmla="*/ 356003 h 533193"/>
              <a:gd name="connsiteX1" fmla="*/ 585270 w 603405"/>
              <a:gd name="connsiteY1" fmla="*/ 356003 h 533193"/>
              <a:gd name="connsiteX2" fmla="*/ 601782 w 603405"/>
              <a:gd name="connsiteY2" fmla="*/ 372480 h 533193"/>
              <a:gd name="connsiteX3" fmla="*/ 585270 w 603405"/>
              <a:gd name="connsiteY3" fmla="*/ 388957 h 533193"/>
              <a:gd name="connsiteX4" fmla="*/ 494452 w 603405"/>
              <a:gd name="connsiteY4" fmla="*/ 388957 h 533193"/>
              <a:gd name="connsiteX5" fmla="*/ 367511 w 603405"/>
              <a:gd name="connsiteY5" fmla="*/ 244227 h 533193"/>
              <a:gd name="connsiteX6" fmla="*/ 443780 w 603405"/>
              <a:gd name="connsiteY6" fmla="*/ 244227 h 533193"/>
              <a:gd name="connsiteX7" fmla="*/ 477411 w 603405"/>
              <a:gd name="connsiteY7" fmla="*/ 277633 h 533193"/>
              <a:gd name="connsiteX8" fmla="*/ 477861 w 603405"/>
              <a:gd name="connsiteY8" fmla="*/ 381744 h 533193"/>
              <a:gd name="connsiteX9" fmla="*/ 463748 w 603405"/>
              <a:gd name="connsiteY9" fmla="*/ 395975 h 533193"/>
              <a:gd name="connsiteX10" fmla="*/ 449486 w 603405"/>
              <a:gd name="connsiteY10" fmla="*/ 381894 h 533193"/>
              <a:gd name="connsiteX11" fmla="*/ 449035 w 603405"/>
              <a:gd name="connsiteY11" fmla="*/ 277782 h 533193"/>
              <a:gd name="connsiteX12" fmla="*/ 446033 w 603405"/>
              <a:gd name="connsiteY12" fmla="*/ 274786 h 533193"/>
              <a:gd name="connsiteX13" fmla="*/ 443030 w 603405"/>
              <a:gd name="connsiteY13" fmla="*/ 277782 h 533193"/>
              <a:gd name="connsiteX14" fmla="*/ 443330 w 603405"/>
              <a:gd name="connsiteY14" fmla="*/ 516116 h 533193"/>
              <a:gd name="connsiteX15" fmla="*/ 426215 w 603405"/>
              <a:gd name="connsiteY15" fmla="*/ 533193 h 533193"/>
              <a:gd name="connsiteX16" fmla="*/ 409249 w 603405"/>
              <a:gd name="connsiteY16" fmla="*/ 516116 h 533193"/>
              <a:gd name="connsiteX17" fmla="*/ 409249 w 603405"/>
              <a:gd name="connsiteY17" fmla="*/ 380096 h 533193"/>
              <a:gd name="connsiteX18" fmla="*/ 401893 w 603405"/>
              <a:gd name="connsiteY18" fmla="*/ 380096 h 533193"/>
              <a:gd name="connsiteX19" fmla="*/ 401893 w 603405"/>
              <a:gd name="connsiteY19" fmla="*/ 516116 h 533193"/>
              <a:gd name="connsiteX20" fmla="*/ 384778 w 603405"/>
              <a:gd name="connsiteY20" fmla="*/ 533193 h 533193"/>
              <a:gd name="connsiteX21" fmla="*/ 367812 w 603405"/>
              <a:gd name="connsiteY21" fmla="*/ 516116 h 533193"/>
              <a:gd name="connsiteX22" fmla="*/ 367812 w 603405"/>
              <a:gd name="connsiteY22" fmla="*/ 380096 h 533193"/>
              <a:gd name="connsiteX23" fmla="*/ 367812 w 603405"/>
              <a:gd name="connsiteY23" fmla="*/ 277782 h 533193"/>
              <a:gd name="connsiteX24" fmla="*/ 364959 w 603405"/>
              <a:gd name="connsiteY24" fmla="*/ 274936 h 533193"/>
              <a:gd name="connsiteX25" fmla="*/ 362257 w 603405"/>
              <a:gd name="connsiteY25" fmla="*/ 277782 h 533193"/>
              <a:gd name="connsiteX26" fmla="*/ 361656 w 603405"/>
              <a:gd name="connsiteY26" fmla="*/ 381894 h 533193"/>
              <a:gd name="connsiteX27" fmla="*/ 347544 w 603405"/>
              <a:gd name="connsiteY27" fmla="*/ 395975 h 533193"/>
              <a:gd name="connsiteX28" fmla="*/ 347393 w 603405"/>
              <a:gd name="connsiteY28" fmla="*/ 395975 h 533193"/>
              <a:gd name="connsiteX29" fmla="*/ 333281 w 603405"/>
              <a:gd name="connsiteY29" fmla="*/ 381744 h 533193"/>
              <a:gd name="connsiteX30" fmla="*/ 333881 w 603405"/>
              <a:gd name="connsiteY30" fmla="*/ 277633 h 533193"/>
              <a:gd name="connsiteX31" fmla="*/ 367511 w 603405"/>
              <a:gd name="connsiteY31" fmla="*/ 244227 h 533193"/>
              <a:gd name="connsiteX32" fmla="*/ 201525 w 603405"/>
              <a:gd name="connsiteY32" fmla="*/ 244227 h 533193"/>
              <a:gd name="connsiteX33" fmla="*/ 277906 w 603405"/>
              <a:gd name="connsiteY33" fmla="*/ 244227 h 533193"/>
              <a:gd name="connsiteX34" fmla="*/ 311520 w 603405"/>
              <a:gd name="connsiteY34" fmla="*/ 277633 h 533193"/>
              <a:gd name="connsiteX35" fmla="*/ 311970 w 603405"/>
              <a:gd name="connsiteY35" fmla="*/ 381744 h 533193"/>
              <a:gd name="connsiteX36" fmla="*/ 297864 w 603405"/>
              <a:gd name="connsiteY36" fmla="*/ 395975 h 533193"/>
              <a:gd name="connsiteX37" fmla="*/ 297714 w 603405"/>
              <a:gd name="connsiteY37" fmla="*/ 395975 h 533193"/>
              <a:gd name="connsiteX38" fmla="*/ 283608 w 603405"/>
              <a:gd name="connsiteY38" fmla="*/ 381894 h 533193"/>
              <a:gd name="connsiteX39" fmla="*/ 283008 w 603405"/>
              <a:gd name="connsiteY39" fmla="*/ 277782 h 533193"/>
              <a:gd name="connsiteX40" fmla="*/ 280007 w 603405"/>
              <a:gd name="connsiteY40" fmla="*/ 274786 h 533193"/>
              <a:gd name="connsiteX41" fmla="*/ 277156 w 603405"/>
              <a:gd name="connsiteY41" fmla="*/ 277782 h 533193"/>
              <a:gd name="connsiteX42" fmla="*/ 277456 w 603405"/>
              <a:gd name="connsiteY42" fmla="*/ 516116 h 533193"/>
              <a:gd name="connsiteX43" fmla="*/ 260349 w 603405"/>
              <a:gd name="connsiteY43" fmla="*/ 533193 h 533193"/>
              <a:gd name="connsiteX44" fmla="*/ 243242 w 603405"/>
              <a:gd name="connsiteY44" fmla="*/ 516116 h 533193"/>
              <a:gd name="connsiteX45" fmla="*/ 243242 w 603405"/>
              <a:gd name="connsiteY45" fmla="*/ 380096 h 533193"/>
              <a:gd name="connsiteX46" fmla="*/ 235889 w 603405"/>
              <a:gd name="connsiteY46" fmla="*/ 380096 h 533193"/>
              <a:gd name="connsiteX47" fmla="*/ 235889 w 603405"/>
              <a:gd name="connsiteY47" fmla="*/ 516116 h 533193"/>
              <a:gd name="connsiteX48" fmla="*/ 218932 w 603405"/>
              <a:gd name="connsiteY48" fmla="*/ 533193 h 533193"/>
              <a:gd name="connsiteX49" fmla="*/ 201825 w 603405"/>
              <a:gd name="connsiteY49" fmla="*/ 516116 h 533193"/>
              <a:gd name="connsiteX50" fmla="*/ 201825 w 603405"/>
              <a:gd name="connsiteY50" fmla="*/ 380096 h 533193"/>
              <a:gd name="connsiteX51" fmla="*/ 201825 w 603405"/>
              <a:gd name="connsiteY51" fmla="*/ 277782 h 533193"/>
              <a:gd name="connsiteX52" fmla="*/ 199124 w 603405"/>
              <a:gd name="connsiteY52" fmla="*/ 274936 h 533193"/>
              <a:gd name="connsiteX53" fmla="*/ 196423 w 603405"/>
              <a:gd name="connsiteY53" fmla="*/ 277782 h 533193"/>
              <a:gd name="connsiteX54" fmla="*/ 195822 w 603405"/>
              <a:gd name="connsiteY54" fmla="*/ 381894 h 533193"/>
              <a:gd name="connsiteX55" fmla="*/ 181567 w 603405"/>
              <a:gd name="connsiteY55" fmla="*/ 395975 h 533193"/>
              <a:gd name="connsiteX56" fmla="*/ 167461 w 603405"/>
              <a:gd name="connsiteY56" fmla="*/ 381744 h 533193"/>
              <a:gd name="connsiteX57" fmla="*/ 167911 w 603405"/>
              <a:gd name="connsiteY57" fmla="*/ 277633 h 533193"/>
              <a:gd name="connsiteX58" fmla="*/ 201525 w 603405"/>
              <a:gd name="connsiteY58" fmla="*/ 244227 h 533193"/>
              <a:gd name="connsiteX59" fmla="*/ 34214 w 603405"/>
              <a:gd name="connsiteY59" fmla="*/ 244227 h 533193"/>
              <a:gd name="connsiteX60" fmla="*/ 110445 w 603405"/>
              <a:gd name="connsiteY60" fmla="*/ 244227 h 533193"/>
              <a:gd name="connsiteX61" fmla="*/ 144059 w 603405"/>
              <a:gd name="connsiteY61" fmla="*/ 277633 h 533193"/>
              <a:gd name="connsiteX62" fmla="*/ 144509 w 603405"/>
              <a:gd name="connsiteY62" fmla="*/ 381744 h 533193"/>
              <a:gd name="connsiteX63" fmla="*/ 130403 w 603405"/>
              <a:gd name="connsiteY63" fmla="*/ 395975 h 533193"/>
              <a:gd name="connsiteX64" fmla="*/ 116147 w 603405"/>
              <a:gd name="connsiteY64" fmla="*/ 381894 h 533193"/>
              <a:gd name="connsiteX65" fmla="*/ 115697 w 603405"/>
              <a:gd name="connsiteY65" fmla="*/ 277782 h 533193"/>
              <a:gd name="connsiteX66" fmla="*/ 112696 w 603405"/>
              <a:gd name="connsiteY66" fmla="*/ 274786 h 533193"/>
              <a:gd name="connsiteX67" fmla="*/ 109694 w 603405"/>
              <a:gd name="connsiteY67" fmla="*/ 277782 h 533193"/>
              <a:gd name="connsiteX68" fmla="*/ 109995 w 603405"/>
              <a:gd name="connsiteY68" fmla="*/ 516116 h 533193"/>
              <a:gd name="connsiteX69" fmla="*/ 92888 w 603405"/>
              <a:gd name="connsiteY69" fmla="*/ 533193 h 533193"/>
              <a:gd name="connsiteX70" fmla="*/ 75931 w 603405"/>
              <a:gd name="connsiteY70" fmla="*/ 516116 h 533193"/>
              <a:gd name="connsiteX71" fmla="*/ 75931 w 603405"/>
              <a:gd name="connsiteY71" fmla="*/ 380096 h 533193"/>
              <a:gd name="connsiteX72" fmla="*/ 68578 w 603405"/>
              <a:gd name="connsiteY72" fmla="*/ 380096 h 533193"/>
              <a:gd name="connsiteX73" fmla="*/ 68578 w 603405"/>
              <a:gd name="connsiteY73" fmla="*/ 516116 h 533193"/>
              <a:gd name="connsiteX74" fmla="*/ 51471 w 603405"/>
              <a:gd name="connsiteY74" fmla="*/ 533193 h 533193"/>
              <a:gd name="connsiteX75" fmla="*/ 34364 w 603405"/>
              <a:gd name="connsiteY75" fmla="*/ 516116 h 533193"/>
              <a:gd name="connsiteX76" fmla="*/ 34364 w 603405"/>
              <a:gd name="connsiteY76" fmla="*/ 380096 h 533193"/>
              <a:gd name="connsiteX77" fmla="*/ 34364 w 603405"/>
              <a:gd name="connsiteY77" fmla="*/ 277782 h 533193"/>
              <a:gd name="connsiteX78" fmla="*/ 31663 w 603405"/>
              <a:gd name="connsiteY78" fmla="*/ 275086 h 533193"/>
              <a:gd name="connsiteX79" fmla="*/ 28962 w 603405"/>
              <a:gd name="connsiteY79" fmla="*/ 277782 h 533193"/>
              <a:gd name="connsiteX80" fmla="*/ 28361 w 603405"/>
              <a:gd name="connsiteY80" fmla="*/ 381894 h 533193"/>
              <a:gd name="connsiteX81" fmla="*/ 14256 w 603405"/>
              <a:gd name="connsiteY81" fmla="*/ 395975 h 533193"/>
              <a:gd name="connsiteX82" fmla="*/ 14106 w 603405"/>
              <a:gd name="connsiteY82" fmla="*/ 395975 h 533193"/>
              <a:gd name="connsiteX83" fmla="*/ 0 w 603405"/>
              <a:gd name="connsiteY83" fmla="*/ 381744 h 533193"/>
              <a:gd name="connsiteX84" fmla="*/ 600 w 603405"/>
              <a:gd name="connsiteY84" fmla="*/ 277633 h 533193"/>
              <a:gd name="connsiteX85" fmla="*/ 34214 w 603405"/>
              <a:gd name="connsiteY85" fmla="*/ 244227 h 533193"/>
              <a:gd name="connsiteX86" fmla="*/ 298774 w 603405"/>
              <a:gd name="connsiteY86" fmla="*/ 232090 h 533193"/>
              <a:gd name="connsiteX87" fmla="*/ 346547 w 603405"/>
              <a:gd name="connsiteY87" fmla="*/ 232090 h 533193"/>
              <a:gd name="connsiteX88" fmla="*/ 322660 w 603405"/>
              <a:gd name="connsiteY88" fmla="*/ 254883 h 533193"/>
              <a:gd name="connsiteX89" fmla="*/ 298774 w 603405"/>
              <a:gd name="connsiteY89" fmla="*/ 232090 h 533193"/>
              <a:gd name="connsiteX90" fmla="*/ 405716 w 603405"/>
              <a:gd name="connsiteY90" fmla="*/ 176061 h 533193"/>
              <a:gd name="connsiteX91" fmla="*/ 435177 w 603405"/>
              <a:gd name="connsiteY91" fmla="*/ 205417 h 533193"/>
              <a:gd name="connsiteX92" fmla="*/ 405716 w 603405"/>
              <a:gd name="connsiteY92" fmla="*/ 234773 h 533193"/>
              <a:gd name="connsiteX93" fmla="*/ 376255 w 603405"/>
              <a:gd name="connsiteY93" fmla="*/ 205417 h 533193"/>
              <a:gd name="connsiteX94" fmla="*/ 405716 w 603405"/>
              <a:gd name="connsiteY94" fmla="*/ 176061 h 533193"/>
              <a:gd name="connsiteX95" fmla="*/ 239817 w 603405"/>
              <a:gd name="connsiteY95" fmla="*/ 176061 h 533193"/>
              <a:gd name="connsiteX96" fmla="*/ 269208 w 603405"/>
              <a:gd name="connsiteY96" fmla="*/ 205417 h 533193"/>
              <a:gd name="connsiteX97" fmla="*/ 239817 w 603405"/>
              <a:gd name="connsiteY97" fmla="*/ 234773 h 533193"/>
              <a:gd name="connsiteX98" fmla="*/ 210426 w 603405"/>
              <a:gd name="connsiteY98" fmla="*/ 205417 h 533193"/>
              <a:gd name="connsiteX99" fmla="*/ 239817 w 603405"/>
              <a:gd name="connsiteY99" fmla="*/ 176061 h 533193"/>
              <a:gd name="connsiteX100" fmla="*/ 72325 w 603405"/>
              <a:gd name="connsiteY100" fmla="*/ 176061 h 533193"/>
              <a:gd name="connsiteX101" fmla="*/ 101897 w 603405"/>
              <a:gd name="connsiteY101" fmla="*/ 205416 h 533193"/>
              <a:gd name="connsiteX102" fmla="*/ 72325 w 603405"/>
              <a:gd name="connsiteY102" fmla="*/ 234772 h 533193"/>
              <a:gd name="connsiteX103" fmla="*/ 42904 w 603405"/>
              <a:gd name="connsiteY103" fmla="*/ 205416 h 533193"/>
              <a:gd name="connsiteX104" fmla="*/ 72325 w 603405"/>
              <a:gd name="connsiteY104" fmla="*/ 176061 h 533193"/>
              <a:gd name="connsiteX105" fmla="*/ 1200 w 603405"/>
              <a:gd name="connsiteY105" fmla="*/ 56241 h 533193"/>
              <a:gd name="connsiteX106" fmla="*/ 384613 w 603405"/>
              <a:gd name="connsiteY106" fmla="*/ 56241 h 533193"/>
              <a:gd name="connsiteX107" fmla="*/ 603405 w 603405"/>
              <a:gd name="connsiteY107" fmla="*/ 274494 h 533193"/>
              <a:gd name="connsiteX108" fmla="*/ 540979 w 603405"/>
              <a:gd name="connsiteY108" fmla="*/ 336809 h 533193"/>
              <a:gd name="connsiteX109" fmla="*/ 494459 w 603405"/>
              <a:gd name="connsiteY109" fmla="*/ 336809 h 533193"/>
              <a:gd name="connsiteX110" fmla="*/ 494159 w 603405"/>
              <a:gd name="connsiteY110" fmla="*/ 277490 h 533193"/>
              <a:gd name="connsiteX111" fmla="*/ 464747 w 603405"/>
              <a:gd name="connsiteY111" fmla="*/ 232102 h 533193"/>
              <a:gd name="connsiteX112" fmla="*/ 551333 w 603405"/>
              <a:gd name="connsiteY112" fmla="*/ 232102 h 533193"/>
              <a:gd name="connsiteX113" fmla="*/ 551483 w 603405"/>
              <a:gd name="connsiteY113" fmla="*/ 232102 h 533193"/>
              <a:gd name="connsiteX114" fmla="*/ 557636 w 603405"/>
              <a:gd name="connsiteY114" fmla="*/ 228806 h 533193"/>
              <a:gd name="connsiteX115" fmla="*/ 558236 w 603405"/>
              <a:gd name="connsiteY115" fmla="*/ 221766 h 533193"/>
              <a:gd name="connsiteX116" fmla="*/ 504663 w 603405"/>
              <a:gd name="connsiteY116" fmla="*/ 136532 h 533193"/>
              <a:gd name="connsiteX117" fmla="*/ 415676 w 603405"/>
              <a:gd name="connsiteY117" fmla="*/ 97585 h 533193"/>
              <a:gd name="connsiteX118" fmla="*/ 397968 w 603405"/>
              <a:gd name="connsiteY118" fmla="*/ 97585 h 533193"/>
              <a:gd name="connsiteX119" fmla="*/ 397968 w 603405"/>
              <a:gd name="connsiteY119" fmla="*/ 159900 h 533193"/>
              <a:gd name="connsiteX120" fmla="*/ 364954 w 603405"/>
              <a:gd name="connsiteY120" fmla="*/ 183568 h 533193"/>
              <a:gd name="connsiteX121" fmla="*/ 364954 w 603405"/>
              <a:gd name="connsiteY121" fmla="*/ 97585 h 533193"/>
              <a:gd name="connsiteX122" fmla="*/ 174223 w 603405"/>
              <a:gd name="connsiteY122" fmla="*/ 97585 h 533193"/>
              <a:gd name="connsiteX123" fmla="*/ 174223 w 603405"/>
              <a:gd name="connsiteY123" fmla="*/ 232102 h 533193"/>
              <a:gd name="connsiteX124" fmla="*/ 180526 w 603405"/>
              <a:gd name="connsiteY124" fmla="*/ 232102 h 533193"/>
              <a:gd name="connsiteX125" fmla="*/ 174223 w 603405"/>
              <a:gd name="connsiteY125" fmla="*/ 235547 h 533193"/>
              <a:gd name="connsiteX126" fmla="*/ 156065 w 603405"/>
              <a:gd name="connsiteY126" fmla="*/ 256369 h 533193"/>
              <a:gd name="connsiteX127" fmla="*/ 141209 w 603405"/>
              <a:gd name="connsiteY127" fmla="*/ 238093 h 533193"/>
              <a:gd name="connsiteX128" fmla="*/ 131455 w 603405"/>
              <a:gd name="connsiteY128" fmla="*/ 232102 h 533193"/>
              <a:gd name="connsiteX129" fmla="*/ 141209 w 603405"/>
              <a:gd name="connsiteY129" fmla="*/ 232102 h 533193"/>
              <a:gd name="connsiteX130" fmla="*/ 141209 w 603405"/>
              <a:gd name="connsiteY130" fmla="*/ 97585 h 533193"/>
              <a:gd name="connsiteX131" fmla="*/ 1200 w 603405"/>
              <a:gd name="connsiteY131" fmla="*/ 97585 h 533193"/>
              <a:gd name="connsiteX132" fmla="*/ 30337 w 603405"/>
              <a:gd name="connsiteY132" fmla="*/ 0 h 533193"/>
              <a:gd name="connsiteX133" fmla="*/ 450496 w 603405"/>
              <a:gd name="connsiteY133" fmla="*/ 0 h 533193"/>
              <a:gd name="connsiteX134" fmla="*/ 467002 w 603405"/>
              <a:gd name="connsiteY134" fmla="*/ 16512 h 533193"/>
              <a:gd name="connsiteX135" fmla="*/ 450496 w 603405"/>
              <a:gd name="connsiteY135" fmla="*/ 33025 h 533193"/>
              <a:gd name="connsiteX136" fmla="*/ 30337 w 603405"/>
              <a:gd name="connsiteY136" fmla="*/ 33025 h 533193"/>
              <a:gd name="connsiteX137" fmla="*/ 13831 w 603405"/>
              <a:gd name="connsiteY137" fmla="*/ 16512 h 533193"/>
              <a:gd name="connsiteX138" fmla="*/ 30337 w 603405"/>
              <a:gd name="connsiteY138" fmla="*/ 0 h 533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603405" h="533193">
                <a:moveTo>
                  <a:pt x="494452" y="356003"/>
                </a:moveTo>
                <a:lnTo>
                  <a:pt x="585270" y="356003"/>
                </a:lnTo>
                <a:cubicBezTo>
                  <a:pt x="594277" y="356003"/>
                  <a:pt x="601782" y="363343"/>
                  <a:pt x="601782" y="372480"/>
                </a:cubicBezTo>
                <a:cubicBezTo>
                  <a:pt x="601782" y="381617"/>
                  <a:pt x="594277" y="388957"/>
                  <a:pt x="585270" y="388957"/>
                </a:cubicBezTo>
                <a:lnTo>
                  <a:pt x="494452" y="388957"/>
                </a:lnTo>
                <a:close/>
                <a:moveTo>
                  <a:pt x="367511" y="244227"/>
                </a:moveTo>
                <a:lnTo>
                  <a:pt x="443780" y="244227"/>
                </a:lnTo>
                <a:cubicBezTo>
                  <a:pt x="462247" y="244227"/>
                  <a:pt x="477261" y="259207"/>
                  <a:pt x="477411" y="277633"/>
                </a:cubicBezTo>
                <a:lnTo>
                  <a:pt x="477861" y="381744"/>
                </a:lnTo>
                <a:cubicBezTo>
                  <a:pt x="478011" y="389534"/>
                  <a:pt x="471706" y="395975"/>
                  <a:pt x="463748" y="395975"/>
                </a:cubicBezTo>
                <a:cubicBezTo>
                  <a:pt x="455941" y="395975"/>
                  <a:pt x="449486" y="389684"/>
                  <a:pt x="449486" y="381894"/>
                </a:cubicBezTo>
                <a:lnTo>
                  <a:pt x="449035" y="277782"/>
                </a:lnTo>
                <a:cubicBezTo>
                  <a:pt x="449035" y="276135"/>
                  <a:pt x="447684" y="274786"/>
                  <a:pt x="446033" y="274786"/>
                </a:cubicBezTo>
                <a:cubicBezTo>
                  <a:pt x="444381" y="274786"/>
                  <a:pt x="443030" y="276135"/>
                  <a:pt x="443030" y="277782"/>
                </a:cubicBezTo>
                <a:cubicBezTo>
                  <a:pt x="443030" y="419944"/>
                  <a:pt x="443330" y="291115"/>
                  <a:pt x="443330" y="516116"/>
                </a:cubicBezTo>
                <a:cubicBezTo>
                  <a:pt x="443330" y="525553"/>
                  <a:pt x="435673" y="533193"/>
                  <a:pt x="426215" y="533193"/>
                </a:cubicBezTo>
                <a:cubicBezTo>
                  <a:pt x="416906" y="533193"/>
                  <a:pt x="409249" y="525553"/>
                  <a:pt x="409249" y="516116"/>
                </a:cubicBezTo>
                <a:lnTo>
                  <a:pt x="409249" y="380096"/>
                </a:lnTo>
                <a:lnTo>
                  <a:pt x="401893" y="380096"/>
                </a:lnTo>
                <a:lnTo>
                  <a:pt x="401893" y="516116"/>
                </a:lnTo>
                <a:cubicBezTo>
                  <a:pt x="401893" y="525553"/>
                  <a:pt x="394236" y="533193"/>
                  <a:pt x="384778" y="533193"/>
                </a:cubicBezTo>
                <a:cubicBezTo>
                  <a:pt x="375319" y="533193"/>
                  <a:pt x="367812" y="525553"/>
                  <a:pt x="367812" y="516116"/>
                </a:cubicBezTo>
                <a:lnTo>
                  <a:pt x="367812" y="380096"/>
                </a:lnTo>
                <a:lnTo>
                  <a:pt x="367812" y="277782"/>
                </a:lnTo>
                <a:cubicBezTo>
                  <a:pt x="367812" y="276284"/>
                  <a:pt x="366461" y="274936"/>
                  <a:pt x="364959" y="274936"/>
                </a:cubicBezTo>
                <a:cubicBezTo>
                  <a:pt x="363458" y="274936"/>
                  <a:pt x="362257" y="276284"/>
                  <a:pt x="362257" y="277782"/>
                </a:cubicBezTo>
                <a:lnTo>
                  <a:pt x="361656" y="381894"/>
                </a:lnTo>
                <a:cubicBezTo>
                  <a:pt x="361656" y="389684"/>
                  <a:pt x="355351" y="395975"/>
                  <a:pt x="347544" y="395975"/>
                </a:cubicBezTo>
                <a:lnTo>
                  <a:pt x="347393" y="395975"/>
                </a:lnTo>
                <a:cubicBezTo>
                  <a:pt x="339586" y="395975"/>
                  <a:pt x="333281" y="389534"/>
                  <a:pt x="333281" y="381744"/>
                </a:cubicBezTo>
                <a:lnTo>
                  <a:pt x="333881" y="277633"/>
                </a:lnTo>
                <a:cubicBezTo>
                  <a:pt x="333881" y="259207"/>
                  <a:pt x="349045" y="244227"/>
                  <a:pt x="367511" y="244227"/>
                </a:cubicBezTo>
                <a:close/>
                <a:moveTo>
                  <a:pt x="201525" y="244227"/>
                </a:moveTo>
                <a:lnTo>
                  <a:pt x="277906" y="244227"/>
                </a:lnTo>
                <a:cubicBezTo>
                  <a:pt x="296213" y="244227"/>
                  <a:pt x="311370" y="259207"/>
                  <a:pt x="311520" y="277633"/>
                </a:cubicBezTo>
                <a:lnTo>
                  <a:pt x="311970" y="381744"/>
                </a:lnTo>
                <a:cubicBezTo>
                  <a:pt x="311970" y="389534"/>
                  <a:pt x="305667" y="395975"/>
                  <a:pt x="297864" y="395975"/>
                </a:cubicBezTo>
                <a:lnTo>
                  <a:pt x="297714" y="395975"/>
                </a:lnTo>
                <a:cubicBezTo>
                  <a:pt x="289911" y="395975"/>
                  <a:pt x="283608" y="389684"/>
                  <a:pt x="283608" y="381894"/>
                </a:cubicBezTo>
                <a:lnTo>
                  <a:pt x="283008" y="277782"/>
                </a:lnTo>
                <a:cubicBezTo>
                  <a:pt x="283008" y="276135"/>
                  <a:pt x="281657" y="274786"/>
                  <a:pt x="280007" y="274786"/>
                </a:cubicBezTo>
                <a:cubicBezTo>
                  <a:pt x="278356" y="274786"/>
                  <a:pt x="277156" y="276135"/>
                  <a:pt x="277156" y="277782"/>
                </a:cubicBezTo>
                <a:cubicBezTo>
                  <a:pt x="277156" y="419944"/>
                  <a:pt x="277456" y="291115"/>
                  <a:pt x="277456" y="516116"/>
                </a:cubicBezTo>
                <a:cubicBezTo>
                  <a:pt x="277456" y="525553"/>
                  <a:pt x="269803" y="533193"/>
                  <a:pt x="260349" y="533193"/>
                </a:cubicBezTo>
                <a:cubicBezTo>
                  <a:pt x="250895" y="533193"/>
                  <a:pt x="243242" y="525553"/>
                  <a:pt x="243242" y="516116"/>
                </a:cubicBezTo>
                <a:lnTo>
                  <a:pt x="243242" y="380096"/>
                </a:lnTo>
                <a:lnTo>
                  <a:pt x="235889" y="380096"/>
                </a:lnTo>
                <a:lnTo>
                  <a:pt x="235889" y="516116"/>
                </a:lnTo>
                <a:cubicBezTo>
                  <a:pt x="235889" y="525553"/>
                  <a:pt x="228386" y="533193"/>
                  <a:pt x="218932" y="533193"/>
                </a:cubicBezTo>
                <a:cubicBezTo>
                  <a:pt x="209478" y="533193"/>
                  <a:pt x="201825" y="525553"/>
                  <a:pt x="201825" y="516116"/>
                </a:cubicBezTo>
                <a:lnTo>
                  <a:pt x="201825" y="380096"/>
                </a:lnTo>
                <a:lnTo>
                  <a:pt x="201825" y="277782"/>
                </a:lnTo>
                <a:cubicBezTo>
                  <a:pt x="201825" y="276284"/>
                  <a:pt x="200624" y="274936"/>
                  <a:pt x="199124" y="274936"/>
                </a:cubicBezTo>
                <a:cubicBezTo>
                  <a:pt x="197623" y="274936"/>
                  <a:pt x="196423" y="276284"/>
                  <a:pt x="196423" y="277782"/>
                </a:cubicBezTo>
                <a:lnTo>
                  <a:pt x="195822" y="381894"/>
                </a:lnTo>
                <a:cubicBezTo>
                  <a:pt x="195822" y="389684"/>
                  <a:pt x="189370" y="395975"/>
                  <a:pt x="181567" y="395975"/>
                </a:cubicBezTo>
                <a:cubicBezTo>
                  <a:pt x="173763" y="395975"/>
                  <a:pt x="167311" y="389534"/>
                  <a:pt x="167461" y="381744"/>
                </a:cubicBezTo>
                <a:lnTo>
                  <a:pt x="167911" y="277633"/>
                </a:lnTo>
                <a:cubicBezTo>
                  <a:pt x="168061" y="259207"/>
                  <a:pt x="183067" y="244227"/>
                  <a:pt x="201525" y="244227"/>
                </a:cubicBezTo>
                <a:close/>
                <a:moveTo>
                  <a:pt x="34214" y="244227"/>
                </a:moveTo>
                <a:lnTo>
                  <a:pt x="110445" y="244227"/>
                </a:lnTo>
                <a:cubicBezTo>
                  <a:pt x="128902" y="244227"/>
                  <a:pt x="143908" y="259207"/>
                  <a:pt x="144059" y="277633"/>
                </a:cubicBezTo>
                <a:lnTo>
                  <a:pt x="144509" y="381744"/>
                </a:lnTo>
                <a:cubicBezTo>
                  <a:pt x="144659" y="389534"/>
                  <a:pt x="138206" y="395975"/>
                  <a:pt x="130403" y="395975"/>
                </a:cubicBezTo>
                <a:cubicBezTo>
                  <a:pt x="122600" y="395975"/>
                  <a:pt x="116147" y="389684"/>
                  <a:pt x="116147" y="381894"/>
                </a:cubicBezTo>
                <a:lnTo>
                  <a:pt x="115697" y="277782"/>
                </a:lnTo>
                <a:cubicBezTo>
                  <a:pt x="115547" y="276135"/>
                  <a:pt x="114346" y="274786"/>
                  <a:pt x="112696" y="274786"/>
                </a:cubicBezTo>
                <a:cubicBezTo>
                  <a:pt x="111045" y="274786"/>
                  <a:pt x="109694" y="276135"/>
                  <a:pt x="109694" y="277782"/>
                </a:cubicBezTo>
                <a:cubicBezTo>
                  <a:pt x="109694" y="343695"/>
                  <a:pt x="109995" y="452450"/>
                  <a:pt x="109995" y="516116"/>
                </a:cubicBezTo>
                <a:cubicBezTo>
                  <a:pt x="109995" y="525553"/>
                  <a:pt x="102341" y="533193"/>
                  <a:pt x="92888" y="533193"/>
                </a:cubicBezTo>
                <a:cubicBezTo>
                  <a:pt x="83584" y="533193"/>
                  <a:pt x="75931" y="525553"/>
                  <a:pt x="75931" y="516116"/>
                </a:cubicBezTo>
                <a:lnTo>
                  <a:pt x="75931" y="380096"/>
                </a:lnTo>
                <a:lnTo>
                  <a:pt x="68578" y="380096"/>
                </a:lnTo>
                <a:lnTo>
                  <a:pt x="68578" y="516116"/>
                </a:lnTo>
                <a:cubicBezTo>
                  <a:pt x="68578" y="525553"/>
                  <a:pt x="60925" y="533193"/>
                  <a:pt x="51471" y="533193"/>
                </a:cubicBezTo>
                <a:cubicBezTo>
                  <a:pt x="42017" y="533193"/>
                  <a:pt x="34364" y="525553"/>
                  <a:pt x="34364" y="516116"/>
                </a:cubicBezTo>
                <a:lnTo>
                  <a:pt x="34364" y="380096"/>
                </a:lnTo>
                <a:lnTo>
                  <a:pt x="34364" y="277782"/>
                </a:lnTo>
                <a:cubicBezTo>
                  <a:pt x="34364" y="276284"/>
                  <a:pt x="33163" y="275086"/>
                  <a:pt x="31663" y="275086"/>
                </a:cubicBezTo>
                <a:cubicBezTo>
                  <a:pt x="30162" y="274936"/>
                  <a:pt x="28962" y="276284"/>
                  <a:pt x="28962" y="277782"/>
                </a:cubicBezTo>
                <a:lnTo>
                  <a:pt x="28361" y="381894"/>
                </a:lnTo>
                <a:cubicBezTo>
                  <a:pt x="28361" y="389684"/>
                  <a:pt x="22059" y="395975"/>
                  <a:pt x="14256" y="395975"/>
                </a:cubicBezTo>
                <a:lnTo>
                  <a:pt x="14106" y="395975"/>
                </a:lnTo>
                <a:cubicBezTo>
                  <a:pt x="6302" y="395975"/>
                  <a:pt x="0" y="389534"/>
                  <a:pt x="0" y="381744"/>
                </a:cubicBezTo>
                <a:lnTo>
                  <a:pt x="600" y="277633"/>
                </a:lnTo>
                <a:cubicBezTo>
                  <a:pt x="600" y="259207"/>
                  <a:pt x="15756" y="244227"/>
                  <a:pt x="34214" y="244227"/>
                </a:cubicBezTo>
                <a:close/>
                <a:moveTo>
                  <a:pt x="298774" y="232090"/>
                </a:moveTo>
                <a:lnTo>
                  <a:pt x="346547" y="232090"/>
                </a:lnTo>
                <a:cubicBezTo>
                  <a:pt x="336331" y="236739"/>
                  <a:pt x="327768" y="244836"/>
                  <a:pt x="322660" y="254883"/>
                </a:cubicBezTo>
                <a:cubicBezTo>
                  <a:pt x="317552" y="244836"/>
                  <a:pt x="309140" y="236739"/>
                  <a:pt x="298774" y="232090"/>
                </a:cubicBezTo>
                <a:close/>
                <a:moveTo>
                  <a:pt x="405716" y="176061"/>
                </a:moveTo>
                <a:cubicBezTo>
                  <a:pt x="421987" y="176061"/>
                  <a:pt x="435177" y="189204"/>
                  <a:pt x="435177" y="205417"/>
                </a:cubicBezTo>
                <a:cubicBezTo>
                  <a:pt x="435177" y="221630"/>
                  <a:pt x="421987" y="234773"/>
                  <a:pt x="405716" y="234773"/>
                </a:cubicBezTo>
                <a:cubicBezTo>
                  <a:pt x="389445" y="234773"/>
                  <a:pt x="376255" y="221630"/>
                  <a:pt x="376255" y="205417"/>
                </a:cubicBezTo>
                <a:cubicBezTo>
                  <a:pt x="376255" y="189204"/>
                  <a:pt x="389445" y="176061"/>
                  <a:pt x="405716" y="176061"/>
                </a:cubicBezTo>
                <a:close/>
                <a:moveTo>
                  <a:pt x="239817" y="176061"/>
                </a:moveTo>
                <a:cubicBezTo>
                  <a:pt x="256049" y="176061"/>
                  <a:pt x="269208" y="189204"/>
                  <a:pt x="269208" y="205417"/>
                </a:cubicBezTo>
                <a:cubicBezTo>
                  <a:pt x="269208" y="221630"/>
                  <a:pt x="256049" y="234773"/>
                  <a:pt x="239817" y="234773"/>
                </a:cubicBezTo>
                <a:cubicBezTo>
                  <a:pt x="223585" y="234773"/>
                  <a:pt x="210426" y="221630"/>
                  <a:pt x="210426" y="205417"/>
                </a:cubicBezTo>
                <a:cubicBezTo>
                  <a:pt x="210426" y="189204"/>
                  <a:pt x="223585" y="176061"/>
                  <a:pt x="239817" y="176061"/>
                </a:cubicBezTo>
                <a:close/>
                <a:moveTo>
                  <a:pt x="72325" y="176061"/>
                </a:moveTo>
                <a:cubicBezTo>
                  <a:pt x="88687" y="176061"/>
                  <a:pt x="101897" y="189241"/>
                  <a:pt x="101897" y="205416"/>
                </a:cubicBezTo>
                <a:cubicBezTo>
                  <a:pt x="101897" y="221592"/>
                  <a:pt x="88687" y="234772"/>
                  <a:pt x="72325" y="234772"/>
                </a:cubicBezTo>
                <a:cubicBezTo>
                  <a:pt x="56113" y="234772"/>
                  <a:pt x="42904" y="221592"/>
                  <a:pt x="42904" y="205416"/>
                </a:cubicBezTo>
                <a:cubicBezTo>
                  <a:pt x="42904" y="189241"/>
                  <a:pt x="55963" y="176061"/>
                  <a:pt x="72325" y="176061"/>
                </a:cubicBezTo>
                <a:close/>
                <a:moveTo>
                  <a:pt x="1200" y="56241"/>
                </a:moveTo>
                <a:lnTo>
                  <a:pt x="384613" y="56241"/>
                </a:lnTo>
                <a:cubicBezTo>
                  <a:pt x="505414" y="56241"/>
                  <a:pt x="603405" y="154058"/>
                  <a:pt x="603405" y="274494"/>
                </a:cubicBezTo>
                <a:cubicBezTo>
                  <a:pt x="603405" y="308947"/>
                  <a:pt x="575493" y="336809"/>
                  <a:pt x="540979" y="336809"/>
                </a:cubicBezTo>
                <a:lnTo>
                  <a:pt x="494459" y="336809"/>
                </a:lnTo>
                <a:lnTo>
                  <a:pt x="494159" y="277490"/>
                </a:lnTo>
                <a:cubicBezTo>
                  <a:pt x="494009" y="257417"/>
                  <a:pt x="482004" y="240041"/>
                  <a:pt x="464747" y="232102"/>
                </a:cubicBezTo>
                <a:lnTo>
                  <a:pt x="551333" y="232102"/>
                </a:lnTo>
                <a:lnTo>
                  <a:pt x="551483" y="232102"/>
                </a:lnTo>
                <a:cubicBezTo>
                  <a:pt x="553884" y="232102"/>
                  <a:pt x="556285" y="230753"/>
                  <a:pt x="557636" y="228806"/>
                </a:cubicBezTo>
                <a:cubicBezTo>
                  <a:pt x="558986" y="226709"/>
                  <a:pt x="559136" y="224013"/>
                  <a:pt x="558236" y="221766"/>
                </a:cubicBezTo>
                <a:cubicBezTo>
                  <a:pt x="550283" y="203790"/>
                  <a:pt x="531825" y="165892"/>
                  <a:pt x="504663" y="136532"/>
                </a:cubicBezTo>
                <a:cubicBezTo>
                  <a:pt x="481704" y="111666"/>
                  <a:pt x="449440" y="97585"/>
                  <a:pt x="415676" y="97585"/>
                </a:cubicBezTo>
                <a:lnTo>
                  <a:pt x="397968" y="97585"/>
                </a:lnTo>
                <a:lnTo>
                  <a:pt x="397968" y="159900"/>
                </a:lnTo>
                <a:cubicBezTo>
                  <a:pt x="383712" y="162297"/>
                  <a:pt x="371707" y="171284"/>
                  <a:pt x="364954" y="183568"/>
                </a:cubicBezTo>
                <a:lnTo>
                  <a:pt x="364954" y="97585"/>
                </a:lnTo>
                <a:lnTo>
                  <a:pt x="174223" y="97585"/>
                </a:lnTo>
                <a:lnTo>
                  <a:pt x="174223" y="232102"/>
                </a:lnTo>
                <a:lnTo>
                  <a:pt x="180526" y="232102"/>
                </a:lnTo>
                <a:cubicBezTo>
                  <a:pt x="178425" y="233150"/>
                  <a:pt x="176324" y="234199"/>
                  <a:pt x="174223" y="235547"/>
                </a:cubicBezTo>
                <a:cubicBezTo>
                  <a:pt x="166420" y="240640"/>
                  <a:pt x="159967" y="247830"/>
                  <a:pt x="156065" y="256369"/>
                </a:cubicBezTo>
                <a:cubicBezTo>
                  <a:pt x="152614" y="249178"/>
                  <a:pt x="147512" y="242887"/>
                  <a:pt x="141209" y="238093"/>
                </a:cubicBezTo>
                <a:cubicBezTo>
                  <a:pt x="138208" y="235697"/>
                  <a:pt x="134906" y="233749"/>
                  <a:pt x="131455" y="232102"/>
                </a:cubicBezTo>
                <a:lnTo>
                  <a:pt x="141209" y="232102"/>
                </a:lnTo>
                <a:lnTo>
                  <a:pt x="141209" y="97585"/>
                </a:lnTo>
                <a:lnTo>
                  <a:pt x="1200" y="97585"/>
                </a:lnTo>
                <a:close/>
                <a:moveTo>
                  <a:pt x="30337" y="0"/>
                </a:moveTo>
                <a:lnTo>
                  <a:pt x="450496" y="0"/>
                </a:lnTo>
                <a:cubicBezTo>
                  <a:pt x="459649" y="0"/>
                  <a:pt x="467002" y="7356"/>
                  <a:pt x="467002" y="16512"/>
                </a:cubicBezTo>
                <a:cubicBezTo>
                  <a:pt x="467002" y="25669"/>
                  <a:pt x="459649" y="33025"/>
                  <a:pt x="450496" y="33025"/>
                </a:cubicBezTo>
                <a:lnTo>
                  <a:pt x="30337" y="33025"/>
                </a:lnTo>
                <a:cubicBezTo>
                  <a:pt x="21184" y="33025"/>
                  <a:pt x="13831" y="25669"/>
                  <a:pt x="13831" y="16512"/>
                </a:cubicBezTo>
                <a:cubicBezTo>
                  <a:pt x="13831" y="7356"/>
                  <a:pt x="21184" y="0"/>
                  <a:pt x="30337" y="0"/>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endParaRPr lang="zh-CN" altLang="en-US">
              <a:solidFill>
                <a:srgbClr val="000000"/>
              </a:solidFill>
              <a:latin typeface="Arial" panose="020F0502020204030204"/>
              <a:ea typeface="微软雅黑"/>
              <a:cs typeface="+mn-ea"/>
              <a:sym typeface="+mn-lt"/>
            </a:endParaRPr>
          </a:p>
        </p:txBody>
      </p:sp>
      <p:pic>
        <p:nvPicPr>
          <p:cNvPr id="9220" name="Picture 4" descr="Fig. 3: Evaluation of EZSpecificity on ESIBank dataset.">
            <a:extLst>
              <a:ext uri="{FF2B5EF4-FFF2-40B4-BE49-F238E27FC236}">
                <a16:creationId xmlns:a16="http://schemas.microsoft.com/office/drawing/2014/main" id="{3AFBF46A-5787-E499-1523-FFDB541D6F0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2534" y="1269964"/>
            <a:ext cx="6800757" cy="4166681"/>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B5976E16-BA9B-0429-F380-8C1FAD6E5D25}"/>
              </a:ext>
            </a:extLst>
          </p:cNvPr>
          <p:cNvSpPr txBox="1"/>
          <p:nvPr/>
        </p:nvSpPr>
        <p:spPr>
          <a:xfrm>
            <a:off x="7749703" y="3244334"/>
            <a:ext cx="3711346" cy="369332"/>
          </a:xfrm>
          <a:prstGeom prst="rect">
            <a:avLst/>
          </a:prstGeom>
          <a:noFill/>
        </p:spPr>
        <p:txBody>
          <a:bodyPr wrap="square" rtlCol="0">
            <a:spAutoFit/>
          </a:bodyPr>
          <a:lstStyle/>
          <a:p>
            <a:r>
              <a:rPr lang="zh-CN" altLang="en-US" dirty="0"/>
              <a:t>消融实验与预测结果都表现良好</a:t>
            </a:r>
          </a:p>
        </p:txBody>
      </p:sp>
    </p:spTree>
    <p:extLst>
      <p:ext uri="{BB962C8B-B14F-4D97-AF65-F5344CB8AC3E}">
        <p14:creationId xmlns:p14="http://schemas.microsoft.com/office/powerpoint/2010/main" val="6263571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36E0C-4FB3-C8FF-32F7-60D4249AFA9A}"/>
            </a:ext>
          </a:extLst>
        </p:cNvPr>
        <p:cNvGrpSpPr/>
        <p:nvPr/>
      </p:nvGrpSpPr>
      <p:grpSpPr>
        <a:xfrm>
          <a:off x="0" y="0"/>
          <a:ext cx="0" cy="0"/>
          <a:chOff x="0" y="0"/>
          <a:chExt cx="0" cy="0"/>
        </a:xfrm>
      </p:grpSpPr>
      <p:grpSp>
        <p:nvGrpSpPr>
          <p:cNvPr id="20" name="组合 19">
            <a:extLst>
              <a:ext uri="{FF2B5EF4-FFF2-40B4-BE49-F238E27FC236}">
                <a16:creationId xmlns:a16="http://schemas.microsoft.com/office/drawing/2014/main" id="{B5D452E6-79C3-64F7-75DD-6D629ECB2DEE}"/>
              </a:ext>
            </a:extLst>
          </p:cNvPr>
          <p:cNvGrpSpPr/>
          <p:nvPr/>
        </p:nvGrpSpPr>
        <p:grpSpPr>
          <a:xfrm>
            <a:off x="286653" y="116633"/>
            <a:ext cx="11618694" cy="6681374"/>
            <a:chOff x="286653" y="116633"/>
            <a:chExt cx="11618694" cy="6681374"/>
          </a:xfrm>
        </p:grpSpPr>
        <p:grpSp>
          <p:nvGrpSpPr>
            <p:cNvPr id="21" name="组合 20">
              <a:extLst>
                <a:ext uri="{FF2B5EF4-FFF2-40B4-BE49-F238E27FC236}">
                  <a16:creationId xmlns:a16="http://schemas.microsoft.com/office/drawing/2014/main" id="{464545F0-FC30-05C0-8C86-CD17CDE52C8A}"/>
                </a:ext>
              </a:extLst>
            </p:cNvPr>
            <p:cNvGrpSpPr/>
            <p:nvPr/>
          </p:nvGrpSpPr>
          <p:grpSpPr>
            <a:xfrm>
              <a:off x="335361" y="116633"/>
              <a:ext cx="629872" cy="612768"/>
              <a:chOff x="3070727" y="196457"/>
              <a:chExt cx="692047" cy="673255"/>
            </a:xfrm>
          </p:grpSpPr>
          <p:sp>
            <p:nvSpPr>
              <p:cNvPr id="26" name="平行四边形 25">
                <a:extLst>
                  <a:ext uri="{FF2B5EF4-FFF2-40B4-BE49-F238E27FC236}">
                    <a16:creationId xmlns:a16="http://schemas.microsoft.com/office/drawing/2014/main" id="{B5492464-91C6-9ABD-6F87-4AF5951DE9D6}"/>
                  </a:ext>
                </a:extLst>
              </p:cNvPr>
              <p:cNvSpPr/>
              <p:nvPr/>
            </p:nvSpPr>
            <p:spPr>
              <a:xfrm>
                <a:off x="3070727" y="196457"/>
                <a:ext cx="629587" cy="612775"/>
              </a:xfrm>
              <a:prstGeom prst="parallelogram">
                <a:avLst/>
              </a:prstGeom>
              <a:solidFill>
                <a:srgbClr val="6B0261"/>
              </a:solidFill>
              <a:ln w="25400" cap="flat" cmpd="sng" algn="ctr">
                <a:solidFill>
                  <a:srgbClr val="6B026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27" name="平行四边形 26">
                <a:extLst>
                  <a:ext uri="{FF2B5EF4-FFF2-40B4-BE49-F238E27FC236}">
                    <a16:creationId xmlns:a16="http://schemas.microsoft.com/office/drawing/2014/main" id="{521F0204-B3D8-3E22-08E5-63A373A593E7}"/>
                  </a:ext>
                </a:extLst>
              </p:cNvPr>
              <p:cNvSpPr/>
              <p:nvPr/>
            </p:nvSpPr>
            <p:spPr>
              <a:xfrm>
                <a:off x="3133187" y="256937"/>
                <a:ext cx="629587" cy="612775"/>
              </a:xfrm>
              <a:prstGeom prst="parallelogram">
                <a:avLst/>
              </a:prstGeom>
              <a:noFill/>
              <a:ln w="25400" cap="flat" cmpd="sng" algn="ctr">
                <a:solidFill>
                  <a:srgbClr val="6B026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cxnSp>
          <p:nvCxnSpPr>
            <p:cNvPr id="22" name="直接连接符 21">
              <a:extLst>
                <a:ext uri="{FF2B5EF4-FFF2-40B4-BE49-F238E27FC236}">
                  <a16:creationId xmlns:a16="http://schemas.microsoft.com/office/drawing/2014/main" id="{5F3EC05A-CB58-AA87-B8A6-CB82A9B42B61}"/>
                </a:ext>
              </a:extLst>
            </p:cNvPr>
            <p:cNvCxnSpPr>
              <a:cxnSpLocks/>
            </p:cNvCxnSpPr>
            <p:nvPr/>
          </p:nvCxnSpPr>
          <p:spPr>
            <a:xfrm>
              <a:off x="367840" y="809674"/>
              <a:ext cx="11488800" cy="0"/>
            </a:xfrm>
            <a:prstGeom prst="line">
              <a:avLst/>
            </a:prstGeom>
            <a:noFill/>
            <a:ln w="9525" cap="flat" cmpd="sng" algn="ctr">
              <a:solidFill>
                <a:srgbClr val="6B0261"/>
              </a:solidFill>
              <a:prstDash val="solid"/>
            </a:ln>
            <a:effectLst/>
          </p:spPr>
        </p:cxnSp>
        <p:sp>
          <p:nvSpPr>
            <p:cNvPr id="23" name="文本占位符 5">
              <a:extLst>
                <a:ext uri="{FF2B5EF4-FFF2-40B4-BE49-F238E27FC236}">
                  <a16:creationId xmlns:a16="http://schemas.microsoft.com/office/drawing/2014/main" id="{94D9F509-A63A-9F46-FDAE-DBE145EACAAD}"/>
                </a:ext>
              </a:extLst>
            </p:cNvPr>
            <p:cNvSpPr txBox="1">
              <a:spLocks/>
            </p:cNvSpPr>
            <p:nvPr/>
          </p:nvSpPr>
          <p:spPr>
            <a:xfrm>
              <a:off x="1075777" y="214065"/>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rgbClr val="6B0261"/>
                  </a:solidFill>
                </a:rPr>
                <a:t>反思思考</a:t>
              </a:r>
            </a:p>
          </p:txBody>
        </p:sp>
        <p:sp>
          <p:nvSpPr>
            <p:cNvPr id="24" name="文本框 23">
              <a:extLst>
                <a:ext uri="{FF2B5EF4-FFF2-40B4-BE49-F238E27FC236}">
                  <a16:creationId xmlns:a16="http://schemas.microsoft.com/office/drawing/2014/main" id="{EAF5140A-FD02-E984-297E-52FA0C916039}"/>
                </a:ext>
              </a:extLst>
            </p:cNvPr>
            <p:cNvSpPr txBox="1"/>
            <p:nvPr/>
          </p:nvSpPr>
          <p:spPr>
            <a:xfrm>
              <a:off x="10805366" y="642867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25" name="图片 24">
              <a:extLst>
                <a:ext uri="{FF2B5EF4-FFF2-40B4-BE49-F238E27FC236}">
                  <a16:creationId xmlns:a16="http://schemas.microsoft.com/office/drawing/2014/main" id="{B0303306-C2FB-5FA8-5893-811C8268A795}"/>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a:stretch/>
          </p:blipFill>
          <p:spPr>
            <a:xfrm>
              <a:off x="286653" y="6425619"/>
              <a:ext cx="2520534" cy="369332"/>
            </a:xfrm>
            <a:prstGeom prst="rect">
              <a:avLst/>
            </a:prstGeom>
          </p:spPr>
        </p:pic>
      </p:grpSp>
      <p:grpSp>
        <p:nvGrpSpPr>
          <p:cNvPr id="51" name="组合 50">
            <a:extLst>
              <a:ext uri="{FF2B5EF4-FFF2-40B4-BE49-F238E27FC236}">
                <a16:creationId xmlns:a16="http://schemas.microsoft.com/office/drawing/2014/main" id="{38197012-923D-2215-6C19-2E7052470056}"/>
              </a:ext>
            </a:extLst>
          </p:cNvPr>
          <p:cNvGrpSpPr/>
          <p:nvPr/>
        </p:nvGrpSpPr>
        <p:grpSpPr>
          <a:xfrm>
            <a:off x="9938479" y="77827"/>
            <a:ext cx="2017490" cy="675447"/>
            <a:chOff x="995884" y="398899"/>
            <a:chExt cx="3658781" cy="1224944"/>
          </a:xfrm>
        </p:grpSpPr>
        <p:pic>
          <p:nvPicPr>
            <p:cNvPr id="52" name="图片 51">
              <a:extLst>
                <a:ext uri="{FF2B5EF4-FFF2-40B4-BE49-F238E27FC236}">
                  <a16:creationId xmlns:a16="http://schemas.microsoft.com/office/drawing/2014/main" id="{FD3D5BEC-3261-E2A2-7CE9-A4561D7C73E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95884" y="398899"/>
              <a:ext cx="977348" cy="1224944"/>
            </a:xfrm>
            <a:prstGeom prst="rect">
              <a:avLst/>
            </a:prstGeom>
          </p:spPr>
        </p:pic>
        <p:pic>
          <p:nvPicPr>
            <p:cNvPr id="53" name="图片 52">
              <a:extLst>
                <a:ext uri="{FF2B5EF4-FFF2-40B4-BE49-F238E27FC236}">
                  <a16:creationId xmlns:a16="http://schemas.microsoft.com/office/drawing/2014/main" id="{AE31ECD5-D273-9065-7B91-82CB57D4733F}"/>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173707" y="405382"/>
              <a:ext cx="2384890" cy="796233"/>
            </a:xfrm>
            <a:prstGeom prst="rect">
              <a:avLst/>
            </a:prstGeom>
          </p:spPr>
        </p:pic>
        <p:sp>
          <p:nvSpPr>
            <p:cNvPr id="54" name="矩形 53">
              <a:extLst>
                <a:ext uri="{FF2B5EF4-FFF2-40B4-BE49-F238E27FC236}">
                  <a16:creationId xmlns:a16="http://schemas.microsoft.com/office/drawing/2014/main" id="{726C656C-230D-A2AD-CF1F-6FCEC83E18A3}"/>
                </a:ext>
              </a:extLst>
            </p:cNvPr>
            <p:cNvSpPr/>
            <p:nvPr/>
          </p:nvSpPr>
          <p:spPr>
            <a:xfrm>
              <a:off x="2069306" y="1138524"/>
              <a:ext cx="2585359" cy="46048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rPr>
                <a:t>NANJING UNIVERSITY</a:t>
              </a:r>
              <a:endParaRPr kumimoji="0" lang="zh-CN" altLang="en-US" sz="105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endParaRPr>
            </a:p>
          </p:txBody>
        </p:sp>
      </p:grpSp>
      <p:sp>
        <p:nvSpPr>
          <p:cNvPr id="31" name="íŝḷïḓè">
            <a:extLst>
              <a:ext uri="{FF2B5EF4-FFF2-40B4-BE49-F238E27FC236}">
                <a16:creationId xmlns:a16="http://schemas.microsoft.com/office/drawing/2014/main" id="{AE80FF6D-5FBF-135F-80B3-0166C10A6F25}"/>
              </a:ext>
            </a:extLst>
          </p:cNvPr>
          <p:cNvSpPr/>
          <p:nvPr/>
        </p:nvSpPr>
        <p:spPr bwMode="auto">
          <a:xfrm>
            <a:off x="5828824" y="4147130"/>
            <a:ext cx="338337" cy="366161"/>
          </a:xfrm>
          <a:custGeom>
            <a:avLst/>
            <a:gdLst>
              <a:gd name="connsiteX0" fmla="*/ 327780 w 561933"/>
              <a:gd name="connsiteY0" fmla="*/ 406780 h 608145"/>
              <a:gd name="connsiteX1" fmla="*/ 285069 w 561933"/>
              <a:gd name="connsiteY1" fmla="*/ 449434 h 608145"/>
              <a:gd name="connsiteX2" fmla="*/ 327780 w 561933"/>
              <a:gd name="connsiteY2" fmla="*/ 492088 h 608145"/>
              <a:gd name="connsiteX3" fmla="*/ 370490 w 561933"/>
              <a:gd name="connsiteY3" fmla="*/ 449434 h 608145"/>
              <a:gd name="connsiteX4" fmla="*/ 327780 w 561933"/>
              <a:gd name="connsiteY4" fmla="*/ 406780 h 608145"/>
              <a:gd name="connsiteX5" fmla="*/ 91381 w 561933"/>
              <a:gd name="connsiteY5" fmla="*/ 406780 h 608145"/>
              <a:gd name="connsiteX6" fmla="*/ 49664 w 561933"/>
              <a:gd name="connsiteY6" fmla="*/ 449434 h 608145"/>
              <a:gd name="connsiteX7" fmla="*/ 91381 w 561933"/>
              <a:gd name="connsiteY7" fmla="*/ 492088 h 608145"/>
              <a:gd name="connsiteX8" fmla="*/ 134092 w 561933"/>
              <a:gd name="connsiteY8" fmla="*/ 449434 h 608145"/>
              <a:gd name="connsiteX9" fmla="*/ 91381 w 561933"/>
              <a:gd name="connsiteY9" fmla="*/ 406780 h 608145"/>
              <a:gd name="connsiteX10" fmla="*/ 130119 w 561933"/>
              <a:gd name="connsiteY10" fmla="*/ 162762 h 608145"/>
              <a:gd name="connsiteX11" fmla="*/ 50657 w 561933"/>
              <a:gd name="connsiteY11" fmla="*/ 243110 h 608145"/>
              <a:gd name="connsiteX12" fmla="*/ 50657 w 561933"/>
              <a:gd name="connsiteY12" fmla="*/ 312546 h 608145"/>
              <a:gd name="connsiteX13" fmla="*/ 78468 w 561933"/>
              <a:gd name="connsiteY13" fmla="*/ 341312 h 608145"/>
              <a:gd name="connsiteX14" fmla="*/ 340692 w 561933"/>
              <a:gd name="connsiteY14" fmla="*/ 341312 h 608145"/>
              <a:gd name="connsiteX15" fmla="*/ 369497 w 561933"/>
              <a:gd name="connsiteY15" fmla="*/ 312546 h 608145"/>
              <a:gd name="connsiteX16" fmla="*/ 369497 w 561933"/>
              <a:gd name="connsiteY16" fmla="*/ 243110 h 608145"/>
              <a:gd name="connsiteX17" fmla="*/ 289042 w 561933"/>
              <a:gd name="connsiteY17" fmla="*/ 162762 h 608145"/>
              <a:gd name="connsiteX18" fmla="*/ 127139 w 561933"/>
              <a:gd name="connsiteY18" fmla="*/ 99278 h 608145"/>
              <a:gd name="connsiteX19" fmla="*/ 293015 w 561933"/>
              <a:gd name="connsiteY19" fmla="*/ 99278 h 608145"/>
              <a:gd name="connsiteX20" fmla="*/ 420154 w 561933"/>
              <a:gd name="connsiteY20" fmla="*/ 226247 h 608145"/>
              <a:gd name="connsiteX21" fmla="*/ 420154 w 561933"/>
              <a:gd name="connsiteY21" fmla="*/ 486136 h 608145"/>
              <a:gd name="connsiteX22" fmla="*/ 382410 w 561933"/>
              <a:gd name="connsiteY22" fmla="*/ 541685 h 608145"/>
              <a:gd name="connsiteX23" fmla="*/ 382410 w 561933"/>
              <a:gd name="connsiteY23" fmla="*/ 561524 h 608145"/>
              <a:gd name="connsiteX24" fmla="*/ 334733 w 561933"/>
              <a:gd name="connsiteY24" fmla="*/ 608145 h 608145"/>
              <a:gd name="connsiteX25" fmla="*/ 326786 w 561933"/>
              <a:gd name="connsiteY25" fmla="*/ 608145 h 608145"/>
              <a:gd name="connsiteX26" fmla="*/ 280103 w 561933"/>
              <a:gd name="connsiteY26" fmla="*/ 561524 h 608145"/>
              <a:gd name="connsiteX27" fmla="*/ 280103 w 561933"/>
              <a:gd name="connsiteY27" fmla="*/ 544661 h 608145"/>
              <a:gd name="connsiteX28" fmla="*/ 140051 w 561933"/>
              <a:gd name="connsiteY28" fmla="*/ 544661 h 608145"/>
              <a:gd name="connsiteX29" fmla="*/ 140051 w 561933"/>
              <a:gd name="connsiteY29" fmla="*/ 561524 h 608145"/>
              <a:gd name="connsiteX30" fmla="*/ 92374 w 561933"/>
              <a:gd name="connsiteY30" fmla="*/ 608145 h 608145"/>
              <a:gd name="connsiteX31" fmla="*/ 84428 w 561933"/>
              <a:gd name="connsiteY31" fmla="*/ 608145 h 608145"/>
              <a:gd name="connsiteX32" fmla="*/ 37744 w 561933"/>
              <a:gd name="connsiteY32" fmla="*/ 561524 h 608145"/>
              <a:gd name="connsiteX33" fmla="*/ 37744 w 561933"/>
              <a:gd name="connsiteY33" fmla="*/ 541685 h 608145"/>
              <a:gd name="connsiteX34" fmla="*/ 0 w 561933"/>
              <a:gd name="connsiteY34" fmla="*/ 486136 h 608145"/>
              <a:gd name="connsiteX35" fmla="*/ 0 w 561933"/>
              <a:gd name="connsiteY35" fmla="*/ 226247 h 608145"/>
              <a:gd name="connsiteX36" fmla="*/ 127139 w 561933"/>
              <a:gd name="connsiteY36" fmla="*/ 99278 h 608145"/>
              <a:gd name="connsiteX37" fmla="*/ 408232 w 561933"/>
              <a:gd name="connsiteY37" fmla="*/ 74504 h 608145"/>
              <a:gd name="connsiteX38" fmla="*/ 424139 w 561933"/>
              <a:gd name="connsiteY38" fmla="*/ 75495 h 608145"/>
              <a:gd name="connsiteX39" fmla="*/ 486772 w 561933"/>
              <a:gd name="connsiteY39" fmla="*/ 185587 h 608145"/>
              <a:gd name="connsiteX40" fmla="*/ 479813 w 561933"/>
              <a:gd name="connsiteY40" fmla="*/ 199473 h 608145"/>
              <a:gd name="connsiteX41" fmla="*/ 464901 w 561933"/>
              <a:gd name="connsiteY41" fmla="*/ 202448 h 608145"/>
              <a:gd name="connsiteX42" fmla="*/ 462912 w 561933"/>
              <a:gd name="connsiteY42" fmla="*/ 201456 h 608145"/>
              <a:gd name="connsiteX43" fmla="*/ 448994 w 561933"/>
              <a:gd name="connsiteY43" fmla="*/ 183604 h 608145"/>
              <a:gd name="connsiteX44" fmla="*/ 406244 w 561933"/>
              <a:gd name="connsiteY44" fmla="*/ 109217 h 608145"/>
              <a:gd name="connsiteX45" fmla="*/ 397296 w 561933"/>
              <a:gd name="connsiteY45" fmla="*/ 89381 h 608145"/>
              <a:gd name="connsiteX46" fmla="*/ 398291 w 561933"/>
              <a:gd name="connsiteY46" fmla="*/ 87397 h 608145"/>
              <a:gd name="connsiteX47" fmla="*/ 408232 w 561933"/>
              <a:gd name="connsiteY47" fmla="*/ 74504 h 608145"/>
              <a:gd name="connsiteX48" fmla="*/ 439969 w 561933"/>
              <a:gd name="connsiteY48" fmla="*/ 1081 h 608145"/>
              <a:gd name="connsiteX49" fmla="*/ 560176 w 561933"/>
              <a:gd name="connsiteY49" fmla="*/ 205408 h 608145"/>
              <a:gd name="connsiteX50" fmla="*/ 552228 w 561933"/>
              <a:gd name="connsiteY50" fmla="*/ 217311 h 608145"/>
              <a:gd name="connsiteX51" fmla="*/ 537326 w 561933"/>
              <a:gd name="connsiteY51" fmla="*/ 220286 h 608145"/>
              <a:gd name="connsiteX52" fmla="*/ 535340 w 561933"/>
              <a:gd name="connsiteY52" fmla="*/ 219294 h 608145"/>
              <a:gd name="connsiteX53" fmla="*/ 522425 w 561933"/>
              <a:gd name="connsiteY53" fmla="*/ 199457 h 608145"/>
              <a:gd name="connsiteX54" fmla="*/ 426061 w 561933"/>
              <a:gd name="connsiteY54" fmla="*/ 36788 h 608145"/>
              <a:gd name="connsiteX55" fmla="*/ 416126 w 561933"/>
              <a:gd name="connsiteY55" fmla="*/ 15959 h 608145"/>
              <a:gd name="connsiteX56" fmla="*/ 416126 w 561933"/>
              <a:gd name="connsiteY56" fmla="*/ 13975 h 608145"/>
              <a:gd name="connsiteX57" fmla="*/ 425067 w 561933"/>
              <a:gd name="connsiteY57" fmla="*/ 2073 h 608145"/>
              <a:gd name="connsiteX58" fmla="*/ 439969 w 561933"/>
              <a:gd name="connsiteY58" fmla="*/ 1081 h 608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61933" h="608145">
                <a:moveTo>
                  <a:pt x="327780" y="406780"/>
                </a:moveTo>
                <a:cubicBezTo>
                  <a:pt x="303941" y="406780"/>
                  <a:pt x="285069" y="425627"/>
                  <a:pt x="285069" y="449434"/>
                </a:cubicBezTo>
                <a:cubicBezTo>
                  <a:pt x="285069" y="473241"/>
                  <a:pt x="303941" y="492088"/>
                  <a:pt x="327780" y="492088"/>
                </a:cubicBezTo>
                <a:cubicBezTo>
                  <a:pt x="350625" y="492088"/>
                  <a:pt x="370490" y="473241"/>
                  <a:pt x="370490" y="449434"/>
                </a:cubicBezTo>
                <a:cubicBezTo>
                  <a:pt x="370490" y="425627"/>
                  <a:pt x="350625" y="406780"/>
                  <a:pt x="327780" y="406780"/>
                </a:cubicBezTo>
                <a:close/>
                <a:moveTo>
                  <a:pt x="91381" y="406780"/>
                </a:moveTo>
                <a:cubicBezTo>
                  <a:pt x="68536" y="406780"/>
                  <a:pt x="49664" y="425627"/>
                  <a:pt x="49664" y="449434"/>
                </a:cubicBezTo>
                <a:cubicBezTo>
                  <a:pt x="49664" y="473241"/>
                  <a:pt x="68536" y="492088"/>
                  <a:pt x="91381" y="492088"/>
                </a:cubicBezTo>
                <a:cubicBezTo>
                  <a:pt x="115220" y="492088"/>
                  <a:pt x="134092" y="473241"/>
                  <a:pt x="134092" y="449434"/>
                </a:cubicBezTo>
                <a:cubicBezTo>
                  <a:pt x="134092" y="425627"/>
                  <a:pt x="115220" y="406780"/>
                  <a:pt x="91381" y="406780"/>
                </a:cubicBezTo>
                <a:close/>
                <a:moveTo>
                  <a:pt x="130119" y="162762"/>
                </a:moveTo>
                <a:cubicBezTo>
                  <a:pt x="86415" y="162762"/>
                  <a:pt x="50657" y="198472"/>
                  <a:pt x="50657" y="243110"/>
                </a:cubicBezTo>
                <a:lnTo>
                  <a:pt x="50657" y="312546"/>
                </a:lnTo>
                <a:cubicBezTo>
                  <a:pt x="50657" y="328417"/>
                  <a:pt x="62576" y="341312"/>
                  <a:pt x="78468" y="341312"/>
                </a:cubicBezTo>
                <a:lnTo>
                  <a:pt x="340692" y="341312"/>
                </a:lnTo>
                <a:cubicBezTo>
                  <a:pt x="356585" y="341312"/>
                  <a:pt x="369497" y="328417"/>
                  <a:pt x="369497" y="312546"/>
                </a:cubicBezTo>
                <a:lnTo>
                  <a:pt x="369497" y="243110"/>
                </a:lnTo>
                <a:cubicBezTo>
                  <a:pt x="369497" y="198472"/>
                  <a:pt x="332746" y="162762"/>
                  <a:pt x="289042" y="162762"/>
                </a:cubicBezTo>
                <a:close/>
                <a:moveTo>
                  <a:pt x="127139" y="99278"/>
                </a:moveTo>
                <a:lnTo>
                  <a:pt x="293015" y="99278"/>
                </a:lnTo>
                <a:cubicBezTo>
                  <a:pt x="363538" y="99278"/>
                  <a:pt x="420154" y="155819"/>
                  <a:pt x="420154" y="226247"/>
                </a:cubicBezTo>
                <a:lnTo>
                  <a:pt x="420154" y="486136"/>
                </a:lnTo>
                <a:cubicBezTo>
                  <a:pt x="420154" y="511926"/>
                  <a:pt x="404262" y="532757"/>
                  <a:pt x="382410" y="541685"/>
                </a:cubicBezTo>
                <a:lnTo>
                  <a:pt x="382410" y="561524"/>
                </a:lnTo>
                <a:cubicBezTo>
                  <a:pt x="382410" y="587314"/>
                  <a:pt x="360558" y="608145"/>
                  <a:pt x="334733" y="608145"/>
                </a:cubicBezTo>
                <a:lnTo>
                  <a:pt x="326786" y="608145"/>
                </a:lnTo>
                <a:cubicBezTo>
                  <a:pt x="300961" y="608145"/>
                  <a:pt x="280103" y="587314"/>
                  <a:pt x="280103" y="561524"/>
                </a:cubicBezTo>
                <a:lnTo>
                  <a:pt x="280103" y="544661"/>
                </a:lnTo>
                <a:lnTo>
                  <a:pt x="140051" y="544661"/>
                </a:lnTo>
                <a:lnTo>
                  <a:pt x="140051" y="561524"/>
                </a:lnTo>
                <a:cubicBezTo>
                  <a:pt x="140051" y="587314"/>
                  <a:pt x="118199" y="608145"/>
                  <a:pt x="92374" y="608145"/>
                </a:cubicBezTo>
                <a:lnTo>
                  <a:pt x="84428" y="608145"/>
                </a:lnTo>
                <a:cubicBezTo>
                  <a:pt x="58603" y="608145"/>
                  <a:pt x="37744" y="587314"/>
                  <a:pt x="37744" y="561524"/>
                </a:cubicBezTo>
                <a:lnTo>
                  <a:pt x="37744" y="541685"/>
                </a:lnTo>
                <a:cubicBezTo>
                  <a:pt x="14899" y="532757"/>
                  <a:pt x="0" y="511926"/>
                  <a:pt x="0" y="486136"/>
                </a:cubicBezTo>
                <a:lnTo>
                  <a:pt x="0" y="226247"/>
                </a:lnTo>
                <a:cubicBezTo>
                  <a:pt x="0" y="155819"/>
                  <a:pt x="56616" y="99278"/>
                  <a:pt x="127139" y="99278"/>
                </a:cubicBezTo>
                <a:close/>
                <a:moveTo>
                  <a:pt x="408232" y="74504"/>
                </a:moveTo>
                <a:cubicBezTo>
                  <a:pt x="413203" y="72520"/>
                  <a:pt x="419168" y="72520"/>
                  <a:pt x="424139" y="75495"/>
                </a:cubicBezTo>
                <a:cubicBezTo>
                  <a:pt x="464901" y="96324"/>
                  <a:pt x="489755" y="139964"/>
                  <a:pt x="486772" y="185587"/>
                </a:cubicBezTo>
                <a:cubicBezTo>
                  <a:pt x="486772" y="190546"/>
                  <a:pt x="483790" y="195505"/>
                  <a:pt x="479813" y="199473"/>
                </a:cubicBezTo>
                <a:cubicBezTo>
                  <a:pt x="475836" y="202448"/>
                  <a:pt x="469871" y="203440"/>
                  <a:pt x="464901" y="202448"/>
                </a:cubicBezTo>
                <a:lnTo>
                  <a:pt x="462912" y="201456"/>
                </a:lnTo>
                <a:cubicBezTo>
                  <a:pt x="453965" y="199473"/>
                  <a:pt x="448994" y="191538"/>
                  <a:pt x="448994" y="183604"/>
                </a:cubicBezTo>
                <a:cubicBezTo>
                  <a:pt x="450982" y="152857"/>
                  <a:pt x="434081" y="123103"/>
                  <a:pt x="406244" y="109217"/>
                </a:cubicBezTo>
                <a:cubicBezTo>
                  <a:pt x="399285" y="105250"/>
                  <a:pt x="395308" y="97315"/>
                  <a:pt x="397296" y="89381"/>
                </a:cubicBezTo>
                <a:lnTo>
                  <a:pt x="398291" y="87397"/>
                </a:lnTo>
                <a:cubicBezTo>
                  <a:pt x="399285" y="81446"/>
                  <a:pt x="403261" y="77479"/>
                  <a:pt x="408232" y="74504"/>
                </a:cubicBezTo>
                <a:close/>
                <a:moveTo>
                  <a:pt x="439969" y="1081"/>
                </a:moveTo>
                <a:cubicBezTo>
                  <a:pt x="522425" y="32821"/>
                  <a:pt x="572097" y="118123"/>
                  <a:pt x="560176" y="205408"/>
                </a:cubicBezTo>
                <a:cubicBezTo>
                  <a:pt x="559182" y="210367"/>
                  <a:pt x="556202" y="214335"/>
                  <a:pt x="552228" y="217311"/>
                </a:cubicBezTo>
                <a:cubicBezTo>
                  <a:pt x="548254" y="220286"/>
                  <a:pt x="542294" y="221278"/>
                  <a:pt x="537326" y="220286"/>
                </a:cubicBezTo>
                <a:lnTo>
                  <a:pt x="535340" y="219294"/>
                </a:lnTo>
                <a:cubicBezTo>
                  <a:pt x="526399" y="217311"/>
                  <a:pt x="520438" y="208384"/>
                  <a:pt x="522425" y="199457"/>
                </a:cubicBezTo>
                <a:cubicBezTo>
                  <a:pt x="531366" y="130025"/>
                  <a:pt x="491628" y="62577"/>
                  <a:pt x="426061" y="36788"/>
                </a:cubicBezTo>
                <a:cubicBezTo>
                  <a:pt x="418113" y="33813"/>
                  <a:pt x="413146" y="24886"/>
                  <a:pt x="416126" y="15959"/>
                </a:cubicBezTo>
                <a:lnTo>
                  <a:pt x="416126" y="13975"/>
                </a:lnTo>
                <a:cubicBezTo>
                  <a:pt x="417120" y="9016"/>
                  <a:pt x="421094" y="4056"/>
                  <a:pt x="425067" y="2073"/>
                </a:cubicBezTo>
                <a:cubicBezTo>
                  <a:pt x="430035" y="89"/>
                  <a:pt x="435002" y="-903"/>
                  <a:pt x="439969" y="1081"/>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endParaRPr lang="zh-CN" altLang="en-US">
              <a:solidFill>
                <a:srgbClr val="000000"/>
              </a:solidFill>
              <a:latin typeface="Arial" panose="020F0502020204030204"/>
              <a:ea typeface="微软雅黑"/>
              <a:cs typeface="+mn-ea"/>
              <a:sym typeface="+mn-lt"/>
            </a:endParaRPr>
          </a:p>
        </p:txBody>
      </p:sp>
      <p:sp>
        <p:nvSpPr>
          <p:cNvPr id="42" name="ïslíḓé">
            <a:extLst>
              <a:ext uri="{FF2B5EF4-FFF2-40B4-BE49-F238E27FC236}">
                <a16:creationId xmlns:a16="http://schemas.microsoft.com/office/drawing/2014/main" id="{5D9BF172-5941-776B-AE78-829207D34097}"/>
              </a:ext>
            </a:extLst>
          </p:cNvPr>
          <p:cNvSpPr/>
          <p:nvPr/>
        </p:nvSpPr>
        <p:spPr bwMode="auto">
          <a:xfrm>
            <a:off x="5815461" y="5339493"/>
            <a:ext cx="363264" cy="320996"/>
          </a:xfrm>
          <a:custGeom>
            <a:avLst/>
            <a:gdLst>
              <a:gd name="connsiteX0" fmla="*/ 494452 w 603405"/>
              <a:gd name="connsiteY0" fmla="*/ 356003 h 533193"/>
              <a:gd name="connsiteX1" fmla="*/ 585270 w 603405"/>
              <a:gd name="connsiteY1" fmla="*/ 356003 h 533193"/>
              <a:gd name="connsiteX2" fmla="*/ 601782 w 603405"/>
              <a:gd name="connsiteY2" fmla="*/ 372480 h 533193"/>
              <a:gd name="connsiteX3" fmla="*/ 585270 w 603405"/>
              <a:gd name="connsiteY3" fmla="*/ 388957 h 533193"/>
              <a:gd name="connsiteX4" fmla="*/ 494452 w 603405"/>
              <a:gd name="connsiteY4" fmla="*/ 388957 h 533193"/>
              <a:gd name="connsiteX5" fmla="*/ 367511 w 603405"/>
              <a:gd name="connsiteY5" fmla="*/ 244227 h 533193"/>
              <a:gd name="connsiteX6" fmla="*/ 443780 w 603405"/>
              <a:gd name="connsiteY6" fmla="*/ 244227 h 533193"/>
              <a:gd name="connsiteX7" fmla="*/ 477411 w 603405"/>
              <a:gd name="connsiteY7" fmla="*/ 277633 h 533193"/>
              <a:gd name="connsiteX8" fmla="*/ 477861 w 603405"/>
              <a:gd name="connsiteY8" fmla="*/ 381744 h 533193"/>
              <a:gd name="connsiteX9" fmla="*/ 463748 w 603405"/>
              <a:gd name="connsiteY9" fmla="*/ 395975 h 533193"/>
              <a:gd name="connsiteX10" fmla="*/ 449486 w 603405"/>
              <a:gd name="connsiteY10" fmla="*/ 381894 h 533193"/>
              <a:gd name="connsiteX11" fmla="*/ 449035 w 603405"/>
              <a:gd name="connsiteY11" fmla="*/ 277782 h 533193"/>
              <a:gd name="connsiteX12" fmla="*/ 446033 w 603405"/>
              <a:gd name="connsiteY12" fmla="*/ 274786 h 533193"/>
              <a:gd name="connsiteX13" fmla="*/ 443030 w 603405"/>
              <a:gd name="connsiteY13" fmla="*/ 277782 h 533193"/>
              <a:gd name="connsiteX14" fmla="*/ 443330 w 603405"/>
              <a:gd name="connsiteY14" fmla="*/ 516116 h 533193"/>
              <a:gd name="connsiteX15" fmla="*/ 426215 w 603405"/>
              <a:gd name="connsiteY15" fmla="*/ 533193 h 533193"/>
              <a:gd name="connsiteX16" fmla="*/ 409249 w 603405"/>
              <a:gd name="connsiteY16" fmla="*/ 516116 h 533193"/>
              <a:gd name="connsiteX17" fmla="*/ 409249 w 603405"/>
              <a:gd name="connsiteY17" fmla="*/ 380096 h 533193"/>
              <a:gd name="connsiteX18" fmla="*/ 401893 w 603405"/>
              <a:gd name="connsiteY18" fmla="*/ 380096 h 533193"/>
              <a:gd name="connsiteX19" fmla="*/ 401893 w 603405"/>
              <a:gd name="connsiteY19" fmla="*/ 516116 h 533193"/>
              <a:gd name="connsiteX20" fmla="*/ 384778 w 603405"/>
              <a:gd name="connsiteY20" fmla="*/ 533193 h 533193"/>
              <a:gd name="connsiteX21" fmla="*/ 367812 w 603405"/>
              <a:gd name="connsiteY21" fmla="*/ 516116 h 533193"/>
              <a:gd name="connsiteX22" fmla="*/ 367812 w 603405"/>
              <a:gd name="connsiteY22" fmla="*/ 380096 h 533193"/>
              <a:gd name="connsiteX23" fmla="*/ 367812 w 603405"/>
              <a:gd name="connsiteY23" fmla="*/ 277782 h 533193"/>
              <a:gd name="connsiteX24" fmla="*/ 364959 w 603405"/>
              <a:gd name="connsiteY24" fmla="*/ 274936 h 533193"/>
              <a:gd name="connsiteX25" fmla="*/ 362257 w 603405"/>
              <a:gd name="connsiteY25" fmla="*/ 277782 h 533193"/>
              <a:gd name="connsiteX26" fmla="*/ 361656 w 603405"/>
              <a:gd name="connsiteY26" fmla="*/ 381894 h 533193"/>
              <a:gd name="connsiteX27" fmla="*/ 347544 w 603405"/>
              <a:gd name="connsiteY27" fmla="*/ 395975 h 533193"/>
              <a:gd name="connsiteX28" fmla="*/ 347393 w 603405"/>
              <a:gd name="connsiteY28" fmla="*/ 395975 h 533193"/>
              <a:gd name="connsiteX29" fmla="*/ 333281 w 603405"/>
              <a:gd name="connsiteY29" fmla="*/ 381744 h 533193"/>
              <a:gd name="connsiteX30" fmla="*/ 333881 w 603405"/>
              <a:gd name="connsiteY30" fmla="*/ 277633 h 533193"/>
              <a:gd name="connsiteX31" fmla="*/ 367511 w 603405"/>
              <a:gd name="connsiteY31" fmla="*/ 244227 h 533193"/>
              <a:gd name="connsiteX32" fmla="*/ 201525 w 603405"/>
              <a:gd name="connsiteY32" fmla="*/ 244227 h 533193"/>
              <a:gd name="connsiteX33" fmla="*/ 277906 w 603405"/>
              <a:gd name="connsiteY33" fmla="*/ 244227 h 533193"/>
              <a:gd name="connsiteX34" fmla="*/ 311520 w 603405"/>
              <a:gd name="connsiteY34" fmla="*/ 277633 h 533193"/>
              <a:gd name="connsiteX35" fmla="*/ 311970 w 603405"/>
              <a:gd name="connsiteY35" fmla="*/ 381744 h 533193"/>
              <a:gd name="connsiteX36" fmla="*/ 297864 w 603405"/>
              <a:gd name="connsiteY36" fmla="*/ 395975 h 533193"/>
              <a:gd name="connsiteX37" fmla="*/ 297714 w 603405"/>
              <a:gd name="connsiteY37" fmla="*/ 395975 h 533193"/>
              <a:gd name="connsiteX38" fmla="*/ 283608 w 603405"/>
              <a:gd name="connsiteY38" fmla="*/ 381894 h 533193"/>
              <a:gd name="connsiteX39" fmla="*/ 283008 w 603405"/>
              <a:gd name="connsiteY39" fmla="*/ 277782 h 533193"/>
              <a:gd name="connsiteX40" fmla="*/ 280007 w 603405"/>
              <a:gd name="connsiteY40" fmla="*/ 274786 h 533193"/>
              <a:gd name="connsiteX41" fmla="*/ 277156 w 603405"/>
              <a:gd name="connsiteY41" fmla="*/ 277782 h 533193"/>
              <a:gd name="connsiteX42" fmla="*/ 277456 w 603405"/>
              <a:gd name="connsiteY42" fmla="*/ 516116 h 533193"/>
              <a:gd name="connsiteX43" fmla="*/ 260349 w 603405"/>
              <a:gd name="connsiteY43" fmla="*/ 533193 h 533193"/>
              <a:gd name="connsiteX44" fmla="*/ 243242 w 603405"/>
              <a:gd name="connsiteY44" fmla="*/ 516116 h 533193"/>
              <a:gd name="connsiteX45" fmla="*/ 243242 w 603405"/>
              <a:gd name="connsiteY45" fmla="*/ 380096 h 533193"/>
              <a:gd name="connsiteX46" fmla="*/ 235889 w 603405"/>
              <a:gd name="connsiteY46" fmla="*/ 380096 h 533193"/>
              <a:gd name="connsiteX47" fmla="*/ 235889 w 603405"/>
              <a:gd name="connsiteY47" fmla="*/ 516116 h 533193"/>
              <a:gd name="connsiteX48" fmla="*/ 218932 w 603405"/>
              <a:gd name="connsiteY48" fmla="*/ 533193 h 533193"/>
              <a:gd name="connsiteX49" fmla="*/ 201825 w 603405"/>
              <a:gd name="connsiteY49" fmla="*/ 516116 h 533193"/>
              <a:gd name="connsiteX50" fmla="*/ 201825 w 603405"/>
              <a:gd name="connsiteY50" fmla="*/ 380096 h 533193"/>
              <a:gd name="connsiteX51" fmla="*/ 201825 w 603405"/>
              <a:gd name="connsiteY51" fmla="*/ 277782 h 533193"/>
              <a:gd name="connsiteX52" fmla="*/ 199124 w 603405"/>
              <a:gd name="connsiteY52" fmla="*/ 274936 h 533193"/>
              <a:gd name="connsiteX53" fmla="*/ 196423 w 603405"/>
              <a:gd name="connsiteY53" fmla="*/ 277782 h 533193"/>
              <a:gd name="connsiteX54" fmla="*/ 195822 w 603405"/>
              <a:gd name="connsiteY54" fmla="*/ 381894 h 533193"/>
              <a:gd name="connsiteX55" fmla="*/ 181567 w 603405"/>
              <a:gd name="connsiteY55" fmla="*/ 395975 h 533193"/>
              <a:gd name="connsiteX56" fmla="*/ 167461 w 603405"/>
              <a:gd name="connsiteY56" fmla="*/ 381744 h 533193"/>
              <a:gd name="connsiteX57" fmla="*/ 167911 w 603405"/>
              <a:gd name="connsiteY57" fmla="*/ 277633 h 533193"/>
              <a:gd name="connsiteX58" fmla="*/ 201525 w 603405"/>
              <a:gd name="connsiteY58" fmla="*/ 244227 h 533193"/>
              <a:gd name="connsiteX59" fmla="*/ 34214 w 603405"/>
              <a:gd name="connsiteY59" fmla="*/ 244227 h 533193"/>
              <a:gd name="connsiteX60" fmla="*/ 110445 w 603405"/>
              <a:gd name="connsiteY60" fmla="*/ 244227 h 533193"/>
              <a:gd name="connsiteX61" fmla="*/ 144059 w 603405"/>
              <a:gd name="connsiteY61" fmla="*/ 277633 h 533193"/>
              <a:gd name="connsiteX62" fmla="*/ 144509 w 603405"/>
              <a:gd name="connsiteY62" fmla="*/ 381744 h 533193"/>
              <a:gd name="connsiteX63" fmla="*/ 130403 w 603405"/>
              <a:gd name="connsiteY63" fmla="*/ 395975 h 533193"/>
              <a:gd name="connsiteX64" fmla="*/ 116147 w 603405"/>
              <a:gd name="connsiteY64" fmla="*/ 381894 h 533193"/>
              <a:gd name="connsiteX65" fmla="*/ 115697 w 603405"/>
              <a:gd name="connsiteY65" fmla="*/ 277782 h 533193"/>
              <a:gd name="connsiteX66" fmla="*/ 112696 w 603405"/>
              <a:gd name="connsiteY66" fmla="*/ 274786 h 533193"/>
              <a:gd name="connsiteX67" fmla="*/ 109694 w 603405"/>
              <a:gd name="connsiteY67" fmla="*/ 277782 h 533193"/>
              <a:gd name="connsiteX68" fmla="*/ 109995 w 603405"/>
              <a:gd name="connsiteY68" fmla="*/ 516116 h 533193"/>
              <a:gd name="connsiteX69" fmla="*/ 92888 w 603405"/>
              <a:gd name="connsiteY69" fmla="*/ 533193 h 533193"/>
              <a:gd name="connsiteX70" fmla="*/ 75931 w 603405"/>
              <a:gd name="connsiteY70" fmla="*/ 516116 h 533193"/>
              <a:gd name="connsiteX71" fmla="*/ 75931 w 603405"/>
              <a:gd name="connsiteY71" fmla="*/ 380096 h 533193"/>
              <a:gd name="connsiteX72" fmla="*/ 68578 w 603405"/>
              <a:gd name="connsiteY72" fmla="*/ 380096 h 533193"/>
              <a:gd name="connsiteX73" fmla="*/ 68578 w 603405"/>
              <a:gd name="connsiteY73" fmla="*/ 516116 h 533193"/>
              <a:gd name="connsiteX74" fmla="*/ 51471 w 603405"/>
              <a:gd name="connsiteY74" fmla="*/ 533193 h 533193"/>
              <a:gd name="connsiteX75" fmla="*/ 34364 w 603405"/>
              <a:gd name="connsiteY75" fmla="*/ 516116 h 533193"/>
              <a:gd name="connsiteX76" fmla="*/ 34364 w 603405"/>
              <a:gd name="connsiteY76" fmla="*/ 380096 h 533193"/>
              <a:gd name="connsiteX77" fmla="*/ 34364 w 603405"/>
              <a:gd name="connsiteY77" fmla="*/ 277782 h 533193"/>
              <a:gd name="connsiteX78" fmla="*/ 31663 w 603405"/>
              <a:gd name="connsiteY78" fmla="*/ 275086 h 533193"/>
              <a:gd name="connsiteX79" fmla="*/ 28962 w 603405"/>
              <a:gd name="connsiteY79" fmla="*/ 277782 h 533193"/>
              <a:gd name="connsiteX80" fmla="*/ 28361 w 603405"/>
              <a:gd name="connsiteY80" fmla="*/ 381894 h 533193"/>
              <a:gd name="connsiteX81" fmla="*/ 14256 w 603405"/>
              <a:gd name="connsiteY81" fmla="*/ 395975 h 533193"/>
              <a:gd name="connsiteX82" fmla="*/ 14106 w 603405"/>
              <a:gd name="connsiteY82" fmla="*/ 395975 h 533193"/>
              <a:gd name="connsiteX83" fmla="*/ 0 w 603405"/>
              <a:gd name="connsiteY83" fmla="*/ 381744 h 533193"/>
              <a:gd name="connsiteX84" fmla="*/ 600 w 603405"/>
              <a:gd name="connsiteY84" fmla="*/ 277633 h 533193"/>
              <a:gd name="connsiteX85" fmla="*/ 34214 w 603405"/>
              <a:gd name="connsiteY85" fmla="*/ 244227 h 533193"/>
              <a:gd name="connsiteX86" fmla="*/ 298774 w 603405"/>
              <a:gd name="connsiteY86" fmla="*/ 232090 h 533193"/>
              <a:gd name="connsiteX87" fmla="*/ 346547 w 603405"/>
              <a:gd name="connsiteY87" fmla="*/ 232090 h 533193"/>
              <a:gd name="connsiteX88" fmla="*/ 322660 w 603405"/>
              <a:gd name="connsiteY88" fmla="*/ 254883 h 533193"/>
              <a:gd name="connsiteX89" fmla="*/ 298774 w 603405"/>
              <a:gd name="connsiteY89" fmla="*/ 232090 h 533193"/>
              <a:gd name="connsiteX90" fmla="*/ 405716 w 603405"/>
              <a:gd name="connsiteY90" fmla="*/ 176061 h 533193"/>
              <a:gd name="connsiteX91" fmla="*/ 435177 w 603405"/>
              <a:gd name="connsiteY91" fmla="*/ 205417 h 533193"/>
              <a:gd name="connsiteX92" fmla="*/ 405716 w 603405"/>
              <a:gd name="connsiteY92" fmla="*/ 234773 h 533193"/>
              <a:gd name="connsiteX93" fmla="*/ 376255 w 603405"/>
              <a:gd name="connsiteY93" fmla="*/ 205417 h 533193"/>
              <a:gd name="connsiteX94" fmla="*/ 405716 w 603405"/>
              <a:gd name="connsiteY94" fmla="*/ 176061 h 533193"/>
              <a:gd name="connsiteX95" fmla="*/ 239817 w 603405"/>
              <a:gd name="connsiteY95" fmla="*/ 176061 h 533193"/>
              <a:gd name="connsiteX96" fmla="*/ 269208 w 603405"/>
              <a:gd name="connsiteY96" fmla="*/ 205417 h 533193"/>
              <a:gd name="connsiteX97" fmla="*/ 239817 w 603405"/>
              <a:gd name="connsiteY97" fmla="*/ 234773 h 533193"/>
              <a:gd name="connsiteX98" fmla="*/ 210426 w 603405"/>
              <a:gd name="connsiteY98" fmla="*/ 205417 h 533193"/>
              <a:gd name="connsiteX99" fmla="*/ 239817 w 603405"/>
              <a:gd name="connsiteY99" fmla="*/ 176061 h 533193"/>
              <a:gd name="connsiteX100" fmla="*/ 72325 w 603405"/>
              <a:gd name="connsiteY100" fmla="*/ 176061 h 533193"/>
              <a:gd name="connsiteX101" fmla="*/ 101897 w 603405"/>
              <a:gd name="connsiteY101" fmla="*/ 205416 h 533193"/>
              <a:gd name="connsiteX102" fmla="*/ 72325 w 603405"/>
              <a:gd name="connsiteY102" fmla="*/ 234772 h 533193"/>
              <a:gd name="connsiteX103" fmla="*/ 42904 w 603405"/>
              <a:gd name="connsiteY103" fmla="*/ 205416 h 533193"/>
              <a:gd name="connsiteX104" fmla="*/ 72325 w 603405"/>
              <a:gd name="connsiteY104" fmla="*/ 176061 h 533193"/>
              <a:gd name="connsiteX105" fmla="*/ 1200 w 603405"/>
              <a:gd name="connsiteY105" fmla="*/ 56241 h 533193"/>
              <a:gd name="connsiteX106" fmla="*/ 384613 w 603405"/>
              <a:gd name="connsiteY106" fmla="*/ 56241 h 533193"/>
              <a:gd name="connsiteX107" fmla="*/ 603405 w 603405"/>
              <a:gd name="connsiteY107" fmla="*/ 274494 h 533193"/>
              <a:gd name="connsiteX108" fmla="*/ 540979 w 603405"/>
              <a:gd name="connsiteY108" fmla="*/ 336809 h 533193"/>
              <a:gd name="connsiteX109" fmla="*/ 494459 w 603405"/>
              <a:gd name="connsiteY109" fmla="*/ 336809 h 533193"/>
              <a:gd name="connsiteX110" fmla="*/ 494159 w 603405"/>
              <a:gd name="connsiteY110" fmla="*/ 277490 h 533193"/>
              <a:gd name="connsiteX111" fmla="*/ 464747 w 603405"/>
              <a:gd name="connsiteY111" fmla="*/ 232102 h 533193"/>
              <a:gd name="connsiteX112" fmla="*/ 551333 w 603405"/>
              <a:gd name="connsiteY112" fmla="*/ 232102 h 533193"/>
              <a:gd name="connsiteX113" fmla="*/ 551483 w 603405"/>
              <a:gd name="connsiteY113" fmla="*/ 232102 h 533193"/>
              <a:gd name="connsiteX114" fmla="*/ 557636 w 603405"/>
              <a:gd name="connsiteY114" fmla="*/ 228806 h 533193"/>
              <a:gd name="connsiteX115" fmla="*/ 558236 w 603405"/>
              <a:gd name="connsiteY115" fmla="*/ 221766 h 533193"/>
              <a:gd name="connsiteX116" fmla="*/ 504663 w 603405"/>
              <a:gd name="connsiteY116" fmla="*/ 136532 h 533193"/>
              <a:gd name="connsiteX117" fmla="*/ 415676 w 603405"/>
              <a:gd name="connsiteY117" fmla="*/ 97585 h 533193"/>
              <a:gd name="connsiteX118" fmla="*/ 397968 w 603405"/>
              <a:gd name="connsiteY118" fmla="*/ 97585 h 533193"/>
              <a:gd name="connsiteX119" fmla="*/ 397968 w 603405"/>
              <a:gd name="connsiteY119" fmla="*/ 159900 h 533193"/>
              <a:gd name="connsiteX120" fmla="*/ 364954 w 603405"/>
              <a:gd name="connsiteY120" fmla="*/ 183568 h 533193"/>
              <a:gd name="connsiteX121" fmla="*/ 364954 w 603405"/>
              <a:gd name="connsiteY121" fmla="*/ 97585 h 533193"/>
              <a:gd name="connsiteX122" fmla="*/ 174223 w 603405"/>
              <a:gd name="connsiteY122" fmla="*/ 97585 h 533193"/>
              <a:gd name="connsiteX123" fmla="*/ 174223 w 603405"/>
              <a:gd name="connsiteY123" fmla="*/ 232102 h 533193"/>
              <a:gd name="connsiteX124" fmla="*/ 180526 w 603405"/>
              <a:gd name="connsiteY124" fmla="*/ 232102 h 533193"/>
              <a:gd name="connsiteX125" fmla="*/ 174223 w 603405"/>
              <a:gd name="connsiteY125" fmla="*/ 235547 h 533193"/>
              <a:gd name="connsiteX126" fmla="*/ 156065 w 603405"/>
              <a:gd name="connsiteY126" fmla="*/ 256369 h 533193"/>
              <a:gd name="connsiteX127" fmla="*/ 141209 w 603405"/>
              <a:gd name="connsiteY127" fmla="*/ 238093 h 533193"/>
              <a:gd name="connsiteX128" fmla="*/ 131455 w 603405"/>
              <a:gd name="connsiteY128" fmla="*/ 232102 h 533193"/>
              <a:gd name="connsiteX129" fmla="*/ 141209 w 603405"/>
              <a:gd name="connsiteY129" fmla="*/ 232102 h 533193"/>
              <a:gd name="connsiteX130" fmla="*/ 141209 w 603405"/>
              <a:gd name="connsiteY130" fmla="*/ 97585 h 533193"/>
              <a:gd name="connsiteX131" fmla="*/ 1200 w 603405"/>
              <a:gd name="connsiteY131" fmla="*/ 97585 h 533193"/>
              <a:gd name="connsiteX132" fmla="*/ 30337 w 603405"/>
              <a:gd name="connsiteY132" fmla="*/ 0 h 533193"/>
              <a:gd name="connsiteX133" fmla="*/ 450496 w 603405"/>
              <a:gd name="connsiteY133" fmla="*/ 0 h 533193"/>
              <a:gd name="connsiteX134" fmla="*/ 467002 w 603405"/>
              <a:gd name="connsiteY134" fmla="*/ 16512 h 533193"/>
              <a:gd name="connsiteX135" fmla="*/ 450496 w 603405"/>
              <a:gd name="connsiteY135" fmla="*/ 33025 h 533193"/>
              <a:gd name="connsiteX136" fmla="*/ 30337 w 603405"/>
              <a:gd name="connsiteY136" fmla="*/ 33025 h 533193"/>
              <a:gd name="connsiteX137" fmla="*/ 13831 w 603405"/>
              <a:gd name="connsiteY137" fmla="*/ 16512 h 533193"/>
              <a:gd name="connsiteX138" fmla="*/ 30337 w 603405"/>
              <a:gd name="connsiteY138" fmla="*/ 0 h 533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603405" h="533193">
                <a:moveTo>
                  <a:pt x="494452" y="356003"/>
                </a:moveTo>
                <a:lnTo>
                  <a:pt x="585270" y="356003"/>
                </a:lnTo>
                <a:cubicBezTo>
                  <a:pt x="594277" y="356003"/>
                  <a:pt x="601782" y="363343"/>
                  <a:pt x="601782" y="372480"/>
                </a:cubicBezTo>
                <a:cubicBezTo>
                  <a:pt x="601782" y="381617"/>
                  <a:pt x="594277" y="388957"/>
                  <a:pt x="585270" y="388957"/>
                </a:cubicBezTo>
                <a:lnTo>
                  <a:pt x="494452" y="388957"/>
                </a:lnTo>
                <a:close/>
                <a:moveTo>
                  <a:pt x="367511" y="244227"/>
                </a:moveTo>
                <a:lnTo>
                  <a:pt x="443780" y="244227"/>
                </a:lnTo>
                <a:cubicBezTo>
                  <a:pt x="462247" y="244227"/>
                  <a:pt x="477261" y="259207"/>
                  <a:pt x="477411" y="277633"/>
                </a:cubicBezTo>
                <a:lnTo>
                  <a:pt x="477861" y="381744"/>
                </a:lnTo>
                <a:cubicBezTo>
                  <a:pt x="478011" y="389534"/>
                  <a:pt x="471706" y="395975"/>
                  <a:pt x="463748" y="395975"/>
                </a:cubicBezTo>
                <a:cubicBezTo>
                  <a:pt x="455941" y="395975"/>
                  <a:pt x="449486" y="389684"/>
                  <a:pt x="449486" y="381894"/>
                </a:cubicBezTo>
                <a:lnTo>
                  <a:pt x="449035" y="277782"/>
                </a:lnTo>
                <a:cubicBezTo>
                  <a:pt x="449035" y="276135"/>
                  <a:pt x="447684" y="274786"/>
                  <a:pt x="446033" y="274786"/>
                </a:cubicBezTo>
                <a:cubicBezTo>
                  <a:pt x="444381" y="274786"/>
                  <a:pt x="443030" y="276135"/>
                  <a:pt x="443030" y="277782"/>
                </a:cubicBezTo>
                <a:cubicBezTo>
                  <a:pt x="443030" y="419944"/>
                  <a:pt x="443330" y="291115"/>
                  <a:pt x="443330" y="516116"/>
                </a:cubicBezTo>
                <a:cubicBezTo>
                  <a:pt x="443330" y="525553"/>
                  <a:pt x="435673" y="533193"/>
                  <a:pt x="426215" y="533193"/>
                </a:cubicBezTo>
                <a:cubicBezTo>
                  <a:pt x="416906" y="533193"/>
                  <a:pt x="409249" y="525553"/>
                  <a:pt x="409249" y="516116"/>
                </a:cubicBezTo>
                <a:lnTo>
                  <a:pt x="409249" y="380096"/>
                </a:lnTo>
                <a:lnTo>
                  <a:pt x="401893" y="380096"/>
                </a:lnTo>
                <a:lnTo>
                  <a:pt x="401893" y="516116"/>
                </a:lnTo>
                <a:cubicBezTo>
                  <a:pt x="401893" y="525553"/>
                  <a:pt x="394236" y="533193"/>
                  <a:pt x="384778" y="533193"/>
                </a:cubicBezTo>
                <a:cubicBezTo>
                  <a:pt x="375319" y="533193"/>
                  <a:pt x="367812" y="525553"/>
                  <a:pt x="367812" y="516116"/>
                </a:cubicBezTo>
                <a:lnTo>
                  <a:pt x="367812" y="380096"/>
                </a:lnTo>
                <a:lnTo>
                  <a:pt x="367812" y="277782"/>
                </a:lnTo>
                <a:cubicBezTo>
                  <a:pt x="367812" y="276284"/>
                  <a:pt x="366461" y="274936"/>
                  <a:pt x="364959" y="274936"/>
                </a:cubicBezTo>
                <a:cubicBezTo>
                  <a:pt x="363458" y="274936"/>
                  <a:pt x="362257" y="276284"/>
                  <a:pt x="362257" y="277782"/>
                </a:cubicBezTo>
                <a:lnTo>
                  <a:pt x="361656" y="381894"/>
                </a:lnTo>
                <a:cubicBezTo>
                  <a:pt x="361656" y="389684"/>
                  <a:pt x="355351" y="395975"/>
                  <a:pt x="347544" y="395975"/>
                </a:cubicBezTo>
                <a:lnTo>
                  <a:pt x="347393" y="395975"/>
                </a:lnTo>
                <a:cubicBezTo>
                  <a:pt x="339586" y="395975"/>
                  <a:pt x="333281" y="389534"/>
                  <a:pt x="333281" y="381744"/>
                </a:cubicBezTo>
                <a:lnTo>
                  <a:pt x="333881" y="277633"/>
                </a:lnTo>
                <a:cubicBezTo>
                  <a:pt x="333881" y="259207"/>
                  <a:pt x="349045" y="244227"/>
                  <a:pt x="367511" y="244227"/>
                </a:cubicBezTo>
                <a:close/>
                <a:moveTo>
                  <a:pt x="201525" y="244227"/>
                </a:moveTo>
                <a:lnTo>
                  <a:pt x="277906" y="244227"/>
                </a:lnTo>
                <a:cubicBezTo>
                  <a:pt x="296213" y="244227"/>
                  <a:pt x="311370" y="259207"/>
                  <a:pt x="311520" y="277633"/>
                </a:cubicBezTo>
                <a:lnTo>
                  <a:pt x="311970" y="381744"/>
                </a:lnTo>
                <a:cubicBezTo>
                  <a:pt x="311970" y="389534"/>
                  <a:pt x="305667" y="395975"/>
                  <a:pt x="297864" y="395975"/>
                </a:cubicBezTo>
                <a:lnTo>
                  <a:pt x="297714" y="395975"/>
                </a:lnTo>
                <a:cubicBezTo>
                  <a:pt x="289911" y="395975"/>
                  <a:pt x="283608" y="389684"/>
                  <a:pt x="283608" y="381894"/>
                </a:cubicBezTo>
                <a:lnTo>
                  <a:pt x="283008" y="277782"/>
                </a:lnTo>
                <a:cubicBezTo>
                  <a:pt x="283008" y="276135"/>
                  <a:pt x="281657" y="274786"/>
                  <a:pt x="280007" y="274786"/>
                </a:cubicBezTo>
                <a:cubicBezTo>
                  <a:pt x="278356" y="274786"/>
                  <a:pt x="277156" y="276135"/>
                  <a:pt x="277156" y="277782"/>
                </a:cubicBezTo>
                <a:cubicBezTo>
                  <a:pt x="277156" y="419944"/>
                  <a:pt x="277456" y="291115"/>
                  <a:pt x="277456" y="516116"/>
                </a:cubicBezTo>
                <a:cubicBezTo>
                  <a:pt x="277456" y="525553"/>
                  <a:pt x="269803" y="533193"/>
                  <a:pt x="260349" y="533193"/>
                </a:cubicBezTo>
                <a:cubicBezTo>
                  <a:pt x="250895" y="533193"/>
                  <a:pt x="243242" y="525553"/>
                  <a:pt x="243242" y="516116"/>
                </a:cubicBezTo>
                <a:lnTo>
                  <a:pt x="243242" y="380096"/>
                </a:lnTo>
                <a:lnTo>
                  <a:pt x="235889" y="380096"/>
                </a:lnTo>
                <a:lnTo>
                  <a:pt x="235889" y="516116"/>
                </a:lnTo>
                <a:cubicBezTo>
                  <a:pt x="235889" y="525553"/>
                  <a:pt x="228386" y="533193"/>
                  <a:pt x="218932" y="533193"/>
                </a:cubicBezTo>
                <a:cubicBezTo>
                  <a:pt x="209478" y="533193"/>
                  <a:pt x="201825" y="525553"/>
                  <a:pt x="201825" y="516116"/>
                </a:cubicBezTo>
                <a:lnTo>
                  <a:pt x="201825" y="380096"/>
                </a:lnTo>
                <a:lnTo>
                  <a:pt x="201825" y="277782"/>
                </a:lnTo>
                <a:cubicBezTo>
                  <a:pt x="201825" y="276284"/>
                  <a:pt x="200624" y="274936"/>
                  <a:pt x="199124" y="274936"/>
                </a:cubicBezTo>
                <a:cubicBezTo>
                  <a:pt x="197623" y="274936"/>
                  <a:pt x="196423" y="276284"/>
                  <a:pt x="196423" y="277782"/>
                </a:cubicBezTo>
                <a:lnTo>
                  <a:pt x="195822" y="381894"/>
                </a:lnTo>
                <a:cubicBezTo>
                  <a:pt x="195822" y="389684"/>
                  <a:pt x="189370" y="395975"/>
                  <a:pt x="181567" y="395975"/>
                </a:cubicBezTo>
                <a:cubicBezTo>
                  <a:pt x="173763" y="395975"/>
                  <a:pt x="167311" y="389534"/>
                  <a:pt x="167461" y="381744"/>
                </a:cubicBezTo>
                <a:lnTo>
                  <a:pt x="167911" y="277633"/>
                </a:lnTo>
                <a:cubicBezTo>
                  <a:pt x="168061" y="259207"/>
                  <a:pt x="183067" y="244227"/>
                  <a:pt x="201525" y="244227"/>
                </a:cubicBezTo>
                <a:close/>
                <a:moveTo>
                  <a:pt x="34214" y="244227"/>
                </a:moveTo>
                <a:lnTo>
                  <a:pt x="110445" y="244227"/>
                </a:lnTo>
                <a:cubicBezTo>
                  <a:pt x="128902" y="244227"/>
                  <a:pt x="143908" y="259207"/>
                  <a:pt x="144059" y="277633"/>
                </a:cubicBezTo>
                <a:lnTo>
                  <a:pt x="144509" y="381744"/>
                </a:lnTo>
                <a:cubicBezTo>
                  <a:pt x="144659" y="389534"/>
                  <a:pt x="138206" y="395975"/>
                  <a:pt x="130403" y="395975"/>
                </a:cubicBezTo>
                <a:cubicBezTo>
                  <a:pt x="122600" y="395975"/>
                  <a:pt x="116147" y="389684"/>
                  <a:pt x="116147" y="381894"/>
                </a:cubicBezTo>
                <a:lnTo>
                  <a:pt x="115697" y="277782"/>
                </a:lnTo>
                <a:cubicBezTo>
                  <a:pt x="115547" y="276135"/>
                  <a:pt x="114346" y="274786"/>
                  <a:pt x="112696" y="274786"/>
                </a:cubicBezTo>
                <a:cubicBezTo>
                  <a:pt x="111045" y="274786"/>
                  <a:pt x="109694" y="276135"/>
                  <a:pt x="109694" y="277782"/>
                </a:cubicBezTo>
                <a:cubicBezTo>
                  <a:pt x="109694" y="343695"/>
                  <a:pt x="109995" y="452450"/>
                  <a:pt x="109995" y="516116"/>
                </a:cubicBezTo>
                <a:cubicBezTo>
                  <a:pt x="109995" y="525553"/>
                  <a:pt x="102341" y="533193"/>
                  <a:pt x="92888" y="533193"/>
                </a:cubicBezTo>
                <a:cubicBezTo>
                  <a:pt x="83584" y="533193"/>
                  <a:pt x="75931" y="525553"/>
                  <a:pt x="75931" y="516116"/>
                </a:cubicBezTo>
                <a:lnTo>
                  <a:pt x="75931" y="380096"/>
                </a:lnTo>
                <a:lnTo>
                  <a:pt x="68578" y="380096"/>
                </a:lnTo>
                <a:lnTo>
                  <a:pt x="68578" y="516116"/>
                </a:lnTo>
                <a:cubicBezTo>
                  <a:pt x="68578" y="525553"/>
                  <a:pt x="60925" y="533193"/>
                  <a:pt x="51471" y="533193"/>
                </a:cubicBezTo>
                <a:cubicBezTo>
                  <a:pt x="42017" y="533193"/>
                  <a:pt x="34364" y="525553"/>
                  <a:pt x="34364" y="516116"/>
                </a:cubicBezTo>
                <a:lnTo>
                  <a:pt x="34364" y="380096"/>
                </a:lnTo>
                <a:lnTo>
                  <a:pt x="34364" y="277782"/>
                </a:lnTo>
                <a:cubicBezTo>
                  <a:pt x="34364" y="276284"/>
                  <a:pt x="33163" y="275086"/>
                  <a:pt x="31663" y="275086"/>
                </a:cubicBezTo>
                <a:cubicBezTo>
                  <a:pt x="30162" y="274936"/>
                  <a:pt x="28962" y="276284"/>
                  <a:pt x="28962" y="277782"/>
                </a:cubicBezTo>
                <a:lnTo>
                  <a:pt x="28361" y="381894"/>
                </a:lnTo>
                <a:cubicBezTo>
                  <a:pt x="28361" y="389684"/>
                  <a:pt x="22059" y="395975"/>
                  <a:pt x="14256" y="395975"/>
                </a:cubicBezTo>
                <a:lnTo>
                  <a:pt x="14106" y="395975"/>
                </a:lnTo>
                <a:cubicBezTo>
                  <a:pt x="6302" y="395975"/>
                  <a:pt x="0" y="389534"/>
                  <a:pt x="0" y="381744"/>
                </a:cubicBezTo>
                <a:lnTo>
                  <a:pt x="600" y="277633"/>
                </a:lnTo>
                <a:cubicBezTo>
                  <a:pt x="600" y="259207"/>
                  <a:pt x="15756" y="244227"/>
                  <a:pt x="34214" y="244227"/>
                </a:cubicBezTo>
                <a:close/>
                <a:moveTo>
                  <a:pt x="298774" y="232090"/>
                </a:moveTo>
                <a:lnTo>
                  <a:pt x="346547" y="232090"/>
                </a:lnTo>
                <a:cubicBezTo>
                  <a:pt x="336331" y="236739"/>
                  <a:pt x="327768" y="244836"/>
                  <a:pt x="322660" y="254883"/>
                </a:cubicBezTo>
                <a:cubicBezTo>
                  <a:pt x="317552" y="244836"/>
                  <a:pt x="309140" y="236739"/>
                  <a:pt x="298774" y="232090"/>
                </a:cubicBezTo>
                <a:close/>
                <a:moveTo>
                  <a:pt x="405716" y="176061"/>
                </a:moveTo>
                <a:cubicBezTo>
                  <a:pt x="421987" y="176061"/>
                  <a:pt x="435177" y="189204"/>
                  <a:pt x="435177" y="205417"/>
                </a:cubicBezTo>
                <a:cubicBezTo>
                  <a:pt x="435177" y="221630"/>
                  <a:pt x="421987" y="234773"/>
                  <a:pt x="405716" y="234773"/>
                </a:cubicBezTo>
                <a:cubicBezTo>
                  <a:pt x="389445" y="234773"/>
                  <a:pt x="376255" y="221630"/>
                  <a:pt x="376255" y="205417"/>
                </a:cubicBezTo>
                <a:cubicBezTo>
                  <a:pt x="376255" y="189204"/>
                  <a:pt x="389445" y="176061"/>
                  <a:pt x="405716" y="176061"/>
                </a:cubicBezTo>
                <a:close/>
                <a:moveTo>
                  <a:pt x="239817" y="176061"/>
                </a:moveTo>
                <a:cubicBezTo>
                  <a:pt x="256049" y="176061"/>
                  <a:pt x="269208" y="189204"/>
                  <a:pt x="269208" y="205417"/>
                </a:cubicBezTo>
                <a:cubicBezTo>
                  <a:pt x="269208" y="221630"/>
                  <a:pt x="256049" y="234773"/>
                  <a:pt x="239817" y="234773"/>
                </a:cubicBezTo>
                <a:cubicBezTo>
                  <a:pt x="223585" y="234773"/>
                  <a:pt x="210426" y="221630"/>
                  <a:pt x="210426" y="205417"/>
                </a:cubicBezTo>
                <a:cubicBezTo>
                  <a:pt x="210426" y="189204"/>
                  <a:pt x="223585" y="176061"/>
                  <a:pt x="239817" y="176061"/>
                </a:cubicBezTo>
                <a:close/>
                <a:moveTo>
                  <a:pt x="72325" y="176061"/>
                </a:moveTo>
                <a:cubicBezTo>
                  <a:pt x="88687" y="176061"/>
                  <a:pt x="101897" y="189241"/>
                  <a:pt x="101897" y="205416"/>
                </a:cubicBezTo>
                <a:cubicBezTo>
                  <a:pt x="101897" y="221592"/>
                  <a:pt x="88687" y="234772"/>
                  <a:pt x="72325" y="234772"/>
                </a:cubicBezTo>
                <a:cubicBezTo>
                  <a:pt x="56113" y="234772"/>
                  <a:pt x="42904" y="221592"/>
                  <a:pt x="42904" y="205416"/>
                </a:cubicBezTo>
                <a:cubicBezTo>
                  <a:pt x="42904" y="189241"/>
                  <a:pt x="55963" y="176061"/>
                  <a:pt x="72325" y="176061"/>
                </a:cubicBezTo>
                <a:close/>
                <a:moveTo>
                  <a:pt x="1200" y="56241"/>
                </a:moveTo>
                <a:lnTo>
                  <a:pt x="384613" y="56241"/>
                </a:lnTo>
                <a:cubicBezTo>
                  <a:pt x="505414" y="56241"/>
                  <a:pt x="603405" y="154058"/>
                  <a:pt x="603405" y="274494"/>
                </a:cubicBezTo>
                <a:cubicBezTo>
                  <a:pt x="603405" y="308947"/>
                  <a:pt x="575493" y="336809"/>
                  <a:pt x="540979" y="336809"/>
                </a:cubicBezTo>
                <a:lnTo>
                  <a:pt x="494459" y="336809"/>
                </a:lnTo>
                <a:lnTo>
                  <a:pt x="494159" y="277490"/>
                </a:lnTo>
                <a:cubicBezTo>
                  <a:pt x="494009" y="257417"/>
                  <a:pt x="482004" y="240041"/>
                  <a:pt x="464747" y="232102"/>
                </a:cubicBezTo>
                <a:lnTo>
                  <a:pt x="551333" y="232102"/>
                </a:lnTo>
                <a:lnTo>
                  <a:pt x="551483" y="232102"/>
                </a:lnTo>
                <a:cubicBezTo>
                  <a:pt x="553884" y="232102"/>
                  <a:pt x="556285" y="230753"/>
                  <a:pt x="557636" y="228806"/>
                </a:cubicBezTo>
                <a:cubicBezTo>
                  <a:pt x="558986" y="226709"/>
                  <a:pt x="559136" y="224013"/>
                  <a:pt x="558236" y="221766"/>
                </a:cubicBezTo>
                <a:cubicBezTo>
                  <a:pt x="550283" y="203790"/>
                  <a:pt x="531825" y="165892"/>
                  <a:pt x="504663" y="136532"/>
                </a:cubicBezTo>
                <a:cubicBezTo>
                  <a:pt x="481704" y="111666"/>
                  <a:pt x="449440" y="97585"/>
                  <a:pt x="415676" y="97585"/>
                </a:cubicBezTo>
                <a:lnTo>
                  <a:pt x="397968" y="97585"/>
                </a:lnTo>
                <a:lnTo>
                  <a:pt x="397968" y="159900"/>
                </a:lnTo>
                <a:cubicBezTo>
                  <a:pt x="383712" y="162297"/>
                  <a:pt x="371707" y="171284"/>
                  <a:pt x="364954" y="183568"/>
                </a:cubicBezTo>
                <a:lnTo>
                  <a:pt x="364954" y="97585"/>
                </a:lnTo>
                <a:lnTo>
                  <a:pt x="174223" y="97585"/>
                </a:lnTo>
                <a:lnTo>
                  <a:pt x="174223" y="232102"/>
                </a:lnTo>
                <a:lnTo>
                  <a:pt x="180526" y="232102"/>
                </a:lnTo>
                <a:cubicBezTo>
                  <a:pt x="178425" y="233150"/>
                  <a:pt x="176324" y="234199"/>
                  <a:pt x="174223" y="235547"/>
                </a:cubicBezTo>
                <a:cubicBezTo>
                  <a:pt x="166420" y="240640"/>
                  <a:pt x="159967" y="247830"/>
                  <a:pt x="156065" y="256369"/>
                </a:cubicBezTo>
                <a:cubicBezTo>
                  <a:pt x="152614" y="249178"/>
                  <a:pt x="147512" y="242887"/>
                  <a:pt x="141209" y="238093"/>
                </a:cubicBezTo>
                <a:cubicBezTo>
                  <a:pt x="138208" y="235697"/>
                  <a:pt x="134906" y="233749"/>
                  <a:pt x="131455" y="232102"/>
                </a:cubicBezTo>
                <a:lnTo>
                  <a:pt x="141209" y="232102"/>
                </a:lnTo>
                <a:lnTo>
                  <a:pt x="141209" y="97585"/>
                </a:lnTo>
                <a:lnTo>
                  <a:pt x="1200" y="97585"/>
                </a:lnTo>
                <a:close/>
                <a:moveTo>
                  <a:pt x="30337" y="0"/>
                </a:moveTo>
                <a:lnTo>
                  <a:pt x="450496" y="0"/>
                </a:lnTo>
                <a:cubicBezTo>
                  <a:pt x="459649" y="0"/>
                  <a:pt x="467002" y="7356"/>
                  <a:pt x="467002" y="16512"/>
                </a:cubicBezTo>
                <a:cubicBezTo>
                  <a:pt x="467002" y="25669"/>
                  <a:pt x="459649" y="33025"/>
                  <a:pt x="450496" y="33025"/>
                </a:cubicBezTo>
                <a:lnTo>
                  <a:pt x="30337" y="33025"/>
                </a:lnTo>
                <a:cubicBezTo>
                  <a:pt x="21184" y="33025"/>
                  <a:pt x="13831" y="25669"/>
                  <a:pt x="13831" y="16512"/>
                </a:cubicBezTo>
                <a:cubicBezTo>
                  <a:pt x="13831" y="7356"/>
                  <a:pt x="21184" y="0"/>
                  <a:pt x="30337" y="0"/>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endParaRPr lang="zh-CN" altLang="en-US">
              <a:solidFill>
                <a:srgbClr val="000000"/>
              </a:solidFill>
              <a:latin typeface="Arial" panose="020F0502020204030204"/>
              <a:ea typeface="微软雅黑"/>
              <a:cs typeface="+mn-ea"/>
              <a:sym typeface="+mn-lt"/>
            </a:endParaRPr>
          </a:p>
        </p:txBody>
      </p:sp>
      <p:sp>
        <p:nvSpPr>
          <p:cNvPr id="2" name="文本框 1">
            <a:extLst>
              <a:ext uri="{FF2B5EF4-FFF2-40B4-BE49-F238E27FC236}">
                <a16:creationId xmlns:a16="http://schemas.microsoft.com/office/drawing/2014/main" id="{677C0407-19C2-2BDB-A4A0-EBDDD37158BF}"/>
              </a:ext>
            </a:extLst>
          </p:cNvPr>
          <p:cNvSpPr txBox="1"/>
          <p:nvPr/>
        </p:nvSpPr>
        <p:spPr>
          <a:xfrm>
            <a:off x="2012950" y="1689100"/>
            <a:ext cx="7321550" cy="923330"/>
          </a:xfrm>
          <a:prstGeom prst="rect">
            <a:avLst/>
          </a:prstGeom>
          <a:noFill/>
        </p:spPr>
        <p:txBody>
          <a:bodyPr wrap="square" rtlCol="0">
            <a:spAutoFit/>
          </a:bodyPr>
          <a:lstStyle/>
          <a:p>
            <a:r>
              <a:rPr lang="zh-CN" altLang="en-US" dirty="0"/>
              <a:t>整个研究工作量非常充实，虽然有前面类似的工作发表（</a:t>
            </a:r>
            <a:r>
              <a:rPr lang="en-US" altLang="zh-CN" dirty="0"/>
              <a:t>ESP</a:t>
            </a:r>
            <a:r>
              <a:rPr lang="zh-CN" altLang="en-US" dirty="0"/>
              <a:t>使用图神经网络对蛋白质进行编码，收集了大约</a:t>
            </a:r>
            <a:r>
              <a:rPr lang="en-US" altLang="zh-CN" dirty="0"/>
              <a:t>1.3K</a:t>
            </a:r>
            <a:r>
              <a:rPr lang="zh-CN" altLang="en-US" dirty="0"/>
              <a:t>个底物 ），但由于提升巨大以及大量数据的收集，最后发表在了正刊。</a:t>
            </a:r>
          </a:p>
        </p:txBody>
      </p:sp>
      <p:sp>
        <p:nvSpPr>
          <p:cNvPr id="3" name="文本框 2">
            <a:extLst>
              <a:ext uri="{FF2B5EF4-FFF2-40B4-BE49-F238E27FC236}">
                <a16:creationId xmlns:a16="http://schemas.microsoft.com/office/drawing/2014/main" id="{6BB603EE-54DA-A140-B9D3-E43CA5A8F328}"/>
              </a:ext>
            </a:extLst>
          </p:cNvPr>
          <p:cNvSpPr txBox="1"/>
          <p:nvPr/>
        </p:nvSpPr>
        <p:spPr>
          <a:xfrm>
            <a:off x="2012950" y="2971315"/>
            <a:ext cx="7321550" cy="646331"/>
          </a:xfrm>
          <a:prstGeom prst="rect">
            <a:avLst/>
          </a:prstGeom>
          <a:noFill/>
        </p:spPr>
        <p:txBody>
          <a:bodyPr wrap="square" rtlCol="0">
            <a:spAutoFit/>
          </a:bodyPr>
          <a:lstStyle/>
          <a:p>
            <a:r>
              <a:rPr lang="zh-CN" altLang="en-US" dirty="0"/>
              <a:t>整个模型一下子看起来很吓人，但拆解开来看都不算太难，所以做课题也是要从小方面一步一步做</a:t>
            </a:r>
          </a:p>
        </p:txBody>
      </p:sp>
      <p:sp>
        <p:nvSpPr>
          <p:cNvPr id="4" name="文本框 3">
            <a:extLst>
              <a:ext uri="{FF2B5EF4-FFF2-40B4-BE49-F238E27FC236}">
                <a16:creationId xmlns:a16="http://schemas.microsoft.com/office/drawing/2014/main" id="{38A8A8D5-7B51-04AE-FE05-739969345BDE}"/>
              </a:ext>
            </a:extLst>
          </p:cNvPr>
          <p:cNvSpPr txBox="1"/>
          <p:nvPr/>
        </p:nvSpPr>
        <p:spPr>
          <a:xfrm>
            <a:off x="2012950" y="4074516"/>
            <a:ext cx="6381750" cy="369332"/>
          </a:xfrm>
          <a:prstGeom prst="rect">
            <a:avLst/>
          </a:prstGeom>
          <a:noFill/>
        </p:spPr>
        <p:txBody>
          <a:bodyPr wrap="square" rtlCol="0">
            <a:spAutoFit/>
          </a:bodyPr>
          <a:lstStyle/>
          <a:p>
            <a:r>
              <a:rPr lang="zh-CN" altLang="en-US" dirty="0"/>
              <a:t>最后使用交叉注意力机制融合不同标签的方法也非常值得学习</a:t>
            </a:r>
          </a:p>
        </p:txBody>
      </p:sp>
    </p:spTree>
    <p:extLst>
      <p:ext uri="{BB962C8B-B14F-4D97-AF65-F5344CB8AC3E}">
        <p14:creationId xmlns:p14="http://schemas.microsoft.com/office/powerpoint/2010/main" val="28276767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占位符 10">
            <a:extLst>
              <a:ext uri="{FF2B5EF4-FFF2-40B4-BE49-F238E27FC236}">
                <a16:creationId xmlns:a16="http://schemas.microsoft.com/office/drawing/2014/main" id="{80D2D300-E2A5-458D-8F00-D5D2C933BB81}"/>
              </a:ext>
            </a:extLst>
          </p:cNvPr>
          <p:cNvPicPr>
            <a:picLocks noChangeAspect="1"/>
          </p:cNvPicPr>
          <p:nvPr/>
        </p:nvPicPr>
        <p:blipFill rotWithShape="1">
          <a:blip r:embed="rId3">
            <a:extLst>
              <a:ext uri="{28A0092B-C50C-407E-A947-70E740481C1C}">
                <a14:useLocalDpi xmlns:a14="http://schemas.microsoft.com/office/drawing/2010/main" val="0"/>
              </a:ext>
            </a:extLst>
          </a:blip>
          <a:srcRect t="32726" b="9149"/>
          <a:stretch/>
        </p:blipFill>
        <p:spPr>
          <a:xfrm>
            <a:off x="0" y="-4272"/>
            <a:ext cx="12192000" cy="3073231"/>
          </a:xfrm>
          <a:prstGeom prst="rect">
            <a:avLst/>
          </a:prstGeom>
        </p:spPr>
      </p:pic>
      <p:sp>
        <p:nvSpPr>
          <p:cNvPr id="3" name="矩形 2">
            <a:extLst>
              <a:ext uri="{FF2B5EF4-FFF2-40B4-BE49-F238E27FC236}">
                <a16:creationId xmlns:a16="http://schemas.microsoft.com/office/drawing/2014/main" id="{870BA051-1F66-4795-BF26-66EAB0A4B901}"/>
              </a:ext>
            </a:extLst>
          </p:cNvPr>
          <p:cNvSpPr/>
          <p:nvPr/>
        </p:nvSpPr>
        <p:spPr>
          <a:xfrm>
            <a:off x="0" y="-4272"/>
            <a:ext cx="12191997" cy="3073231"/>
          </a:xfrm>
          <a:prstGeom prst="rect">
            <a:avLst/>
          </a:prstGeom>
          <a:solidFill>
            <a:srgbClr val="6B0261">
              <a:alpha val="83000"/>
            </a:srgbClr>
          </a:solidFill>
          <a:ln w="12700" cap="flat" cmpd="sng" algn="ctr">
            <a:noFill/>
            <a:prstDash val="solid"/>
            <a:miter lim="800000"/>
          </a:ln>
          <a:effectLst/>
        </p:spPr>
        <p:txBody>
          <a:bodyPr rtlCol="0" anchor="ctr"/>
          <a:lstStyle/>
          <a:p>
            <a:pPr algn="ctr">
              <a:defRPr/>
            </a:pPr>
            <a:endParaRPr lang="zh-CN" altLang="en-US" kern="0">
              <a:solidFill>
                <a:srgbClr val="FFFFFF"/>
              </a:solidFill>
              <a:latin typeface="Arial" panose="020F0502020204030204"/>
              <a:ea typeface="Microsoft YaHei"/>
              <a:cs typeface="+mn-ea"/>
              <a:sym typeface="+mn-lt"/>
            </a:endParaRPr>
          </a:p>
        </p:txBody>
      </p:sp>
      <p:sp>
        <p:nvSpPr>
          <p:cNvPr id="4" name="文本占位符 8">
            <a:extLst>
              <a:ext uri="{FF2B5EF4-FFF2-40B4-BE49-F238E27FC236}">
                <a16:creationId xmlns:a16="http://schemas.microsoft.com/office/drawing/2014/main" id="{1CAD00BC-C857-42B1-9436-E1BC522185D4}"/>
              </a:ext>
            </a:extLst>
          </p:cNvPr>
          <p:cNvSpPr txBox="1">
            <a:spLocks/>
          </p:cNvSpPr>
          <p:nvPr/>
        </p:nvSpPr>
        <p:spPr>
          <a:xfrm>
            <a:off x="4815507" y="1844824"/>
            <a:ext cx="2560983" cy="2530053"/>
          </a:xfrm>
          <a:custGeom>
            <a:avLst/>
            <a:gdLst>
              <a:gd name="connsiteX0" fmla="*/ 2057400 w 4114800"/>
              <a:gd name="connsiteY0" fmla="*/ 0 h 4065104"/>
              <a:gd name="connsiteX1" fmla="*/ 4114800 w 4114800"/>
              <a:gd name="connsiteY1" fmla="*/ 2032552 h 4065104"/>
              <a:gd name="connsiteX2" fmla="*/ 2057400 w 4114800"/>
              <a:gd name="connsiteY2" fmla="*/ 4065104 h 4065104"/>
              <a:gd name="connsiteX3" fmla="*/ 0 w 4114800"/>
              <a:gd name="connsiteY3" fmla="*/ 2032552 h 4065104"/>
            </a:gdLst>
            <a:ahLst/>
            <a:cxnLst>
              <a:cxn ang="0">
                <a:pos x="connsiteX0" y="connsiteY0"/>
              </a:cxn>
              <a:cxn ang="0">
                <a:pos x="connsiteX1" y="connsiteY1"/>
              </a:cxn>
              <a:cxn ang="0">
                <a:pos x="connsiteX2" y="connsiteY2"/>
              </a:cxn>
              <a:cxn ang="0">
                <a:pos x="connsiteX3" y="connsiteY3"/>
              </a:cxn>
            </a:cxnLst>
            <a:rect l="l" t="t" r="r" b="b"/>
            <a:pathLst>
              <a:path w="4114800" h="4065104">
                <a:moveTo>
                  <a:pt x="2057400" y="0"/>
                </a:moveTo>
                <a:lnTo>
                  <a:pt x="4114800" y="2032552"/>
                </a:lnTo>
                <a:lnTo>
                  <a:pt x="2057400" y="4065104"/>
                </a:lnTo>
                <a:lnTo>
                  <a:pt x="0" y="2032552"/>
                </a:lnTo>
                <a:close/>
              </a:path>
            </a:pathLst>
          </a:custGeom>
          <a:solidFill>
            <a:srgbClr val="6B0261"/>
          </a:solidFill>
          <a:ln w="193675">
            <a:solidFill>
              <a:srgbClr val="FFFFFF"/>
            </a:solidFill>
          </a:ln>
        </p:spPr>
        <p:txBody>
          <a:bodyPr wrap="square" anchor="ctr">
            <a:noAutofit/>
          </a:bodyPr>
          <a:lstStyle>
            <a:lvl1pPr marL="0" indent="0" algn="ctr" defTabSz="914400" rtl="0" eaLnBrk="1" latinLnBrk="0" hangingPunct="1">
              <a:lnSpc>
                <a:spcPct val="90000"/>
              </a:lnSpc>
              <a:spcBef>
                <a:spcPts val="1000"/>
              </a:spcBef>
              <a:buFont typeface="Arial" panose="020B0604020202020204" pitchFamily="34" charset="0"/>
              <a:buNone/>
              <a:defRPr sz="9600" kern="1200">
                <a:solidFill>
                  <a:schemeClr val="bg1"/>
                </a:solidFill>
                <a:effectLst>
                  <a:innerShdw dist="63500" dir="16200000">
                    <a:schemeClr val="accent3"/>
                  </a:innerShdw>
                </a:effectLst>
                <a:latin typeface="Impact" panose="020B080603090205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endParaRPr lang="zh-CN" altLang="en-US" dirty="0">
              <a:solidFill>
                <a:srgbClr val="FFFFFF"/>
              </a:solidFill>
              <a:effectLst>
                <a:innerShdw dist="63500" dir="16200000">
                  <a:srgbClr val="3889F5"/>
                </a:innerShdw>
              </a:effectLst>
              <a:latin typeface="Arial" panose="020F0502020204030204"/>
              <a:ea typeface="Microsoft YaHei"/>
              <a:cs typeface="+mn-ea"/>
              <a:sym typeface="+mn-lt"/>
            </a:endParaRPr>
          </a:p>
        </p:txBody>
      </p:sp>
      <p:pic>
        <p:nvPicPr>
          <p:cNvPr id="5" name="图片 4">
            <a:extLst>
              <a:ext uri="{FF2B5EF4-FFF2-40B4-BE49-F238E27FC236}">
                <a16:creationId xmlns:a16="http://schemas.microsoft.com/office/drawing/2014/main" id="{017F3159-E1AF-4C71-96C9-C803867299E0}"/>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57527" y="6406826"/>
            <a:ext cx="2520526" cy="369331"/>
          </a:xfrm>
          <a:prstGeom prst="rect">
            <a:avLst/>
          </a:prstGeom>
        </p:spPr>
      </p:pic>
      <p:sp>
        <p:nvSpPr>
          <p:cNvPr id="6" name="标题 4">
            <a:extLst>
              <a:ext uri="{FF2B5EF4-FFF2-40B4-BE49-F238E27FC236}">
                <a16:creationId xmlns:a16="http://schemas.microsoft.com/office/drawing/2014/main" id="{8B77D6E9-EAB7-4C7D-B483-7AB658C9EA59}"/>
              </a:ext>
            </a:extLst>
          </p:cNvPr>
          <p:cNvSpPr txBox="1">
            <a:spLocks/>
          </p:cNvSpPr>
          <p:nvPr/>
        </p:nvSpPr>
        <p:spPr>
          <a:xfrm>
            <a:off x="267064" y="4402259"/>
            <a:ext cx="11657866" cy="746593"/>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2000" b="1" dirty="0" err="1">
                <a:solidFill>
                  <a:srgbClr val="6B0261"/>
                </a:solidFill>
                <a:latin typeface="微软雅黑" panose="020B0503020204020204" pitchFamily="34" charset="-122"/>
                <a:ea typeface="微软雅黑" panose="020B0503020204020204" pitchFamily="34" charset="-122"/>
              </a:rPr>
              <a:t>ProSST</a:t>
            </a:r>
            <a:r>
              <a:rPr lang="en-US" altLang="zh-CN" sz="2000" b="1" dirty="0">
                <a:solidFill>
                  <a:srgbClr val="6B0261"/>
                </a:solidFill>
                <a:latin typeface="微软雅黑" panose="020B0503020204020204" pitchFamily="34" charset="-122"/>
                <a:ea typeface="微软雅黑" panose="020B0503020204020204" pitchFamily="34" charset="-122"/>
              </a:rPr>
              <a:t>: Protein Language Modeling with Quantized Structure and Disentangled Attention</a:t>
            </a:r>
          </a:p>
        </p:txBody>
      </p:sp>
      <p:cxnSp>
        <p:nvCxnSpPr>
          <p:cNvPr id="7" name="直接连接符 6">
            <a:extLst>
              <a:ext uri="{FF2B5EF4-FFF2-40B4-BE49-F238E27FC236}">
                <a16:creationId xmlns:a16="http://schemas.microsoft.com/office/drawing/2014/main" id="{47736D54-4D9B-4617-B0AC-C54D929188B6}"/>
              </a:ext>
            </a:extLst>
          </p:cNvPr>
          <p:cNvCxnSpPr>
            <a:cxnSpLocks/>
          </p:cNvCxnSpPr>
          <p:nvPr/>
        </p:nvCxnSpPr>
        <p:spPr>
          <a:xfrm>
            <a:off x="3575720" y="5244190"/>
            <a:ext cx="4752528" cy="0"/>
          </a:xfrm>
          <a:prstGeom prst="line">
            <a:avLst/>
          </a:prstGeom>
          <a:noFill/>
          <a:ln w="28575" cap="flat" cmpd="sng" algn="ctr">
            <a:solidFill>
              <a:srgbClr val="6B0261"/>
            </a:solidFill>
            <a:prstDash val="solid"/>
            <a:headEnd type="oval" w="med" len="med"/>
            <a:tailEnd type="oval" w="med" len="med"/>
          </a:ln>
          <a:effectLst/>
        </p:spPr>
      </p:cxnSp>
      <p:sp>
        <p:nvSpPr>
          <p:cNvPr id="10" name="文本框 9">
            <a:extLst>
              <a:ext uri="{FF2B5EF4-FFF2-40B4-BE49-F238E27FC236}">
                <a16:creationId xmlns:a16="http://schemas.microsoft.com/office/drawing/2014/main" id="{8E368B87-23FA-4C37-A79E-822207AA5826}"/>
              </a:ext>
            </a:extLst>
          </p:cNvPr>
          <p:cNvSpPr txBox="1"/>
          <p:nvPr/>
        </p:nvSpPr>
        <p:spPr>
          <a:xfrm>
            <a:off x="5250253" y="2386575"/>
            <a:ext cx="1691489" cy="1446550"/>
          </a:xfrm>
          <a:prstGeom prst="rect">
            <a:avLst/>
          </a:prstGeom>
          <a:noFill/>
        </p:spPr>
        <p:txBody>
          <a:bodyPr wrap="none" rtlCol="0">
            <a:spAutoFit/>
          </a:bodyPr>
          <a:lstStyle/>
          <a:p>
            <a:r>
              <a:rPr lang="en-US" altLang="zh-CN" sz="8800" b="1" dirty="0">
                <a:solidFill>
                  <a:prstClr val="white"/>
                </a:solidFill>
                <a:latin typeface="Arial Black" panose="020B0A04020102020204" pitchFamily="34" charset="0"/>
                <a:ea typeface="宋体" panose="02010600030101010101" pitchFamily="2" charset="-122"/>
              </a:rPr>
              <a:t>02</a:t>
            </a:r>
            <a:endParaRPr lang="zh-CN" altLang="en-US" sz="8800" b="1" dirty="0">
              <a:solidFill>
                <a:prstClr val="white"/>
              </a:solidFill>
              <a:latin typeface="Arial Black" panose="020B0A04020102020204" pitchFamily="34" charset="0"/>
              <a:ea typeface="宋体" panose="02010600030101010101" pitchFamily="2" charset="-122"/>
            </a:endParaRPr>
          </a:p>
        </p:txBody>
      </p:sp>
      <p:sp>
        <p:nvSpPr>
          <p:cNvPr id="8" name="文本框 7">
            <a:extLst>
              <a:ext uri="{FF2B5EF4-FFF2-40B4-BE49-F238E27FC236}">
                <a16:creationId xmlns:a16="http://schemas.microsoft.com/office/drawing/2014/main" id="{C3A23CA3-33FA-08F7-0DF4-1338CB6E72A7}"/>
              </a:ext>
            </a:extLst>
          </p:cNvPr>
          <p:cNvSpPr txBox="1"/>
          <p:nvPr/>
        </p:nvSpPr>
        <p:spPr>
          <a:xfrm>
            <a:off x="3124660" y="5523511"/>
            <a:ext cx="5942674" cy="369332"/>
          </a:xfrm>
          <a:prstGeom prst="rect">
            <a:avLst/>
          </a:prstGeom>
          <a:noFill/>
        </p:spPr>
        <p:txBody>
          <a:bodyPr wrap="square" rtlCol="0">
            <a:spAutoFit/>
          </a:bodyPr>
          <a:lstStyle/>
          <a:p>
            <a:r>
              <a:rPr lang="en-US" altLang="zh-CN" dirty="0" err="1"/>
              <a:t>ProSST</a:t>
            </a:r>
            <a:r>
              <a:rPr lang="zh-CN" altLang="en-US" dirty="0"/>
              <a:t>：基于离散化结构与解耦注意力的蛋白质语言建模</a:t>
            </a:r>
          </a:p>
        </p:txBody>
      </p:sp>
      <p:sp>
        <p:nvSpPr>
          <p:cNvPr id="9" name="文本框 8">
            <a:extLst>
              <a:ext uri="{FF2B5EF4-FFF2-40B4-BE49-F238E27FC236}">
                <a16:creationId xmlns:a16="http://schemas.microsoft.com/office/drawing/2014/main" id="{5030BCC0-CFC5-0B33-B50C-A775D5A0B2E5}"/>
              </a:ext>
            </a:extLst>
          </p:cNvPr>
          <p:cNvSpPr txBox="1"/>
          <p:nvPr/>
        </p:nvSpPr>
        <p:spPr>
          <a:xfrm>
            <a:off x="8523591" y="6005658"/>
            <a:ext cx="1959682" cy="369332"/>
          </a:xfrm>
          <a:prstGeom prst="rect">
            <a:avLst/>
          </a:prstGeom>
          <a:noFill/>
        </p:spPr>
        <p:txBody>
          <a:bodyPr wrap="square" rtlCol="0">
            <a:spAutoFit/>
          </a:bodyPr>
          <a:lstStyle/>
          <a:p>
            <a:r>
              <a:rPr lang="fr-FR" altLang="zh-CN" i="1" dirty="0"/>
              <a:t>NeurIPS 2024 </a:t>
            </a:r>
            <a:endParaRPr lang="zh-CN" altLang="en-US" dirty="0"/>
          </a:p>
        </p:txBody>
      </p:sp>
    </p:spTree>
    <p:extLst>
      <p:ext uri="{BB962C8B-B14F-4D97-AF65-F5344CB8AC3E}">
        <p14:creationId xmlns:p14="http://schemas.microsoft.com/office/powerpoint/2010/main" val="40788514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ABAB8-9D3E-80F4-0FCD-0B832161B9F2}"/>
            </a:ext>
          </a:extLst>
        </p:cNvPr>
        <p:cNvGrpSpPr/>
        <p:nvPr/>
      </p:nvGrpSpPr>
      <p:grpSpPr>
        <a:xfrm>
          <a:off x="0" y="0"/>
          <a:ext cx="0" cy="0"/>
          <a:chOff x="0" y="0"/>
          <a:chExt cx="0" cy="0"/>
        </a:xfrm>
      </p:grpSpPr>
      <p:grpSp>
        <p:nvGrpSpPr>
          <p:cNvPr id="20" name="组合 19">
            <a:extLst>
              <a:ext uri="{FF2B5EF4-FFF2-40B4-BE49-F238E27FC236}">
                <a16:creationId xmlns:a16="http://schemas.microsoft.com/office/drawing/2014/main" id="{6F1E3FAE-9012-B641-BDAE-38B5EF8A6208}"/>
              </a:ext>
            </a:extLst>
          </p:cNvPr>
          <p:cNvGrpSpPr/>
          <p:nvPr/>
        </p:nvGrpSpPr>
        <p:grpSpPr>
          <a:xfrm>
            <a:off x="286653" y="116633"/>
            <a:ext cx="11618694" cy="6681374"/>
            <a:chOff x="286653" y="116633"/>
            <a:chExt cx="11618694" cy="6681374"/>
          </a:xfrm>
        </p:grpSpPr>
        <p:grpSp>
          <p:nvGrpSpPr>
            <p:cNvPr id="21" name="组合 20">
              <a:extLst>
                <a:ext uri="{FF2B5EF4-FFF2-40B4-BE49-F238E27FC236}">
                  <a16:creationId xmlns:a16="http://schemas.microsoft.com/office/drawing/2014/main" id="{65CB3C52-44B5-5362-F744-7755E46230EA}"/>
                </a:ext>
              </a:extLst>
            </p:cNvPr>
            <p:cNvGrpSpPr/>
            <p:nvPr/>
          </p:nvGrpSpPr>
          <p:grpSpPr>
            <a:xfrm>
              <a:off x="335361" y="116633"/>
              <a:ext cx="629872" cy="612768"/>
              <a:chOff x="3070727" y="196457"/>
              <a:chExt cx="692047" cy="673255"/>
            </a:xfrm>
          </p:grpSpPr>
          <p:sp>
            <p:nvSpPr>
              <p:cNvPr id="26" name="平行四边形 25">
                <a:extLst>
                  <a:ext uri="{FF2B5EF4-FFF2-40B4-BE49-F238E27FC236}">
                    <a16:creationId xmlns:a16="http://schemas.microsoft.com/office/drawing/2014/main" id="{0424A10A-06E6-9426-602B-FAB443510CA5}"/>
                  </a:ext>
                </a:extLst>
              </p:cNvPr>
              <p:cNvSpPr/>
              <p:nvPr/>
            </p:nvSpPr>
            <p:spPr>
              <a:xfrm>
                <a:off x="3070727" y="196457"/>
                <a:ext cx="629587" cy="612775"/>
              </a:xfrm>
              <a:prstGeom prst="parallelogram">
                <a:avLst/>
              </a:prstGeom>
              <a:solidFill>
                <a:srgbClr val="6B0261"/>
              </a:solidFill>
              <a:ln w="25400" cap="flat" cmpd="sng" algn="ctr">
                <a:solidFill>
                  <a:srgbClr val="6B026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27" name="平行四边形 26">
                <a:extLst>
                  <a:ext uri="{FF2B5EF4-FFF2-40B4-BE49-F238E27FC236}">
                    <a16:creationId xmlns:a16="http://schemas.microsoft.com/office/drawing/2014/main" id="{FFA3B723-189F-5757-E6EA-92F92919BF9A}"/>
                  </a:ext>
                </a:extLst>
              </p:cNvPr>
              <p:cNvSpPr/>
              <p:nvPr/>
            </p:nvSpPr>
            <p:spPr>
              <a:xfrm>
                <a:off x="3133187" y="256937"/>
                <a:ext cx="629587" cy="612775"/>
              </a:xfrm>
              <a:prstGeom prst="parallelogram">
                <a:avLst/>
              </a:prstGeom>
              <a:noFill/>
              <a:ln w="25400" cap="flat" cmpd="sng" algn="ctr">
                <a:solidFill>
                  <a:srgbClr val="6B026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cxnSp>
          <p:nvCxnSpPr>
            <p:cNvPr id="22" name="直接连接符 21">
              <a:extLst>
                <a:ext uri="{FF2B5EF4-FFF2-40B4-BE49-F238E27FC236}">
                  <a16:creationId xmlns:a16="http://schemas.microsoft.com/office/drawing/2014/main" id="{229A88E8-61B0-5458-1D94-3954F00FF2D8}"/>
                </a:ext>
              </a:extLst>
            </p:cNvPr>
            <p:cNvCxnSpPr>
              <a:cxnSpLocks/>
            </p:cNvCxnSpPr>
            <p:nvPr/>
          </p:nvCxnSpPr>
          <p:spPr>
            <a:xfrm>
              <a:off x="367840" y="809674"/>
              <a:ext cx="11488800" cy="0"/>
            </a:xfrm>
            <a:prstGeom prst="line">
              <a:avLst/>
            </a:prstGeom>
            <a:noFill/>
            <a:ln w="9525" cap="flat" cmpd="sng" algn="ctr">
              <a:solidFill>
                <a:srgbClr val="6B0261"/>
              </a:solidFill>
              <a:prstDash val="solid"/>
            </a:ln>
            <a:effectLst/>
          </p:spPr>
        </p:cxnSp>
        <p:sp>
          <p:nvSpPr>
            <p:cNvPr id="23" name="文本占位符 5">
              <a:extLst>
                <a:ext uri="{FF2B5EF4-FFF2-40B4-BE49-F238E27FC236}">
                  <a16:creationId xmlns:a16="http://schemas.microsoft.com/office/drawing/2014/main" id="{587BEF87-7953-7AF4-019B-93DC6F0597C3}"/>
                </a:ext>
              </a:extLst>
            </p:cNvPr>
            <p:cNvSpPr txBox="1">
              <a:spLocks/>
            </p:cNvSpPr>
            <p:nvPr/>
          </p:nvSpPr>
          <p:spPr>
            <a:xfrm>
              <a:off x="1075777" y="214065"/>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rgbClr val="6B0261"/>
                  </a:solidFill>
                </a:rPr>
                <a:t>研究背景</a:t>
              </a:r>
            </a:p>
          </p:txBody>
        </p:sp>
        <p:sp>
          <p:nvSpPr>
            <p:cNvPr id="24" name="文本框 23">
              <a:extLst>
                <a:ext uri="{FF2B5EF4-FFF2-40B4-BE49-F238E27FC236}">
                  <a16:creationId xmlns:a16="http://schemas.microsoft.com/office/drawing/2014/main" id="{F2573A8C-4D43-18F7-49A3-4CCA9A93A43D}"/>
                </a:ext>
              </a:extLst>
            </p:cNvPr>
            <p:cNvSpPr txBox="1"/>
            <p:nvPr/>
          </p:nvSpPr>
          <p:spPr>
            <a:xfrm>
              <a:off x="10805366" y="642867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25" name="图片 24">
              <a:extLst>
                <a:ext uri="{FF2B5EF4-FFF2-40B4-BE49-F238E27FC236}">
                  <a16:creationId xmlns:a16="http://schemas.microsoft.com/office/drawing/2014/main" id="{3D3A8F1A-E34E-2A63-EA50-3DB75AE7B1B8}"/>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a:stretch/>
          </p:blipFill>
          <p:spPr>
            <a:xfrm>
              <a:off x="286653" y="6425619"/>
              <a:ext cx="2520534" cy="369332"/>
            </a:xfrm>
            <a:prstGeom prst="rect">
              <a:avLst/>
            </a:prstGeom>
          </p:spPr>
        </p:pic>
      </p:grpSp>
      <p:grpSp>
        <p:nvGrpSpPr>
          <p:cNvPr id="51" name="组合 50">
            <a:extLst>
              <a:ext uri="{FF2B5EF4-FFF2-40B4-BE49-F238E27FC236}">
                <a16:creationId xmlns:a16="http://schemas.microsoft.com/office/drawing/2014/main" id="{305F1B7C-1903-15C2-A756-5250779B2F05}"/>
              </a:ext>
            </a:extLst>
          </p:cNvPr>
          <p:cNvGrpSpPr/>
          <p:nvPr/>
        </p:nvGrpSpPr>
        <p:grpSpPr>
          <a:xfrm>
            <a:off x="9938479" y="77827"/>
            <a:ext cx="2017490" cy="675447"/>
            <a:chOff x="995884" y="398899"/>
            <a:chExt cx="3658781" cy="1224944"/>
          </a:xfrm>
        </p:grpSpPr>
        <p:pic>
          <p:nvPicPr>
            <p:cNvPr id="52" name="图片 51">
              <a:extLst>
                <a:ext uri="{FF2B5EF4-FFF2-40B4-BE49-F238E27FC236}">
                  <a16:creationId xmlns:a16="http://schemas.microsoft.com/office/drawing/2014/main" id="{EFB49216-E90F-8ABD-129A-F22C308FE8A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95884" y="398899"/>
              <a:ext cx="977348" cy="1224944"/>
            </a:xfrm>
            <a:prstGeom prst="rect">
              <a:avLst/>
            </a:prstGeom>
          </p:spPr>
        </p:pic>
        <p:pic>
          <p:nvPicPr>
            <p:cNvPr id="53" name="图片 52">
              <a:extLst>
                <a:ext uri="{FF2B5EF4-FFF2-40B4-BE49-F238E27FC236}">
                  <a16:creationId xmlns:a16="http://schemas.microsoft.com/office/drawing/2014/main" id="{1D2AA713-5FC6-B374-2CF9-7408CF3D56CF}"/>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173707" y="405382"/>
              <a:ext cx="2384890" cy="796233"/>
            </a:xfrm>
            <a:prstGeom prst="rect">
              <a:avLst/>
            </a:prstGeom>
          </p:spPr>
        </p:pic>
        <p:sp>
          <p:nvSpPr>
            <p:cNvPr id="54" name="矩形 53">
              <a:extLst>
                <a:ext uri="{FF2B5EF4-FFF2-40B4-BE49-F238E27FC236}">
                  <a16:creationId xmlns:a16="http://schemas.microsoft.com/office/drawing/2014/main" id="{B20381C5-C901-68F0-F901-F3BCA850AD44}"/>
                </a:ext>
              </a:extLst>
            </p:cNvPr>
            <p:cNvSpPr/>
            <p:nvPr/>
          </p:nvSpPr>
          <p:spPr>
            <a:xfrm>
              <a:off x="2069306" y="1138524"/>
              <a:ext cx="2585359" cy="46048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rPr>
                <a:t>NANJING UNIVERSITY</a:t>
              </a:r>
              <a:endParaRPr kumimoji="0" lang="zh-CN" altLang="en-US" sz="105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endParaRPr>
            </a:p>
          </p:txBody>
        </p:sp>
      </p:grpSp>
      <p:sp>
        <p:nvSpPr>
          <p:cNvPr id="31" name="íŝḷïḓè">
            <a:extLst>
              <a:ext uri="{FF2B5EF4-FFF2-40B4-BE49-F238E27FC236}">
                <a16:creationId xmlns:a16="http://schemas.microsoft.com/office/drawing/2014/main" id="{16290456-EBDA-ADA4-702A-2CB9449162D1}"/>
              </a:ext>
            </a:extLst>
          </p:cNvPr>
          <p:cNvSpPr/>
          <p:nvPr/>
        </p:nvSpPr>
        <p:spPr bwMode="auto">
          <a:xfrm>
            <a:off x="5828824" y="4147130"/>
            <a:ext cx="338337" cy="366161"/>
          </a:xfrm>
          <a:custGeom>
            <a:avLst/>
            <a:gdLst>
              <a:gd name="connsiteX0" fmla="*/ 327780 w 561933"/>
              <a:gd name="connsiteY0" fmla="*/ 406780 h 608145"/>
              <a:gd name="connsiteX1" fmla="*/ 285069 w 561933"/>
              <a:gd name="connsiteY1" fmla="*/ 449434 h 608145"/>
              <a:gd name="connsiteX2" fmla="*/ 327780 w 561933"/>
              <a:gd name="connsiteY2" fmla="*/ 492088 h 608145"/>
              <a:gd name="connsiteX3" fmla="*/ 370490 w 561933"/>
              <a:gd name="connsiteY3" fmla="*/ 449434 h 608145"/>
              <a:gd name="connsiteX4" fmla="*/ 327780 w 561933"/>
              <a:gd name="connsiteY4" fmla="*/ 406780 h 608145"/>
              <a:gd name="connsiteX5" fmla="*/ 91381 w 561933"/>
              <a:gd name="connsiteY5" fmla="*/ 406780 h 608145"/>
              <a:gd name="connsiteX6" fmla="*/ 49664 w 561933"/>
              <a:gd name="connsiteY6" fmla="*/ 449434 h 608145"/>
              <a:gd name="connsiteX7" fmla="*/ 91381 w 561933"/>
              <a:gd name="connsiteY7" fmla="*/ 492088 h 608145"/>
              <a:gd name="connsiteX8" fmla="*/ 134092 w 561933"/>
              <a:gd name="connsiteY8" fmla="*/ 449434 h 608145"/>
              <a:gd name="connsiteX9" fmla="*/ 91381 w 561933"/>
              <a:gd name="connsiteY9" fmla="*/ 406780 h 608145"/>
              <a:gd name="connsiteX10" fmla="*/ 130119 w 561933"/>
              <a:gd name="connsiteY10" fmla="*/ 162762 h 608145"/>
              <a:gd name="connsiteX11" fmla="*/ 50657 w 561933"/>
              <a:gd name="connsiteY11" fmla="*/ 243110 h 608145"/>
              <a:gd name="connsiteX12" fmla="*/ 50657 w 561933"/>
              <a:gd name="connsiteY12" fmla="*/ 312546 h 608145"/>
              <a:gd name="connsiteX13" fmla="*/ 78468 w 561933"/>
              <a:gd name="connsiteY13" fmla="*/ 341312 h 608145"/>
              <a:gd name="connsiteX14" fmla="*/ 340692 w 561933"/>
              <a:gd name="connsiteY14" fmla="*/ 341312 h 608145"/>
              <a:gd name="connsiteX15" fmla="*/ 369497 w 561933"/>
              <a:gd name="connsiteY15" fmla="*/ 312546 h 608145"/>
              <a:gd name="connsiteX16" fmla="*/ 369497 w 561933"/>
              <a:gd name="connsiteY16" fmla="*/ 243110 h 608145"/>
              <a:gd name="connsiteX17" fmla="*/ 289042 w 561933"/>
              <a:gd name="connsiteY17" fmla="*/ 162762 h 608145"/>
              <a:gd name="connsiteX18" fmla="*/ 127139 w 561933"/>
              <a:gd name="connsiteY18" fmla="*/ 99278 h 608145"/>
              <a:gd name="connsiteX19" fmla="*/ 293015 w 561933"/>
              <a:gd name="connsiteY19" fmla="*/ 99278 h 608145"/>
              <a:gd name="connsiteX20" fmla="*/ 420154 w 561933"/>
              <a:gd name="connsiteY20" fmla="*/ 226247 h 608145"/>
              <a:gd name="connsiteX21" fmla="*/ 420154 w 561933"/>
              <a:gd name="connsiteY21" fmla="*/ 486136 h 608145"/>
              <a:gd name="connsiteX22" fmla="*/ 382410 w 561933"/>
              <a:gd name="connsiteY22" fmla="*/ 541685 h 608145"/>
              <a:gd name="connsiteX23" fmla="*/ 382410 w 561933"/>
              <a:gd name="connsiteY23" fmla="*/ 561524 h 608145"/>
              <a:gd name="connsiteX24" fmla="*/ 334733 w 561933"/>
              <a:gd name="connsiteY24" fmla="*/ 608145 h 608145"/>
              <a:gd name="connsiteX25" fmla="*/ 326786 w 561933"/>
              <a:gd name="connsiteY25" fmla="*/ 608145 h 608145"/>
              <a:gd name="connsiteX26" fmla="*/ 280103 w 561933"/>
              <a:gd name="connsiteY26" fmla="*/ 561524 h 608145"/>
              <a:gd name="connsiteX27" fmla="*/ 280103 w 561933"/>
              <a:gd name="connsiteY27" fmla="*/ 544661 h 608145"/>
              <a:gd name="connsiteX28" fmla="*/ 140051 w 561933"/>
              <a:gd name="connsiteY28" fmla="*/ 544661 h 608145"/>
              <a:gd name="connsiteX29" fmla="*/ 140051 w 561933"/>
              <a:gd name="connsiteY29" fmla="*/ 561524 h 608145"/>
              <a:gd name="connsiteX30" fmla="*/ 92374 w 561933"/>
              <a:gd name="connsiteY30" fmla="*/ 608145 h 608145"/>
              <a:gd name="connsiteX31" fmla="*/ 84428 w 561933"/>
              <a:gd name="connsiteY31" fmla="*/ 608145 h 608145"/>
              <a:gd name="connsiteX32" fmla="*/ 37744 w 561933"/>
              <a:gd name="connsiteY32" fmla="*/ 561524 h 608145"/>
              <a:gd name="connsiteX33" fmla="*/ 37744 w 561933"/>
              <a:gd name="connsiteY33" fmla="*/ 541685 h 608145"/>
              <a:gd name="connsiteX34" fmla="*/ 0 w 561933"/>
              <a:gd name="connsiteY34" fmla="*/ 486136 h 608145"/>
              <a:gd name="connsiteX35" fmla="*/ 0 w 561933"/>
              <a:gd name="connsiteY35" fmla="*/ 226247 h 608145"/>
              <a:gd name="connsiteX36" fmla="*/ 127139 w 561933"/>
              <a:gd name="connsiteY36" fmla="*/ 99278 h 608145"/>
              <a:gd name="connsiteX37" fmla="*/ 408232 w 561933"/>
              <a:gd name="connsiteY37" fmla="*/ 74504 h 608145"/>
              <a:gd name="connsiteX38" fmla="*/ 424139 w 561933"/>
              <a:gd name="connsiteY38" fmla="*/ 75495 h 608145"/>
              <a:gd name="connsiteX39" fmla="*/ 486772 w 561933"/>
              <a:gd name="connsiteY39" fmla="*/ 185587 h 608145"/>
              <a:gd name="connsiteX40" fmla="*/ 479813 w 561933"/>
              <a:gd name="connsiteY40" fmla="*/ 199473 h 608145"/>
              <a:gd name="connsiteX41" fmla="*/ 464901 w 561933"/>
              <a:gd name="connsiteY41" fmla="*/ 202448 h 608145"/>
              <a:gd name="connsiteX42" fmla="*/ 462912 w 561933"/>
              <a:gd name="connsiteY42" fmla="*/ 201456 h 608145"/>
              <a:gd name="connsiteX43" fmla="*/ 448994 w 561933"/>
              <a:gd name="connsiteY43" fmla="*/ 183604 h 608145"/>
              <a:gd name="connsiteX44" fmla="*/ 406244 w 561933"/>
              <a:gd name="connsiteY44" fmla="*/ 109217 h 608145"/>
              <a:gd name="connsiteX45" fmla="*/ 397296 w 561933"/>
              <a:gd name="connsiteY45" fmla="*/ 89381 h 608145"/>
              <a:gd name="connsiteX46" fmla="*/ 398291 w 561933"/>
              <a:gd name="connsiteY46" fmla="*/ 87397 h 608145"/>
              <a:gd name="connsiteX47" fmla="*/ 408232 w 561933"/>
              <a:gd name="connsiteY47" fmla="*/ 74504 h 608145"/>
              <a:gd name="connsiteX48" fmla="*/ 439969 w 561933"/>
              <a:gd name="connsiteY48" fmla="*/ 1081 h 608145"/>
              <a:gd name="connsiteX49" fmla="*/ 560176 w 561933"/>
              <a:gd name="connsiteY49" fmla="*/ 205408 h 608145"/>
              <a:gd name="connsiteX50" fmla="*/ 552228 w 561933"/>
              <a:gd name="connsiteY50" fmla="*/ 217311 h 608145"/>
              <a:gd name="connsiteX51" fmla="*/ 537326 w 561933"/>
              <a:gd name="connsiteY51" fmla="*/ 220286 h 608145"/>
              <a:gd name="connsiteX52" fmla="*/ 535340 w 561933"/>
              <a:gd name="connsiteY52" fmla="*/ 219294 h 608145"/>
              <a:gd name="connsiteX53" fmla="*/ 522425 w 561933"/>
              <a:gd name="connsiteY53" fmla="*/ 199457 h 608145"/>
              <a:gd name="connsiteX54" fmla="*/ 426061 w 561933"/>
              <a:gd name="connsiteY54" fmla="*/ 36788 h 608145"/>
              <a:gd name="connsiteX55" fmla="*/ 416126 w 561933"/>
              <a:gd name="connsiteY55" fmla="*/ 15959 h 608145"/>
              <a:gd name="connsiteX56" fmla="*/ 416126 w 561933"/>
              <a:gd name="connsiteY56" fmla="*/ 13975 h 608145"/>
              <a:gd name="connsiteX57" fmla="*/ 425067 w 561933"/>
              <a:gd name="connsiteY57" fmla="*/ 2073 h 608145"/>
              <a:gd name="connsiteX58" fmla="*/ 439969 w 561933"/>
              <a:gd name="connsiteY58" fmla="*/ 1081 h 608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61933" h="608145">
                <a:moveTo>
                  <a:pt x="327780" y="406780"/>
                </a:moveTo>
                <a:cubicBezTo>
                  <a:pt x="303941" y="406780"/>
                  <a:pt x="285069" y="425627"/>
                  <a:pt x="285069" y="449434"/>
                </a:cubicBezTo>
                <a:cubicBezTo>
                  <a:pt x="285069" y="473241"/>
                  <a:pt x="303941" y="492088"/>
                  <a:pt x="327780" y="492088"/>
                </a:cubicBezTo>
                <a:cubicBezTo>
                  <a:pt x="350625" y="492088"/>
                  <a:pt x="370490" y="473241"/>
                  <a:pt x="370490" y="449434"/>
                </a:cubicBezTo>
                <a:cubicBezTo>
                  <a:pt x="370490" y="425627"/>
                  <a:pt x="350625" y="406780"/>
                  <a:pt x="327780" y="406780"/>
                </a:cubicBezTo>
                <a:close/>
                <a:moveTo>
                  <a:pt x="91381" y="406780"/>
                </a:moveTo>
                <a:cubicBezTo>
                  <a:pt x="68536" y="406780"/>
                  <a:pt x="49664" y="425627"/>
                  <a:pt x="49664" y="449434"/>
                </a:cubicBezTo>
                <a:cubicBezTo>
                  <a:pt x="49664" y="473241"/>
                  <a:pt x="68536" y="492088"/>
                  <a:pt x="91381" y="492088"/>
                </a:cubicBezTo>
                <a:cubicBezTo>
                  <a:pt x="115220" y="492088"/>
                  <a:pt x="134092" y="473241"/>
                  <a:pt x="134092" y="449434"/>
                </a:cubicBezTo>
                <a:cubicBezTo>
                  <a:pt x="134092" y="425627"/>
                  <a:pt x="115220" y="406780"/>
                  <a:pt x="91381" y="406780"/>
                </a:cubicBezTo>
                <a:close/>
                <a:moveTo>
                  <a:pt x="130119" y="162762"/>
                </a:moveTo>
                <a:cubicBezTo>
                  <a:pt x="86415" y="162762"/>
                  <a:pt x="50657" y="198472"/>
                  <a:pt x="50657" y="243110"/>
                </a:cubicBezTo>
                <a:lnTo>
                  <a:pt x="50657" y="312546"/>
                </a:lnTo>
                <a:cubicBezTo>
                  <a:pt x="50657" y="328417"/>
                  <a:pt x="62576" y="341312"/>
                  <a:pt x="78468" y="341312"/>
                </a:cubicBezTo>
                <a:lnTo>
                  <a:pt x="340692" y="341312"/>
                </a:lnTo>
                <a:cubicBezTo>
                  <a:pt x="356585" y="341312"/>
                  <a:pt x="369497" y="328417"/>
                  <a:pt x="369497" y="312546"/>
                </a:cubicBezTo>
                <a:lnTo>
                  <a:pt x="369497" y="243110"/>
                </a:lnTo>
                <a:cubicBezTo>
                  <a:pt x="369497" y="198472"/>
                  <a:pt x="332746" y="162762"/>
                  <a:pt x="289042" y="162762"/>
                </a:cubicBezTo>
                <a:close/>
                <a:moveTo>
                  <a:pt x="127139" y="99278"/>
                </a:moveTo>
                <a:lnTo>
                  <a:pt x="293015" y="99278"/>
                </a:lnTo>
                <a:cubicBezTo>
                  <a:pt x="363538" y="99278"/>
                  <a:pt x="420154" y="155819"/>
                  <a:pt x="420154" y="226247"/>
                </a:cubicBezTo>
                <a:lnTo>
                  <a:pt x="420154" y="486136"/>
                </a:lnTo>
                <a:cubicBezTo>
                  <a:pt x="420154" y="511926"/>
                  <a:pt x="404262" y="532757"/>
                  <a:pt x="382410" y="541685"/>
                </a:cubicBezTo>
                <a:lnTo>
                  <a:pt x="382410" y="561524"/>
                </a:lnTo>
                <a:cubicBezTo>
                  <a:pt x="382410" y="587314"/>
                  <a:pt x="360558" y="608145"/>
                  <a:pt x="334733" y="608145"/>
                </a:cubicBezTo>
                <a:lnTo>
                  <a:pt x="326786" y="608145"/>
                </a:lnTo>
                <a:cubicBezTo>
                  <a:pt x="300961" y="608145"/>
                  <a:pt x="280103" y="587314"/>
                  <a:pt x="280103" y="561524"/>
                </a:cubicBezTo>
                <a:lnTo>
                  <a:pt x="280103" y="544661"/>
                </a:lnTo>
                <a:lnTo>
                  <a:pt x="140051" y="544661"/>
                </a:lnTo>
                <a:lnTo>
                  <a:pt x="140051" y="561524"/>
                </a:lnTo>
                <a:cubicBezTo>
                  <a:pt x="140051" y="587314"/>
                  <a:pt x="118199" y="608145"/>
                  <a:pt x="92374" y="608145"/>
                </a:cubicBezTo>
                <a:lnTo>
                  <a:pt x="84428" y="608145"/>
                </a:lnTo>
                <a:cubicBezTo>
                  <a:pt x="58603" y="608145"/>
                  <a:pt x="37744" y="587314"/>
                  <a:pt x="37744" y="561524"/>
                </a:cubicBezTo>
                <a:lnTo>
                  <a:pt x="37744" y="541685"/>
                </a:lnTo>
                <a:cubicBezTo>
                  <a:pt x="14899" y="532757"/>
                  <a:pt x="0" y="511926"/>
                  <a:pt x="0" y="486136"/>
                </a:cubicBezTo>
                <a:lnTo>
                  <a:pt x="0" y="226247"/>
                </a:lnTo>
                <a:cubicBezTo>
                  <a:pt x="0" y="155819"/>
                  <a:pt x="56616" y="99278"/>
                  <a:pt x="127139" y="99278"/>
                </a:cubicBezTo>
                <a:close/>
                <a:moveTo>
                  <a:pt x="408232" y="74504"/>
                </a:moveTo>
                <a:cubicBezTo>
                  <a:pt x="413203" y="72520"/>
                  <a:pt x="419168" y="72520"/>
                  <a:pt x="424139" y="75495"/>
                </a:cubicBezTo>
                <a:cubicBezTo>
                  <a:pt x="464901" y="96324"/>
                  <a:pt x="489755" y="139964"/>
                  <a:pt x="486772" y="185587"/>
                </a:cubicBezTo>
                <a:cubicBezTo>
                  <a:pt x="486772" y="190546"/>
                  <a:pt x="483790" y="195505"/>
                  <a:pt x="479813" y="199473"/>
                </a:cubicBezTo>
                <a:cubicBezTo>
                  <a:pt x="475836" y="202448"/>
                  <a:pt x="469871" y="203440"/>
                  <a:pt x="464901" y="202448"/>
                </a:cubicBezTo>
                <a:lnTo>
                  <a:pt x="462912" y="201456"/>
                </a:lnTo>
                <a:cubicBezTo>
                  <a:pt x="453965" y="199473"/>
                  <a:pt x="448994" y="191538"/>
                  <a:pt x="448994" y="183604"/>
                </a:cubicBezTo>
                <a:cubicBezTo>
                  <a:pt x="450982" y="152857"/>
                  <a:pt x="434081" y="123103"/>
                  <a:pt x="406244" y="109217"/>
                </a:cubicBezTo>
                <a:cubicBezTo>
                  <a:pt x="399285" y="105250"/>
                  <a:pt x="395308" y="97315"/>
                  <a:pt x="397296" y="89381"/>
                </a:cubicBezTo>
                <a:lnTo>
                  <a:pt x="398291" y="87397"/>
                </a:lnTo>
                <a:cubicBezTo>
                  <a:pt x="399285" y="81446"/>
                  <a:pt x="403261" y="77479"/>
                  <a:pt x="408232" y="74504"/>
                </a:cubicBezTo>
                <a:close/>
                <a:moveTo>
                  <a:pt x="439969" y="1081"/>
                </a:moveTo>
                <a:cubicBezTo>
                  <a:pt x="522425" y="32821"/>
                  <a:pt x="572097" y="118123"/>
                  <a:pt x="560176" y="205408"/>
                </a:cubicBezTo>
                <a:cubicBezTo>
                  <a:pt x="559182" y="210367"/>
                  <a:pt x="556202" y="214335"/>
                  <a:pt x="552228" y="217311"/>
                </a:cubicBezTo>
                <a:cubicBezTo>
                  <a:pt x="548254" y="220286"/>
                  <a:pt x="542294" y="221278"/>
                  <a:pt x="537326" y="220286"/>
                </a:cubicBezTo>
                <a:lnTo>
                  <a:pt x="535340" y="219294"/>
                </a:lnTo>
                <a:cubicBezTo>
                  <a:pt x="526399" y="217311"/>
                  <a:pt x="520438" y="208384"/>
                  <a:pt x="522425" y="199457"/>
                </a:cubicBezTo>
                <a:cubicBezTo>
                  <a:pt x="531366" y="130025"/>
                  <a:pt x="491628" y="62577"/>
                  <a:pt x="426061" y="36788"/>
                </a:cubicBezTo>
                <a:cubicBezTo>
                  <a:pt x="418113" y="33813"/>
                  <a:pt x="413146" y="24886"/>
                  <a:pt x="416126" y="15959"/>
                </a:cubicBezTo>
                <a:lnTo>
                  <a:pt x="416126" y="13975"/>
                </a:lnTo>
                <a:cubicBezTo>
                  <a:pt x="417120" y="9016"/>
                  <a:pt x="421094" y="4056"/>
                  <a:pt x="425067" y="2073"/>
                </a:cubicBezTo>
                <a:cubicBezTo>
                  <a:pt x="430035" y="89"/>
                  <a:pt x="435002" y="-903"/>
                  <a:pt x="439969" y="1081"/>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endParaRPr lang="zh-CN" altLang="en-US">
              <a:solidFill>
                <a:srgbClr val="000000"/>
              </a:solidFill>
              <a:latin typeface="Arial" panose="020F0502020204030204"/>
              <a:ea typeface="微软雅黑"/>
              <a:cs typeface="+mn-ea"/>
              <a:sym typeface="+mn-lt"/>
            </a:endParaRPr>
          </a:p>
        </p:txBody>
      </p:sp>
      <p:sp>
        <p:nvSpPr>
          <p:cNvPr id="42" name="ïslíḓé">
            <a:extLst>
              <a:ext uri="{FF2B5EF4-FFF2-40B4-BE49-F238E27FC236}">
                <a16:creationId xmlns:a16="http://schemas.microsoft.com/office/drawing/2014/main" id="{1140B161-50EF-62AB-D61D-F31990CF432C}"/>
              </a:ext>
            </a:extLst>
          </p:cNvPr>
          <p:cNvSpPr/>
          <p:nvPr/>
        </p:nvSpPr>
        <p:spPr bwMode="auto">
          <a:xfrm>
            <a:off x="5815461" y="5339493"/>
            <a:ext cx="363264" cy="320996"/>
          </a:xfrm>
          <a:custGeom>
            <a:avLst/>
            <a:gdLst>
              <a:gd name="connsiteX0" fmla="*/ 494452 w 603405"/>
              <a:gd name="connsiteY0" fmla="*/ 356003 h 533193"/>
              <a:gd name="connsiteX1" fmla="*/ 585270 w 603405"/>
              <a:gd name="connsiteY1" fmla="*/ 356003 h 533193"/>
              <a:gd name="connsiteX2" fmla="*/ 601782 w 603405"/>
              <a:gd name="connsiteY2" fmla="*/ 372480 h 533193"/>
              <a:gd name="connsiteX3" fmla="*/ 585270 w 603405"/>
              <a:gd name="connsiteY3" fmla="*/ 388957 h 533193"/>
              <a:gd name="connsiteX4" fmla="*/ 494452 w 603405"/>
              <a:gd name="connsiteY4" fmla="*/ 388957 h 533193"/>
              <a:gd name="connsiteX5" fmla="*/ 367511 w 603405"/>
              <a:gd name="connsiteY5" fmla="*/ 244227 h 533193"/>
              <a:gd name="connsiteX6" fmla="*/ 443780 w 603405"/>
              <a:gd name="connsiteY6" fmla="*/ 244227 h 533193"/>
              <a:gd name="connsiteX7" fmla="*/ 477411 w 603405"/>
              <a:gd name="connsiteY7" fmla="*/ 277633 h 533193"/>
              <a:gd name="connsiteX8" fmla="*/ 477861 w 603405"/>
              <a:gd name="connsiteY8" fmla="*/ 381744 h 533193"/>
              <a:gd name="connsiteX9" fmla="*/ 463748 w 603405"/>
              <a:gd name="connsiteY9" fmla="*/ 395975 h 533193"/>
              <a:gd name="connsiteX10" fmla="*/ 449486 w 603405"/>
              <a:gd name="connsiteY10" fmla="*/ 381894 h 533193"/>
              <a:gd name="connsiteX11" fmla="*/ 449035 w 603405"/>
              <a:gd name="connsiteY11" fmla="*/ 277782 h 533193"/>
              <a:gd name="connsiteX12" fmla="*/ 446033 w 603405"/>
              <a:gd name="connsiteY12" fmla="*/ 274786 h 533193"/>
              <a:gd name="connsiteX13" fmla="*/ 443030 w 603405"/>
              <a:gd name="connsiteY13" fmla="*/ 277782 h 533193"/>
              <a:gd name="connsiteX14" fmla="*/ 443330 w 603405"/>
              <a:gd name="connsiteY14" fmla="*/ 516116 h 533193"/>
              <a:gd name="connsiteX15" fmla="*/ 426215 w 603405"/>
              <a:gd name="connsiteY15" fmla="*/ 533193 h 533193"/>
              <a:gd name="connsiteX16" fmla="*/ 409249 w 603405"/>
              <a:gd name="connsiteY16" fmla="*/ 516116 h 533193"/>
              <a:gd name="connsiteX17" fmla="*/ 409249 w 603405"/>
              <a:gd name="connsiteY17" fmla="*/ 380096 h 533193"/>
              <a:gd name="connsiteX18" fmla="*/ 401893 w 603405"/>
              <a:gd name="connsiteY18" fmla="*/ 380096 h 533193"/>
              <a:gd name="connsiteX19" fmla="*/ 401893 w 603405"/>
              <a:gd name="connsiteY19" fmla="*/ 516116 h 533193"/>
              <a:gd name="connsiteX20" fmla="*/ 384778 w 603405"/>
              <a:gd name="connsiteY20" fmla="*/ 533193 h 533193"/>
              <a:gd name="connsiteX21" fmla="*/ 367812 w 603405"/>
              <a:gd name="connsiteY21" fmla="*/ 516116 h 533193"/>
              <a:gd name="connsiteX22" fmla="*/ 367812 w 603405"/>
              <a:gd name="connsiteY22" fmla="*/ 380096 h 533193"/>
              <a:gd name="connsiteX23" fmla="*/ 367812 w 603405"/>
              <a:gd name="connsiteY23" fmla="*/ 277782 h 533193"/>
              <a:gd name="connsiteX24" fmla="*/ 364959 w 603405"/>
              <a:gd name="connsiteY24" fmla="*/ 274936 h 533193"/>
              <a:gd name="connsiteX25" fmla="*/ 362257 w 603405"/>
              <a:gd name="connsiteY25" fmla="*/ 277782 h 533193"/>
              <a:gd name="connsiteX26" fmla="*/ 361656 w 603405"/>
              <a:gd name="connsiteY26" fmla="*/ 381894 h 533193"/>
              <a:gd name="connsiteX27" fmla="*/ 347544 w 603405"/>
              <a:gd name="connsiteY27" fmla="*/ 395975 h 533193"/>
              <a:gd name="connsiteX28" fmla="*/ 347393 w 603405"/>
              <a:gd name="connsiteY28" fmla="*/ 395975 h 533193"/>
              <a:gd name="connsiteX29" fmla="*/ 333281 w 603405"/>
              <a:gd name="connsiteY29" fmla="*/ 381744 h 533193"/>
              <a:gd name="connsiteX30" fmla="*/ 333881 w 603405"/>
              <a:gd name="connsiteY30" fmla="*/ 277633 h 533193"/>
              <a:gd name="connsiteX31" fmla="*/ 367511 w 603405"/>
              <a:gd name="connsiteY31" fmla="*/ 244227 h 533193"/>
              <a:gd name="connsiteX32" fmla="*/ 201525 w 603405"/>
              <a:gd name="connsiteY32" fmla="*/ 244227 h 533193"/>
              <a:gd name="connsiteX33" fmla="*/ 277906 w 603405"/>
              <a:gd name="connsiteY33" fmla="*/ 244227 h 533193"/>
              <a:gd name="connsiteX34" fmla="*/ 311520 w 603405"/>
              <a:gd name="connsiteY34" fmla="*/ 277633 h 533193"/>
              <a:gd name="connsiteX35" fmla="*/ 311970 w 603405"/>
              <a:gd name="connsiteY35" fmla="*/ 381744 h 533193"/>
              <a:gd name="connsiteX36" fmla="*/ 297864 w 603405"/>
              <a:gd name="connsiteY36" fmla="*/ 395975 h 533193"/>
              <a:gd name="connsiteX37" fmla="*/ 297714 w 603405"/>
              <a:gd name="connsiteY37" fmla="*/ 395975 h 533193"/>
              <a:gd name="connsiteX38" fmla="*/ 283608 w 603405"/>
              <a:gd name="connsiteY38" fmla="*/ 381894 h 533193"/>
              <a:gd name="connsiteX39" fmla="*/ 283008 w 603405"/>
              <a:gd name="connsiteY39" fmla="*/ 277782 h 533193"/>
              <a:gd name="connsiteX40" fmla="*/ 280007 w 603405"/>
              <a:gd name="connsiteY40" fmla="*/ 274786 h 533193"/>
              <a:gd name="connsiteX41" fmla="*/ 277156 w 603405"/>
              <a:gd name="connsiteY41" fmla="*/ 277782 h 533193"/>
              <a:gd name="connsiteX42" fmla="*/ 277456 w 603405"/>
              <a:gd name="connsiteY42" fmla="*/ 516116 h 533193"/>
              <a:gd name="connsiteX43" fmla="*/ 260349 w 603405"/>
              <a:gd name="connsiteY43" fmla="*/ 533193 h 533193"/>
              <a:gd name="connsiteX44" fmla="*/ 243242 w 603405"/>
              <a:gd name="connsiteY44" fmla="*/ 516116 h 533193"/>
              <a:gd name="connsiteX45" fmla="*/ 243242 w 603405"/>
              <a:gd name="connsiteY45" fmla="*/ 380096 h 533193"/>
              <a:gd name="connsiteX46" fmla="*/ 235889 w 603405"/>
              <a:gd name="connsiteY46" fmla="*/ 380096 h 533193"/>
              <a:gd name="connsiteX47" fmla="*/ 235889 w 603405"/>
              <a:gd name="connsiteY47" fmla="*/ 516116 h 533193"/>
              <a:gd name="connsiteX48" fmla="*/ 218932 w 603405"/>
              <a:gd name="connsiteY48" fmla="*/ 533193 h 533193"/>
              <a:gd name="connsiteX49" fmla="*/ 201825 w 603405"/>
              <a:gd name="connsiteY49" fmla="*/ 516116 h 533193"/>
              <a:gd name="connsiteX50" fmla="*/ 201825 w 603405"/>
              <a:gd name="connsiteY50" fmla="*/ 380096 h 533193"/>
              <a:gd name="connsiteX51" fmla="*/ 201825 w 603405"/>
              <a:gd name="connsiteY51" fmla="*/ 277782 h 533193"/>
              <a:gd name="connsiteX52" fmla="*/ 199124 w 603405"/>
              <a:gd name="connsiteY52" fmla="*/ 274936 h 533193"/>
              <a:gd name="connsiteX53" fmla="*/ 196423 w 603405"/>
              <a:gd name="connsiteY53" fmla="*/ 277782 h 533193"/>
              <a:gd name="connsiteX54" fmla="*/ 195822 w 603405"/>
              <a:gd name="connsiteY54" fmla="*/ 381894 h 533193"/>
              <a:gd name="connsiteX55" fmla="*/ 181567 w 603405"/>
              <a:gd name="connsiteY55" fmla="*/ 395975 h 533193"/>
              <a:gd name="connsiteX56" fmla="*/ 167461 w 603405"/>
              <a:gd name="connsiteY56" fmla="*/ 381744 h 533193"/>
              <a:gd name="connsiteX57" fmla="*/ 167911 w 603405"/>
              <a:gd name="connsiteY57" fmla="*/ 277633 h 533193"/>
              <a:gd name="connsiteX58" fmla="*/ 201525 w 603405"/>
              <a:gd name="connsiteY58" fmla="*/ 244227 h 533193"/>
              <a:gd name="connsiteX59" fmla="*/ 34214 w 603405"/>
              <a:gd name="connsiteY59" fmla="*/ 244227 h 533193"/>
              <a:gd name="connsiteX60" fmla="*/ 110445 w 603405"/>
              <a:gd name="connsiteY60" fmla="*/ 244227 h 533193"/>
              <a:gd name="connsiteX61" fmla="*/ 144059 w 603405"/>
              <a:gd name="connsiteY61" fmla="*/ 277633 h 533193"/>
              <a:gd name="connsiteX62" fmla="*/ 144509 w 603405"/>
              <a:gd name="connsiteY62" fmla="*/ 381744 h 533193"/>
              <a:gd name="connsiteX63" fmla="*/ 130403 w 603405"/>
              <a:gd name="connsiteY63" fmla="*/ 395975 h 533193"/>
              <a:gd name="connsiteX64" fmla="*/ 116147 w 603405"/>
              <a:gd name="connsiteY64" fmla="*/ 381894 h 533193"/>
              <a:gd name="connsiteX65" fmla="*/ 115697 w 603405"/>
              <a:gd name="connsiteY65" fmla="*/ 277782 h 533193"/>
              <a:gd name="connsiteX66" fmla="*/ 112696 w 603405"/>
              <a:gd name="connsiteY66" fmla="*/ 274786 h 533193"/>
              <a:gd name="connsiteX67" fmla="*/ 109694 w 603405"/>
              <a:gd name="connsiteY67" fmla="*/ 277782 h 533193"/>
              <a:gd name="connsiteX68" fmla="*/ 109995 w 603405"/>
              <a:gd name="connsiteY68" fmla="*/ 516116 h 533193"/>
              <a:gd name="connsiteX69" fmla="*/ 92888 w 603405"/>
              <a:gd name="connsiteY69" fmla="*/ 533193 h 533193"/>
              <a:gd name="connsiteX70" fmla="*/ 75931 w 603405"/>
              <a:gd name="connsiteY70" fmla="*/ 516116 h 533193"/>
              <a:gd name="connsiteX71" fmla="*/ 75931 w 603405"/>
              <a:gd name="connsiteY71" fmla="*/ 380096 h 533193"/>
              <a:gd name="connsiteX72" fmla="*/ 68578 w 603405"/>
              <a:gd name="connsiteY72" fmla="*/ 380096 h 533193"/>
              <a:gd name="connsiteX73" fmla="*/ 68578 w 603405"/>
              <a:gd name="connsiteY73" fmla="*/ 516116 h 533193"/>
              <a:gd name="connsiteX74" fmla="*/ 51471 w 603405"/>
              <a:gd name="connsiteY74" fmla="*/ 533193 h 533193"/>
              <a:gd name="connsiteX75" fmla="*/ 34364 w 603405"/>
              <a:gd name="connsiteY75" fmla="*/ 516116 h 533193"/>
              <a:gd name="connsiteX76" fmla="*/ 34364 w 603405"/>
              <a:gd name="connsiteY76" fmla="*/ 380096 h 533193"/>
              <a:gd name="connsiteX77" fmla="*/ 34364 w 603405"/>
              <a:gd name="connsiteY77" fmla="*/ 277782 h 533193"/>
              <a:gd name="connsiteX78" fmla="*/ 31663 w 603405"/>
              <a:gd name="connsiteY78" fmla="*/ 275086 h 533193"/>
              <a:gd name="connsiteX79" fmla="*/ 28962 w 603405"/>
              <a:gd name="connsiteY79" fmla="*/ 277782 h 533193"/>
              <a:gd name="connsiteX80" fmla="*/ 28361 w 603405"/>
              <a:gd name="connsiteY80" fmla="*/ 381894 h 533193"/>
              <a:gd name="connsiteX81" fmla="*/ 14256 w 603405"/>
              <a:gd name="connsiteY81" fmla="*/ 395975 h 533193"/>
              <a:gd name="connsiteX82" fmla="*/ 14106 w 603405"/>
              <a:gd name="connsiteY82" fmla="*/ 395975 h 533193"/>
              <a:gd name="connsiteX83" fmla="*/ 0 w 603405"/>
              <a:gd name="connsiteY83" fmla="*/ 381744 h 533193"/>
              <a:gd name="connsiteX84" fmla="*/ 600 w 603405"/>
              <a:gd name="connsiteY84" fmla="*/ 277633 h 533193"/>
              <a:gd name="connsiteX85" fmla="*/ 34214 w 603405"/>
              <a:gd name="connsiteY85" fmla="*/ 244227 h 533193"/>
              <a:gd name="connsiteX86" fmla="*/ 298774 w 603405"/>
              <a:gd name="connsiteY86" fmla="*/ 232090 h 533193"/>
              <a:gd name="connsiteX87" fmla="*/ 346547 w 603405"/>
              <a:gd name="connsiteY87" fmla="*/ 232090 h 533193"/>
              <a:gd name="connsiteX88" fmla="*/ 322660 w 603405"/>
              <a:gd name="connsiteY88" fmla="*/ 254883 h 533193"/>
              <a:gd name="connsiteX89" fmla="*/ 298774 w 603405"/>
              <a:gd name="connsiteY89" fmla="*/ 232090 h 533193"/>
              <a:gd name="connsiteX90" fmla="*/ 405716 w 603405"/>
              <a:gd name="connsiteY90" fmla="*/ 176061 h 533193"/>
              <a:gd name="connsiteX91" fmla="*/ 435177 w 603405"/>
              <a:gd name="connsiteY91" fmla="*/ 205417 h 533193"/>
              <a:gd name="connsiteX92" fmla="*/ 405716 w 603405"/>
              <a:gd name="connsiteY92" fmla="*/ 234773 h 533193"/>
              <a:gd name="connsiteX93" fmla="*/ 376255 w 603405"/>
              <a:gd name="connsiteY93" fmla="*/ 205417 h 533193"/>
              <a:gd name="connsiteX94" fmla="*/ 405716 w 603405"/>
              <a:gd name="connsiteY94" fmla="*/ 176061 h 533193"/>
              <a:gd name="connsiteX95" fmla="*/ 239817 w 603405"/>
              <a:gd name="connsiteY95" fmla="*/ 176061 h 533193"/>
              <a:gd name="connsiteX96" fmla="*/ 269208 w 603405"/>
              <a:gd name="connsiteY96" fmla="*/ 205417 h 533193"/>
              <a:gd name="connsiteX97" fmla="*/ 239817 w 603405"/>
              <a:gd name="connsiteY97" fmla="*/ 234773 h 533193"/>
              <a:gd name="connsiteX98" fmla="*/ 210426 w 603405"/>
              <a:gd name="connsiteY98" fmla="*/ 205417 h 533193"/>
              <a:gd name="connsiteX99" fmla="*/ 239817 w 603405"/>
              <a:gd name="connsiteY99" fmla="*/ 176061 h 533193"/>
              <a:gd name="connsiteX100" fmla="*/ 72325 w 603405"/>
              <a:gd name="connsiteY100" fmla="*/ 176061 h 533193"/>
              <a:gd name="connsiteX101" fmla="*/ 101897 w 603405"/>
              <a:gd name="connsiteY101" fmla="*/ 205416 h 533193"/>
              <a:gd name="connsiteX102" fmla="*/ 72325 w 603405"/>
              <a:gd name="connsiteY102" fmla="*/ 234772 h 533193"/>
              <a:gd name="connsiteX103" fmla="*/ 42904 w 603405"/>
              <a:gd name="connsiteY103" fmla="*/ 205416 h 533193"/>
              <a:gd name="connsiteX104" fmla="*/ 72325 w 603405"/>
              <a:gd name="connsiteY104" fmla="*/ 176061 h 533193"/>
              <a:gd name="connsiteX105" fmla="*/ 1200 w 603405"/>
              <a:gd name="connsiteY105" fmla="*/ 56241 h 533193"/>
              <a:gd name="connsiteX106" fmla="*/ 384613 w 603405"/>
              <a:gd name="connsiteY106" fmla="*/ 56241 h 533193"/>
              <a:gd name="connsiteX107" fmla="*/ 603405 w 603405"/>
              <a:gd name="connsiteY107" fmla="*/ 274494 h 533193"/>
              <a:gd name="connsiteX108" fmla="*/ 540979 w 603405"/>
              <a:gd name="connsiteY108" fmla="*/ 336809 h 533193"/>
              <a:gd name="connsiteX109" fmla="*/ 494459 w 603405"/>
              <a:gd name="connsiteY109" fmla="*/ 336809 h 533193"/>
              <a:gd name="connsiteX110" fmla="*/ 494159 w 603405"/>
              <a:gd name="connsiteY110" fmla="*/ 277490 h 533193"/>
              <a:gd name="connsiteX111" fmla="*/ 464747 w 603405"/>
              <a:gd name="connsiteY111" fmla="*/ 232102 h 533193"/>
              <a:gd name="connsiteX112" fmla="*/ 551333 w 603405"/>
              <a:gd name="connsiteY112" fmla="*/ 232102 h 533193"/>
              <a:gd name="connsiteX113" fmla="*/ 551483 w 603405"/>
              <a:gd name="connsiteY113" fmla="*/ 232102 h 533193"/>
              <a:gd name="connsiteX114" fmla="*/ 557636 w 603405"/>
              <a:gd name="connsiteY114" fmla="*/ 228806 h 533193"/>
              <a:gd name="connsiteX115" fmla="*/ 558236 w 603405"/>
              <a:gd name="connsiteY115" fmla="*/ 221766 h 533193"/>
              <a:gd name="connsiteX116" fmla="*/ 504663 w 603405"/>
              <a:gd name="connsiteY116" fmla="*/ 136532 h 533193"/>
              <a:gd name="connsiteX117" fmla="*/ 415676 w 603405"/>
              <a:gd name="connsiteY117" fmla="*/ 97585 h 533193"/>
              <a:gd name="connsiteX118" fmla="*/ 397968 w 603405"/>
              <a:gd name="connsiteY118" fmla="*/ 97585 h 533193"/>
              <a:gd name="connsiteX119" fmla="*/ 397968 w 603405"/>
              <a:gd name="connsiteY119" fmla="*/ 159900 h 533193"/>
              <a:gd name="connsiteX120" fmla="*/ 364954 w 603405"/>
              <a:gd name="connsiteY120" fmla="*/ 183568 h 533193"/>
              <a:gd name="connsiteX121" fmla="*/ 364954 w 603405"/>
              <a:gd name="connsiteY121" fmla="*/ 97585 h 533193"/>
              <a:gd name="connsiteX122" fmla="*/ 174223 w 603405"/>
              <a:gd name="connsiteY122" fmla="*/ 97585 h 533193"/>
              <a:gd name="connsiteX123" fmla="*/ 174223 w 603405"/>
              <a:gd name="connsiteY123" fmla="*/ 232102 h 533193"/>
              <a:gd name="connsiteX124" fmla="*/ 180526 w 603405"/>
              <a:gd name="connsiteY124" fmla="*/ 232102 h 533193"/>
              <a:gd name="connsiteX125" fmla="*/ 174223 w 603405"/>
              <a:gd name="connsiteY125" fmla="*/ 235547 h 533193"/>
              <a:gd name="connsiteX126" fmla="*/ 156065 w 603405"/>
              <a:gd name="connsiteY126" fmla="*/ 256369 h 533193"/>
              <a:gd name="connsiteX127" fmla="*/ 141209 w 603405"/>
              <a:gd name="connsiteY127" fmla="*/ 238093 h 533193"/>
              <a:gd name="connsiteX128" fmla="*/ 131455 w 603405"/>
              <a:gd name="connsiteY128" fmla="*/ 232102 h 533193"/>
              <a:gd name="connsiteX129" fmla="*/ 141209 w 603405"/>
              <a:gd name="connsiteY129" fmla="*/ 232102 h 533193"/>
              <a:gd name="connsiteX130" fmla="*/ 141209 w 603405"/>
              <a:gd name="connsiteY130" fmla="*/ 97585 h 533193"/>
              <a:gd name="connsiteX131" fmla="*/ 1200 w 603405"/>
              <a:gd name="connsiteY131" fmla="*/ 97585 h 533193"/>
              <a:gd name="connsiteX132" fmla="*/ 30337 w 603405"/>
              <a:gd name="connsiteY132" fmla="*/ 0 h 533193"/>
              <a:gd name="connsiteX133" fmla="*/ 450496 w 603405"/>
              <a:gd name="connsiteY133" fmla="*/ 0 h 533193"/>
              <a:gd name="connsiteX134" fmla="*/ 467002 w 603405"/>
              <a:gd name="connsiteY134" fmla="*/ 16512 h 533193"/>
              <a:gd name="connsiteX135" fmla="*/ 450496 w 603405"/>
              <a:gd name="connsiteY135" fmla="*/ 33025 h 533193"/>
              <a:gd name="connsiteX136" fmla="*/ 30337 w 603405"/>
              <a:gd name="connsiteY136" fmla="*/ 33025 h 533193"/>
              <a:gd name="connsiteX137" fmla="*/ 13831 w 603405"/>
              <a:gd name="connsiteY137" fmla="*/ 16512 h 533193"/>
              <a:gd name="connsiteX138" fmla="*/ 30337 w 603405"/>
              <a:gd name="connsiteY138" fmla="*/ 0 h 533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603405" h="533193">
                <a:moveTo>
                  <a:pt x="494452" y="356003"/>
                </a:moveTo>
                <a:lnTo>
                  <a:pt x="585270" y="356003"/>
                </a:lnTo>
                <a:cubicBezTo>
                  <a:pt x="594277" y="356003"/>
                  <a:pt x="601782" y="363343"/>
                  <a:pt x="601782" y="372480"/>
                </a:cubicBezTo>
                <a:cubicBezTo>
                  <a:pt x="601782" y="381617"/>
                  <a:pt x="594277" y="388957"/>
                  <a:pt x="585270" y="388957"/>
                </a:cubicBezTo>
                <a:lnTo>
                  <a:pt x="494452" y="388957"/>
                </a:lnTo>
                <a:close/>
                <a:moveTo>
                  <a:pt x="367511" y="244227"/>
                </a:moveTo>
                <a:lnTo>
                  <a:pt x="443780" y="244227"/>
                </a:lnTo>
                <a:cubicBezTo>
                  <a:pt x="462247" y="244227"/>
                  <a:pt x="477261" y="259207"/>
                  <a:pt x="477411" y="277633"/>
                </a:cubicBezTo>
                <a:lnTo>
                  <a:pt x="477861" y="381744"/>
                </a:lnTo>
                <a:cubicBezTo>
                  <a:pt x="478011" y="389534"/>
                  <a:pt x="471706" y="395975"/>
                  <a:pt x="463748" y="395975"/>
                </a:cubicBezTo>
                <a:cubicBezTo>
                  <a:pt x="455941" y="395975"/>
                  <a:pt x="449486" y="389684"/>
                  <a:pt x="449486" y="381894"/>
                </a:cubicBezTo>
                <a:lnTo>
                  <a:pt x="449035" y="277782"/>
                </a:lnTo>
                <a:cubicBezTo>
                  <a:pt x="449035" y="276135"/>
                  <a:pt x="447684" y="274786"/>
                  <a:pt x="446033" y="274786"/>
                </a:cubicBezTo>
                <a:cubicBezTo>
                  <a:pt x="444381" y="274786"/>
                  <a:pt x="443030" y="276135"/>
                  <a:pt x="443030" y="277782"/>
                </a:cubicBezTo>
                <a:cubicBezTo>
                  <a:pt x="443030" y="419944"/>
                  <a:pt x="443330" y="291115"/>
                  <a:pt x="443330" y="516116"/>
                </a:cubicBezTo>
                <a:cubicBezTo>
                  <a:pt x="443330" y="525553"/>
                  <a:pt x="435673" y="533193"/>
                  <a:pt x="426215" y="533193"/>
                </a:cubicBezTo>
                <a:cubicBezTo>
                  <a:pt x="416906" y="533193"/>
                  <a:pt x="409249" y="525553"/>
                  <a:pt x="409249" y="516116"/>
                </a:cubicBezTo>
                <a:lnTo>
                  <a:pt x="409249" y="380096"/>
                </a:lnTo>
                <a:lnTo>
                  <a:pt x="401893" y="380096"/>
                </a:lnTo>
                <a:lnTo>
                  <a:pt x="401893" y="516116"/>
                </a:lnTo>
                <a:cubicBezTo>
                  <a:pt x="401893" y="525553"/>
                  <a:pt x="394236" y="533193"/>
                  <a:pt x="384778" y="533193"/>
                </a:cubicBezTo>
                <a:cubicBezTo>
                  <a:pt x="375319" y="533193"/>
                  <a:pt x="367812" y="525553"/>
                  <a:pt x="367812" y="516116"/>
                </a:cubicBezTo>
                <a:lnTo>
                  <a:pt x="367812" y="380096"/>
                </a:lnTo>
                <a:lnTo>
                  <a:pt x="367812" y="277782"/>
                </a:lnTo>
                <a:cubicBezTo>
                  <a:pt x="367812" y="276284"/>
                  <a:pt x="366461" y="274936"/>
                  <a:pt x="364959" y="274936"/>
                </a:cubicBezTo>
                <a:cubicBezTo>
                  <a:pt x="363458" y="274936"/>
                  <a:pt x="362257" y="276284"/>
                  <a:pt x="362257" y="277782"/>
                </a:cubicBezTo>
                <a:lnTo>
                  <a:pt x="361656" y="381894"/>
                </a:lnTo>
                <a:cubicBezTo>
                  <a:pt x="361656" y="389684"/>
                  <a:pt x="355351" y="395975"/>
                  <a:pt x="347544" y="395975"/>
                </a:cubicBezTo>
                <a:lnTo>
                  <a:pt x="347393" y="395975"/>
                </a:lnTo>
                <a:cubicBezTo>
                  <a:pt x="339586" y="395975"/>
                  <a:pt x="333281" y="389534"/>
                  <a:pt x="333281" y="381744"/>
                </a:cubicBezTo>
                <a:lnTo>
                  <a:pt x="333881" y="277633"/>
                </a:lnTo>
                <a:cubicBezTo>
                  <a:pt x="333881" y="259207"/>
                  <a:pt x="349045" y="244227"/>
                  <a:pt x="367511" y="244227"/>
                </a:cubicBezTo>
                <a:close/>
                <a:moveTo>
                  <a:pt x="201525" y="244227"/>
                </a:moveTo>
                <a:lnTo>
                  <a:pt x="277906" y="244227"/>
                </a:lnTo>
                <a:cubicBezTo>
                  <a:pt x="296213" y="244227"/>
                  <a:pt x="311370" y="259207"/>
                  <a:pt x="311520" y="277633"/>
                </a:cubicBezTo>
                <a:lnTo>
                  <a:pt x="311970" y="381744"/>
                </a:lnTo>
                <a:cubicBezTo>
                  <a:pt x="311970" y="389534"/>
                  <a:pt x="305667" y="395975"/>
                  <a:pt x="297864" y="395975"/>
                </a:cubicBezTo>
                <a:lnTo>
                  <a:pt x="297714" y="395975"/>
                </a:lnTo>
                <a:cubicBezTo>
                  <a:pt x="289911" y="395975"/>
                  <a:pt x="283608" y="389684"/>
                  <a:pt x="283608" y="381894"/>
                </a:cubicBezTo>
                <a:lnTo>
                  <a:pt x="283008" y="277782"/>
                </a:lnTo>
                <a:cubicBezTo>
                  <a:pt x="283008" y="276135"/>
                  <a:pt x="281657" y="274786"/>
                  <a:pt x="280007" y="274786"/>
                </a:cubicBezTo>
                <a:cubicBezTo>
                  <a:pt x="278356" y="274786"/>
                  <a:pt x="277156" y="276135"/>
                  <a:pt x="277156" y="277782"/>
                </a:cubicBezTo>
                <a:cubicBezTo>
                  <a:pt x="277156" y="419944"/>
                  <a:pt x="277456" y="291115"/>
                  <a:pt x="277456" y="516116"/>
                </a:cubicBezTo>
                <a:cubicBezTo>
                  <a:pt x="277456" y="525553"/>
                  <a:pt x="269803" y="533193"/>
                  <a:pt x="260349" y="533193"/>
                </a:cubicBezTo>
                <a:cubicBezTo>
                  <a:pt x="250895" y="533193"/>
                  <a:pt x="243242" y="525553"/>
                  <a:pt x="243242" y="516116"/>
                </a:cubicBezTo>
                <a:lnTo>
                  <a:pt x="243242" y="380096"/>
                </a:lnTo>
                <a:lnTo>
                  <a:pt x="235889" y="380096"/>
                </a:lnTo>
                <a:lnTo>
                  <a:pt x="235889" y="516116"/>
                </a:lnTo>
                <a:cubicBezTo>
                  <a:pt x="235889" y="525553"/>
                  <a:pt x="228386" y="533193"/>
                  <a:pt x="218932" y="533193"/>
                </a:cubicBezTo>
                <a:cubicBezTo>
                  <a:pt x="209478" y="533193"/>
                  <a:pt x="201825" y="525553"/>
                  <a:pt x="201825" y="516116"/>
                </a:cubicBezTo>
                <a:lnTo>
                  <a:pt x="201825" y="380096"/>
                </a:lnTo>
                <a:lnTo>
                  <a:pt x="201825" y="277782"/>
                </a:lnTo>
                <a:cubicBezTo>
                  <a:pt x="201825" y="276284"/>
                  <a:pt x="200624" y="274936"/>
                  <a:pt x="199124" y="274936"/>
                </a:cubicBezTo>
                <a:cubicBezTo>
                  <a:pt x="197623" y="274936"/>
                  <a:pt x="196423" y="276284"/>
                  <a:pt x="196423" y="277782"/>
                </a:cubicBezTo>
                <a:lnTo>
                  <a:pt x="195822" y="381894"/>
                </a:lnTo>
                <a:cubicBezTo>
                  <a:pt x="195822" y="389684"/>
                  <a:pt x="189370" y="395975"/>
                  <a:pt x="181567" y="395975"/>
                </a:cubicBezTo>
                <a:cubicBezTo>
                  <a:pt x="173763" y="395975"/>
                  <a:pt x="167311" y="389534"/>
                  <a:pt x="167461" y="381744"/>
                </a:cubicBezTo>
                <a:lnTo>
                  <a:pt x="167911" y="277633"/>
                </a:lnTo>
                <a:cubicBezTo>
                  <a:pt x="168061" y="259207"/>
                  <a:pt x="183067" y="244227"/>
                  <a:pt x="201525" y="244227"/>
                </a:cubicBezTo>
                <a:close/>
                <a:moveTo>
                  <a:pt x="34214" y="244227"/>
                </a:moveTo>
                <a:lnTo>
                  <a:pt x="110445" y="244227"/>
                </a:lnTo>
                <a:cubicBezTo>
                  <a:pt x="128902" y="244227"/>
                  <a:pt x="143908" y="259207"/>
                  <a:pt x="144059" y="277633"/>
                </a:cubicBezTo>
                <a:lnTo>
                  <a:pt x="144509" y="381744"/>
                </a:lnTo>
                <a:cubicBezTo>
                  <a:pt x="144659" y="389534"/>
                  <a:pt x="138206" y="395975"/>
                  <a:pt x="130403" y="395975"/>
                </a:cubicBezTo>
                <a:cubicBezTo>
                  <a:pt x="122600" y="395975"/>
                  <a:pt x="116147" y="389684"/>
                  <a:pt x="116147" y="381894"/>
                </a:cubicBezTo>
                <a:lnTo>
                  <a:pt x="115697" y="277782"/>
                </a:lnTo>
                <a:cubicBezTo>
                  <a:pt x="115547" y="276135"/>
                  <a:pt x="114346" y="274786"/>
                  <a:pt x="112696" y="274786"/>
                </a:cubicBezTo>
                <a:cubicBezTo>
                  <a:pt x="111045" y="274786"/>
                  <a:pt x="109694" y="276135"/>
                  <a:pt x="109694" y="277782"/>
                </a:cubicBezTo>
                <a:cubicBezTo>
                  <a:pt x="109694" y="343695"/>
                  <a:pt x="109995" y="452450"/>
                  <a:pt x="109995" y="516116"/>
                </a:cubicBezTo>
                <a:cubicBezTo>
                  <a:pt x="109995" y="525553"/>
                  <a:pt x="102341" y="533193"/>
                  <a:pt x="92888" y="533193"/>
                </a:cubicBezTo>
                <a:cubicBezTo>
                  <a:pt x="83584" y="533193"/>
                  <a:pt x="75931" y="525553"/>
                  <a:pt x="75931" y="516116"/>
                </a:cubicBezTo>
                <a:lnTo>
                  <a:pt x="75931" y="380096"/>
                </a:lnTo>
                <a:lnTo>
                  <a:pt x="68578" y="380096"/>
                </a:lnTo>
                <a:lnTo>
                  <a:pt x="68578" y="516116"/>
                </a:lnTo>
                <a:cubicBezTo>
                  <a:pt x="68578" y="525553"/>
                  <a:pt x="60925" y="533193"/>
                  <a:pt x="51471" y="533193"/>
                </a:cubicBezTo>
                <a:cubicBezTo>
                  <a:pt x="42017" y="533193"/>
                  <a:pt x="34364" y="525553"/>
                  <a:pt x="34364" y="516116"/>
                </a:cubicBezTo>
                <a:lnTo>
                  <a:pt x="34364" y="380096"/>
                </a:lnTo>
                <a:lnTo>
                  <a:pt x="34364" y="277782"/>
                </a:lnTo>
                <a:cubicBezTo>
                  <a:pt x="34364" y="276284"/>
                  <a:pt x="33163" y="275086"/>
                  <a:pt x="31663" y="275086"/>
                </a:cubicBezTo>
                <a:cubicBezTo>
                  <a:pt x="30162" y="274936"/>
                  <a:pt x="28962" y="276284"/>
                  <a:pt x="28962" y="277782"/>
                </a:cubicBezTo>
                <a:lnTo>
                  <a:pt x="28361" y="381894"/>
                </a:lnTo>
                <a:cubicBezTo>
                  <a:pt x="28361" y="389684"/>
                  <a:pt x="22059" y="395975"/>
                  <a:pt x="14256" y="395975"/>
                </a:cubicBezTo>
                <a:lnTo>
                  <a:pt x="14106" y="395975"/>
                </a:lnTo>
                <a:cubicBezTo>
                  <a:pt x="6302" y="395975"/>
                  <a:pt x="0" y="389534"/>
                  <a:pt x="0" y="381744"/>
                </a:cubicBezTo>
                <a:lnTo>
                  <a:pt x="600" y="277633"/>
                </a:lnTo>
                <a:cubicBezTo>
                  <a:pt x="600" y="259207"/>
                  <a:pt x="15756" y="244227"/>
                  <a:pt x="34214" y="244227"/>
                </a:cubicBezTo>
                <a:close/>
                <a:moveTo>
                  <a:pt x="298774" y="232090"/>
                </a:moveTo>
                <a:lnTo>
                  <a:pt x="346547" y="232090"/>
                </a:lnTo>
                <a:cubicBezTo>
                  <a:pt x="336331" y="236739"/>
                  <a:pt x="327768" y="244836"/>
                  <a:pt x="322660" y="254883"/>
                </a:cubicBezTo>
                <a:cubicBezTo>
                  <a:pt x="317552" y="244836"/>
                  <a:pt x="309140" y="236739"/>
                  <a:pt x="298774" y="232090"/>
                </a:cubicBezTo>
                <a:close/>
                <a:moveTo>
                  <a:pt x="405716" y="176061"/>
                </a:moveTo>
                <a:cubicBezTo>
                  <a:pt x="421987" y="176061"/>
                  <a:pt x="435177" y="189204"/>
                  <a:pt x="435177" y="205417"/>
                </a:cubicBezTo>
                <a:cubicBezTo>
                  <a:pt x="435177" y="221630"/>
                  <a:pt x="421987" y="234773"/>
                  <a:pt x="405716" y="234773"/>
                </a:cubicBezTo>
                <a:cubicBezTo>
                  <a:pt x="389445" y="234773"/>
                  <a:pt x="376255" y="221630"/>
                  <a:pt x="376255" y="205417"/>
                </a:cubicBezTo>
                <a:cubicBezTo>
                  <a:pt x="376255" y="189204"/>
                  <a:pt x="389445" y="176061"/>
                  <a:pt x="405716" y="176061"/>
                </a:cubicBezTo>
                <a:close/>
                <a:moveTo>
                  <a:pt x="239817" y="176061"/>
                </a:moveTo>
                <a:cubicBezTo>
                  <a:pt x="256049" y="176061"/>
                  <a:pt x="269208" y="189204"/>
                  <a:pt x="269208" y="205417"/>
                </a:cubicBezTo>
                <a:cubicBezTo>
                  <a:pt x="269208" y="221630"/>
                  <a:pt x="256049" y="234773"/>
                  <a:pt x="239817" y="234773"/>
                </a:cubicBezTo>
                <a:cubicBezTo>
                  <a:pt x="223585" y="234773"/>
                  <a:pt x="210426" y="221630"/>
                  <a:pt x="210426" y="205417"/>
                </a:cubicBezTo>
                <a:cubicBezTo>
                  <a:pt x="210426" y="189204"/>
                  <a:pt x="223585" y="176061"/>
                  <a:pt x="239817" y="176061"/>
                </a:cubicBezTo>
                <a:close/>
                <a:moveTo>
                  <a:pt x="72325" y="176061"/>
                </a:moveTo>
                <a:cubicBezTo>
                  <a:pt x="88687" y="176061"/>
                  <a:pt x="101897" y="189241"/>
                  <a:pt x="101897" y="205416"/>
                </a:cubicBezTo>
                <a:cubicBezTo>
                  <a:pt x="101897" y="221592"/>
                  <a:pt x="88687" y="234772"/>
                  <a:pt x="72325" y="234772"/>
                </a:cubicBezTo>
                <a:cubicBezTo>
                  <a:pt x="56113" y="234772"/>
                  <a:pt x="42904" y="221592"/>
                  <a:pt x="42904" y="205416"/>
                </a:cubicBezTo>
                <a:cubicBezTo>
                  <a:pt x="42904" y="189241"/>
                  <a:pt x="55963" y="176061"/>
                  <a:pt x="72325" y="176061"/>
                </a:cubicBezTo>
                <a:close/>
                <a:moveTo>
                  <a:pt x="1200" y="56241"/>
                </a:moveTo>
                <a:lnTo>
                  <a:pt x="384613" y="56241"/>
                </a:lnTo>
                <a:cubicBezTo>
                  <a:pt x="505414" y="56241"/>
                  <a:pt x="603405" y="154058"/>
                  <a:pt x="603405" y="274494"/>
                </a:cubicBezTo>
                <a:cubicBezTo>
                  <a:pt x="603405" y="308947"/>
                  <a:pt x="575493" y="336809"/>
                  <a:pt x="540979" y="336809"/>
                </a:cubicBezTo>
                <a:lnTo>
                  <a:pt x="494459" y="336809"/>
                </a:lnTo>
                <a:lnTo>
                  <a:pt x="494159" y="277490"/>
                </a:lnTo>
                <a:cubicBezTo>
                  <a:pt x="494009" y="257417"/>
                  <a:pt x="482004" y="240041"/>
                  <a:pt x="464747" y="232102"/>
                </a:cubicBezTo>
                <a:lnTo>
                  <a:pt x="551333" y="232102"/>
                </a:lnTo>
                <a:lnTo>
                  <a:pt x="551483" y="232102"/>
                </a:lnTo>
                <a:cubicBezTo>
                  <a:pt x="553884" y="232102"/>
                  <a:pt x="556285" y="230753"/>
                  <a:pt x="557636" y="228806"/>
                </a:cubicBezTo>
                <a:cubicBezTo>
                  <a:pt x="558986" y="226709"/>
                  <a:pt x="559136" y="224013"/>
                  <a:pt x="558236" y="221766"/>
                </a:cubicBezTo>
                <a:cubicBezTo>
                  <a:pt x="550283" y="203790"/>
                  <a:pt x="531825" y="165892"/>
                  <a:pt x="504663" y="136532"/>
                </a:cubicBezTo>
                <a:cubicBezTo>
                  <a:pt x="481704" y="111666"/>
                  <a:pt x="449440" y="97585"/>
                  <a:pt x="415676" y="97585"/>
                </a:cubicBezTo>
                <a:lnTo>
                  <a:pt x="397968" y="97585"/>
                </a:lnTo>
                <a:lnTo>
                  <a:pt x="397968" y="159900"/>
                </a:lnTo>
                <a:cubicBezTo>
                  <a:pt x="383712" y="162297"/>
                  <a:pt x="371707" y="171284"/>
                  <a:pt x="364954" y="183568"/>
                </a:cubicBezTo>
                <a:lnTo>
                  <a:pt x="364954" y="97585"/>
                </a:lnTo>
                <a:lnTo>
                  <a:pt x="174223" y="97585"/>
                </a:lnTo>
                <a:lnTo>
                  <a:pt x="174223" y="232102"/>
                </a:lnTo>
                <a:lnTo>
                  <a:pt x="180526" y="232102"/>
                </a:lnTo>
                <a:cubicBezTo>
                  <a:pt x="178425" y="233150"/>
                  <a:pt x="176324" y="234199"/>
                  <a:pt x="174223" y="235547"/>
                </a:cubicBezTo>
                <a:cubicBezTo>
                  <a:pt x="166420" y="240640"/>
                  <a:pt x="159967" y="247830"/>
                  <a:pt x="156065" y="256369"/>
                </a:cubicBezTo>
                <a:cubicBezTo>
                  <a:pt x="152614" y="249178"/>
                  <a:pt x="147512" y="242887"/>
                  <a:pt x="141209" y="238093"/>
                </a:cubicBezTo>
                <a:cubicBezTo>
                  <a:pt x="138208" y="235697"/>
                  <a:pt x="134906" y="233749"/>
                  <a:pt x="131455" y="232102"/>
                </a:cubicBezTo>
                <a:lnTo>
                  <a:pt x="141209" y="232102"/>
                </a:lnTo>
                <a:lnTo>
                  <a:pt x="141209" y="97585"/>
                </a:lnTo>
                <a:lnTo>
                  <a:pt x="1200" y="97585"/>
                </a:lnTo>
                <a:close/>
                <a:moveTo>
                  <a:pt x="30337" y="0"/>
                </a:moveTo>
                <a:lnTo>
                  <a:pt x="450496" y="0"/>
                </a:lnTo>
                <a:cubicBezTo>
                  <a:pt x="459649" y="0"/>
                  <a:pt x="467002" y="7356"/>
                  <a:pt x="467002" y="16512"/>
                </a:cubicBezTo>
                <a:cubicBezTo>
                  <a:pt x="467002" y="25669"/>
                  <a:pt x="459649" y="33025"/>
                  <a:pt x="450496" y="33025"/>
                </a:cubicBezTo>
                <a:lnTo>
                  <a:pt x="30337" y="33025"/>
                </a:lnTo>
                <a:cubicBezTo>
                  <a:pt x="21184" y="33025"/>
                  <a:pt x="13831" y="25669"/>
                  <a:pt x="13831" y="16512"/>
                </a:cubicBezTo>
                <a:cubicBezTo>
                  <a:pt x="13831" y="7356"/>
                  <a:pt x="21184" y="0"/>
                  <a:pt x="30337" y="0"/>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endParaRPr lang="zh-CN" altLang="en-US">
              <a:solidFill>
                <a:srgbClr val="000000"/>
              </a:solidFill>
              <a:latin typeface="Arial" panose="020F0502020204030204"/>
              <a:ea typeface="微软雅黑"/>
              <a:cs typeface="+mn-ea"/>
              <a:sym typeface="+mn-lt"/>
            </a:endParaRPr>
          </a:p>
        </p:txBody>
      </p:sp>
      <p:sp>
        <p:nvSpPr>
          <p:cNvPr id="3" name="文本框 2">
            <a:extLst>
              <a:ext uri="{FF2B5EF4-FFF2-40B4-BE49-F238E27FC236}">
                <a16:creationId xmlns:a16="http://schemas.microsoft.com/office/drawing/2014/main" id="{DAF37924-A515-6173-6BE6-36E118D56854}"/>
              </a:ext>
            </a:extLst>
          </p:cNvPr>
          <p:cNvSpPr txBox="1"/>
          <p:nvPr/>
        </p:nvSpPr>
        <p:spPr>
          <a:xfrm>
            <a:off x="927758" y="1157536"/>
            <a:ext cx="10478806" cy="1754326"/>
          </a:xfrm>
          <a:prstGeom prst="rect">
            <a:avLst/>
          </a:prstGeom>
          <a:noFill/>
        </p:spPr>
        <p:txBody>
          <a:bodyPr wrap="square">
            <a:spAutoFit/>
          </a:bodyPr>
          <a:lstStyle/>
          <a:p>
            <a:pPr algn="l"/>
            <a:r>
              <a:rPr lang="zh-CN" altLang="en-US" dirty="0"/>
              <a:t>现状： 现有的蛋白质语言模型（如 </a:t>
            </a:r>
            <a:r>
              <a:rPr lang="en-US" altLang="zh-CN" dirty="0"/>
              <a:t>ESM </a:t>
            </a:r>
            <a:r>
              <a:rPr lang="zh-CN" altLang="en-US" dirty="0"/>
              <a:t>系列）大多只基于 </a:t>
            </a:r>
            <a:r>
              <a:rPr lang="en-US" altLang="zh-CN" dirty="0"/>
              <a:t>1D </a:t>
            </a:r>
            <a:r>
              <a:rPr lang="zh-CN" altLang="en-US" dirty="0"/>
              <a:t>氨基酸序列进行训练。虽然取得了巨大成功，但蛋白质的功能是由其 </a:t>
            </a:r>
            <a:r>
              <a:rPr lang="en-US" altLang="zh-CN" dirty="0"/>
              <a:t>3D </a:t>
            </a:r>
            <a:r>
              <a:rPr lang="zh-CN" altLang="en-US" dirty="0"/>
              <a:t>结构决定的。只看序列不看结构，显然丢失了关键信息。</a:t>
            </a:r>
            <a:endParaRPr lang="en-US" altLang="zh-CN" dirty="0"/>
          </a:p>
          <a:p>
            <a:pPr algn="l"/>
            <a:endParaRPr lang="zh-CN" altLang="en-US" dirty="0"/>
          </a:p>
          <a:p>
            <a:pPr algn="l"/>
            <a:r>
              <a:rPr lang="zh-CN" altLang="en-US" dirty="0"/>
              <a:t>挑战： 随着 </a:t>
            </a:r>
            <a:r>
              <a:rPr lang="en-US" altLang="zh-CN" dirty="0"/>
              <a:t>AlphaFold 2 </a:t>
            </a:r>
            <a:r>
              <a:rPr lang="zh-CN" altLang="en-US" dirty="0"/>
              <a:t>的出现，我们有了海量的预测结构数据，但如何利用它们是个难题。直接将连续的 </a:t>
            </a:r>
            <a:r>
              <a:rPr lang="en-US" altLang="zh-CN" dirty="0"/>
              <a:t>3D </a:t>
            </a:r>
            <a:r>
              <a:rPr lang="zh-CN" altLang="en-US" dirty="0"/>
              <a:t>坐标系塞进专为离散序列设计的标准 </a:t>
            </a:r>
            <a:r>
              <a:rPr lang="en-US" altLang="zh-CN" dirty="0"/>
              <a:t>Transformer </a:t>
            </a:r>
            <a:r>
              <a:rPr lang="zh-CN" altLang="en-US" dirty="0"/>
              <a:t>中不仅计算成本高，而且容易导致模型对 </a:t>
            </a:r>
            <a:r>
              <a:rPr lang="en-US" altLang="zh-CN" dirty="0"/>
              <a:t>AF2 </a:t>
            </a:r>
            <a:r>
              <a:rPr lang="zh-CN" altLang="en-US" dirty="0"/>
              <a:t>的预测假象过拟合。</a:t>
            </a:r>
          </a:p>
        </p:txBody>
      </p:sp>
      <p:sp>
        <p:nvSpPr>
          <p:cNvPr id="4" name="文本框 3">
            <a:extLst>
              <a:ext uri="{FF2B5EF4-FFF2-40B4-BE49-F238E27FC236}">
                <a16:creationId xmlns:a16="http://schemas.microsoft.com/office/drawing/2014/main" id="{6D8BADFE-1652-3543-1183-02820AB2B2FA}"/>
              </a:ext>
            </a:extLst>
          </p:cNvPr>
          <p:cNvSpPr txBox="1"/>
          <p:nvPr/>
        </p:nvSpPr>
        <p:spPr>
          <a:xfrm>
            <a:off x="927758" y="3320928"/>
            <a:ext cx="10220296" cy="923330"/>
          </a:xfrm>
          <a:prstGeom prst="rect">
            <a:avLst/>
          </a:prstGeom>
          <a:noFill/>
        </p:spPr>
        <p:txBody>
          <a:bodyPr wrap="square" rtlCol="0">
            <a:spAutoFit/>
          </a:bodyPr>
          <a:lstStyle/>
          <a:p>
            <a:r>
              <a:rPr lang="en-US" altLang="zh-CN" dirty="0" err="1"/>
              <a:t>ProSST</a:t>
            </a:r>
            <a:r>
              <a:rPr lang="en-US" altLang="zh-CN" dirty="0"/>
              <a:t> </a:t>
            </a:r>
            <a:r>
              <a:rPr lang="zh-CN" altLang="en-US" dirty="0"/>
              <a:t>的解法： 把连续的 </a:t>
            </a:r>
            <a:r>
              <a:rPr lang="en-US" altLang="zh-CN" dirty="0"/>
              <a:t>3D </a:t>
            </a:r>
            <a:r>
              <a:rPr lang="zh-CN" altLang="en-US" dirty="0"/>
              <a:t>结构离散化，并用一种特殊的“解耦注意力” 机制将序列 </a:t>
            </a:r>
            <a:r>
              <a:rPr lang="en-US" altLang="zh-CN" dirty="0"/>
              <a:t>Token </a:t>
            </a:r>
            <a:r>
              <a:rPr lang="zh-CN" altLang="en-US" dirty="0"/>
              <a:t>和结构 </a:t>
            </a:r>
            <a:r>
              <a:rPr lang="en-US" altLang="zh-CN" dirty="0"/>
              <a:t>Token </a:t>
            </a:r>
            <a:r>
              <a:rPr lang="zh-CN" altLang="en-US" dirty="0"/>
              <a:t>完美融合。</a:t>
            </a:r>
          </a:p>
          <a:p>
            <a:endParaRPr lang="zh-CN" altLang="en-US" dirty="0"/>
          </a:p>
        </p:txBody>
      </p:sp>
    </p:spTree>
    <p:extLst>
      <p:ext uri="{BB962C8B-B14F-4D97-AF65-F5344CB8AC3E}">
        <p14:creationId xmlns:p14="http://schemas.microsoft.com/office/powerpoint/2010/main" val="3118952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ABAB8-9D3E-80F4-0FCD-0B832161B9F2}"/>
            </a:ext>
          </a:extLst>
        </p:cNvPr>
        <p:cNvGrpSpPr/>
        <p:nvPr/>
      </p:nvGrpSpPr>
      <p:grpSpPr>
        <a:xfrm>
          <a:off x="0" y="0"/>
          <a:ext cx="0" cy="0"/>
          <a:chOff x="0" y="0"/>
          <a:chExt cx="0" cy="0"/>
        </a:xfrm>
      </p:grpSpPr>
      <p:grpSp>
        <p:nvGrpSpPr>
          <p:cNvPr id="20" name="组合 19">
            <a:extLst>
              <a:ext uri="{FF2B5EF4-FFF2-40B4-BE49-F238E27FC236}">
                <a16:creationId xmlns:a16="http://schemas.microsoft.com/office/drawing/2014/main" id="{6F1E3FAE-9012-B641-BDAE-38B5EF8A6208}"/>
              </a:ext>
            </a:extLst>
          </p:cNvPr>
          <p:cNvGrpSpPr/>
          <p:nvPr/>
        </p:nvGrpSpPr>
        <p:grpSpPr>
          <a:xfrm>
            <a:off x="286653" y="116633"/>
            <a:ext cx="11618694" cy="6681374"/>
            <a:chOff x="286653" y="116633"/>
            <a:chExt cx="11618694" cy="6681374"/>
          </a:xfrm>
        </p:grpSpPr>
        <p:grpSp>
          <p:nvGrpSpPr>
            <p:cNvPr id="21" name="组合 20">
              <a:extLst>
                <a:ext uri="{FF2B5EF4-FFF2-40B4-BE49-F238E27FC236}">
                  <a16:creationId xmlns:a16="http://schemas.microsoft.com/office/drawing/2014/main" id="{65CB3C52-44B5-5362-F744-7755E46230EA}"/>
                </a:ext>
              </a:extLst>
            </p:cNvPr>
            <p:cNvGrpSpPr/>
            <p:nvPr/>
          </p:nvGrpSpPr>
          <p:grpSpPr>
            <a:xfrm>
              <a:off x="335361" y="116633"/>
              <a:ext cx="629872" cy="612768"/>
              <a:chOff x="3070727" y="196457"/>
              <a:chExt cx="692047" cy="673255"/>
            </a:xfrm>
          </p:grpSpPr>
          <p:sp>
            <p:nvSpPr>
              <p:cNvPr id="26" name="平行四边形 25">
                <a:extLst>
                  <a:ext uri="{FF2B5EF4-FFF2-40B4-BE49-F238E27FC236}">
                    <a16:creationId xmlns:a16="http://schemas.microsoft.com/office/drawing/2014/main" id="{0424A10A-06E6-9426-602B-FAB443510CA5}"/>
                  </a:ext>
                </a:extLst>
              </p:cNvPr>
              <p:cNvSpPr/>
              <p:nvPr/>
            </p:nvSpPr>
            <p:spPr>
              <a:xfrm>
                <a:off x="3070727" y="196457"/>
                <a:ext cx="629587" cy="612775"/>
              </a:xfrm>
              <a:prstGeom prst="parallelogram">
                <a:avLst/>
              </a:prstGeom>
              <a:solidFill>
                <a:srgbClr val="6B0261"/>
              </a:solidFill>
              <a:ln w="25400" cap="flat" cmpd="sng" algn="ctr">
                <a:solidFill>
                  <a:srgbClr val="6B026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27" name="平行四边形 26">
                <a:extLst>
                  <a:ext uri="{FF2B5EF4-FFF2-40B4-BE49-F238E27FC236}">
                    <a16:creationId xmlns:a16="http://schemas.microsoft.com/office/drawing/2014/main" id="{FFA3B723-189F-5757-E6EA-92F92919BF9A}"/>
                  </a:ext>
                </a:extLst>
              </p:cNvPr>
              <p:cNvSpPr/>
              <p:nvPr/>
            </p:nvSpPr>
            <p:spPr>
              <a:xfrm>
                <a:off x="3133187" y="256937"/>
                <a:ext cx="629587" cy="612775"/>
              </a:xfrm>
              <a:prstGeom prst="parallelogram">
                <a:avLst/>
              </a:prstGeom>
              <a:noFill/>
              <a:ln w="25400" cap="flat" cmpd="sng" algn="ctr">
                <a:solidFill>
                  <a:srgbClr val="6B026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cxnSp>
          <p:nvCxnSpPr>
            <p:cNvPr id="22" name="直接连接符 21">
              <a:extLst>
                <a:ext uri="{FF2B5EF4-FFF2-40B4-BE49-F238E27FC236}">
                  <a16:creationId xmlns:a16="http://schemas.microsoft.com/office/drawing/2014/main" id="{229A88E8-61B0-5458-1D94-3954F00FF2D8}"/>
                </a:ext>
              </a:extLst>
            </p:cNvPr>
            <p:cNvCxnSpPr>
              <a:cxnSpLocks/>
            </p:cNvCxnSpPr>
            <p:nvPr/>
          </p:nvCxnSpPr>
          <p:spPr>
            <a:xfrm>
              <a:off x="367840" y="809674"/>
              <a:ext cx="11488800" cy="0"/>
            </a:xfrm>
            <a:prstGeom prst="line">
              <a:avLst/>
            </a:prstGeom>
            <a:noFill/>
            <a:ln w="9525" cap="flat" cmpd="sng" algn="ctr">
              <a:solidFill>
                <a:srgbClr val="6B0261"/>
              </a:solidFill>
              <a:prstDash val="solid"/>
            </a:ln>
            <a:effectLst/>
          </p:spPr>
        </p:cxnSp>
        <p:sp>
          <p:nvSpPr>
            <p:cNvPr id="23" name="文本占位符 5">
              <a:extLst>
                <a:ext uri="{FF2B5EF4-FFF2-40B4-BE49-F238E27FC236}">
                  <a16:creationId xmlns:a16="http://schemas.microsoft.com/office/drawing/2014/main" id="{587BEF87-7953-7AF4-019B-93DC6F0597C3}"/>
                </a:ext>
              </a:extLst>
            </p:cNvPr>
            <p:cNvSpPr txBox="1">
              <a:spLocks/>
            </p:cNvSpPr>
            <p:nvPr/>
          </p:nvSpPr>
          <p:spPr>
            <a:xfrm>
              <a:off x="1075777" y="214065"/>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rgbClr val="6B0261"/>
                  </a:solidFill>
                </a:rPr>
                <a:t>研究内容</a:t>
              </a:r>
            </a:p>
          </p:txBody>
        </p:sp>
        <p:sp>
          <p:nvSpPr>
            <p:cNvPr id="24" name="文本框 23">
              <a:extLst>
                <a:ext uri="{FF2B5EF4-FFF2-40B4-BE49-F238E27FC236}">
                  <a16:creationId xmlns:a16="http://schemas.microsoft.com/office/drawing/2014/main" id="{F2573A8C-4D43-18F7-49A3-4CCA9A93A43D}"/>
                </a:ext>
              </a:extLst>
            </p:cNvPr>
            <p:cNvSpPr txBox="1"/>
            <p:nvPr/>
          </p:nvSpPr>
          <p:spPr>
            <a:xfrm>
              <a:off x="10805366" y="642867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25" name="图片 24">
              <a:extLst>
                <a:ext uri="{FF2B5EF4-FFF2-40B4-BE49-F238E27FC236}">
                  <a16:creationId xmlns:a16="http://schemas.microsoft.com/office/drawing/2014/main" id="{3D3A8F1A-E34E-2A63-EA50-3DB75AE7B1B8}"/>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a:stretch/>
          </p:blipFill>
          <p:spPr>
            <a:xfrm>
              <a:off x="286653" y="6425619"/>
              <a:ext cx="2520534" cy="369332"/>
            </a:xfrm>
            <a:prstGeom prst="rect">
              <a:avLst/>
            </a:prstGeom>
          </p:spPr>
        </p:pic>
      </p:grpSp>
      <p:grpSp>
        <p:nvGrpSpPr>
          <p:cNvPr id="51" name="组合 50">
            <a:extLst>
              <a:ext uri="{FF2B5EF4-FFF2-40B4-BE49-F238E27FC236}">
                <a16:creationId xmlns:a16="http://schemas.microsoft.com/office/drawing/2014/main" id="{305F1B7C-1903-15C2-A756-5250779B2F05}"/>
              </a:ext>
            </a:extLst>
          </p:cNvPr>
          <p:cNvGrpSpPr/>
          <p:nvPr/>
        </p:nvGrpSpPr>
        <p:grpSpPr>
          <a:xfrm>
            <a:off x="9938479" y="77827"/>
            <a:ext cx="2017490" cy="675447"/>
            <a:chOff x="995884" y="398899"/>
            <a:chExt cx="3658781" cy="1224944"/>
          </a:xfrm>
        </p:grpSpPr>
        <p:pic>
          <p:nvPicPr>
            <p:cNvPr id="52" name="图片 51">
              <a:extLst>
                <a:ext uri="{FF2B5EF4-FFF2-40B4-BE49-F238E27FC236}">
                  <a16:creationId xmlns:a16="http://schemas.microsoft.com/office/drawing/2014/main" id="{EFB49216-E90F-8ABD-129A-F22C308FE8A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95884" y="398899"/>
              <a:ext cx="977348" cy="1224944"/>
            </a:xfrm>
            <a:prstGeom prst="rect">
              <a:avLst/>
            </a:prstGeom>
          </p:spPr>
        </p:pic>
        <p:pic>
          <p:nvPicPr>
            <p:cNvPr id="53" name="图片 52">
              <a:extLst>
                <a:ext uri="{FF2B5EF4-FFF2-40B4-BE49-F238E27FC236}">
                  <a16:creationId xmlns:a16="http://schemas.microsoft.com/office/drawing/2014/main" id="{1D2AA713-5FC6-B374-2CF9-7408CF3D56CF}"/>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173707" y="405382"/>
              <a:ext cx="2384890" cy="796233"/>
            </a:xfrm>
            <a:prstGeom prst="rect">
              <a:avLst/>
            </a:prstGeom>
          </p:spPr>
        </p:pic>
        <p:sp>
          <p:nvSpPr>
            <p:cNvPr id="54" name="矩形 53">
              <a:extLst>
                <a:ext uri="{FF2B5EF4-FFF2-40B4-BE49-F238E27FC236}">
                  <a16:creationId xmlns:a16="http://schemas.microsoft.com/office/drawing/2014/main" id="{B20381C5-C901-68F0-F901-F3BCA850AD44}"/>
                </a:ext>
              </a:extLst>
            </p:cNvPr>
            <p:cNvSpPr/>
            <p:nvPr/>
          </p:nvSpPr>
          <p:spPr>
            <a:xfrm>
              <a:off x="2069306" y="1138524"/>
              <a:ext cx="2585359" cy="46048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rPr>
                <a:t>NANJING UNIVERSITY</a:t>
              </a:r>
              <a:endParaRPr kumimoji="0" lang="zh-CN" altLang="en-US" sz="105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endParaRPr>
            </a:p>
          </p:txBody>
        </p:sp>
      </p:grpSp>
      <p:sp>
        <p:nvSpPr>
          <p:cNvPr id="31" name="íŝḷïḓè">
            <a:extLst>
              <a:ext uri="{FF2B5EF4-FFF2-40B4-BE49-F238E27FC236}">
                <a16:creationId xmlns:a16="http://schemas.microsoft.com/office/drawing/2014/main" id="{16290456-EBDA-ADA4-702A-2CB9449162D1}"/>
              </a:ext>
            </a:extLst>
          </p:cNvPr>
          <p:cNvSpPr/>
          <p:nvPr/>
        </p:nvSpPr>
        <p:spPr bwMode="auto">
          <a:xfrm>
            <a:off x="5828824" y="4147130"/>
            <a:ext cx="338337" cy="366161"/>
          </a:xfrm>
          <a:custGeom>
            <a:avLst/>
            <a:gdLst>
              <a:gd name="connsiteX0" fmla="*/ 327780 w 561933"/>
              <a:gd name="connsiteY0" fmla="*/ 406780 h 608145"/>
              <a:gd name="connsiteX1" fmla="*/ 285069 w 561933"/>
              <a:gd name="connsiteY1" fmla="*/ 449434 h 608145"/>
              <a:gd name="connsiteX2" fmla="*/ 327780 w 561933"/>
              <a:gd name="connsiteY2" fmla="*/ 492088 h 608145"/>
              <a:gd name="connsiteX3" fmla="*/ 370490 w 561933"/>
              <a:gd name="connsiteY3" fmla="*/ 449434 h 608145"/>
              <a:gd name="connsiteX4" fmla="*/ 327780 w 561933"/>
              <a:gd name="connsiteY4" fmla="*/ 406780 h 608145"/>
              <a:gd name="connsiteX5" fmla="*/ 91381 w 561933"/>
              <a:gd name="connsiteY5" fmla="*/ 406780 h 608145"/>
              <a:gd name="connsiteX6" fmla="*/ 49664 w 561933"/>
              <a:gd name="connsiteY6" fmla="*/ 449434 h 608145"/>
              <a:gd name="connsiteX7" fmla="*/ 91381 w 561933"/>
              <a:gd name="connsiteY7" fmla="*/ 492088 h 608145"/>
              <a:gd name="connsiteX8" fmla="*/ 134092 w 561933"/>
              <a:gd name="connsiteY8" fmla="*/ 449434 h 608145"/>
              <a:gd name="connsiteX9" fmla="*/ 91381 w 561933"/>
              <a:gd name="connsiteY9" fmla="*/ 406780 h 608145"/>
              <a:gd name="connsiteX10" fmla="*/ 130119 w 561933"/>
              <a:gd name="connsiteY10" fmla="*/ 162762 h 608145"/>
              <a:gd name="connsiteX11" fmla="*/ 50657 w 561933"/>
              <a:gd name="connsiteY11" fmla="*/ 243110 h 608145"/>
              <a:gd name="connsiteX12" fmla="*/ 50657 w 561933"/>
              <a:gd name="connsiteY12" fmla="*/ 312546 h 608145"/>
              <a:gd name="connsiteX13" fmla="*/ 78468 w 561933"/>
              <a:gd name="connsiteY13" fmla="*/ 341312 h 608145"/>
              <a:gd name="connsiteX14" fmla="*/ 340692 w 561933"/>
              <a:gd name="connsiteY14" fmla="*/ 341312 h 608145"/>
              <a:gd name="connsiteX15" fmla="*/ 369497 w 561933"/>
              <a:gd name="connsiteY15" fmla="*/ 312546 h 608145"/>
              <a:gd name="connsiteX16" fmla="*/ 369497 w 561933"/>
              <a:gd name="connsiteY16" fmla="*/ 243110 h 608145"/>
              <a:gd name="connsiteX17" fmla="*/ 289042 w 561933"/>
              <a:gd name="connsiteY17" fmla="*/ 162762 h 608145"/>
              <a:gd name="connsiteX18" fmla="*/ 127139 w 561933"/>
              <a:gd name="connsiteY18" fmla="*/ 99278 h 608145"/>
              <a:gd name="connsiteX19" fmla="*/ 293015 w 561933"/>
              <a:gd name="connsiteY19" fmla="*/ 99278 h 608145"/>
              <a:gd name="connsiteX20" fmla="*/ 420154 w 561933"/>
              <a:gd name="connsiteY20" fmla="*/ 226247 h 608145"/>
              <a:gd name="connsiteX21" fmla="*/ 420154 w 561933"/>
              <a:gd name="connsiteY21" fmla="*/ 486136 h 608145"/>
              <a:gd name="connsiteX22" fmla="*/ 382410 w 561933"/>
              <a:gd name="connsiteY22" fmla="*/ 541685 h 608145"/>
              <a:gd name="connsiteX23" fmla="*/ 382410 w 561933"/>
              <a:gd name="connsiteY23" fmla="*/ 561524 h 608145"/>
              <a:gd name="connsiteX24" fmla="*/ 334733 w 561933"/>
              <a:gd name="connsiteY24" fmla="*/ 608145 h 608145"/>
              <a:gd name="connsiteX25" fmla="*/ 326786 w 561933"/>
              <a:gd name="connsiteY25" fmla="*/ 608145 h 608145"/>
              <a:gd name="connsiteX26" fmla="*/ 280103 w 561933"/>
              <a:gd name="connsiteY26" fmla="*/ 561524 h 608145"/>
              <a:gd name="connsiteX27" fmla="*/ 280103 w 561933"/>
              <a:gd name="connsiteY27" fmla="*/ 544661 h 608145"/>
              <a:gd name="connsiteX28" fmla="*/ 140051 w 561933"/>
              <a:gd name="connsiteY28" fmla="*/ 544661 h 608145"/>
              <a:gd name="connsiteX29" fmla="*/ 140051 w 561933"/>
              <a:gd name="connsiteY29" fmla="*/ 561524 h 608145"/>
              <a:gd name="connsiteX30" fmla="*/ 92374 w 561933"/>
              <a:gd name="connsiteY30" fmla="*/ 608145 h 608145"/>
              <a:gd name="connsiteX31" fmla="*/ 84428 w 561933"/>
              <a:gd name="connsiteY31" fmla="*/ 608145 h 608145"/>
              <a:gd name="connsiteX32" fmla="*/ 37744 w 561933"/>
              <a:gd name="connsiteY32" fmla="*/ 561524 h 608145"/>
              <a:gd name="connsiteX33" fmla="*/ 37744 w 561933"/>
              <a:gd name="connsiteY33" fmla="*/ 541685 h 608145"/>
              <a:gd name="connsiteX34" fmla="*/ 0 w 561933"/>
              <a:gd name="connsiteY34" fmla="*/ 486136 h 608145"/>
              <a:gd name="connsiteX35" fmla="*/ 0 w 561933"/>
              <a:gd name="connsiteY35" fmla="*/ 226247 h 608145"/>
              <a:gd name="connsiteX36" fmla="*/ 127139 w 561933"/>
              <a:gd name="connsiteY36" fmla="*/ 99278 h 608145"/>
              <a:gd name="connsiteX37" fmla="*/ 408232 w 561933"/>
              <a:gd name="connsiteY37" fmla="*/ 74504 h 608145"/>
              <a:gd name="connsiteX38" fmla="*/ 424139 w 561933"/>
              <a:gd name="connsiteY38" fmla="*/ 75495 h 608145"/>
              <a:gd name="connsiteX39" fmla="*/ 486772 w 561933"/>
              <a:gd name="connsiteY39" fmla="*/ 185587 h 608145"/>
              <a:gd name="connsiteX40" fmla="*/ 479813 w 561933"/>
              <a:gd name="connsiteY40" fmla="*/ 199473 h 608145"/>
              <a:gd name="connsiteX41" fmla="*/ 464901 w 561933"/>
              <a:gd name="connsiteY41" fmla="*/ 202448 h 608145"/>
              <a:gd name="connsiteX42" fmla="*/ 462912 w 561933"/>
              <a:gd name="connsiteY42" fmla="*/ 201456 h 608145"/>
              <a:gd name="connsiteX43" fmla="*/ 448994 w 561933"/>
              <a:gd name="connsiteY43" fmla="*/ 183604 h 608145"/>
              <a:gd name="connsiteX44" fmla="*/ 406244 w 561933"/>
              <a:gd name="connsiteY44" fmla="*/ 109217 h 608145"/>
              <a:gd name="connsiteX45" fmla="*/ 397296 w 561933"/>
              <a:gd name="connsiteY45" fmla="*/ 89381 h 608145"/>
              <a:gd name="connsiteX46" fmla="*/ 398291 w 561933"/>
              <a:gd name="connsiteY46" fmla="*/ 87397 h 608145"/>
              <a:gd name="connsiteX47" fmla="*/ 408232 w 561933"/>
              <a:gd name="connsiteY47" fmla="*/ 74504 h 608145"/>
              <a:gd name="connsiteX48" fmla="*/ 439969 w 561933"/>
              <a:gd name="connsiteY48" fmla="*/ 1081 h 608145"/>
              <a:gd name="connsiteX49" fmla="*/ 560176 w 561933"/>
              <a:gd name="connsiteY49" fmla="*/ 205408 h 608145"/>
              <a:gd name="connsiteX50" fmla="*/ 552228 w 561933"/>
              <a:gd name="connsiteY50" fmla="*/ 217311 h 608145"/>
              <a:gd name="connsiteX51" fmla="*/ 537326 w 561933"/>
              <a:gd name="connsiteY51" fmla="*/ 220286 h 608145"/>
              <a:gd name="connsiteX52" fmla="*/ 535340 w 561933"/>
              <a:gd name="connsiteY52" fmla="*/ 219294 h 608145"/>
              <a:gd name="connsiteX53" fmla="*/ 522425 w 561933"/>
              <a:gd name="connsiteY53" fmla="*/ 199457 h 608145"/>
              <a:gd name="connsiteX54" fmla="*/ 426061 w 561933"/>
              <a:gd name="connsiteY54" fmla="*/ 36788 h 608145"/>
              <a:gd name="connsiteX55" fmla="*/ 416126 w 561933"/>
              <a:gd name="connsiteY55" fmla="*/ 15959 h 608145"/>
              <a:gd name="connsiteX56" fmla="*/ 416126 w 561933"/>
              <a:gd name="connsiteY56" fmla="*/ 13975 h 608145"/>
              <a:gd name="connsiteX57" fmla="*/ 425067 w 561933"/>
              <a:gd name="connsiteY57" fmla="*/ 2073 h 608145"/>
              <a:gd name="connsiteX58" fmla="*/ 439969 w 561933"/>
              <a:gd name="connsiteY58" fmla="*/ 1081 h 608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61933" h="608145">
                <a:moveTo>
                  <a:pt x="327780" y="406780"/>
                </a:moveTo>
                <a:cubicBezTo>
                  <a:pt x="303941" y="406780"/>
                  <a:pt x="285069" y="425627"/>
                  <a:pt x="285069" y="449434"/>
                </a:cubicBezTo>
                <a:cubicBezTo>
                  <a:pt x="285069" y="473241"/>
                  <a:pt x="303941" y="492088"/>
                  <a:pt x="327780" y="492088"/>
                </a:cubicBezTo>
                <a:cubicBezTo>
                  <a:pt x="350625" y="492088"/>
                  <a:pt x="370490" y="473241"/>
                  <a:pt x="370490" y="449434"/>
                </a:cubicBezTo>
                <a:cubicBezTo>
                  <a:pt x="370490" y="425627"/>
                  <a:pt x="350625" y="406780"/>
                  <a:pt x="327780" y="406780"/>
                </a:cubicBezTo>
                <a:close/>
                <a:moveTo>
                  <a:pt x="91381" y="406780"/>
                </a:moveTo>
                <a:cubicBezTo>
                  <a:pt x="68536" y="406780"/>
                  <a:pt x="49664" y="425627"/>
                  <a:pt x="49664" y="449434"/>
                </a:cubicBezTo>
                <a:cubicBezTo>
                  <a:pt x="49664" y="473241"/>
                  <a:pt x="68536" y="492088"/>
                  <a:pt x="91381" y="492088"/>
                </a:cubicBezTo>
                <a:cubicBezTo>
                  <a:pt x="115220" y="492088"/>
                  <a:pt x="134092" y="473241"/>
                  <a:pt x="134092" y="449434"/>
                </a:cubicBezTo>
                <a:cubicBezTo>
                  <a:pt x="134092" y="425627"/>
                  <a:pt x="115220" y="406780"/>
                  <a:pt x="91381" y="406780"/>
                </a:cubicBezTo>
                <a:close/>
                <a:moveTo>
                  <a:pt x="130119" y="162762"/>
                </a:moveTo>
                <a:cubicBezTo>
                  <a:pt x="86415" y="162762"/>
                  <a:pt x="50657" y="198472"/>
                  <a:pt x="50657" y="243110"/>
                </a:cubicBezTo>
                <a:lnTo>
                  <a:pt x="50657" y="312546"/>
                </a:lnTo>
                <a:cubicBezTo>
                  <a:pt x="50657" y="328417"/>
                  <a:pt x="62576" y="341312"/>
                  <a:pt x="78468" y="341312"/>
                </a:cubicBezTo>
                <a:lnTo>
                  <a:pt x="340692" y="341312"/>
                </a:lnTo>
                <a:cubicBezTo>
                  <a:pt x="356585" y="341312"/>
                  <a:pt x="369497" y="328417"/>
                  <a:pt x="369497" y="312546"/>
                </a:cubicBezTo>
                <a:lnTo>
                  <a:pt x="369497" y="243110"/>
                </a:lnTo>
                <a:cubicBezTo>
                  <a:pt x="369497" y="198472"/>
                  <a:pt x="332746" y="162762"/>
                  <a:pt x="289042" y="162762"/>
                </a:cubicBezTo>
                <a:close/>
                <a:moveTo>
                  <a:pt x="127139" y="99278"/>
                </a:moveTo>
                <a:lnTo>
                  <a:pt x="293015" y="99278"/>
                </a:lnTo>
                <a:cubicBezTo>
                  <a:pt x="363538" y="99278"/>
                  <a:pt x="420154" y="155819"/>
                  <a:pt x="420154" y="226247"/>
                </a:cubicBezTo>
                <a:lnTo>
                  <a:pt x="420154" y="486136"/>
                </a:lnTo>
                <a:cubicBezTo>
                  <a:pt x="420154" y="511926"/>
                  <a:pt x="404262" y="532757"/>
                  <a:pt x="382410" y="541685"/>
                </a:cubicBezTo>
                <a:lnTo>
                  <a:pt x="382410" y="561524"/>
                </a:lnTo>
                <a:cubicBezTo>
                  <a:pt x="382410" y="587314"/>
                  <a:pt x="360558" y="608145"/>
                  <a:pt x="334733" y="608145"/>
                </a:cubicBezTo>
                <a:lnTo>
                  <a:pt x="326786" y="608145"/>
                </a:lnTo>
                <a:cubicBezTo>
                  <a:pt x="300961" y="608145"/>
                  <a:pt x="280103" y="587314"/>
                  <a:pt x="280103" y="561524"/>
                </a:cubicBezTo>
                <a:lnTo>
                  <a:pt x="280103" y="544661"/>
                </a:lnTo>
                <a:lnTo>
                  <a:pt x="140051" y="544661"/>
                </a:lnTo>
                <a:lnTo>
                  <a:pt x="140051" y="561524"/>
                </a:lnTo>
                <a:cubicBezTo>
                  <a:pt x="140051" y="587314"/>
                  <a:pt x="118199" y="608145"/>
                  <a:pt x="92374" y="608145"/>
                </a:cubicBezTo>
                <a:lnTo>
                  <a:pt x="84428" y="608145"/>
                </a:lnTo>
                <a:cubicBezTo>
                  <a:pt x="58603" y="608145"/>
                  <a:pt x="37744" y="587314"/>
                  <a:pt x="37744" y="561524"/>
                </a:cubicBezTo>
                <a:lnTo>
                  <a:pt x="37744" y="541685"/>
                </a:lnTo>
                <a:cubicBezTo>
                  <a:pt x="14899" y="532757"/>
                  <a:pt x="0" y="511926"/>
                  <a:pt x="0" y="486136"/>
                </a:cubicBezTo>
                <a:lnTo>
                  <a:pt x="0" y="226247"/>
                </a:lnTo>
                <a:cubicBezTo>
                  <a:pt x="0" y="155819"/>
                  <a:pt x="56616" y="99278"/>
                  <a:pt x="127139" y="99278"/>
                </a:cubicBezTo>
                <a:close/>
                <a:moveTo>
                  <a:pt x="408232" y="74504"/>
                </a:moveTo>
                <a:cubicBezTo>
                  <a:pt x="413203" y="72520"/>
                  <a:pt x="419168" y="72520"/>
                  <a:pt x="424139" y="75495"/>
                </a:cubicBezTo>
                <a:cubicBezTo>
                  <a:pt x="464901" y="96324"/>
                  <a:pt x="489755" y="139964"/>
                  <a:pt x="486772" y="185587"/>
                </a:cubicBezTo>
                <a:cubicBezTo>
                  <a:pt x="486772" y="190546"/>
                  <a:pt x="483790" y="195505"/>
                  <a:pt x="479813" y="199473"/>
                </a:cubicBezTo>
                <a:cubicBezTo>
                  <a:pt x="475836" y="202448"/>
                  <a:pt x="469871" y="203440"/>
                  <a:pt x="464901" y="202448"/>
                </a:cubicBezTo>
                <a:lnTo>
                  <a:pt x="462912" y="201456"/>
                </a:lnTo>
                <a:cubicBezTo>
                  <a:pt x="453965" y="199473"/>
                  <a:pt x="448994" y="191538"/>
                  <a:pt x="448994" y="183604"/>
                </a:cubicBezTo>
                <a:cubicBezTo>
                  <a:pt x="450982" y="152857"/>
                  <a:pt x="434081" y="123103"/>
                  <a:pt x="406244" y="109217"/>
                </a:cubicBezTo>
                <a:cubicBezTo>
                  <a:pt x="399285" y="105250"/>
                  <a:pt x="395308" y="97315"/>
                  <a:pt x="397296" y="89381"/>
                </a:cubicBezTo>
                <a:lnTo>
                  <a:pt x="398291" y="87397"/>
                </a:lnTo>
                <a:cubicBezTo>
                  <a:pt x="399285" y="81446"/>
                  <a:pt x="403261" y="77479"/>
                  <a:pt x="408232" y="74504"/>
                </a:cubicBezTo>
                <a:close/>
                <a:moveTo>
                  <a:pt x="439969" y="1081"/>
                </a:moveTo>
                <a:cubicBezTo>
                  <a:pt x="522425" y="32821"/>
                  <a:pt x="572097" y="118123"/>
                  <a:pt x="560176" y="205408"/>
                </a:cubicBezTo>
                <a:cubicBezTo>
                  <a:pt x="559182" y="210367"/>
                  <a:pt x="556202" y="214335"/>
                  <a:pt x="552228" y="217311"/>
                </a:cubicBezTo>
                <a:cubicBezTo>
                  <a:pt x="548254" y="220286"/>
                  <a:pt x="542294" y="221278"/>
                  <a:pt x="537326" y="220286"/>
                </a:cubicBezTo>
                <a:lnTo>
                  <a:pt x="535340" y="219294"/>
                </a:lnTo>
                <a:cubicBezTo>
                  <a:pt x="526399" y="217311"/>
                  <a:pt x="520438" y="208384"/>
                  <a:pt x="522425" y="199457"/>
                </a:cubicBezTo>
                <a:cubicBezTo>
                  <a:pt x="531366" y="130025"/>
                  <a:pt x="491628" y="62577"/>
                  <a:pt x="426061" y="36788"/>
                </a:cubicBezTo>
                <a:cubicBezTo>
                  <a:pt x="418113" y="33813"/>
                  <a:pt x="413146" y="24886"/>
                  <a:pt x="416126" y="15959"/>
                </a:cubicBezTo>
                <a:lnTo>
                  <a:pt x="416126" y="13975"/>
                </a:lnTo>
                <a:cubicBezTo>
                  <a:pt x="417120" y="9016"/>
                  <a:pt x="421094" y="4056"/>
                  <a:pt x="425067" y="2073"/>
                </a:cubicBezTo>
                <a:cubicBezTo>
                  <a:pt x="430035" y="89"/>
                  <a:pt x="435002" y="-903"/>
                  <a:pt x="439969" y="1081"/>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endParaRPr lang="zh-CN" altLang="en-US">
              <a:solidFill>
                <a:srgbClr val="000000"/>
              </a:solidFill>
              <a:latin typeface="Arial" panose="020F0502020204030204"/>
              <a:ea typeface="微软雅黑"/>
              <a:cs typeface="+mn-ea"/>
              <a:sym typeface="+mn-lt"/>
            </a:endParaRPr>
          </a:p>
        </p:txBody>
      </p:sp>
      <p:sp>
        <p:nvSpPr>
          <p:cNvPr id="42" name="ïslíḓé">
            <a:extLst>
              <a:ext uri="{FF2B5EF4-FFF2-40B4-BE49-F238E27FC236}">
                <a16:creationId xmlns:a16="http://schemas.microsoft.com/office/drawing/2014/main" id="{1140B161-50EF-62AB-D61D-F31990CF432C}"/>
              </a:ext>
            </a:extLst>
          </p:cNvPr>
          <p:cNvSpPr/>
          <p:nvPr/>
        </p:nvSpPr>
        <p:spPr bwMode="auto">
          <a:xfrm>
            <a:off x="5815461" y="5339493"/>
            <a:ext cx="363264" cy="320996"/>
          </a:xfrm>
          <a:custGeom>
            <a:avLst/>
            <a:gdLst>
              <a:gd name="connsiteX0" fmla="*/ 494452 w 603405"/>
              <a:gd name="connsiteY0" fmla="*/ 356003 h 533193"/>
              <a:gd name="connsiteX1" fmla="*/ 585270 w 603405"/>
              <a:gd name="connsiteY1" fmla="*/ 356003 h 533193"/>
              <a:gd name="connsiteX2" fmla="*/ 601782 w 603405"/>
              <a:gd name="connsiteY2" fmla="*/ 372480 h 533193"/>
              <a:gd name="connsiteX3" fmla="*/ 585270 w 603405"/>
              <a:gd name="connsiteY3" fmla="*/ 388957 h 533193"/>
              <a:gd name="connsiteX4" fmla="*/ 494452 w 603405"/>
              <a:gd name="connsiteY4" fmla="*/ 388957 h 533193"/>
              <a:gd name="connsiteX5" fmla="*/ 367511 w 603405"/>
              <a:gd name="connsiteY5" fmla="*/ 244227 h 533193"/>
              <a:gd name="connsiteX6" fmla="*/ 443780 w 603405"/>
              <a:gd name="connsiteY6" fmla="*/ 244227 h 533193"/>
              <a:gd name="connsiteX7" fmla="*/ 477411 w 603405"/>
              <a:gd name="connsiteY7" fmla="*/ 277633 h 533193"/>
              <a:gd name="connsiteX8" fmla="*/ 477861 w 603405"/>
              <a:gd name="connsiteY8" fmla="*/ 381744 h 533193"/>
              <a:gd name="connsiteX9" fmla="*/ 463748 w 603405"/>
              <a:gd name="connsiteY9" fmla="*/ 395975 h 533193"/>
              <a:gd name="connsiteX10" fmla="*/ 449486 w 603405"/>
              <a:gd name="connsiteY10" fmla="*/ 381894 h 533193"/>
              <a:gd name="connsiteX11" fmla="*/ 449035 w 603405"/>
              <a:gd name="connsiteY11" fmla="*/ 277782 h 533193"/>
              <a:gd name="connsiteX12" fmla="*/ 446033 w 603405"/>
              <a:gd name="connsiteY12" fmla="*/ 274786 h 533193"/>
              <a:gd name="connsiteX13" fmla="*/ 443030 w 603405"/>
              <a:gd name="connsiteY13" fmla="*/ 277782 h 533193"/>
              <a:gd name="connsiteX14" fmla="*/ 443330 w 603405"/>
              <a:gd name="connsiteY14" fmla="*/ 516116 h 533193"/>
              <a:gd name="connsiteX15" fmla="*/ 426215 w 603405"/>
              <a:gd name="connsiteY15" fmla="*/ 533193 h 533193"/>
              <a:gd name="connsiteX16" fmla="*/ 409249 w 603405"/>
              <a:gd name="connsiteY16" fmla="*/ 516116 h 533193"/>
              <a:gd name="connsiteX17" fmla="*/ 409249 w 603405"/>
              <a:gd name="connsiteY17" fmla="*/ 380096 h 533193"/>
              <a:gd name="connsiteX18" fmla="*/ 401893 w 603405"/>
              <a:gd name="connsiteY18" fmla="*/ 380096 h 533193"/>
              <a:gd name="connsiteX19" fmla="*/ 401893 w 603405"/>
              <a:gd name="connsiteY19" fmla="*/ 516116 h 533193"/>
              <a:gd name="connsiteX20" fmla="*/ 384778 w 603405"/>
              <a:gd name="connsiteY20" fmla="*/ 533193 h 533193"/>
              <a:gd name="connsiteX21" fmla="*/ 367812 w 603405"/>
              <a:gd name="connsiteY21" fmla="*/ 516116 h 533193"/>
              <a:gd name="connsiteX22" fmla="*/ 367812 w 603405"/>
              <a:gd name="connsiteY22" fmla="*/ 380096 h 533193"/>
              <a:gd name="connsiteX23" fmla="*/ 367812 w 603405"/>
              <a:gd name="connsiteY23" fmla="*/ 277782 h 533193"/>
              <a:gd name="connsiteX24" fmla="*/ 364959 w 603405"/>
              <a:gd name="connsiteY24" fmla="*/ 274936 h 533193"/>
              <a:gd name="connsiteX25" fmla="*/ 362257 w 603405"/>
              <a:gd name="connsiteY25" fmla="*/ 277782 h 533193"/>
              <a:gd name="connsiteX26" fmla="*/ 361656 w 603405"/>
              <a:gd name="connsiteY26" fmla="*/ 381894 h 533193"/>
              <a:gd name="connsiteX27" fmla="*/ 347544 w 603405"/>
              <a:gd name="connsiteY27" fmla="*/ 395975 h 533193"/>
              <a:gd name="connsiteX28" fmla="*/ 347393 w 603405"/>
              <a:gd name="connsiteY28" fmla="*/ 395975 h 533193"/>
              <a:gd name="connsiteX29" fmla="*/ 333281 w 603405"/>
              <a:gd name="connsiteY29" fmla="*/ 381744 h 533193"/>
              <a:gd name="connsiteX30" fmla="*/ 333881 w 603405"/>
              <a:gd name="connsiteY30" fmla="*/ 277633 h 533193"/>
              <a:gd name="connsiteX31" fmla="*/ 367511 w 603405"/>
              <a:gd name="connsiteY31" fmla="*/ 244227 h 533193"/>
              <a:gd name="connsiteX32" fmla="*/ 201525 w 603405"/>
              <a:gd name="connsiteY32" fmla="*/ 244227 h 533193"/>
              <a:gd name="connsiteX33" fmla="*/ 277906 w 603405"/>
              <a:gd name="connsiteY33" fmla="*/ 244227 h 533193"/>
              <a:gd name="connsiteX34" fmla="*/ 311520 w 603405"/>
              <a:gd name="connsiteY34" fmla="*/ 277633 h 533193"/>
              <a:gd name="connsiteX35" fmla="*/ 311970 w 603405"/>
              <a:gd name="connsiteY35" fmla="*/ 381744 h 533193"/>
              <a:gd name="connsiteX36" fmla="*/ 297864 w 603405"/>
              <a:gd name="connsiteY36" fmla="*/ 395975 h 533193"/>
              <a:gd name="connsiteX37" fmla="*/ 297714 w 603405"/>
              <a:gd name="connsiteY37" fmla="*/ 395975 h 533193"/>
              <a:gd name="connsiteX38" fmla="*/ 283608 w 603405"/>
              <a:gd name="connsiteY38" fmla="*/ 381894 h 533193"/>
              <a:gd name="connsiteX39" fmla="*/ 283008 w 603405"/>
              <a:gd name="connsiteY39" fmla="*/ 277782 h 533193"/>
              <a:gd name="connsiteX40" fmla="*/ 280007 w 603405"/>
              <a:gd name="connsiteY40" fmla="*/ 274786 h 533193"/>
              <a:gd name="connsiteX41" fmla="*/ 277156 w 603405"/>
              <a:gd name="connsiteY41" fmla="*/ 277782 h 533193"/>
              <a:gd name="connsiteX42" fmla="*/ 277456 w 603405"/>
              <a:gd name="connsiteY42" fmla="*/ 516116 h 533193"/>
              <a:gd name="connsiteX43" fmla="*/ 260349 w 603405"/>
              <a:gd name="connsiteY43" fmla="*/ 533193 h 533193"/>
              <a:gd name="connsiteX44" fmla="*/ 243242 w 603405"/>
              <a:gd name="connsiteY44" fmla="*/ 516116 h 533193"/>
              <a:gd name="connsiteX45" fmla="*/ 243242 w 603405"/>
              <a:gd name="connsiteY45" fmla="*/ 380096 h 533193"/>
              <a:gd name="connsiteX46" fmla="*/ 235889 w 603405"/>
              <a:gd name="connsiteY46" fmla="*/ 380096 h 533193"/>
              <a:gd name="connsiteX47" fmla="*/ 235889 w 603405"/>
              <a:gd name="connsiteY47" fmla="*/ 516116 h 533193"/>
              <a:gd name="connsiteX48" fmla="*/ 218932 w 603405"/>
              <a:gd name="connsiteY48" fmla="*/ 533193 h 533193"/>
              <a:gd name="connsiteX49" fmla="*/ 201825 w 603405"/>
              <a:gd name="connsiteY49" fmla="*/ 516116 h 533193"/>
              <a:gd name="connsiteX50" fmla="*/ 201825 w 603405"/>
              <a:gd name="connsiteY50" fmla="*/ 380096 h 533193"/>
              <a:gd name="connsiteX51" fmla="*/ 201825 w 603405"/>
              <a:gd name="connsiteY51" fmla="*/ 277782 h 533193"/>
              <a:gd name="connsiteX52" fmla="*/ 199124 w 603405"/>
              <a:gd name="connsiteY52" fmla="*/ 274936 h 533193"/>
              <a:gd name="connsiteX53" fmla="*/ 196423 w 603405"/>
              <a:gd name="connsiteY53" fmla="*/ 277782 h 533193"/>
              <a:gd name="connsiteX54" fmla="*/ 195822 w 603405"/>
              <a:gd name="connsiteY54" fmla="*/ 381894 h 533193"/>
              <a:gd name="connsiteX55" fmla="*/ 181567 w 603405"/>
              <a:gd name="connsiteY55" fmla="*/ 395975 h 533193"/>
              <a:gd name="connsiteX56" fmla="*/ 167461 w 603405"/>
              <a:gd name="connsiteY56" fmla="*/ 381744 h 533193"/>
              <a:gd name="connsiteX57" fmla="*/ 167911 w 603405"/>
              <a:gd name="connsiteY57" fmla="*/ 277633 h 533193"/>
              <a:gd name="connsiteX58" fmla="*/ 201525 w 603405"/>
              <a:gd name="connsiteY58" fmla="*/ 244227 h 533193"/>
              <a:gd name="connsiteX59" fmla="*/ 34214 w 603405"/>
              <a:gd name="connsiteY59" fmla="*/ 244227 h 533193"/>
              <a:gd name="connsiteX60" fmla="*/ 110445 w 603405"/>
              <a:gd name="connsiteY60" fmla="*/ 244227 h 533193"/>
              <a:gd name="connsiteX61" fmla="*/ 144059 w 603405"/>
              <a:gd name="connsiteY61" fmla="*/ 277633 h 533193"/>
              <a:gd name="connsiteX62" fmla="*/ 144509 w 603405"/>
              <a:gd name="connsiteY62" fmla="*/ 381744 h 533193"/>
              <a:gd name="connsiteX63" fmla="*/ 130403 w 603405"/>
              <a:gd name="connsiteY63" fmla="*/ 395975 h 533193"/>
              <a:gd name="connsiteX64" fmla="*/ 116147 w 603405"/>
              <a:gd name="connsiteY64" fmla="*/ 381894 h 533193"/>
              <a:gd name="connsiteX65" fmla="*/ 115697 w 603405"/>
              <a:gd name="connsiteY65" fmla="*/ 277782 h 533193"/>
              <a:gd name="connsiteX66" fmla="*/ 112696 w 603405"/>
              <a:gd name="connsiteY66" fmla="*/ 274786 h 533193"/>
              <a:gd name="connsiteX67" fmla="*/ 109694 w 603405"/>
              <a:gd name="connsiteY67" fmla="*/ 277782 h 533193"/>
              <a:gd name="connsiteX68" fmla="*/ 109995 w 603405"/>
              <a:gd name="connsiteY68" fmla="*/ 516116 h 533193"/>
              <a:gd name="connsiteX69" fmla="*/ 92888 w 603405"/>
              <a:gd name="connsiteY69" fmla="*/ 533193 h 533193"/>
              <a:gd name="connsiteX70" fmla="*/ 75931 w 603405"/>
              <a:gd name="connsiteY70" fmla="*/ 516116 h 533193"/>
              <a:gd name="connsiteX71" fmla="*/ 75931 w 603405"/>
              <a:gd name="connsiteY71" fmla="*/ 380096 h 533193"/>
              <a:gd name="connsiteX72" fmla="*/ 68578 w 603405"/>
              <a:gd name="connsiteY72" fmla="*/ 380096 h 533193"/>
              <a:gd name="connsiteX73" fmla="*/ 68578 w 603405"/>
              <a:gd name="connsiteY73" fmla="*/ 516116 h 533193"/>
              <a:gd name="connsiteX74" fmla="*/ 51471 w 603405"/>
              <a:gd name="connsiteY74" fmla="*/ 533193 h 533193"/>
              <a:gd name="connsiteX75" fmla="*/ 34364 w 603405"/>
              <a:gd name="connsiteY75" fmla="*/ 516116 h 533193"/>
              <a:gd name="connsiteX76" fmla="*/ 34364 w 603405"/>
              <a:gd name="connsiteY76" fmla="*/ 380096 h 533193"/>
              <a:gd name="connsiteX77" fmla="*/ 34364 w 603405"/>
              <a:gd name="connsiteY77" fmla="*/ 277782 h 533193"/>
              <a:gd name="connsiteX78" fmla="*/ 31663 w 603405"/>
              <a:gd name="connsiteY78" fmla="*/ 275086 h 533193"/>
              <a:gd name="connsiteX79" fmla="*/ 28962 w 603405"/>
              <a:gd name="connsiteY79" fmla="*/ 277782 h 533193"/>
              <a:gd name="connsiteX80" fmla="*/ 28361 w 603405"/>
              <a:gd name="connsiteY80" fmla="*/ 381894 h 533193"/>
              <a:gd name="connsiteX81" fmla="*/ 14256 w 603405"/>
              <a:gd name="connsiteY81" fmla="*/ 395975 h 533193"/>
              <a:gd name="connsiteX82" fmla="*/ 14106 w 603405"/>
              <a:gd name="connsiteY82" fmla="*/ 395975 h 533193"/>
              <a:gd name="connsiteX83" fmla="*/ 0 w 603405"/>
              <a:gd name="connsiteY83" fmla="*/ 381744 h 533193"/>
              <a:gd name="connsiteX84" fmla="*/ 600 w 603405"/>
              <a:gd name="connsiteY84" fmla="*/ 277633 h 533193"/>
              <a:gd name="connsiteX85" fmla="*/ 34214 w 603405"/>
              <a:gd name="connsiteY85" fmla="*/ 244227 h 533193"/>
              <a:gd name="connsiteX86" fmla="*/ 298774 w 603405"/>
              <a:gd name="connsiteY86" fmla="*/ 232090 h 533193"/>
              <a:gd name="connsiteX87" fmla="*/ 346547 w 603405"/>
              <a:gd name="connsiteY87" fmla="*/ 232090 h 533193"/>
              <a:gd name="connsiteX88" fmla="*/ 322660 w 603405"/>
              <a:gd name="connsiteY88" fmla="*/ 254883 h 533193"/>
              <a:gd name="connsiteX89" fmla="*/ 298774 w 603405"/>
              <a:gd name="connsiteY89" fmla="*/ 232090 h 533193"/>
              <a:gd name="connsiteX90" fmla="*/ 405716 w 603405"/>
              <a:gd name="connsiteY90" fmla="*/ 176061 h 533193"/>
              <a:gd name="connsiteX91" fmla="*/ 435177 w 603405"/>
              <a:gd name="connsiteY91" fmla="*/ 205417 h 533193"/>
              <a:gd name="connsiteX92" fmla="*/ 405716 w 603405"/>
              <a:gd name="connsiteY92" fmla="*/ 234773 h 533193"/>
              <a:gd name="connsiteX93" fmla="*/ 376255 w 603405"/>
              <a:gd name="connsiteY93" fmla="*/ 205417 h 533193"/>
              <a:gd name="connsiteX94" fmla="*/ 405716 w 603405"/>
              <a:gd name="connsiteY94" fmla="*/ 176061 h 533193"/>
              <a:gd name="connsiteX95" fmla="*/ 239817 w 603405"/>
              <a:gd name="connsiteY95" fmla="*/ 176061 h 533193"/>
              <a:gd name="connsiteX96" fmla="*/ 269208 w 603405"/>
              <a:gd name="connsiteY96" fmla="*/ 205417 h 533193"/>
              <a:gd name="connsiteX97" fmla="*/ 239817 w 603405"/>
              <a:gd name="connsiteY97" fmla="*/ 234773 h 533193"/>
              <a:gd name="connsiteX98" fmla="*/ 210426 w 603405"/>
              <a:gd name="connsiteY98" fmla="*/ 205417 h 533193"/>
              <a:gd name="connsiteX99" fmla="*/ 239817 w 603405"/>
              <a:gd name="connsiteY99" fmla="*/ 176061 h 533193"/>
              <a:gd name="connsiteX100" fmla="*/ 72325 w 603405"/>
              <a:gd name="connsiteY100" fmla="*/ 176061 h 533193"/>
              <a:gd name="connsiteX101" fmla="*/ 101897 w 603405"/>
              <a:gd name="connsiteY101" fmla="*/ 205416 h 533193"/>
              <a:gd name="connsiteX102" fmla="*/ 72325 w 603405"/>
              <a:gd name="connsiteY102" fmla="*/ 234772 h 533193"/>
              <a:gd name="connsiteX103" fmla="*/ 42904 w 603405"/>
              <a:gd name="connsiteY103" fmla="*/ 205416 h 533193"/>
              <a:gd name="connsiteX104" fmla="*/ 72325 w 603405"/>
              <a:gd name="connsiteY104" fmla="*/ 176061 h 533193"/>
              <a:gd name="connsiteX105" fmla="*/ 1200 w 603405"/>
              <a:gd name="connsiteY105" fmla="*/ 56241 h 533193"/>
              <a:gd name="connsiteX106" fmla="*/ 384613 w 603405"/>
              <a:gd name="connsiteY106" fmla="*/ 56241 h 533193"/>
              <a:gd name="connsiteX107" fmla="*/ 603405 w 603405"/>
              <a:gd name="connsiteY107" fmla="*/ 274494 h 533193"/>
              <a:gd name="connsiteX108" fmla="*/ 540979 w 603405"/>
              <a:gd name="connsiteY108" fmla="*/ 336809 h 533193"/>
              <a:gd name="connsiteX109" fmla="*/ 494459 w 603405"/>
              <a:gd name="connsiteY109" fmla="*/ 336809 h 533193"/>
              <a:gd name="connsiteX110" fmla="*/ 494159 w 603405"/>
              <a:gd name="connsiteY110" fmla="*/ 277490 h 533193"/>
              <a:gd name="connsiteX111" fmla="*/ 464747 w 603405"/>
              <a:gd name="connsiteY111" fmla="*/ 232102 h 533193"/>
              <a:gd name="connsiteX112" fmla="*/ 551333 w 603405"/>
              <a:gd name="connsiteY112" fmla="*/ 232102 h 533193"/>
              <a:gd name="connsiteX113" fmla="*/ 551483 w 603405"/>
              <a:gd name="connsiteY113" fmla="*/ 232102 h 533193"/>
              <a:gd name="connsiteX114" fmla="*/ 557636 w 603405"/>
              <a:gd name="connsiteY114" fmla="*/ 228806 h 533193"/>
              <a:gd name="connsiteX115" fmla="*/ 558236 w 603405"/>
              <a:gd name="connsiteY115" fmla="*/ 221766 h 533193"/>
              <a:gd name="connsiteX116" fmla="*/ 504663 w 603405"/>
              <a:gd name="connsiteY116" fmla="*/ 136532 h 533193"/>
              <a:gd name="connsiteX117" fmla="*/ 415676 w 603405"/>
              <a:gd name="connsiteY117" fmla="*/ 97585 h 533193"/>
              <a:gd name="connsiteX118" fmla="*/ 397968 w 603405"/>
              <a:gd name="connsiteY118" fmla="*/ 97585 h 533193"/>
              <a:gd name="connsiteX119" fmla="*/ 397968 w 603405"/>
              <a:gd name="connsiteY119" fmla="*/ 159900 h 533193"/>
              <a:gd name="connsiteX120" fmla="*/ 364954 w 603405"/>
              <a:gd name="connsiteY120" fmla="*/ 183568 h 533193"/>
              <a:gd name="connsiteX121" fmla="*/ 364954 w 603405"/>
              <a:gd name="connsiteY121" fmla="*/ 97585 h 533193"/>
              <a:gd name="connsiteX122" fmla="*/ 174223 w 603405"/>
              <a:gd name="connsiteY122" fmla="*/ 97585 h 533193"/>
              <a:gd name="connsiteX123" fmla="*/ 174223 w 603405"/>
              <a:gd name="connsiteY123" fmla="*/ 232102 h 533193"/>
              <a:gd name="connsiteX124" fmla="*/ 180526 w 603405"/>
              <a:gd name="connsiteY124" fmla="*/ 232102 h 533193"/>
              <a:gd name="connsiteX125" fmla="*/ 174223 w 603405"/>
              <a:gd name="connsiteY125" fmla="*/ 235547 h 533193"/>
              <a:gd name="connsiteX126" fmla="*/ 156065 w 603405"/>
              <a:gd name="connsiteY126" fmla="*/ 256369 h 533193"/>
              <a:gd name="connsiteX127" fmla="*/ 141209 w 603405"/>
              <a:gd name="connsiteY127" fmla="*/ 238093 h 533193"/>
              <a:gd name="connsiteX128" fmla="*/ 131455 w 603405"/>
              <a:gd name="connsiteY128" fmla="*/ 232102 h 533193"/>
              <a:gd name="connsiteX129" fmla="*/ 141209 w 603405"/>
              <a:gd name="connsiteY129" fmla="*/ 232102 h 533193"/>
              <a:gd name="connsiteX130" fmla="*/ 141209 w 603405"/>
              <a:gd name="connsiteY130" fmla="*/ 97585 h 533193"/>
              <a:gd name="connsiteX131" fmla="*/ 1200 w 603405"/>
              <a:gd name="connsiteY131" fmla="*/ 97585 h 533193"/>
              <a:gd name="connsiteX132" fmla="*/ 30337 w 603405"/>
              <a:gd name="connsiteY132" fmla="*/ 0 h 533193"/>
              <a:gd name="connsiteX133" fmla="*/ 450496 w 603405"/>
              <a:gd name="connsiteY133" fmla="*/ 0 h 533193"/>
              <a:gd name="connsiteX134" fmla="*/ 467002 w 603405"/>
              <a:gd name="connsiteY134" fmla="*/ 16512 h 533193"/>
              <a:gd name="connsiteX135" fmla="*/ 450496 w 603405"/>
              <a:gd name="connsiteY135" fmla="*/ 33025 h 533193"/>
              <a:gd name="connsiteX136" fmla="*/ 30337 w 603405"/>
              <a:gd name="connsiteY136" fmla="*/ 33025 h 533193"/>
              <a:gd name="connsiteX137" fmla="*/ 13831 w 603405"/>
              <a:gd name="connsiteY137" fmla="*/ 16512 h 533193"/>
              <a:gd name="connsiteX138" fmla="*/ 30337 w 603405"/>
              <a:gd name="connsiteY138" fmla="*/ 0 h 533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603405" h="533193">
                <a:moveTo>
                  <a:pt x="494452" y="356003"/>
                </a:moveTo>
                <a:lnTo>
                  <a:pt x="585270" y="356003"/>
                </a:lnTo>
                <a:cubicBezTo>
                  <a:pt x="594277" y="356003"/>
                  <a:pt x="601782" y="363343"/>
                  <a:pt x="601782" y="372480"/>
                </a:cubicBezTo>
                <a:cubicBezTo>
                  <a:pt x="601782" y="381617"/>
                  <a:pt x="594277" y="388957"/>
                  <a:pt x="585270" y="388957"/>
                </a:cubicBezTo>
                <a:lnTo>
                  <a:pt x="494452" y="388957"/>
                </a:lnTo>
                <a:close/>
                <a:moveTo>
                  <a:pt x="367511" y="244227"/>
                </a:moveTo>
                <a:lnTo>
                  <a:pt x="443780" y="244227"/>
                </a:lnTo>
                <a:cubicBezTo>
                  <a:pt x="462247" y="244227"/>
                  <a:pt x="477261" y="259207"/>
                  <a:pt x="477411" y="277633"/>
                </a:cubicBezTo>
                <a:lnTo>
                  <a:pt x="477861" y="381744"/>
                </a:lnTo>
                <a:cubicBezTo>
                  <a:pt x="478011" y="389534"/>
                  <a:pt x="471706" y="395975"/>
                  <a:pt x="463748" y="395975"/>
                </a:cubicBezTo>
                <a:cubicBezTo>
                  <a:pt x="455941" y="395975"/>
                  <a:pt x="449486" y="389684"/>
                  <a:pt x="449486" y="381894"/>
                </a:cubicBezTo>
                <a:lnTo>
                  <a:pt x="449035" y="277782"/>
                </a:lnTo>
                <a:cubicBezTo>
                  <a:pt x="449035" y="276135"/>
                  <a:pt x="447684" y="274786"/>
                  <a:pt x="446033" y="274786"/>
                </a:cubicBezTo>
                <a:cubicBezTo>
                  <a:pt x="444381" y="274786"/>
                  <a:pt x="443030" y="276135"/>
                  <a:pt x="443030" y="277782"/>
                </a:cubicBezTo>
                <a:cubicBezTo>
                  <a:pt x="443030" y="419944"/>
                  <a:pt x="443330" y="291115"/>
                  <a:pt x="443330" y="516116"/>
                </a:cubicBezTo>
                <a:cubicBezTo>
                  <a:pt x="443330" y="525553"/>
                  <a:pt x="435673" y="533193"/>
                  <a:pt x="426215" y="533193"/>
                </a:cubicBezTo>
                <a:cubicBezTo>
                  <a:pt x="416906" y="533193"/>
                  <a:pt x="409249" y="525553"/>
                  <a:pt x="409249" y="516116"/>
                </a:cubicBezTo>
                <a:lnTo>
                  <a:pt x="409249" y="380096"/>
                </a:lnTo>
                <a:lnTo>
                  <a:pt x="401893" y="380096"/>
                </a:lnTo>
                <a:lnTo>
                  <a:pt x="401893" y="516116"/>
                </a:lnTo>
                <a:cubicBezTo>
                  <a:pt x="401893" y="525553"/>
                  <a:pt x="394236" y="533193"/>
                  <a:pt x="384778" y="533193"/>
                </a:cubicBezTo>
                <a:cubicBezTo>
                  <a:pt x="375319" y="533193"/>
                  <a:pt x="367812" y="525553"/>
                  <a:pt x="367812" y="516116"/>
                </a:cubicBezTo>
                <a:lnTo>
                  <a:pt x="367812" y="380096"/>
                </a:lnTo>
                <a:lnTo>
                  <a:pt x="367812" y="277782"/>
                </a:lnTo>
                <a:cubicBezTo>
                  <a:pt x="367812" y="276284"/>
                  <a:pt x="366461" y="274936"/>
                  <a:pt x="364959" y="274936"/>
                </a:cubicBezTo>
                <a:cubicBezTo>
                  <a:pt x="363458" y="274936"/>
                  <a:pt x="362257" y="276284"/>
                  <a:pt x="362257" y="277782"/>
                </a:cubicBezTo>
                <a:lnTo>
                  <a:pt x="361656" y="381894"/>
                </a:lnTo>
                <a:cubicBezTo>
                  <a:pt x="361656" y="389684"/>
                  <a:pt x="355351" y="395975"/>
                  <a:pt x="347544" y="395975"/>
                </a:cubicBezTo>
                <a:lnTo>
                  <a:pt x="347393" y="395975"/>
                </a:lnTo>
                <a:cubicBezTo>
                  <a:pt x="339586" y="395975"/>
                  <a:pt x="333281" y="389534"/>
                  <a:pt x="333281" y="381744"/>
                </a:cubicBezTo>
                <a:lnTo>
                  <a:pt x="333881" y="277633"/>
                </a:lnTo>
                <a:cubicBezTo>
                  <a:pt x="333881" y="259207"/>
                  <a:pt x="349045" y="244227"/>
                  <a:pt x="367511" y="244227"/>
                </a:cubicBezTo>
                <a:close/>
                <a:moveTo>
                  <a:pt x="201525" y="244227"/>
                </a:moveTo>
                <a:lnTo>
                  <a:pt x="277906" y="244227"/>
                </a:lnTo>
                <a:cubicBezTo>
                  <a:pt x="296213" y="244227"/>
                  <a:pt x="311370" y="259207"/>
                  <a:pt x="311520" y="277633"/>
                </a:cubicBezTo>
                <a:lnTo>
                  <a:pt x="311970" y="381744"/>
                </a:lnTo>
                <a:cubicBezTo>
                  <a:pt x="311970" y="389534"/>
                  <a:pt x="305667" y="395975"/>
                  <a:pt x="297864" y="395975"/>
                </a:cubicBezTo>
                <a:lnTo>
                  <a:pt x="297714" y="395975"/>
                </a:lnTo>
                <a:cubicBezTo>
                  <a:pt x="289911" y="395975"/>
                  <a:pt x="283608" y="389684"/>
                  <a:pt x="283608" y="381894"/>
                </a:cubicBezTo>
                <a:lnTo>
                  <a:pt x="283008" y="277782"/>
                </a:lnTo>
                <a:cubicBezTo>
                  <a:pt x="283008" y="276135"/>
                  <a:pt x="281657" y="274786"/>
                  <a:pt x="280007" y="274786"/>
                </a:cubicBezTo>
                <a:cubicBezTo>
                  <a:pt x="278356" y="274786"/>
                  <a:pt x="277156" y="276135"/>
                  <a:pt x="277156" y="277782"/>
                </a:cubicBezTo>
                <a:cubicBezTo>
                  <a:pt x="277156" y="419944"/>
                  <a:pt x="277456" y="291115"/>
                  <a:pt x="277456" y="516116"/>
                </a:cubicBezTo>
                <a:cubicBezTo>
                  <a:pt x="277456" y="525553"/>
                  <a:pt x="269803" y="533193"/>
                  <a:pt x="260349" y="533193"/>
                </a:cubicBezTo>
                <a:cubicBezTo>
                  <a:pt x="250895" y="533193"/>
                  <a:pt x="243242" y="525553"/>
                  <a:pt x="243242" y="516116"/>
                </a:cubicBezTo>
                <a:lnTo>
                  <a:pt x="243242" y="380096"/>
                </a:lnTo>
                <a:lnTo>
                  <a:pt x="235889" y="380096"/>
                </a:lnTo>
                <a:lnTo>
                  <a:pt x="235889" y="516116"/>
                </a:lnTo>
                <a:cubicBezTo>
                  <a:pt x="235889" y="525553"/>
                  <a:pt x="228386" y="533193"/>
                  <a:pt x="218932" y="533193"/>
                </a:cubicBezTo>
                <a:cubicBezTo>
                  <a:pt x="209478" y="533193"/>
                  <a:pt x="201825" y="525553"/>
                  <a:pt x="201825" y="516116"/>
                </a:cubicBezTo>
                <a:lnTo>
                  <a:pt x="201825" y="380096"/>
                </a:lnTo>
                <a:lnTo>
                  <a:pt x="201825" y="277782"/>
                </a:lnTo>
                <a:cubicBezTo>
                  <a:pt x="201825" y="276284"/>
                  <a:pt x="200624" y="274936"/>
                  <a:pt x="199124" y="274936"/>
                </a:cubicBezTo>
                <a:cubicBezTo>
                  <a:pt x="197623" y="274936"/>
                  <a:pt x="196423" y="276284"/>
                  <a:pt x="196423" y="277782"/>
                </a:cubicBezTo>
                <a:lnTo>
                  <a:pt x="195822" y="381894"/>
                </a:lnTo>
                <a:cubicBezTo>
                  <a:pt x="195822" y="389684"/>
                  <a:pt x="189370" y="395975"/>
                  <a:pt x="181567" y="395975"/>
                </a:cubicBezTo>
                <a:cubicBezTo>
                  <a:pt x="173763" y="395975"/>
                  <a:pt x="167311" y="389534"/>
                  <a:pt x="167461" y="381744"/>
                </a:cubicBezTo>
                <a:lnTo>
                  <a:pt x="167911" y="277633"/>
                </a:lnTo>
                <a:cubicBezTo>
                  <a:pt x="168061" y="259207"/>
                  <a:pt x="183067" y="244227"/>
                  <a:pt x="201525" y="244227"/>
                </a:cubicBezTo>
                <a:close/>
                <a:moveTo>
                  <a:pt x="34214" y="244227"/>
                </a:moveTo>
                <a:lnTo>
                  <a:pt x="110445" y="244227"/>
                </a:lnTo>
                <a:cubicBezTo>
                  <a:pt x="128902" y="244227"/>
                  <a:pt x="143908" y="259207"/>
                  <a:pt x="144059" y="277633"/>
                </a:cubicBezTo>
                <a:lnTo>
                  <a:pt x="144509" y="381744"/>
                </a:lnTo>
                <a:cubicBezTo>
                  <a:pt x="144659" y="389534"/>
                  <a:pt x="138206" y="395975"/>
                  <a:pt x="130403" y="395975"/>
                </a:cubicBezTo>
                <a:cubicBezTo>
                  <a:pt x="122600" y="395975"/>
                  <a:pt x="116147" y="389684"/>
                  <a:pt x="116147" y="381894"/>
                </a:cubicBezTo>
                <a:lnTo>
                  <a:pt x="115697" y="277782"/>
                </a:lnTo>
                <a:cubicBezTo>
                  <a:pt x="115547" y="276135"/>
                  <a:pt x="114346" y="274786"/>
                  <a:pt x="112696" y="274786"/>
                </a:cubicBezTo>
                <a:cubicBezTo>
                  <a:pt x="111045" y="274786"/>
                  <a:pt x="109694" y="276135"/>
                  <a:pt x="109694" y="277782"/>
                </a:cubicBezTo>
                <a:cubicBezTo>
                  <a:pt x="109694" y="343695"/>
                  <a:pt x="109995" y="452450"/>
                  <a:pt x="109995" y="516116"/>
                </a:cubicBezTo>
                <a:cubicBezTo>
                  <a:pt x="109995" y="525553"/>
                  <a:pt x="102341" y="533193"/>
                  <a:pt x="92888" y="533193"/>
                </a:cubicBezTo>
                <a:cubicBezTo>
                  <a:pt x="83584" y="533193"/>
                  <a:pt x="75931" y="525553"/>
                  <a:pt x="75931" y="516116"/>
                </a:cubicBezTo>
                <a:lnTo>
                  <a:pt x="75931" y="380096"/>
                </a:lnTo>
                <a:lnTo>
                  <a:pt x="68578" y="380096"/>
                </a:lnTo>
                <a:lnTo>
                  <a:pt x="68578" y="516116"/>
                </a:lnTo>
                <a:cubicBezTo>
                  <a:pt x="68578" y="525553"/>
                  <a:pt x="60925" y="533193"/>
                  <a:pt x="51471" y="533193"/>
                </a:cubicBezTo>
                <a:cubicBezTo>
                  <a:pt x="42017" y="533193"/>
                  <a:pt x="34364" y="525553"/>
                  <a:pt x="34364" y="516116"/>
                </a:cubicBezTo>
                <a:lnTo>
                  <a:pt x="34364" y="380096"/>
                </a:lnTo>
                <a:lnTo>
                  <a:pt x="34364" y="277782"/>
                </a:lnTo>
                <a:cubicBezTo>
                  <a:pt x="34364" y="276284"/>
                  <a:pt x="33163" y="275086"/>
                  <a:pt x="31663" y="275086"/>
                </a:cubicBezTo>
                <a:cubicBezTo>
                  <a:pt x="30162" y="274936"/>
                  <a:pt x="28962" y="276284"/>
                  <a:pt x="28962" y="277782"/>
                </a:cubicBezTo>
                <a:lnTo>
                  <a:pt x="28361" y="381894"/>
                </a:lnTo>
                <a:cubicBezTo>
                  <a:pt x="28361" y="389684"/>
                  <a:pt x="22059" y="395975"/>
                  <a:pt x="14256" y="395975"/>
                </a:cubicBezTo>
                <a:lnTo>
                  <a:pt x="14106" y="395975"/>
                </a:lnTo>
                <a:cubicBezTo>
                  <a:pt x="6302" y="395975"/>
                  <a:pt x="0" y="389534"/>
                  <a:pt x="0" y="381744"/>
                </a:cubicBezTo>
                <a:lnTo>
                  <a:pt x="600" y="277633"/>
                </a:lnTo>
                <a:cubicBezTo>
                  <a:pt x="600" y="259207"/>
                  <a:pt x="15756" y="244227"/>
                  <a:pt x="34214" y="244227"/>
                </a:cubicBezTo>
                <a:close/>
                <a:moveTo>
                  <a:pt x="298774" y="232090"/>
                </a:moveTo>
                <a:lnTo>
                  <a:pt x="346547" y="232090"/>
                </a:lnTo>
                <a:cubicBezTo>
                  <a:pt x="336331" y="236739"/>
                  <a:pt x="327768" y="244836"/>
                  <a:pt x="322660" y="254883"/>
                </a:cubicBezTo>
                <a:cubicBezTo>
                  <a:pt x="317552" y="244836"/>
                  <a:pt x="309140" y="236739"/>
                  <a:pt x="298774" y="232090"/>
                </a:cubicBezTo>
                <a:close/>
                <a:moveTo>
                  <a:pt x="405716" y="176061"/>
                </a:moveTo>
                <a:cubicBezTo>
                  <a:pt x="421987" y="176061"/>
                  <a:pt x="435177" y="189204"/>
                  <a:pt x="435177" y="205417"/>
                </a:cubicBezTo>
                <a:cubicBezTo>
                  <a:pt x="435177" y="221630"/>
                  <a:pt x="421987" y="234773"/>
                  <a:pt x="405716" y="234773"/>
                </a:cubicBezTo>
                <a:cubicBezTo>
                  <a:pt x="389445" y="234773"/>
                  <a:pt x="376255" y="221630"/>
                  <a:pt x="376255" y="205417"/>
                </a:cubicBezTo>
                <a:cubicBezTo>
                  <a:pt x="376255" y="189204"/>
                  <a:pt x="389445" y="176061"/>
                  <a:pt x="405716" y="176061"/>
                </a:cubicBezTo>
                <a:close/>
                <a:moveTo>
                  <a:pt x="239817" y="176061"/>
                </a:moveTo>
                <a:cubicBezTo>
                  <a:pt x="256049" y="176061"/>
                  <a:pt x="269208" y="189204"/>
                  <a:pt x="269208" y="205417"/>
                </a:cubicBezTo>
                <a:cubicBezTo>
                  <a:pt x="269208" y="221630"/>
                  <a:pt x="256049" y="234773"/>
                  <a:pt x="239817" y="234773"/>
                </a:cubicBezTo>
                <a:cubicBezTo>
                  <a:pt x="223585" y="234773"/>
                  <a:pt x="210426" y="221630"/>
                  <a:pt x="210426" y="205417"/>
                </a:cubicBezTo>
                <a:cubicBezTo>
                  <a:pt x="210426" y="189204"/>
                  <a:pt x="223585" y="176061"/>
                  <a:pt x="239817" y="176061"/>
                </a:cubicBezTo>
                <a:close/>
                <a:moveTo>
                  <a:pt x="72325" y="176061"/>
                </a:moveTo>
                <a:cubicBezTo>
                  <a:pt x="88687" y="176061"/>
                  <a:pt x="101897" y="189241"/>
                  <a:pt x="101897" y="205416"/>
                </a:cubicBezTo>
                <a:cubicBezTo>
                  <a:pt x="101897" y="221592"/>
                  <a:pt x="88687" y="234772"/>
                  <a:pt x="72325" y="234772"/>
                </a:cubicBezTo>
                <a:cubicBezTo>
                  <a:pt x="56113" y="234772"/>
                  <a:pt x="42904" y="221592"/>
                  <a:pt x="42904" y="205416"/>
                </a:cubicBezTo>
                <a:cubicBezTo>
                  <a:pt x="42904" y="189241"/>
                  <a:pt x="55963" y="176061"/>
                  <a:pt x="72325" y="176061"/>
                </a:cubicBezTo>
                <a:close/>
                <a:moveTo>
                  <a:pt x="1200" y="56241"/>
                </a:moveTo>
                <a:lnTo>
                  <a:pt x="384613" y="56241"/>
                </a:lnTo>
                <a:cubicBezTo>
                  <a:pt x="505414" y="56241"/>
                  <a:pt x="603405" y="154058"/>
                  <a:pt x="603405" y="274494"/>
                </a:cubicBezTo>
                <a:cubicBezTo>
                  <a:pt x="603405" y="308947"/>
                  <a:pt x="575493" y="336809"/>
                  <a:pt x="540979" y="336809"/>
                </a:cubicBezTo>
                <a:lnTo>
                  <a:pt x="494459" y="336809"/>
                </a:lnTo>
                <a:lnTo>
                  <a:pt x="494159" y="277490"/>
                </a:lnTo>
                <a:cubicBezTo>
                  <a:pt x="494009" y="257417"/>
                  <a:pt x="482004" y="240041"/>
                  <a:pt x="464747" y="232102"/>
                </a:cubicBezTo>
                <a:lnTo>
                  <a:pt x="551333" y="232102"/>
                </a:lnTo>
                <a:lnTo>
                  <a:pt x="551483" y="232102"/>
                </a:lnTo>
                <a:cubicBezTo>
                  <a:pt x="553884" y="232102"/>
                  <a:pt x="556285" y="230753"/>
                  <a:pt x="557636" y="228806"/>
                </a:cubicBezTo>
                <a:cubicBezTo>
                  <a:pt x="558986" y="226709"/>
                  <a:pt x="559136" y="224013"/>
                  <a:pt x="558236" y="221766"/>
                </a:cubicBezTo>
                <a:cubicBezTo>
                  <a:pt x="550283" y="203790"/>
                  <a:pt x="531825" y="165892"/>
                  <a:pt x="504663" y="136532"/>
                </a:cubicBezTo>
                <a:cubicBezTo>
                  <a:pt x="481704" y="111666"/>
                  <a:pt x="449440" y="97585"/>
                  <a:pt x="415676" y="97585"/>
                </a:cubicBezTo>
                <a:lnTo>
                  <a:pt x="397968" y="97585"/>
                </a:lnTo>
                <a:lnTo>
                  <a:pt x="397968" y="159900"/>
                </a:lnTo>
                <a:cubicBezTo>
                  <a:pt x="383712" y="162297"/>
                  <a:pt x="371707" y="171284"/>
                  <a:pt x="364954" y="183568"/>
                </a:cubicBezTo>
                <a:lnTo>
                  <a:pt x="364954" y="97585"/>
                </a:lnTo>
                <a:lnTo>
                  <a:pt x="174223" y="97585"/>
                </a:lnTo>
                <a:lnTo>
                  <a:pt x="174223" y="232102"/>
                </a:lnTo>
                <a:lnTo>
                  <a:pt x="180526" y="232102"/>
                </a:lnTo>
                <a:cubicBezTo>
                  <a:pt x="178425" y="233150"/>
                  <a:pt x="176324" y="234199"/>
                  <a:pt x="174223" y="235547"/>
                </a:cubicBezTo>
                <a:cubicBezTo>
                  <a:pt x="166420" y="240640"/>
                  <a:pt x="159967" y="247830"/>
                  <a:pt x="156065" y="256369"/>
                </a:cubicBezTo>
                <a:cubicBezTo>
                  <a:pt x="152614" y="249178"/>
                  <a:pt x="147512" y="242887"/>
                  <a:pt x="141209" y="238093"/>
                </a:cubicBezTo>
                <a:cubicBezTo>
                  <a:pt x="138208" y="235697"/>
                  <a:pt x="134906" y="233749"/>
                  <a:pt x="131455" y="232102"/>
                </a:cubicBezTo>
                <a:lnTo>
                  <a:pt x="141209" y="232102"/>
                </a:lnTo>
                <a:lnTo>
                  <a:pt x="141209" y="97585"/>
                </a:lnTo>
                <a:lnTo>
                  <a:pt x="1200" y="97585"/>
                </a:lnTo>
                <a:close/>
                <a:moveTo>
                  <a:pt x="30337" y="0"/>
                </a:moveTo>
                <a:lnTo>
                  <a:pt x="450496" y="0"/>
                </a:lnTo>
                <a:cubicBezTo>
                  <a:pt x="459649" y="0"/>
                  <a:pt x="467002" y="7356"/>
                  <a:pt x="467002" y="16512"/>
                </a:cubicBezTo>
                <a:cubicBezTo>
                  <a:pt x="467002" y="25669"/>
                  <a:pt x="459649" y="33025"/>
                  <a:pt x="450496" y="33025"/>
                </a:cubicBezTo>
                <a:lnTo>
                  <a:pt x="30337" y="33025"/>
                </a:lnTo>
                <a:cubicBezTo>
                  <a:pt x="21184" y="33025"/>
                  <a:pt x="13831" y="25669"/>
                  <a:pt x="13831" y="16512"/>
                </a:cubicBezTo>
                <a:cubicBezTo>
                  <a:pt x="13831" y="7356"/>
                  <a:pt x="21184" y="0"/>
                  <a:pt x="30337" y="0"/>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endParaRPr lang="zh-CN" altLang="en-US">
              <a:solidFill>
                <a:srgbClr val="000000"/>
              </a:solidFill>
              <a:latin typeface="Arial" panose="020F0502020204030204"/>
              <a:ea typeface="微软雅黑"/>
              <a:cs typeface="+mn-ea"/>
              <a:sym typeface="+mn-lt"/>
            </a:endParaRPr>
          </a:p>
        </p:txBody>
      </p:sp>
      <p:pic>
        <p:nvPicPr>
          <p:cNvPr id="5" name="图片 4" descr="图形用户界面&#10;&#10;中度可信度描述已自动生成">
            <a:extLst>
              <a:ext uri="{FF2B5EF4-FFF2-40B4-BE49-F238E27FC236}">
                <a16:creationId xmlns:a16="http://schemas.microsoft.com/office/drawing/2014/main" id="{6239C9E4-7372-D9EB-EB76-AA3733876F9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46557" y="1542565"/>
            <a:ext cx="6698886" cy="3772869"/>
          </a:xfrm>
          <a:prstGeom prst="rect">
            <a:avLst/>
          </a:prstGeom>
        </p:spPr>
      </p:pic>
      <p:sp>
        <p:nvSpPr>
          <p:cNvPr id="8" name="文本框 7">
            <a:extLst>
              <a:ext uri="{FF2B5EF4-FFF2-40B4-BE49-F238E27FC236}">
                <a16:creationId xmlns:a16="http://schemas.microsoft.com/office/drawing/2014/main" id="{6E44F4F7-65A2-0CDF-22B8-B8B56F1AEFB0}"/>
              </a:ext>
            </a:extLst>
          </p:cNvPr>
          <p:cNvSpPr txBox="1"/>
          <p:nvPr/>
        </p:nvSpPr>
        <p:spPr>
          <a:xfrm>
            <a:off x="367840" y="1839586"/>
            <a:ext cx="2520534" cy="830997"/>
          </a:xfrm>
          <a:prstGeom prst="rect">
            <a:avLst/>
          </a:prstGeom>
          <a:noFill/>
        </p:spPr>
        <p:txBody>
          <a:bodyPr wrap="square" rtlCol="0">
            <a:spAutoFit/>
          </a:bodyPr>
          <a:lstStyle/>
          <a:p>
            <a:r>
              <a:rPr lang="zh-CN" altLang="en-US" sz="1600" dirty="0"/>
              <a:t>使用预训练的结构编码器</a:t>
            </a:r>
            <a:r>
              <a:rPr lang="en-US" altLang="zh-CN" sz="1600" dirty="0"/>
              <a:t>GVP</a:t>
            </a:r>
            <a:r>
              <a:rPr lang="zh-CN" altLang="en-US" sz="1600" dirty="0"/>
              <a:t>将局部结构编码为固定维度的稠密向量。</a:t>
            </a:r>
          </a:p>
        </p:txBody>
      </p:sp>
      <p:sp>
        <p:nvSpPr>
          <p:cNvPr id="10" name="文本框 9">
            <a:extLst>
              <a:ext uri="{FF2B5EF4-FFF2-40B4-BE49-F238E27FC236}">
                <a16:creationId xmlns:a16="http://schemas.microsoft.com/office/drawing/2014/main" id="{9940A411-65F1-EE8E-012F-52AAA391B25A}"/>
              </a:ext>
            </a:extLst>
          </p:cNvPr>
          <p:cNvSpPr txBox="1"/>
          <p:nvPr/>
        </p:nvSpPr>
        <p:spPr>
          <a:xfrm>
            <a:off x="9445443" y="1737986"/>
            <a:ext cx="2690633" cy="1323439"/>
          </a:xfrm>
          <a:prstGeom prst="rect">
            <a:avLst/>
          </a:prstGeom>
          <a:noFill/>
        </p:spPr>
        <p:txBody>
          <a:bodyPr wrap="square" rtlCol="0">
            <a:spAutoFit/>
          </a:bodyPr>
          <a:lstStyle/>
          <a:p>
            <a:r>
              <a:rPr lang="zh-CN" altLang="en-US" sz="1600" dirty="0"/>
              <a:t>对结构向量库运行 </a:t>
            </a:r>
            <a:r>
              <a:rPr lang="en-US" altLang="zh-CN" sz="1600" dirty="0"/>
              <a:t>K-Means </a:t>
            </a:r>
            <a:r>
              <a:rPr lang="zh-CN" altLang="en-US" sz="1600" dirty="0"/>
              <a:t>聚类，构建一个词表。每个残基的连续结构向量会被映射到距离最近的聚类中心，从而转化为一个</a:t>
            </a:r>
            <a:r>
              <a:rPr lang="en-US" altLang="zh-CN" sz="1600" dirty="0"/>
              <a:t>Token</a:t>
            </a:r>
            <a:endParaRPr lang="zh-CN" altLang="en-US" sz="1600" dirty="0"/>
          </a:p>
        </p:txBody>
      </p:sp>
      <p:sp>
        <p:nvSpPr>
          <p:cNvPr id="12" name="文本框 11">
            <a:extLst>
              <a:ext uri="{FF2B5EF4-FFF2-40B4-BE49-F238E27FC236}">
                <a16:creationId xmlns:a16="http://schemas.microsoft.com/office/drawing/2014/main" id="{52C736A1-C5A9-5901-2C5C-B7EAC593C1FE}"/>
              </a:ext>
            </a:extLst>
          </p:cNvPr>
          <p:cNvSpPr txBox="1"/>
          <p:nvPr/>
        </p:nvSpPr>
        <p:spPr>
          <a:xfrm>
            <a:off x="3477088" y="5399436"/>
            <a:ext cx="5403273" cy="830997"/>
          </a:xfrm>
          <a:prstGeom prst="rect">
            <a:avLst/>
          </a:prstGeom>
          <a:noFill/>
        </p:spPr>
        <p:txBody>
          <a:bodyPr wrap="square" rtlCol="0">
            <a:spAutoFit/>
          </a:bodyPr>
          <a:lstStyle/>
          <a:p>
            <a:r>
              <a:rPr lang="zh-CN" altLang="en-US" sz="1600" dirty="0"/>
              <a:t>具体而言，输入一个蛋白首先按残基切片用 </a:t>
            </a:r>
            <a:r>
              <a:rPr lang="en-US" altLang="zh-CN" sz="1600" dirty="0"/>
              <a:t>GVP </a:t>
            </a:r>
            <a:r>
              <a:rPr lang="zh-CN" altLang="en-US" sz="1600" dirty="0"/>
              <a:t>提取局部特征变成连续向量，最后拿着 </a:t>
            </a:r>
            <a:r>
              <a:rPr lang="en-US" altLang="zh-CN" sz="1600" dirty="0"/>
              <a:t>B </a:t>
            </a:r>
            <a:r>
              <a:rPr lang="zh-CN" altLang="en-US" sz="1600" dirty="0"/>
              <a:t>阶段做好的聚类字典去查表，把连续向量替换成离散的 </a:t>
            </a:r>
            <a:r>
              <a:rPr lang="en-US" altLang="zh-CN" sz="1600" dirty="0"/>
              <a:t>ID</a:t>
            </a:r>
            <a:r>
              <a:rPr lang="zh-CN" altLang="en-US" sz="1600" dirty="0"/>
              <a:t>。</a:t>
            </a:r>
          </a:p>
        </p:txBody>
      </p:sp>
    </p:spTree>
    <p:extLst>
      <p:ext uri="{BB962C8B-B14F-4D97-AF65-F5344CB8AC3E}">
        <p14:creationId xmlns:p14="http://schemas.microsoft.com/office/powerpoint/2010/main" val="1758373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randombar(horizont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randombar(horizontal)">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ABAB8-9D3E-80F4-0FCD-0B832161B9F2}"/>
            </a:ext>
          </a:extLst>
        </p:cNvPr>
        <p:cNvGrpSpPr/>
        <p:nvPr/>
      </p:nvGrpSpPr>
      <p:grpSpPr>
        <a:xfrm>
          <a:off x="0" y="0"/>
          <a:ext cx="0" cy="0"/>
          <a:chOff x="0" y="0"/>
          <a:chExt cx="0" cy="0"/>
        </a:xfrm>
      </p:grpSpPr>
      <p:grpSp>
        <p:nvGrpSpPr>
          <p:cNvPr id="20" name="组合 19">
            <a:extLst>
              <a:ext uri="{FF2B5EF4-FFF2-40B4-BE49-F238E27FC236}">
                <a16:creationId xmlns:a16="http://schemas.microsoft.com/office/drawing/2014/main" id="{6F1E3FAE-9012-B641-BDAE-38B5EF8A6208}"/>
              </a:ext>
            </a:extLst>
          </p:cNvPr>
          <p:cNvGrpSpPr/>
          <p:nvPr/>
        </p:nvGrpSpPr>
        <p:grpSpPr>
          <a:xfrm>
            <a:off x="286653" y="116633"/>
            <a:ext cx="11618694" cy="6681374"/>
            <a:chOff x="286653" y="116633"/>
            <a:chExt cx="11618694" cy="6681374"/>
          </a:xfrm>
        </p:grpSpPr>
        <p:grpSp>
          <p:nvGrpSpPr>
            <p:cNvPr id="21" name="组合 20">
              <a:extLst>
                <a:ext uri="{FF2B5EF4-FFF2-40B4-BE49-F238E27FC236}">
                  <a16:creationId xmlns:a16="http://schemas.microsoft.com/office/drawing/2014/main" id="{65CB3C52-44B5-5362-F744-7755E46230EA}"/>
                </a:ext>
              </a:extLst>
            </p:cNvPr>
            <p:cNvGrpSpPr/>
            <p:nvPr/>
          </p:nvGrpSpPr>
          <p:grpSpPr>
            <a:xfrm>
              <a:off x="335361" y="116633"/>
              <a:ext cx="629872" cy="612768"/>
              <a:chOff x="3070727" y="196457"/>
              <a:chExt cx="692047" cy="673255"/>
            </a:xfrm>
          </p:grpSpPr>
          <p:sp>
            <p:nvSpPr>
              <p:cNvPr id="26" name="平行四边形 25">
                <a:extLst>
                  <a:ext uri="{FF2B5EF4-FFF2-40B4-BE49-F238E27FC236}">
                    <a16:creationId xmlns:a16="http://schemas.microsoft.com/office/drawing/2014/main" id="{0424A10A-06E6-9426-602B-FAB443510CA5}"/>
                  </a:ext>
                </a:extLst>
              </p:cNvPr>
              <p:cNvSpPr/>
              <p:nvPr/>
            </p:nvSpPr>
            <p:spPr>
              <a:xfrm>
                <a:off x="3070727" y="196457"/>
                <a:ext cx="629587" cy="612775"/>
              </a:xfrm>
              <a:prstGeom prst="parallelogram">
                <a:avLst/>
              </a:prstGeom>
              <a:solidFill>
                <a:srgbClr val="6B0261"/>
              </a:solidFill>
              <a:ln w="25400" cap="flat" cmpd="sng" algn="ctr">
                <a:solidFill>
                  <a:srgbClr val="6B026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27" name="平行四边形 26">
                <a:extLst>
                  <a:ext uri="{FF2B5EF4-FFF2-40B4-BE49-F238E27FC236}">
                    <a16:creationId xmlns:a16="http://schemas.microsoft.com/office/drawing/2014/main" id="{FFA3B723-189F-5757-E6EA-92F92919BF9A}"/>
                  </a:ext>
                </a:extLst>
              </p:cNvPr>
              <p:cNvSpPr/>
              <p:nvPr/>
            </p:nvSpPr>
            <p:spPr>
              <a:xfrm>
                <a:off x="3133187" y="256937"/>
                <a:ext cx="629587" cy="612775"/>
              </a:xfrm>
              <a:prstGeom prst="parallelogram">
                <a:avLst/>
              </a:prstGeom>
              <a:noFill/>
              <a:ln w="25400" cap="flat" cmpd="sng" algn="ctr">
                <a:solidFill>
                  <a:srgbClr val="6B026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cxnSp>
          <p:nvCxnSpPr>
            <p:cNvPr id="22" name="直接连接符 21">
              <a:extLst>
                <a:ext uri="{FF2B5EF4-FFF2-40B4-BE49-F238E27FC236}">
                  <a16:creationId xmlns:a16="http://schemas.microsoft.com/office/drawing/2014/main" id="{229A88E8-61B0-5458-1D94-3954F00FF2D8}"/>
                </a:ext>
              </a:extLst>
            </p:cNvPr>
            <p:cNvCxnSpPr>
              <a:cxnSpLocks/>
            </p:cNvCxnSpPr>
            <p:nvPr/>
          </p:nvCxnSpPr>
          <p:spPr>
            <a:xfrm>
              <a:off x="367840" y="809674"/>
              <a:ext cx="11488800" cy="0"/>
            </a:xfrm>
            <a:prstGeom prst="line">
              <a:avLst/>
            </a:prstGeom>
            <a:noFill/>
            <a:ln w="9525" cap="flat" cmpd="sng" algn="ctr">
              <a:solidFill>
                <a:srgbClr val="6B0261"/>
              </a:solidFill>
              <a:prstDash val="solid"/>
            </a:ln>
            <a:effectLst/>
          </p:spPr>
        </p:cxnSp>
        <p:sp>
          <p:nvSpPr>
            <p:cNvPr id="23" name="文本占位符 5">
              <a:extLst>
                <a:ext uri="{FF2B5EF4-FFF2-40B4-BE49-F238E27FC236}">
                  <a16:creationId xmlns:a16="http://schemas.microsoft.com/office/drawing/2014/main" id="{587BEF87-7953-7AF4-019B-93DC6F0597C3}"/>
                </a:ext>
              </a:extLst>
            </p:cNvPr>
            <p:cNvSpPr txBox="1">
              <a:spLocks/>
            </p:cNvSpPr>
            <p:nvPr/>
          </p:nvSpPr>
          <p:spPr>
            <a:xfrm>
              <a:off x="1075777" y="214065"/>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rgbClr val="6B0261"/>
                  </a:solidFill>
                </a:rPr>
                <a:t>研究内容</a:t>
              </a:r>
            </a:p>
          </p:txBody>
        </p:sp>
        <p:sp>
          <p:nvSpPr>
            <p:cNvPr id="24" name="文本框 23">
              <a:extLst>
                <a:ext uri="{FF2B5EF4-FFF2-40B4-BE49-F238E27FC236}">
                  <a16:creationId xmlns:a16="http://schemas.microsoft.com/office/drawing/2014/main" id="{F2573A8C-4D43-18F7-49A3-4CCA9A93A43D}"/>
                </a:ext>
              </a:extLst>
            </p:cNvPr>
            <p:cNvSpPr txBox="1"/>
            <p:nvPr/>
          </p:nvSpPr>
          <p:spPr>
            <a:xfrm>
              <a:off x="10805366" y="642867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25" name="图片 24">
              <a:extLst>
                <a:ext uri="{FF2B5EF4-FFF2-40B4-BE49-F238E27FC236}">
                  <a16:creationId xmlns:a16="http://schemas.microsoft.com/office/drawing/2014/main" id="{3D3A8F1A-E34E-2A63-EA50-3DB75AE7B1B8}"/>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a:stretch/>
          </p:blipFill>
          <p:spPr>
            <a:xfrm>
              <a:off x="286653" y="6425619"/>
              <a:ext cx="2520534" cy="369332"/>
            </a:xfrm>
            <a:prstGeom prst="rect">
              <a:avLst/>
            </a:prstGeom>
          </p:spPr>
        </p:pic>
      </p:grpSp>
      <p:grpSp>
        <p:nvGrpSpPr>
          <p:cNvPr id="51" name="组合 50">
            <a:extLst>
              <a:ext uri="{FF2B5EF4-FFF2-40B4-BE49-F238E27FC236}">
                <a16:creationId xmlns:a16="http://schemas.microsoft.com/office/drawing/2014/main" id="{305F1B7C-1903-15C2-A756-5250779B2F05}"/>
              </a:ext>
            </a:extLst>
          </p:cNvPr>
          <p:cNvGrpSpPr/>
          <p:nvPr/>
        </p:nvGrpSpPr>
        <p:grpSpPr>
          <a:xfrm>
            <a:off x="9938479" y="77827"/>
            <a:ext cx="2017490" cy="675447"/>
            <a:chOff x="995884" y="398899"/>
            <a:chExt cx="3658781" cy="1224944"/>
          </a:xfrm>
        </p:grpSpPr>
        <p:pic>
          <p:nvPicPr>
            <p:cNvPr id="52" name="图片 51">
              <a:extLst>
                <a:ext uri="{FF2B5EF4-FFF2-40B4-BE49-F238E27FC236}">
                  <a16:creationId xmlns:a16="http://schemas.microsoft.com/office/drawing/2014/main" id="{EFB49216-E90F-8ABD-129A-F22C308FE8A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95884" y="398899"/>
              <a:ext cx="977348" cy="1224944"/>
            </a:xfrm>
            <a:prstGeom prst="rect">
              <a:avLst/>
            </a:prstGeom>
          </p:spPr>
        </p:pic>
        <p:pic>
          <p:nvPicPr>
            <p:cNvPr id="53" name="图片 52">
              <a:extLst>
                <a:ext uri="{FF2B5EF4-FFF2-40B4-BE49-F238E27FC236}">
                  <a16:creationId xmlns:a16="http://schemas.microsoft.com/office/drawing/2014/main" id="{1D2AA713-5FC6-B374-2CF9-7408CF3D56CF}"/>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173707" y="405382"/>
              <a:ext cx="2384890" cy="796233"/>
            </a:xfrm>
            <a:prstGeom prst="rect">
              <a:avLst/>
            </a:prstGeom>
          </p:spPr>
        </p:pic>
        <p:sp>
          <p:nvSpPr>
            <p:cNvPr id="54" name="矩形 53">
              <a:extLst>
                <a:ext uri="{FF2B5EF4-FFF2-40B4-BE49-F238E27FC236}">
                  <a16:creationId xmlns:a16="http://schemas.microsoft.com/office/drawing/2014/main" id="{B20381C5-C901-68F0-F901-F3BCA850AD44}"/>
                </a:ext>
              </a:extLst>
            </p:cNvPr>
            <p:cNvSpPr/>
            <p:nvPr/>
          </p:nvSpPr>
          <p:spPr>
            <a:xfrm>
              <a:off x="2069306" y="1138524"/>
              <a:ext cx="2585359" cy="46048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rPr>
                <a:t>NANJING UNIVERSITY</a:t>
              </a:r>
              <a:endParaRPr kumimoji="0" lang="zh-CN" altLang="en-US" sz="105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endParaRPr>
            </a:p>
          </p:txBody>
        </p:sp>
      </p:grpSp>
      <p:sp>
        <p:nvSpPr>
          <p:cNvPr id="31" name="íŝḷïḓè">
            <a:extLst>
              <a:ext uri="{FF2B5EF4-FFF2-40B4-BE49-F238E27FC236}">
                <a16:creationId xmlns:a16="http://schemas.microsoft.com/office/drawing/2014/main" id="{16290456-EBDA-ADA4-702A-2CB9449162D1}"/>
              </a:ext>
            </a:extLst>
          </p:cNvPr>
          <p:cNvSpPr/>
          <p:nvPr/>
        </p:nvSpPr>
        <p:spPr bwMode="auto">
          <a:xfrm>
            <a:off x="5828824" y="4147130"/>
            <a:ext cx="338337" cy="366161"/>
          </a:xfrm>
          <a:custGeom>
            <a:avLst/>
            <a:gdLst>
              <a:gd name="connsiteX0" fmla="*/ 327780 w 561933"/>
              <a:gd name="connsiteY0" fmla="*/ 406780 h 608145"/>
              <a:gd name="connsiteX1" fmla="*/ 285069 w 561933"/>
              <a:gd name="connsiteY1" fmla="*/ 449434 h 608145"/>
              <a:gd name="connsiteX2" fmla="*/ 327780 w 561933"/>
              <a:gd name="connsiteY2" fmla="*/ 492088 h 608145"/>
              <a:gd name="connsiteX3" fmla="*/ 370490 w 561933"/>
              <a:gd name="connsiteY3" fmla="*/ 449434 h 608145"/>
              <a:gd name="connsiteX4" fmla="*/ 327780 w 561933"/>
              <a:gd name="connsiteY4" fmla="*/ 406780 h 608145"/>
              <a:gd name="connsiteX5" fmla="*/ 91381 w 561933"/>
              <a:gd name="connsiteY5" fmla="*/ 406780 h 608145"/>
              <a:gd name="connsiteX6" fmla="*/ 49664 w 561933"/>
              <a:gd name="connsiteY6" fmla="*/ 449434 h 608145"/>
              <a:gd name="connsiteX7" fmla="*/ 91381 w 561933"/>
              <a:gd name="connsiteY7" fmla="*/ 492088 h 608145"/>
              <a:gd name="connsiteX8" fmla="*/ 134092 w 561933"/>
              <a:gd name="connsiteY8" fmla="*/ 449434 h 608145"/>
              <a:gd name="connsiteX9" fmla="*/ 91381 w 561933"/>
              <a:gd name="connsiteY9" fmla="*/ 406780 h 608145"/>
              <a:gd name="connsiteX10" fmla="*/ 130119 w 561933"/>
              <a:gd name="connsiteY10" fmla="*/ 162762 h 608145"/>
              <a:gd name="connsiteX11" fmla="*/ 50657 w 561933"/>
              <a:gd name="connsiteY11" fmla="*/ 243110 h 608145"/>
              <a:gd name="connsiteX12" fmla="*/ 50657 w 561933"/>
              <a:gd name="connsiteY12" fmla="*/ 312546 h 608145"/>
              <a:gd name="connsiteX13" fmla="*/ 78468 w 561933"/>
              <a:gd name="connsiteY13" fmla="*/ 341312 h 608145"/>
              <a:gd name="connsiteX14" fmla="*/ 340692 w 561933"/>
              <a:gd name="connsiteY14" fmla="*/ 341312 h 608145"/>
              <a:gd name="connsiteX15" fmla="*/ 369497 w 561933"/>
              <a:gd name="connsiteY15" fmla="*/ 312546 h 608145"/>
              <a:gd name="connsiteX16" fmla="*/ 369497 w 561933"/>
              <a:gd name="connsiteY16" fmla="*/ 243110 h 608145"/>
              <a:gd name="connsiteX17" fmla="*/ 289042 w 561933"/>
              <a:gd name="connsiteY17" fmla="*/ 162762 h 608145"/>
              <a:gd name="connsiteX18" fmla="*/ 127139 w 561933"/>
              <a:gd name="connsiteY18" fmla="*/ 99278 h 608145"/>
              <a:gd name="connsiteX19" fmla="*/ 293015 w 561933"/>
              <a:gd name="connsiteY19" fmla="*/ 99278 h 608145"/>
              <a:gd name="connsiteX20" fmla="*/ 420154 w 561933"/>
              <a:gd name="connsiteY20" fmla="*/ 226247 h 608145"/>
              <a:gd name="connsiteX21" fmla="*/ 420154 w 561933"/>
              <a:gd name="connsiteY21" fmla="*/ 486136 h 608145"/>
              <a:gd name="connsiteX22" fmla="*/ 382410 w 561933"/>
              <a:gd name="connsiteY22" fmla="*/ 541685 h 608145"/>
              <a:gd name="connsiteX23" fmla="*/ 382410 w 561933"/>
              <a:gd name="connsiteY23" fmla="*/ 561524 h 608145"/>
              <a:gd name="connsiteX24" fmla="*/ 334733 w 561933"/>
              <a:gd name="connsiteY24" fmla="*/ 608145 h 608145"/>
              <a:gd name="connsiteX25" fmla="*/ 326786 w 561933"/>
              <a:gd name="connsiteY25" fmla="*/ 608145 h 608145"/>
              <a:gd name="connsiteX26" fmla="*/ 280103 w 561933"/>
              <a:gd name="connsiteY26" fmla="*/ 561524 h 608145"/>
              <a:gd name="connsiteX27" fmla="*/ 280103 w 561933"/>
              <a:gd name="connsiteY27" fmla="*/ 544661 h 608145"/>
              <a:gd name="connsiteX28" fmla="*/ 140051 w 561933"/>
              <a:gd name="connsiteY28" fmla="*/ 544661 h 608145"/>
              <a:gd name="connsiteX29" fmla="*/ 140051 w 561933"/>
              <a:gd name="connsiteY29" fmla="*/ 561524 h 608145"/>
              <a:gd name="connsiteX30" fmla="*/ 92374 w 561933"/>
              <a:gd name="connsiteY30" fmla="*/ 608145 h 608145"/>
              <a:gd name="connsiteX31" fmla="*/ 84428 w 561933"/>
              <a:gd name="connsiteY31" fmla="*/ 608145 h 608145"/>
              <a:gd name="connsiteX32" fmla="*/ 37744 w 561933"/>
              <a:gd name="connsiteY32" fmla="*/ 561524 h 608145"/>
              <a:gd name="connsiteX33" fmla="*/ 37744 w 561933"/>
              <a:gd name="connsiteY33" fmla="*/ 541685 h 608145"/>
              <a:gd name="connsiteX34" fmla="*/ 0 w 561933"/>
              <a:gd name="connsiteY34" fmla="*/ 486136 h 608145"/>
              <a:gd name="connsiteX35" fmla="*/ 0 w 561933"/>
              <a:gd name="connsiteY35" fmla="*/ 226247 h 608145"/>
              <a:gd name="connsiteX36" fmla="*/ 127139 w 561933"/>
              <a:gd name="connsiteY36" fmla="*/ 99278 h 608145"/>
              <a:gd name="connsiteX37" fmla="*/ 408232 w 561933"/>
              <a:gd name="connsiteY37" fmla="*/ 74504 h 608145"/>
              <a:gd name="connsiteX38" fmla="*/ 424139 w 561933"/>
              <a:gd name="connsiteY38" fmla="*/ 75495 h 608145"/>
              <a:gd name="connsiteX39" fmla="*/ 486772 w 561933"/>
              <a:gd name="connsiteY39" fmla="*/ 185587 h 608145"/>
              <a:gd name="connsiteX40" fmla="*/ 479813 w 561933"/>
              <a:gd name="connsiteY40" fmla="*/ 199473 h 608145"/>
              <a:gd name="connsiteX41" fmla="*/ 464901 w 561933"/>
              <a:gd name="connsiteY41" fmla="*/ 202448 h 608145"/>
              <a:gd name="connsiteX42" fmla="*/ 462912 w 561933"/>
              <a:gd name="connsiteY42" fmla="*/ 201456 h 608145"/>
              <a:gd name="connsiteX43" fmla="*/ 448994 w 561933"/>
              <a:gd name="connsiteY43" fmla="*/ 183604 h 608145"/>
              <a:gd name="connsiteX44" fmla="*/ 406244 w 561933"/>
              <a:gd name="connsiteY44" fmla="*/ 109217 h 608145"/>
              <a:gd name="connsiteX45" fmla="*/ 397296 w 561933"/>
              <a:gd name="connsiteY45" fmla="*/ 89381 h 608145"/>
              <a:gd name="connsiteX46" fmla="*/ 398291 w 561933"/>
              <a:gd name="connsiteY46" fmla="*/ 87397 h 608145"/>
              <a:gd name="connsiteX47" fmla="*/ 408232 w 561933"/>
              <a:gd name="connsiteY47" fmla="*/ 74504 h 608145"/>
              <a:gd name="connsiteX48" fmla="*/ 439969 w 561933"/>
              <a:gd name="connsiteY48" fmla="*/ 1081 h 608145"/>
              <a:gd name="connsiteX49" fmla="*/ 560176 w 561933"/>
              <a:gd name="connsiteY49" fmla="*/ 205408 h 608145"/>
              <a:gd name="connsiteX50" fmla="*/ 552228 w 561933"/>
              <a:gd name="connsiteY50" fmla="*/ 217311 h 608145"/>
              <a:gd name="connsiteX51" fmla="*/ 537326 w 561933"/>
              <a:gd name="connsiteY51" fmla="*/ 220286 h 608145"/>
              <a:gd name="connsiteX52" fmla="*/ 535340 w 561933"/>
              <a:gd name="connsiteY52" fmla="*/ 219294 h 608145"/>
              <a:gd name="connsiteX53" fmla="*/ 522425 w 561933"/>
              <a:gd name="connsiteY53" fmla="*/ 199457 h 608145"/>
              <a:gd name="connsiteX54" fmla="*/ 426061 w 561933"/>
              <a:gd name="connsiteY54" fmla="*/ 36788 h 608145"/>
              <a:gd name="connsiteX55" fmla="*/ 416126 w 561933"/>
              <a:gd name="connsiteY55" fmla="*/ 15959 h 608145"/>
              <a:gd name="connsiteX56" fmla="*/ 416126 w 561933"/>
              <a:gd name="connsiteY56" fmla="*/ 13975 h 608145"/>
              <a:gd name="connsiteX57" fmla="*/ 425067 w 561933"/>
              <a:gd name="connsiteY57" fmla="*/ 2073 h 608145"/>
              <a:gd name="connsiteX58" fmla="*/ 439969 w 561933"/>
              <a:gd name="connsiteY58" fmla="*/ 1081 h 608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61933" h="608145">
                <a:moveTo>
                  <a:pt x="327780" y="406780"/>
                </a:moveTo>
                <a:cubicBezTo>
                  <a:pt x="303941" y="406780"/>
                  <a:pt x="285069" y="425627"/>
                  <a:pt x="285069" y="449434"/>
                </a:cubicBezTo>
                <a:cubicBezTo>
                  <a:pt x="285069" y="473241"/>
                  <a:pt x="303941" y="492088"/>
                  <a:pt x="327780" y="492088"/>
                </a:cubicBezTo>
                <a:cubicBezTo>
                  <a:pt x="350625" y="492088"/>
                  <a:pt x="370490" y="473241"/>
                  <a:pt x="370490" y="449434"/>
                </a:cubicBezTo>
                <a:cubicBezTo>
                  <a:pt x="370490" y="425627"/>
                  <a:pt x="350625" y="406780"/>
                  <a:pt x="327780" y="406780"/>
                </a:cubicBezTo>
                <a:close/>
                <a:moveTo>
                  <a:pt x="91381" y="406780"/>
                </a:moveTo>
                <a:cubicBezTo>
                  <a:pt x="68536" y="406780"/>
                  <a:pt x="49664" y="425627"/>
                  <a:pt x="49664" y="449434"/>
                </a:cubicBezTo>
                <a:cubicBezTo>
                  <a:pt x="49664" y="473241"/>
                  <a:pt x="68536" y="492088"/>
                  <a:pt x="91381" y="492088"/>
                </a:cubicBezTo>
                <a:cubicBezTo>
                  <a:pt x="115220" y="492088"/>
                  <a:pt x="134092" y="473241"/>
                  <a:pt x="134092" y="449434"/>
                </a:cubicBezTo>
                <a:cubicBezTo>
                  <a:pt x="134092" y="425627"/>
                  <a:pt x="115220" y="406780"/>
                  <a:pt x="91381" y="406780"/>
                </a:cubicBezTo>
                <a:close/>
                <a:moveTo>
                  <a:pt x="130119" y="162762"/>
                </a:moveTo>
                <a:cubicBezTo>
                  <a:pt x="86415" y="162762"/>
                  <a:pt x="50657" y="198472"/>
                  <a:pt x="50657" y="243110"/>
                </a:cubicBezTo>
                <a:lnTo>
                  <a:pt x="50657" y="312546"/>
                </a:lnTo>
                <a:cubicBezTo>
                  <a:pt x="50657" y="328417"/>
                  <a:pt x="62576" y="341312"/>
                  <a:pt x="78468" y="341312"/>
                </a:cubicBezTo>
                <a:lnTo>
                  <a:pt x="340692" y="341312"/>
                </a:lnTo>
                <a:cubicBezTo>
                  <a:pt x="356585" y="341312"/>
                  <a:pt x="369497" y="328417"/>
                  <a:pt x="369497" y="312546"/>
                </a:cubicBezTo>
                <a:lnTo>
                  <a:pt x="369497" y="243110"/>
                </a:lnTo>
                <a:cubicBezTo>
                  <a:pt x="369497" y="198472"/>
                  <a:pt x="332746" y="162762"/>
                  <a:pt x="289042" y="162762"/>
                </a:cubicBezTo>
                <a:close/>
                <a:moveTo>
                  <a:pt x="127139" y="99278"/>
                </a:moveTo>
                <a:lnTo>
                  <a:pt x="293015" y="99278"/>
                </a:lnTo>
                <a:cubicBezTo>
                  <a:pt x="363538" y="99278"/>
                  <a:pt x="420154" y="155819"/>
                  <a:pt x="420154" y="226247"/>
                </a:cubicBezTo>
                <a:lnTo>
                  <a:pt x="420154" y="486136"/>
                </a:lnTo>
                <a:cubicBezTo>
                  <a:pt x="420154" y="511926"/>
                  <a:pt x="404262" y="532757"/>
                  <a:pt x="382410" y="541685"/>
                </a:cubicBezTo>
                <a:lnTo>
                  <a:pt x="382410" y="561524"/>
                </a:lnTo>
                <a:cubicBezTo>
                  <a:pt x="382410" y="587314"/>
                  <a:pt x="360558" y="608145"/>
                  <a:pt x="334733" y="608145"/>
                </a:cubicBezTo>
                <a:lnTo>
                  <a:pt x="326786" y="608145"/>
                </a:lnTo>
                <a:cubicBezTo>
                  <a:pt x="300961" y="608145"/>
                  <a:pt x="280103" y="587314"/>
                  <a:pt x="280103" y="561524"/>
                </a:cubicBezTo>
                <a:lnTo>
                  <a:pt x="280103" y="544661"/>
                </a:lnTo>
                <a:lnTo>
                  <a:pt x="140051" y="544661"/>
                </a:lnTo>
                <a:lnTo>
                  <a:pt x="140051" y="561524"/>
                </a:lnTo>
                <a:cubicBezTo>
                  <a:pt x="140051" y="587314"/>
                  <a:pt x="118199" y="608145"/>
                  <a:pt x="92374" y="608145"/>
                </a:cubicBezTo>
                <a:lnTo>
                  <a:pt x="84428" y="608145"/>
                </a:lnTo>
                <a:cubicBezTo>
                  <a:pt x="58603" y="608145"/>
                  <a:pt x="37744" y="587314"/>
                  <a:pt x="37744" y="561524"/>
                </a:cubicBezTo>
                <a:lnTo>
                  <a:pt x="37744" y="541685"/>
                </a:lnTo>
                <a:cubicBezTo>
                  <a:pt x="14899" y="532757"/>
                  <a:pt x="0" y="511926"/>
                  <a:pt x="0" y="486136"/>
                </a:cubicBezTo>
                <a:lnTo>
                  <a:pt x="0" y="226247"/>
                </a:lnTo>
                <a:cubicBezTo>
                  <a:pt x="0" y="155819"/>
                  <a:pt x="56616" y="99278"/>
                  <a:pt x="127139" y="99278"/>
                </a:cubicBezTo>
                <a:close/>
                <a:moveTo>
                  <a:pt x="408232" y="74504"/>
                </a:moveTo>
                <a:cubicBezTo>
                  <a:pt x="413203" y="72520"/>
                  <a:pt x="419168" y="72520"/>
                  <a:pt x="424139" y="75495"/>
                </a:cubicBezTo>
                <a:cubicBezTo>
                  <a:pt x="464901" y="96324"/>
                  <a:pt x="489755" y="139964"/>
                  <a:pt x="486772" y="185587"/>
                </a:cubicBezTo>
                <a:cubicBezTo>
                  <a:pt x="486772" y="190546"/>
                  <a:pt x="483790" y="195505"/>
                  <a:pt x="479813" y="199473"/>
                </a:cubicBezTo>
                <a:cubicBezTo>
                  <a:pt x="475836" y="202448"/>
                  <a:pt x="469871" y="203440"/>
                  <a:pt x="464901" y="202448"/>
                </a:cubicBezTo>
                <a:lnTo>
                  <a:pt x="462912" y="201456"/>
                </a:lnTo>
                <a:cubicBezTo>
                  <a:pt x="453965" y="199473"/>
                  <a:pt x="448994" y="191538"/>
                  <a:pt x="448994" y="183604"/>
                </a:cubicBezTo>
                <a:cubicBezTo>
                  <a:pt x="450982" y="152857"/>
                  <a:pt x="434081" y="123103"/>
                  <a:pt x="406244" y="109217"/>
                </a:cubicBezTo>
                <a:cubicBezTo>
                  <a:pt x="399285" y="105250"/>
                  <a:pt x="395308" y="97315"/>
                  <a:pt x="397296" y="89381"/>
                </a:cubicBezTo>
                <a:lnTo>
                  <a:pt x="398291" y="87397"/>
                </a:lnTo>
                <a:cubicBezTo>
                  <a:pt x="399285" y="81446"/>
                  <a:pt x="403261" y="77479"/>
                  <a:pt x="408232" y="74504"/>
                </a:cubicBezTo>
                <a:close/>
                <a:moveTo>
                  <a:pt x="439969" y="1081"/>
                </a:moveTo>
                <a:cubicBezTo>
                  <a:pt x="522425" y="32821"/>
                  <a:pt x="572097" y="118123"/>
                  <a:pt x="560176" y="205408"/>
                </a:cubicBezTo>
                <a:cubicBezTo>
                  <a:pt x="559182" y="210367"/>
                  <a:pt x="556202" y="214335"/>
                  <a:pt x="552228" y="217311"/>
                </a:cubicBezTo>
                <a:cubicBezTo>
                  <a:pt x="548254" y="220286"/>
                  <a:pt x="542294" y="221278"/>
                  <a:pt x="537326" y="220286"/>
                </a:cubicBezTo>
                <a:lnTo>
                  <a:pt x="535340" y="219294"/>
                </a:lnTo>
                <a:cubicBezTo>
                  <a:pt x="526399" y="217311"/>
                  <a:pt x="520438" y="208384"/>
                  <a:pt x="522425" y="199457"/>
                </a:cubicBezTo>
                <a:cubicBezTo>
                  <a:pt x="531366" y="130025"/>
                  <a:pt x="491628" y="62577"/>
                  <a:pt x="426061" y="36788"/>
                </a:cubicBezTo>
                <a:cubicBezTo>
                  <a:pt x="418113" y="33813"/>
                  <a:pt x="413146" y="24886"/>
                  <a:pt x="416126" y="15959"/>
                </a:cubicBezTo>
                <a:lnTo>
                  <a:pt x="416126" y="13975"/>
                </a:lnTo>
                <a:cubicBezTo>
                  <a:pt x="417120" y="9016"/>
                  <a:pt x="421094" y="4056"/>
                  <a:pt x="425067" y="2073"/>
                </a:cubicBezTo>
                <a:cubicBezTo>
                  <a:pt x="430035" y="89"/>
                  <a:pt x="435002" y="-903"/>
                  <a:pt x="439969" y="1081"/>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endParaRPr lang="zh-CN" altLang="en-US">
              <a:solidFill>
                <a:srgbClr val="000000"/>
              </a:solidFill>
              <a:latin typeface="Arial" panose="020F0502020204030204"/>
              <a:ea typeface="微软雅黑"/>
              <a:cs typeface="+mn-ea"/>
              <a:sym typeface="+mn-lt"/>
            </a:endParaRPr>
          </a:p>
        </p:txBody>
      </p:sp>
      <p:sp>
        <p:nvSpPr>
          <p:cNvPr id="42" name="ïslíḓé">
            <a:extLst>
              <a:ext uri="{FF2B5EF4-FFF2-40B4-BE49-F238E27FC236}">
                <a16:creationId xmlns:a16="http://schemas.microsoft.com/office/drawing/2014/main" id="{1140B161-50EF-62AB-D61D-F31990CF432C}"/>
              </a:ext>
            </a:extLst>
          </p:cNvPr>
          <p:cNvSpPr/>
          <p:nvPr/>
        </p:nvSpPr>
        <p:spPr bwMode="auto">
          <a:xfrm>
            <a:off x="5815461" y="5339493"/>
            <a:ext cx="363264" cy="320996"/>
          </a:xfrm>
          <a:custGeom>
            <a:avLst/>
            <a:gdLst>
              <a:gd name="connsiteX0" fmla="*/ 494452 w 603405"/>
              <a:gd name="connsiteY0" fmla="*/ 356003 h 533193"/>
              <a:gd name="connsiteX1" fmla="*/ 585270 w 603405"/>
              <a:gd name="connsiteY1" fmla="*/ 356003 h 533193"/>
              <a:gd name="connsiteX2" fmla="*/ 601782 w 603405"/>
              <a:gd name="connsiteY2" fmla="*/ 372480 h 533193"/>
              <a:gd name="connsiteX3" fmla="*/ 585270 w 603405"/>
              <a:gd name="connsiteY3" fmla="*/ 388957 h 533193"/>
              <a:gd name="connsiteX4" fmla="*/ 494452 w 603405"/>
              <a:gd name="connsiteY4" fmla="*/ 388957 h 533193"/>
              <a:gd name="connsiteX5" fmla="*/ 367511 w 603405"/>
              <a:gd name="connsiteY5" fmla="*/ 244227 h 533193"/>
              <a:gd name="connsiteX6" fmla="*/ 443780 w 603405"/>
              <a:gd name="connsiteY6" fmla="*/ 244227 h 533193"/>
              <a:gd name="connsiteX7" fmla="*/ 477411 w 603405"/>
              <a:gd name="connsiteY7" fmla="*/ 277633 h 533193"/>
              <a:gd name="connsiteX8" fmla="*/ 477861 w 603405"/>
              <a:gd name="connsiteY8" fmla="*/ 381744 h 533193"/>
              <a:gd name="connsiteX9" fmla="*/ 463748 w 603405"/>
              <a:gd name="connsiteY9" fmla="*/ 395975 h 533193"/>
              <a:gd name="connsiteX10" fmla="*/ 449486 w 603405"/>
              <a:gd name="connsiteY10" fmla="*/ 381894 h 533193"/>
              <a:gd name="connsiteX11" fmla="*/ 449035 w 603405"/>
              <a:gd name="connsiteY11" fmla="*/ 277782 h 533193"/>
              <a:gd name="connsiteX12" fmla="*/ 446033 w 603405"/>
              <a:gd name="connsiteY12" fmla="*/ 274786 h 533193"/>
              <a:gd name="connsiteX13" fmla="*/ 443030 w 603405"/>
              <a:gd name="connsiteY13" fmla="*/ 277782 h 533193"/>
              <a:gd name="connsiteX14" fmla="*/ 443330 w 603405"/>
              <a:gd name="connsiteY14" fmla="*/ 516116 h 533193"/>
              <a:gd name="connsiteX15" fmla="*/ 426215 w 603405"/>
              <a:gd name="connsiteY15" fmla="*/ 533193 h 533193"/>
              <a:gd name="connsiteX16" fmla="*/ 409249 w 603405"/>
              <a:gd name="connsiteY16" fmla="*/ 516116 h 533193"/>
              <a:gd name="connsiteX17" fmla="*/ 409249 w 603405"/>
              <a:gd name="connsiteY17" fmla="*/ 380096 h 533193"/>
              <a:gd name="connsiteX18" fmla="*/ 401893 w 603405"/>
              <a:gd name="connsiteY18" fmla="*/ 380096 h 533193"/>
              <a:gd name="connsiteX19" fmla="*/ 401893 w 603405"/>
              <a:gd name="connsiteY19" fmla="*/ 516116 h 533193"/>
              <a:gd name="connsiteX20" fmla="*/ 384778 w 603405"/>
              <a:gd name="connsiteY20" fmla="*/ 533193 h 533193"/>
              <a:gd name="connsiteX21" fmla="*/ 367812 w 603405"/>
              <a:gd name="connsiteY21" fmla="*/ 516116 h 533193"/>
              <a:gd name="connsiteX22" fmla="*/ 367812 w 603405"/>
              <a:gd name="connsiteY22" fmla="*/ 380096 h 533193"/>
              <a:gd name="connsiteX23" fmla="*/ 367812 w 603405"/>
              <a:gd name="connsiteY23" fmla="*/ 277782 h 533193"/>
              <a:gd name="connsiteX24" fmla="*/ 364959 w 603405"/>
              <a:gd name="connsiteY24" fmla="*/ 274936 h 533193"/>
              <a:gd name="connsiteX25" fmla="*/ 362257 w 603405"/>
              <a:gd name="connsiteY25" fmla="*/ 277782 h 533193"/>
              <a:gd name="connsiteX26" fmla="*/ 361656 w 603405"/>
              <a:gd name="connsiteY26" fmla="*/ 381894 h 533193"/>
              <a:gd name="connsiteX27" fmla="*/ 347544 w 603405"/>
              <a:gd name="connsiteY27" fmla="*/ 395975 h 533193"/>
              <a:gd name="connsiteX28" fmla="*/ 347393 w 603405"/>
              <a:gd name="connsiteY28" fmla="*/ 395975 h 533193"/>
              <a:gd name="connsiteX29" fmla="*/ 333281 w 603405"/>
              <a:gd name="connsiteY29" fmla="*/ 381744 h 533193"/>
              <a:gd name="connsiteX30" fmla="*/ 333881 w 603405"/>
              <a:gd name="connsiteY30" fmla="*/ 277633 h 533193"/>
              <a:gd name="connsiteX31" fmla="*/ 367511 w 603405"/>
              <a:gd name="connsiteY31" fmla="*/ 244227 h 533193"/>
              <a:gd name="connsiteX32" fmla="*/ 201525 w 603405"/>
              <a:gd name="connsiteY32" fmla="*/ 244227 h 533193"/>
              <a:gd name="connsiteX33" fmla="*/ 277906 w 603405"/>
              <a:gd name="connsiteY33" fmla="*/ 244227 h 533193"/>
              <a:gd name="connsiteX34" fmla="*/ 311520 w 603405"/>
              <a:gd name="connsiteY34" fmla="*/ 277633 h 533193"/>
              <a:gd name="connsiteX35" fmla="*/ 311970 w 603405"/>
              <a:gd name="connsiteY35" fmla="*/ 381744 h 533193"/>
              <a:gd name="connsiteX36" fmla="*/ 297864 w 603405"/>
              <a:gd name="connsiteY36" fmla="*/ 395975 h 533193"/>
              <a:gd name="connsiteX37" fmla="*/ 297714 w 603405"/>
              <a:gd name="connsiteY37" fmla="*/ 395975 h 533193"/>
              <a:gd name="connsiteX38" fmla="*/ 283608 w 603405"/>
              <a:gd name="connsiteY38" fmla="*/ 381894 h 533193"/>
              <a:gd name="connsiteX39" fmla="*/ 283008 w 603405"/>
              <a:gd name="connsiteY39" fmla="*/ 277782 h 533193"/>
              <a:gd name="connsiteX40" fmla="*/ 280007 w 603405"/>
              <a:gd name="connsiteY40" fmla="*/ 274786 h 533193"/>
              <a:gd name="connsiteX41" fmla="*/ 277156 w 603405"/>
              <a:gd name="connsiteY41" fmla="*/ 277782 h 533193"/>
              <a:gd name="connsiteX42" fmla="*/ 277456 w 603405"/>
              <a:gd name="connsiteY42" fmla="*/ 516116 h 533193"/>
              <a:gd name="connsiteX43" fmla="*/ 260349 w 603405"/>
              <a:gd name="connsiteY43" fmla="*/ 533193 h 533193"/>
              <a:gd name="connsiteX44" fmla="*/ 243242 w 603405"/>
              <a:gd name="connsiteY44" fmla="*/ 516116 h 533193"/>
              <a:gd name="connsiteX45" fmla="*/ 243242 w 603405"/>
              <a:gd name="connsiteY45" fmla="*/ 380096 h 533193"/>
              <a:gd name="connsiteX46" fmla="*/ 235889 w 603405"/>
              <a:gd name="connsiteY46" fmla="*/ 380096 h 533193"/>
              <a:gd name="connsiteX47" fmla="*/ 235889 w 603405"/>
              <a:gd name="connsiteY47" fmla="*/ 516116 h 533193"/>
              <a:gd name="connsiteX48" fmla="*/ 218932 w 603405"/>
              <a:gd name="connsiteY48" fmla="*/ 533193 h 533193"/>
              <a:gd name="connsiteX49" fmla="*/ 201825 w 603405"/>
              <a:gd name="connsiteY49" fmla="*/ 516116 h 533193"/>
              <a:gd name="connsiteX50" fmla="*/ 201825 w 603405"/>
              <a:gd name="connsiteY50" fmla="*/ 380096 h 533193"/>
              <a:gd name="connsiteX51" fmla="*/ 201825 w 603405"/>
              <a:gd name="connsiteY51" fmla="*/ 277782 h 533193"/>
              <a:gd name="connsiteX52" fmla="*/ 199124 w 603405"/>
              <a:gd name="connsiteY52" fmla="*/ 274936 h 533193"/>
              <a:gd name="connsiteX53" fmla="*/ 196423 w 603405"/>
              <a:gd name="connsiteY53" fmla="*/ 277782 h 533193"/>
              <a:gd name="connsiteX54" fmla="*/ 195822 w 603405"/>
              <a:gd name="connsiteY54" fmla="*/ 381894 h 533193"/>
              <a:gd name="connsiteX55" fmla="*/ 181567 w 603405"/>
              <a:gd name="connsiteY55" fmla="*/ 395975 h 533193"/>
              <a:gd name="connsiteX56" fmla="*/ 167461 w 603405"/>
              <a:gd name="connsiteY56" fmla="*/ 381744 h 533193"/>
              <a:gd name="connsiteX57" fmla="*/ 167911 w 603405"/>
              <a:gd name="connsiteY57" fmla="*/ 277633 h 533193"/>
              <a:gd name="connsiteX58" fmla="*/ 201525 w 603405"/>
              <a:gd name="connsiteY58" fmla="*/ 244227 h 533193"/>
              <a:gd name="connsiteX59" fmla="*/ 34214 w 603405"/>
              <a:gd name="connsiteY59" fmla="*/ 244227 h 533193"/>
              <a:gd name="connsiteX60" fmla="*/ 110445 w 603405"/>
              <a:gd name="connsiteY60" fmla="*/ 244227 h 533193"/>
              <a:gd name="connsiteX61" fmla="*/ 144059 w 603405"/>
              <a:gd name="connsiteY61" fmla="*/ 277633 h 533193"/>
              <a:gd name="connsiteX62" fmla="*/ 144509 w 603405"/>
              <a:gd name="connsiteY62" fmla="*/ 381744 h 533193"/>
              <a:gd name="connsiteX63" fmla="*/ 130403 w 603405"/>
              <a:gd name="connsiteY63" fmla="*/ 395975 h 533193"/>
              <a:gd name="connsiteX64" fmla="*/ 116147 w 603405"/>
              <a:gd name="connsiteY64" fmla="*/ 381894 h 533193"/>
              <a:gd name="connsiteX65" fmla="*/ 115697 w 603405"/>
              <a:gd name="connsiteY65" fmla="*/ 277782 h 533193"/>
              <a:gd name="connsiteX66" fmla="*/ 112696 w 603405"/>
              <a:gd name="connsiteY66" fmla="*/ 274786 h 533193"/>
              <a:gd name="connsiteX67" fmla="*/ 109694 w 603405"/>
              <a:gd name="connsiteY67" fmla="*/ 277782 h 533193"/>
              <a:gd name="connsiteX68" fmla="*/ 109995 w 603405"/>
              <a:gd name="connsiteY68" fmla="*/ 516116 h 533193"/>
              <a:gd name="connsiteX69" fmla="*/ 92888 w 603405"/>
              <a:gd name="connsiteY69" fmla="*/ 533193 h 533193"/>
              <a:gd name="connsiteX70" fmla="*/ 75931 w 603405"/>
              <a:gd name="connsiteY70" fmla="*/ 516116 h 533193"/>
              <a:gd name="connsiteX71" fmla="*/ 75931 w 603405"/>
              <a:gd name="connsiteY71" fmla="*/ 380096 h 533193"/>
              <a:gd name="connsiteX72" fmla="*/ 68578 w 603405"/>
              <a:gd name="connsiteY72" fmla="*/ 380096 h 533193"/>
              <a:gd name="connsiteX73" fmla="*/ 68578 w 603405"/>
              <a:gd name="connsiteY73" fmla="*/ 516116 h 533193"/>
              <a:gd name="connsiteX74" fmla="*/ 51471 w 603405"/>
              <a:gd name="connsiteY74" fmla="*/ 533193 h 533193"/>
              <a:gd name="connsiteX75" fmla="*/ 34364 w 603405"/>
              <a:gd name="connsiteY75" fmla="*/ 516116 h 533193"/>
              <a:gd name="connsiteX76" fmla="*/ 34364 w 603405"/>
              <a:gd name="connsiteY76" fmla="*/ 380096 h 533193"/>
              <a:gd name="connsiteX77" fmla="*/ 34364 w 603405"/>
              <a:gd name="connsiteY77" fmla="*/ 277782 h 533193"/>
              <a:gd name="connsiteX78" fmla="*/ 31663 w 603405"/>
              <a:gd name="connsiteY78" fmla="*/ 275086 h 533193"/>
              <a:gd name="connsiteX79" fmla="*/ 28962 w 603405"/>
              <a:gd name="connsiteY79" fmla="*/ 277782 h 533193"/>
              <a:gd name="connsiteX80" fmla="*/ 28361 w 603405"/>
              <a:gd name="connsiteY80" fmla="*/ 381894 h 533193"/>
              <a:gd name="connsiteX81" fmla="*/ 14256 w 603405"/>
              <a:gd name="connsiteY81" fmla="*/ 395975 h 533193"/>
              <a:gd name="connsiteX82" fmla="*/ 14106 w 603405"/>
              <a:gd name="connsiteY82" fmla="*/ 395975 h 533193"/>
              <a:gd name="connsiteX83" fmla="*/ 0 w 603405"/>
              <a:gd name="connsiteY83" fmla="*/ 381744 h 533193"/>
              <a:gd name="connsiteX84" fmla="*/ 600 w 603405"/>
              <a:gd name="connsiteY84" fmla="*/ 277633 h 533193"/>
              <a:gd name="connsiteX85" fmla="*/ 34214 w 603405"/>
              <a:gd name="connsiteY85" fmla="*/ 244227 h 533193"/>
              <a:gd name="connsiteX86" fmla="*/ 298774 w 603405"/>
              <a:gd name="connsiteY86" fmla="*/ 232090 h 533193"/>
              <a:gd name="connsiteX87" fmla="*/ 346547 w 603405"/>
              <a:gd name="connsiteY87" fmla="*/ 232090 h 533193"/>
              <a:gd name="connsiteX88" fmla="*/ 322660 w 603405"/>
              <a:gd name="connsiteY88" fmla="*/ 254883 h 533193"/>
              <a:gd name="connsiteX89" fmla="*/ 298774 w 603405"/>
              <a:gd name="connsiteY89" fmla="*/ 232090 h 533193"/>
              <a:gd name="connsiteX90" fmla="*/ 405716 w 603405"/>
              <a:gd name="connsiteY90" fmla="*/ 176061 h 533193"/>
              <a:gd name="connsiteX91" fmla="*/ 435177 w 603405"/>
              <a:gd name="connsiteY91" fmla="*/ 205417 h 533193"/>
              <a:gd name="connsiteX92" fmla="*/ 405716 w 603405"/>
              <a:gd name="connsiteY92" fmla="*/ 234773 h 533193"/>
              <a:gd name="connsiteX93" fmla="*/ 376255 w 603405"/>
              <a:gd name="connsiteY93" fmla="*/ 205417 h 533193"/>
              <a:gd name="connsiteX94" fmla="*/ 405716 w 603405"/>
              <a:gd name="connsiteY94" fmla="*/ 176061 h 533193"/>
              <a:gd name="connsiteX95" fmla="*/ 239817 w 603405"/>
              <a:gd name="connsiteY95" fmla="*/ 176061 h 533193"/>
              <a:gd name="connsiteX96" fmla="*/ 269208 w 603405"/>
              <a:gd name="connsiteY96" fmla="*/ 205417 h 533193"/>
              <a:gd name="connsiteX97" fmla="*/ 239817 w 603405"/>
              <a:gd name="connsiteY97" fmla="*/ 234773 h 533193"/>
              <a:gd name="connsiteX98" fmla="*/ 210426 w 603405"/>
              <a:gd name="connsiteY98" fmla="*/ 205417 h 533193"/>
              <a:gd name="connsiteX99" fmla="*/ 239817 w 603405"/>
              <a:gd name="connsiteY99" fmla="*/ 176061 h 533193"/>
              <a:gd name="connsiteX100" fmla="*/ 72325 w 603405"/>
              <a:gd name="connsiteY100" fmla="*/ 176061 h 533193"/>
              <a:gd name="connsiteX101" fmla="*/ 101897 w 603405"/>
              <a:gd name="connsiteY101" fmla="*/ 205416 h 533193"/>
              <a:gd name="connsiteX102" fmla="*/ 72325 w 603405"/>
              <a:gd name="connsiteY102" fmla="*/ 234772 h 533193"/>
              <a:gd name="connsiteX103" fmla="*/ 42904 w 603405"/>
              <a:gd name="connsiteY103" fmla="*/ 205416 h 533193"/>
              <a:gd name="connsiteX104" fmla="*/ 72325 w 603405"/>
              <a:gd name="connsiteY104" fmla="*/ 176061 h 533193"/>
              <a:gd name="connsiteX105" fmla="*/ 1200 w 603405"/>
              <a:gd name="connsiteY105" fmla="*/ 56241 h 533193"/>
              <a:gd name="connsiteX106" fmla="*/ 384613 w 603405"/>
              <a:gd name="connsiteY106" fmla="*/ 56241 h 533193"/>
              <a:gd name="connsiteX107" fmla="*/ 603405 w 603405"/>
              <a:gd name="connsiteY107" fmla="*/ 274494 h 533193"/>
              <a:gd name="connsiteX108" fmla="*/ 540979 w 603405"/>
              <a:gd name="connsiteY108" fmla="*/ 336809 h 533193"/>
              <a:gd name="connsiteX109" fmla="*/ 494459 w 603405"/>
              <a:gd name="connsiteY109" fmla="*/ 336809 h 533193"/>
              <a:gd name="connsiteX110" fmla="*/ 494159 w 603405"/>
              <a:gd name="connsiteY110" fmla="*/ 277490 h 533193"/>
              <a:gd name="connsiteX111" fmla="*/ 464747 w 603405"/>
              <a:gd name="connsiteY111" fmla="*/ 232102 h 533193"/>
              <a:gd name="connsiteX112" fmla="*/ 551333 w 603405"/>
              <a:gd name="connsiteY112" fmla="*/ 232102 h 533193"/>
              <a:gd name="connsiteX113" fmla="*/ 551483 w 603405"/>
              <a:gd name="connsiteY113" fmla="*/ 232102 h 533193"/>
              <a:gd name="connsiteX114" fmla="*/ 557636 w 603405"/>
              <a:gd name="connsiteY114" fmla="*/ 228806 h 533193"/>
              <a:gd name="connsiteX115" fmla="*/ 558236 w 603405"/>
              <a:gd name="connsiteY115" fmla="*/ 221766 h 533193"/>
              <a:gd name="connsiteX116" fmla="*/ 504663 w 603405"/>
              <a:gd name="connsiteY116" fmla="*/ 136532 h 533193"/>
              <a:gd name="connsiteX117" fmla="*/ 415676 w 603405"/>
              <a:gd name="connsiteY117" fmla="*/ 97585 h 533193"/>
              <a:gd name="connsiteX118" fmla="*/ 397968 w 603405"/>
              <a:gd name="connsiteY118" fmla="*/ 97585 h 533193"/>
              <a:gd name="connsiteX119" fmla="*/ 397968 w 603405"/>
              <a:gd name="connsiteY119" fmla="*/ 159900 h 533193"/>
              <a:gd name="connsiteX120" fmla="*/ 364954 w 603405"/>
              <a:gd name="connsiteY120" fmla="*/ 183568 h 533193"/>
              <a:gd name="connsiteX121" fmla="*/ 364954 w 603405"/>
              <a:gd name="connsiteY121" fmla="*/ 97585 h 533193"/>
              <a:gd name="connsiteX122" fmla="*/ 174223 w 603405"/>
              <a:gd name="connsiteY122" fmla="*/ 97585 h 533193"/>
              <a:gd name="connsiteX123" fmla="*/ 174223 w 603405"/>
              <a:gd name="connsiteY123" fmla="*/ 232102 h 533193"/>
              <a:gd name="connsiteX124" fmla="*/ 180526 w 603405"/>
              <a:gd name="connsiteY124" fmla="*/ 232102 h 533193"/>
              <a:gd name="connsiteX125" fmla="*/ 174223 w 603405"/>
              <a:gd name="connsiteY125" fmla="*/ 235547 h 533193"/>
              <a:gd name="connsiteX126" fmla="*/ 156065 w 603405"/>
              <a:gd name="connsiteY126" fmla="*/ 256369 h 533193"/>
              <a:gd name="connsiteX127" fmla="*/ 141209 w 603405"/>
              <a:gd name="connsiteY127" fmla="*/ 238093 h 533193"/>
              <a:gd name="connsiteX128" fmla="*/ 131455 w 603405"/>
              <a:gd name="connsiteY128" fmla="*/ 232102 h 533193"/>
              <a:gd name="connsiteX129" fmla="*/ 141209 w 603405"/>
              <a:gd name="connsiteY129" fmla="*/ 232102 h 533193"/>
              <a:gd name="connsiteX130" fmla="*/ 141209 w 603405"/>
              <a:gd name="connsiteY130" fmla="*/ 97585 h 533193"/>
              <a:gd name="connsiteX131" fmla="*/ 1200 w 603405"/>
              <a:gd name="connsiteY131" fmla="*/ 97585 h 533193"/>
              <a:gd name="connsiteX132" fmla="*/ 30337 w 603405"/>
              <a:gd name="connsiteY132" fmla="*/ 0 h 533193"/>
              <a:gd name="connsiteX133" fmla="*/ 450496 w 603405"/>
              <a:gd name="connsiteY133" fmla="*/ 0 h 533193"/>
              <a:gd name="connsiteX134" fmla="*/ 467002 w 603405"/>
              <a:gd name="connsiteY134" fmla="*/ 16512 h 533193"/>
              <a:gd name="connsiteX135" fmla="*/ 450496 w 603405"/>
              <a:gd name="connsiteY135" fmla="*/ 33025 h 533193"/>
              <a:gd name="connsiteX136" fmla="*/ 30337 w 603405"/>
              <a:gd name="connsiteY136" fmla="*/ 33025 h 533193"/>
              <a:gd name="connsiteX137" fmla="*/ 13831 w 603405"/>
              <a:gd name="connsiteY137" fmla="*/ 16512 h 533193"/>
              <a:gd name="connsiteX138" fmla="*/ 30337 w 603405"/>
              <a:gd name="connsiteY138" fmla="*/ 0 h 533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603405" h="533193">
                <a:moveTo>
                  <a:pt x="494452" y="356003"/>
                </a:moveTo>
                <a:lnTo>
                  <a:pt x="585270" y="356003"/>
                </a:lnTo>
                <a:cubicBezTo>
                  <a:pt x="594277" y="356003"/>
                  <a:pt x="601782" y="363343"/>
                  <a:pt x="601782" y="372480"/>
                </a:cubicBezTo>
                <a:cubicBezTo>
                  <a:pt x="601782" y="381617"/>
                  <a:pt x="594277" y="388957"/>
                  <a:pt x="585270" y="388957"/>
                </a:cubicBezTo>
                <a:lnTo>
                  <a:pt x="494452" y="388957"/>
                </a:lnTo>
                <a:close/>
                <a:moveTo>
                  <a:pt x="367511" y="244227"/>
                </a:moveTo>
                <a:lnTo>
                  <a:pt x="443780" y="244227"/>
                </a:lnTo>
                <a:cubicBezTo>
                  <a:pt x="462247" y="244227"/>
                  <a:pt x="477261" y="259207"/>
                  <a:pt x="477411" y="277633"/>
                </a:cubicBezTo>
                <a:lnTo>
                  <a:pt x="477861" y="381744"/>
                </a:lnTo>
                <a:cubicBezTo>
                  <a:pt x="478011" y="389534"/>
                  <a:pt x="471706" y="395975"/>
                  <a:pt x="463748" y="395975"/>
                </a:cubicBezTo>
                <a:cubicBezTo>
                  <a:pt x="455941" y="395975"/>
                  <a:pt x="449486" y="389684"/>
                  <a:pt x="449486" y="381894"/>
                </a:cubicBezTo>
                <a:lnTo>
                  <a:pt x="449035" y="277782"/>
                </a:lnTo>
                <a:cubicBezTo>
                  <a:pt x="449035" y="276135"/>
                  <a:pt x="447684" y="274786"/>
                  <a:pt x="446033" y="274786"/>
                </a:cubicBezTo>
                <a:cubicBezTo>
                  <a:pt x="444381" y="274786"/>
                  <a:pt x="443030" y="276135"/>
                  <a:pt x="443030" y="277782"/>
                </a:cubicBezTo>
                <a:cubicBezTo>
                  <a:pt x="443030" y="419944"/>
                  <a:pt x="443330" y="291115"/>
                  <a:pt x="443330" y="516116"/>
                </a:cubicBezTo>
                <a:cubicBezTo>
                  <a:pt x="443330" y="525553"/>
                  <a:pt x="435673" y="533193"/>
                  <a:pt x="426215" y="533193"/>
                </a:cubicBezTo>
                <a:cubicBezTo>
                  <a:pt x="416906" y="533193"/>
                  <a:pt x="409249" y="525553"/>
                  <a:pt x="409249" y="516116"/>
                </a:cubicBezTo>
                <a:lnTo>
                  <a:pt x="409249" y="380096"/>
                </a:lnTo>
                <a:lnTo>
                  <a:pt x="401893" y="380096"/>
                </a:lnTo>
                <a:lnTo>
                  <a:pt x="401893" y="516116"/>
                </a:lnTo>
                <a:cubicBezTo>
                  <a:pt x="401893" y="525553"/>
                  <a:pt x="394236" y="533193"/>
                  <a:pt x="384778" y="533193"/>
                </a:cubicBezTo>
                <a:cubicBezTo>
                  <a:pt x="375319" y="533193"/>
                  <a:pt x="367812" y="525553"/>
                  <a:pt x="367812" y="516116"/>
                </a:cubicBezTo>
                <a:lnTo>
                  <a:pt x="367812" y="380096"/>
                </a:lnTo>
                <a:lnTo>
                  <a:pt x="367812" y="277782"/>
                </a:lnTo>
                <a:cubicBezTo>
                  <a:pt x="367812" y="276284"/>
                  <a:pt x="366461" y="274936"/>
                  <a:pt x="364959" y="274936"/>
                </a:cubicBezTo>
                <a:cubicBezTo>
                  <a:pt x="363458" y="274936"/>
                  <a:pt x="362257" y="276284"/>
                  <a:pt x="362257" y="277782"/>
                </a:cubicBezTo>
                <a:lnTo>
                  <a:pt x="361656" y="381894"/>
                </a:lnTo>
                <a:cubicBezTo>
                  <a:pt x="361656" y="389684"/>
                  <a:pt x="355351" y="395975"/>
                  <a:pt x="347544" y="395975"/>
                </a:cubicBezTo>
                <a:lnTo>
                  <a:pt x="347393" y="395975"/>
                </a:lnTo>
                <a:cubicBezTo>
                  <a:pt x="339586" y="395975"/>
                  <a:pt x="333281" y="389534"/>
                  <a:pt x="333281" y="381744"/>
                </a:cubicBezTo>
                <a:lnTo>
                  <a:pt x="333881" y="277633"/>
                </a:lnTo>
                <a:cubicBezTo>
                  <a:pt x="333881" y="259207"/>
                  <a:pt x="349045" y="244227"/>
                  <a:pt x="367511" y="244227"/>
                </a:cubicBezTo>
                <a:close/>
                <a:moveTo>
                  <a:pt x="201525" y="244227"/>
                </a:moveTo>
                <a:lnTo>
                  <a:pt x="277906" y="244227"/>
                </a:lnTo>
                <a:cubicBezTo>
                  <a:pt x="296213" y="244227"/>
                  <a:pt x="311370" y="259207"/>
                  <a:pt x="311520" y="277633"/>
                </a:cubicBezTo>
                <a:lnTo>
                  <a:pt x="311970" y="381744"/>
                </a:lnTo>
                <a:cubicBezTo>
                  <a:pt x="311970" y="389534"/>
                  <a:pt x="305667" y="395975"/>
                  <a:pt x="297864" y="395975"/>
                </a:cubicBezTo>
                <a:lnTo>
                  <a:pt x="297714" y="395975"/>
                </a:lnTo>
                <a:cubicBezTo>
                  <a:pt x="289911" y="395975"/>
                  <a:pt x="283608" y="389684"/>
                  <a:pt x="283608" y="381894"/>
                </a:cubicBezTo>
                <a:lnTo>
                  <a:pt x="283008" y="277782"/>
                </a:lnTo>
                <a:cubicBezTo>
                  <a:pt x="283008" y="276135"/>
                  <a:pt x="281657" y="274786"/>
                  <a:pt x="280007" y="274786"/>
                </a:cubicBezTo>
                <a:cubicBezTo>
                  <a:pt x="278356" y="274786"/>
                  <a:pt x="277156" y="276135"/>
                  <a:pt x="277156" y="277782"/>
                </a:cubicBezTo>
                <a:cubicBezTo>
                  <a:pt x="277156" y="419944"/>
                  <a:pt x="277456" y="291115"/>
                  <a:pt x="277456" y="516116"/>
                </a:cubicBezTo>
                <a:cubicBezTo>
                  <a:pt x="277456" y="525553"/>
                  <a:pt x="269803" y="533193"/>
                  <a:pt x="260349" y="533193"/>
                </a:cubicBezTo>
                <a:cubicBezTo>
                  <a:pt x="250895" y="533193"/>
                  <a:pt x="243242" y="525553"/>
                  <a:pt x="243242" y="516116"/>
                </a:cubicBezTo>
                <a:lnTo>
                  <a:pt x="243242" y="380096"/>
                </a:lnTo>
                <a:lnTo>
                  <a:pt x="235889" y="380096"/>
                </a:lnTo>
                <a:lnTo>
                  <a:pt x="235889" y="516116"/>
                </a:lnTo>
                <a:cubicBezTo>
                  <a:pt x="235889" y="525553"/>
                  <a:pt x="228386" y="533193"/>
                  <a:pt x="218932" y="533193"/>
                </a:cubicBezTo>
                <a:cubicBezTo>
                  <a:pt x="209478" y="533193"/>
                  <a:pt x="201825" y="525553"/>
                  <a:pt x="201825" y="516116"/>
                </a:cubicBezTo>
                <a:lnTo>
                  <a:pt x="201825" y="380096"/>
                </a:lnTo>
                <a:lnTo>
                  <a:pt x="201825" y="277782"/>
                </a:lnTo>
                <a:cubicBezTo>
                  <a:pt x="201825" y="276284"/>
                  <a:pt x="200624" y="274936"/>
                  <a:pt x="199124" y="274936"/>
                </a:cubicBezTo>
                <a:cubicBezTo>
                  <a:pt x="197623" y="274936"/>
                  <a:pt x="196423" y="276284"/>
                  <a:pt x="196423" y="277782"/>
                </a:cubicBezTo>
                <a:lnTo>
                  <a:pt x="195822" y="381894"/>
                </a:lnTo>
                <a:cubicBezTo>
                  <a:pt x="195822" y="389684"/>
                  <a:pt x="189370" y="395975"/>
                  <a:pt x="181567" y="395975"/>
                </a:cubicBezTo>
                <a:cubicBezTo>
                  <a:pt x="173763" y="395975"/>
                  <a:pt x="167311" y="389534"/>
                  <a:pt x="167461" y="381744"/>
                </a:cubicBezTo>
                <a:lnTo>
                  <a:pt x="167911" y="277633"/>
                </a:lnTo>
                <a:cubicBezTo>
                  <a:pt x="168061" y="259207"/>
                  <a:pt x="183067" y="244227"/>
                  <a:pt x="201525" y="244227"/>
                </a:cubicBezTo>
                <a:close/>
                <a:moveTo>
                  <a:pt x="34214" y="244227"/>
                </a:moveTo>
                <a:lnTo>
                  <a:pt x="110445" y="244227"/>
                </a:lnTo>
                <a:cubicBezTo>
                  <a:pt x="128902" y="244227"/>
                  <a:pt x="143908" y="259207"/>
                  <a:pt x="144059" y="277633"/>
                </a:cubicBezTo>
                <a:lnTo>
                  <a:pt x="144509" y="381744"/>
                </a:lnTo>
                <a:cubicBezTo>
                  <a:pt x="144659" y="389534"/>
                  <a:pt x="138206" y="395975"/>
                  <a:pt x="130403" y="395975"/>
                </a:cubicBezTo>
                <a:cubicBezTo>
                  <a:pt x="122600" y="395975"/>
                  <a:pt x="116147" y="389684"/>
                  <a:pt x="116147" y="381894"/>
                </a:cubicBezTo>
                <a:lnTo>
                  <a:pt x="115697" y="277782"/>
                </a:lnTo>
                <a:cubicBezTo>
                  <a:pt x="115547" y="276135"/>
                  <a:pt x="114346" y="274786"/>
                  <a:pt x="112696" y="274786"/>
                </a:cubicBezTo>
                <a:cubicBezTo>
                  <a:pt x="111045" y="274786"/>
                  <a:pt x="109694" y="276135"/>
                  <a:pt x="109694" y="277782"/>
                </a:cubicBezTo>
                <a:cubicBezTo>
                  <a:pt x="109694" y="343695"/>
                  <a:pt x="109995" y="452450"/>
                  <a:pt x="109995" y="516116"/>
                </a:cubicBezTo>
                <a:cubicBezTo>
                  <a:pt x="109995" y="525553"/>
                  <a:pt x="102341" y="533193"/>
                  <a:pt x="92888" y="533193"/>
                </a:cubicBezTo>
                <a:cubicBezTo>
                  <a:pt x="83584" y="533193"/>
                  <a:pt x="75931" y="525553"/>
                  <a:pt x="75931" y="516116"/>
                </a:cubicBezTo>
                <a:lnTo>
                  <a:pt x="75931" y="380096"/>
                </a:lnTo>
                <a:lnTo>
                  <a:pt x="68578" y="380096"/>
                </a:lnTo>
                <a:lnTo>
                  <a:pt x="68578" y="516116"/>
                </a:lnTo>
                <a:cubicBezTo>
                  <a:pt x="68578" y="525553"/>
                  <a:pt x="60925" y="533193"/>
                  <a:pt x="51471" y="533193"/>
                </a:cubicBezTo>
                <a:cubicBezTo>
                  <a:pt x="42017" y="533193"/>
                  <a:pt x="34364" y="525553"/>
                  <a:pt x="34364" y="516116"/>
                </a:cubicBezTo>
                <a:lnTo>
                  <a:pt x="34364" y="380096"/>
                </a:lnTo>
                <a:lnTo>
                  <a:pt x="34364" y="277782"/>
                </a:lnTo>
                <a:cubicBezTo>
                  <a:pt x="34364" y="276284"/>
                  <a:pt x="33163" y="275086"/>
                  <a:pt x="31663" y="275086"/>
                </a:cubicBezTo>
                <a:cubicBezTo>
                  <a:pt x="30162" y="274936"/>
                  <a:pt x="28962" y="276284"/>
                  <a:pt x="28962" y="277782"/>
                </a:cubicBezTo>
                <a:lnTo>
                  <a:pt x="28361" y="381894"/>
                </a:lnTo>
                <a:cubicBezTo>
                  <a:pt x="28361" y="389684"/>
                  <a:pt x="22059" y="395975"/>
                  <a:pt x="14256" y="395975"/>
                </a:cubicBezTo>
                <a:lnTo>
                  <a:pt x="14106" y="395975"/>
                </a:lnTo>
                <a:cubicBezTo>
                  <a:pt x="6302" y="395975"/>
                  <a:pt x="0" y="389534"/>
                  <a:pt x="0" y="381744"/>
                </a:cubicBezTo>
                <a:lnTo>
                  <a:pt x="600" y="277633"/>
                </a:lnTo>
                <a:cubicBezTo>
                  <a:pt x="600" y="259207"/>
                  <a:pt x="15756" y="244227"/>
                  <a:pt x="34214" y="244227"/>
                </a:cubicBezTo>
                <a:close/>
                <a:moveTo>
                  <a:pt x="298774" y="232090"/>
                </a:moveTo>
                <a:lnTo>
                  <a:pt x="346547" y="232090"/>
                </a:lnTo>
                <a:cubicBezTo>
                  <a:pt x="336331" y="236739"/>
                  <a:pt x="327768" y="244836"/>
                  <a:pt x="322660" y="254883"/>
                </a:cubicBezTo>
                <a:cubicBezTo>
                  <a:pt x="317552" y="244836"/>
                  <a:pt x="309140" y="236739"/>
                  <a:pt x="298774" y="232090"/>
                </a:cubicBezTo>
                <a:close/>
                <a:moveTo>
                  <a:pt x="405716" y="176061"/>
                </a:moveTo>
                <a:cubicBezTo>
                  <a:pt x="421987" y="176061"/>
                  <a:pt x="435177" y="189204"/>
                  <a:pt x="435177" y="205417"/>
                </a:cubicBezTo>
                <a:cubicBezTo>
                  <a:pt x="435177" y="221630"/>
                  <a:pt x="421987" y="234773"/>
                  <a:pt x="405716" y="234773"/>
                </a:cubicBezTo>
                <a:cubicBezTo>
                  <a:pt x="389445" y="234773"/>
                  <a:pt x="376255" y="221630"/>
                  <a:pt x="376255" y="205417"/>
                </a:cubicBezTo>
                <a:cubicBezTo>
                  <a:pt x="376255" y="189204"/>
                  <a:pt x="389445" y="176061"/>
                  <a:pt x="405716" y="176061"/>
                </a:cubicBezTo>
                <a:close/>
                <a:moveTo>
                  <a:pt x="239817" y="176061"/>
                </a:moveTo>
                <a:cubicBezTo>
                  <a:pt x="256049" y="176061"/>
                  <a:pt x="269208" y="189204"/>
                  <a:pt x="269208" y="205417"/>
                </a:cubicBezTo>
                <a:cubicBezTo>
                  <a:pt x="269208" y="221630"/>
                  <a:pt x="256049" y="234773"/>
                  <a:pt x="239817" y="234773"/>
                </a:cubicBezTo>
                <a:cubicBezTo>
                  <a:pt x="223585" y="234773"/>
                  <a:pt x="210426" y="221630"/>
                  <a:pt x="210426" y="205417"/>
                </a:cubicBezTo>
                <a:cubicBezTo>
                  <a:pt x="210426" y="189204"/>
                  <a:pt x="223585" y="176061"/>
                  <a:pt x="239817" y="176061"/>
                </a:cubicBezTo>
                <a:close/>
                <a:moveTo>
                  <a:pt x="72325" y="176061"/>
                </a:moveTo>
                <a:cubicBezTo>
                  <a:pt x="88687" y="176061"/>
                  <a:pt x="101897" y="189241"/>
                  <a:pt x="101897" y="205416"/>
                </a:cubicBezTo>
                <a:cubicBezTo>
                  <a:pt x="101897" y="221592"/>
                  <a:pt x="88687" y="234772"/>
                  <a:pt x="72325" y="234772"/>
                </a:cubicBezTo>
                <a:cubicBezTo>
                  <a:pt x="56113" y="234772"/>
                  <a:pt x="42904" y="221592"/>
                  <a:pt x="42904" y="205416"/>
                </a:cubicBezTo>
                <a:cubicBezTo>
                  <a:pt x="42904" y="189241"/>
                  <a:pt x="55963" y="176061"/>
                  <a:pt x="72325" y="176061"/>
                </a:cubicBezTo>
                <a:close/>
                <a:moveTo>
                  <a:pt x="1200" y="56241"/>
                </a:moveTo>
                <a:lnTo>
                  <a:pt x="384613" y="56241"/>
                </a:lnTo>
                <a:cubicBezTo>
                  <a:pt x="505414" y="56241"/>
                  <a:pt x="603405" y="154058"/>
                  <a:pt x="603405" y="274494"/>
                </a:cubicBezTo>
                <a:cubicBezTo>
                  <a:pt x="603405" y="308947"/>
                  <a:pt x="575493" y="336809"/>
                  <a:pt x="540979" y="336809"/>
                </a:cubicBezTo>
                <a:lnTo>
                  <a:pt x="494459" y="336809"/>
                </a:lnTo>
                <a:lnTo>
                  <a:pt x="494159" y="277490"/>
                </a:lnTo>
                <a:cubicBezTo>
                  <a:pt x="494009" y="257417"/>
                  <a:pt x="482004" y="240041"/>
                  <a:pt x="464747" y="232102"/>
                </a:cubicBezTo>
                <a:lnTo>
                  <a:pt x="551333" y="232102"/>
                </a:lnTo>
                <a:lnTo>
                  <a:pt x="551483" y="232102"/>
                </a:lnTo>
                <a:cubicBezTo>
                  <a:pt x="553884" y="232102"/>
                  <a:pt x="556285" y="230753"/>
                  <a:pt x="557636" y="228806"/>
                </a:cubicBezTo>
                <a:cubicBezTo>
                  <a:pt x="558986" y="226709"/>
                  <a:pt x="559136" y="224013"/>
                  <a:pt x="558236" y="221766"/>
                </a:cubicBezTo>
                <a:cubicBezTo>
                  <a:pt x="550283" y="203790"/>
                  <a:pt x="531825" y="165892"/>
                  <a:pt x="504663" y="136532"/>
                </a:cubicBezTo>
                <a:cubicBezTo>
                  <a:pt x="481704" y="111666"/>
                  <a:pt x="449440" y="97585"/>
                  <a:pt x="415676" y="97585"/>
                </a:cubicBezTo>
                <a:lnTo>
                  <a:pt x="397968" y="97585"/>
                </a:lnTo>
                <a:lnTo>
                  <a:pt x="397968" y="159900"/>
                </a:lnTo>
                <a:cubicBezTo>
                  <a:pt x="383712" y="162297"/>
                  <a:pt x="371707" y="171284"/>
                  <a:pt x="364954" y="183568"/>
                </a:cubicBezTo>
                <a:lnTo>
                  <a:pt x="364954" y="97585"/>
                </a:lnTo>
                <a:lnTo>
                  <a:pt x="174223" y="97585"/>
                </a:lnTo>
                <a:lnTo>
                  <a:pt x="174223" y="232102"/>
                </a:lnTo>
                <a:lnTo>
                  <a:pt x="180526" y="232102"/>
                </a:lnTo>
                <a:cubicBezTo>
                  <a:pt x="178425" y="233150"/>
                  <a:pt x="176324" y="234199"/>
                  <a:pt x="174223" y="235547"/>
                </a:cubicBezTo>
                <a:cubicBezTo>
                  <a:pt x="166420" y="240640"/>
                  <a:pt x="159967" y="247830"/>
                  <a:pt x="156065" y="256369"/>
                </a:cubicBezTo>
                <a:cubicBezTo>
                  <a:pt x="152614" y="249178"/>
                  <a:pt x="147512" y="242887"/>
                  <a:pt x="141209" y="238093"/>
                </a:cubicBezTo>
                <a:cubicBezTo>
                  <a:pt x="138208" y="235697"/>
                  <a:pt x="134906" y="233749"/>
                  <a:pt x="131455" y="232102"/>
                </a:cubicBezTo>
                <a:lnTo>
                  <a:pt x="141209" y="232102"/>
                </a:lnTo>
                <a:lnTo>
                  <a:pt x="141209" y="97585"/>
                </a:lnTo>
                <a:lnTo>
                  <a:pt x="1200" y="97585"/>
                </a:lnTo>
                <a:close/>
                <a:moveTo>
                  <a:pt x="30337" y="0"/>
                </a:moveTo>
                <a:lnTo>
                  <a:pt x="450496" y="0"/>
                </a:lnTo>
                <a:cubicBezTo>
                  <a:pt x="459649" y="0"/>
                  <a:pt x="467002" y="7356"/>
                  <a:pt x="467002" y="16512"/>
                </a:cubicBezTo>
                <a:cubicBezTo>
                  <a:pt x="467002" y="25669"/>
                  <a:pt x="459649" y="33025"/>
                  <a:pt x="450496" y="33025"/>
                </a:cubicBezTo>
                <a:lnTo>
                  <a:pt x="30337" y="33025"/>
                </a:lnTo>
                <a:cubicBezTo>
                  <a:pt x="21184" y="33025"/>
                  <a:pt x="13831" y="25669"/>
                  <a:pt x="13831" y="16512"/>
                </a:cubicBezTo>
                <a:cubicBezTo>
                  <a:pt x="13831" y="7356"/>
                  <a:pt x="21184" y="0"/>
                  <a:pt x="30337" y="0"/>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endParaRPr lang="zh-CN" altLang="en-US">
              <a:solidFill>
                <a:srgbClr val="000000"/>
              </a:solidFill>
              <a:latin typeface="Arial" panose="020F0502020204030204"/>
              <a:ea typeface="微软雅黑"/>
              <a:cs typeface="+mn-ea"/>
              <a:sym typeface="+mn-lt"/>
            </a:endParaRPr>
          </a:p>
        </p:txBody>
      </p:sp>
      <p:pic>
        <p:nvPicPr>
          <p:cNvPr id="3" name="图片 2" descr="图示&#10;&#10;描述已自动生成">
            <a:extLst>
              <a:ext uri="{FF2B5EF4-FFF2-40B4-BE49-F238E27FC236}">
                <a16:creationId xmlns:a16="http://schemas.microsoft.com/office/drawing/2014/main" id="{43BAC78D-D261-C45A-8536-F31E8218E59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5361" y="978104"/>
            <a:ext cx="5828439" cy="5008446"/>
          </a:xfrm>
          <a:prstGeom prst="rect">
            <a:avLst/>
          </a:prstGeom>
        </p:spPr>
      </p:pic>
      <p:sp>
        <p:nvSpPr>
          <p:cNvPr id="4" name="文本框 3">
            <a:extLst>
              <a:ext uri="{FF2B5EF4-FFF2-40B4-BE49-F238E27FC236}">
                <a16:creationId xmlns:a16="http://schemas.microsoft.com/office/drawing/2014/main" id="{78493ACC-ECAB-9316-47FB-DEEAD52AB7ED}"/>
              </a:ext>
            </a:extLst>
          </p:cNvPr>
          <p:cNvSpPr txBox="1"/>
          <p:nvPr/>
        </p:nvSpPr>
        <p:spPr>
          <a:xfrm>
            <a:off x="6112240" y="1279444"/>
            <a:ext cx="4913745" cy="646331"/>
          </a:xfrm>
          <a:prstGeom prst="rect">
            <a:avLst/>
          </a:prstGeom>
          <a:noFill/>
        </p:spPr>
        <p:txBody>
          <a:bodyPr wrap="square" rtlCol="0">
            <a:spAutoFit/>
          </a:bodyPr>
          <a:lstStyle/>
          <a:p>
            <a:r>
              <a:rPr lang="zh-CN" altLang="en-US" dirty="0"/>
              <a:t>普通的</a:t>
            </a:r>
            <a:r>
              <a:rPr lang="en-US" altLang="zh-CN" dirty="0"/>
              <a:t>Attention </a:t>
            </a:r>
            <a:r>
              <a:rPr lang="zh-CN" altLang="en-US" dirty="0"/>
              <a:t>：我们只对融的输入做一次线性变换得到 </a:t>
            </a:r>
            <a:r>
              <a:rPr lang="en-US" altLang="zh-CN" dirty="0"/>
              <a:t>Q, K ,V </a:t>
            </a:r>
            <a:r>
              <a:rPr lang="zh-CN" altLang="en-US" dirty="0"/>
              <a:t>。</a:t>
            </a: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7DBE59C6-482D-CE41-B9FC-7EA6D45DD9DC}"/>
                  </a:ext>
                </a:extLst>
              </p:cNvPr>
              <p:cNvSpPr txBox="1"/>
              <p:nvPr/>
            </p:nvSpPr>
            <p:spPr>
              <a:xfrm>
                <a:off x="6163800" y="2061315"/>
                <a:ext cx="5163129" cy="923330"/>
              </a:xfrm>
              <a:prstGeom prst="rect">
                <a:avLst/>
              </a:prstGeom>
              <a:noFill/>
            </p:spPr>
            <p:txBody>
              <a:bodyPr wrap="square">
                <a:spAutoFit/>
              </a:bodyPr>
              <a:lstStyle/>
              <a:p>
                <a:r>
                  <a:rPr lang="en-US" altLang="zh-CN" dirty="0" err="1"/>
                  <a:t>ProSST</a:t>
                </a:r>
                <a:r>
                  <a:rPr lang="en-US" altLang="zh-CN" dirty="0"/>
                  <a:t> </a:t>
                </a:r>
                <a:r>
                  <a:rPr lang="zh-CN" altLang="en-US" dirty="0"/>
                  <a:t>：分别对氨基酸特征 </a:t>
                </a:r>
                <a14:m>
                  <m:oMath xmlns:m="http://schemas.openxmlformats.org/officeDocument/2006/math">
                    <m:sSub>
                      <m:sSubPr>
                        <m:ctrlPr>
                          <a:rPr lang="zh-CN" altLang="zh-CN" sz="1800" i="1" smtClean="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宋体" panose="02010600030101010101" pitchFamily="2" charset="-122"/>
                            <a:cs typeface="Times New Roman" panose="02020603050405020304" pitchFamily="18" charset="0"/>
                          </a:rPr>
                          <m:t>𝐻</m:t>
                        </m:r>
                      </m:e>
                      <m:sub>
                        <m:r>
                          <a:rPr lang="en-US" altLang="zh-CN" sz="1800" i="1">
                            <a:effectLst/>
                            <a:latin typeface="Cambria Math" panose="02040503050406030204" pitchFamily="18" charset="0"/>
                            <a:ea typeface="宋体" panose="02010600030101010101" pitchFamily="2" charset="-122"/>
                            <a:cs typeface="Times New Roman" panose="02020603050405020304" pitchFamily="18" charset="0"/>
                          </a:rPr>
                          <m:t>𝑅</m:t>
                        </m:r>
                      </m:sub>
                    </m:sSub>
                  </m:oMath>
                </a14:m>
                <a:r>
                  <a:rPr lang="zh-CN" altLang="en-US" dirty="0"/>
                  <a:t>和结构特征 </a:t>
                </a:r>
                <a14:m>
                  <m:oMath xmlns:m="http://schemas.openxmlformats.org/officeDocument/2006/math">
                    <m:sSub>
                      <m:sSubPr>
                        <m:ctrlPr>
                          <a:rPr lang="zh-CN" altLang="zh-CN" sz="1800" i="1" smtClean="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宋体" panose="02010600030101010101" pitchFamily="2" charset="-122"/>
                            <a:cs typeface="Times New Roman" panose="02020603050405020304" pitchFamily="18" charset="0"/>
                          </a:rPr>
                          <m:t>𝐻</m:t>
                        </m:r>
                      </m:e>
                      <m:sub>
                        <m:r>
                          <a:rPr lang="en-US" altLang="zh-CN" sz="1800" i="1">
                            <a:effectLst/>
                            <a:latin typeface="Cambria Math" panose="02040503050406030204" pitchFamily="18" charset="0"/>
                            <a:ea typeface="宋体" panose="02010600030101010101" pitchFamily="2" charset="-122"/>
                            <a:cs typeface="Times New Roman" panose="02020603050405020304" pitchFamily="18" charset="0"/>
                          </a:rPr>
                          <m:t>𝑆</m:t>
                        </m:r>
                      </m:sub>
                    </m:sSub>
                  </m:oMath>
                </a14:m>
                <a:r>
                  <a:rPr lang="zh-CN" altLang="en-US" dirty="0"/>
                  <a:t>进行线性映射，分别生成</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𝑄</m:t>
                        </m:r>
                      </m:e>
                      <m:sub>
                        <m:r>
                          <a:rPr lang="en-US" altLang="zh-CN" i="1">
                            <a:latin typeface="Cambria Math" panose="02040503050406030204" pitchFamily="18" charset="0"/>
                          </a:rPr>
                          <m:t>𝑅</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𝐾</m:t>
                        </m:r>
                      </m:e>
                      <m:sub>
                        <m:r>
                          <a:rPr lang="en-US" altLang="zh-CN" i="1">
                            <a:latin typeface="Cambria Math" panose="02040503050406030204" pitchFamily="18" charset="0"/>
                          </a:rPr>
                          <m:t>𝑅</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𝑅</m:t>
                        </m:r>
                      </m:sub>
                    </m:sSub>
                    <m:r>
                      <a:rPr lang="zh-CN" altLang="en-US" i="1">
                        <a:latin typeface="Cambria Math" panose="02040503050406030204" pitchFamily="18" charset="0"/>
                      </a:rPr>
                      <m:t>和</m:t>
                    </m:r>
                    <m:sSub>
                      <m:sSubPr>
                        <m:ctrlPr>
                          <a:rPr lang="zh-CN" altLang="zh-CN" sz="1800" i="1" smtClean="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宋体" panose="02010600030101010101" pitchFamily="2" charset="-122"/>
                            <a:cs typeface="Times New Roman" panose="02020603050405020304" pitchFamily="18" charset="0"/>
                          </a:rPr>
                          <m:t>𝑄</m:t>
                        </m:r>
                      </m:e>
                      <m:sub>
                        <m:r>
                          <a:rPr lang="en-US" altLang="zh-CN" sz="1800" i="1">
                            <a:effectLst/>
                            <a:latin typeface="Cambria Math" panose="02040503050406030204" pitchFamily="18" charset="0"/>
                            <a:ea typeface="宋体" panose="02010600030101010101" pitchFamily="2" charset="-122"/>
                            <a:cs typeface="Times New Roman" panose="02020603050405020304" pitchFamily="18" charset="0"/>
                          </a:rPr>
                          <m:t>𝑆</m:t>
                        </m:r>
                      </m:sub>
                    </m:sSub>
                    <m:r>
                      <a:rPr lang="en-US" altLang="zh-CN" sz="1800" i="1">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宋体" panose="02010600030101010101" pitchFamily="2" charset="-122"/>
                            <a:cs typeface="Times New Roman" panose="02020603050405020304" pitchFamily="18" charset="0"/>
                          </a:rPr>
                          <m:t>𝐾</m:t>
                        </m:r>
                      </m:e>
                      <m:sub>
                        <m:r>
                          <a:rPr lang="en-US" altLang="zh-CN" sz="1800" i="1">
                            <a:effectLst/>
                            <a:latin typeface="Cambria Math" panose="02040503050406030204" pitchFamily="18" charset="0"/>
                            <a:ea typeface="宋体" panose="02010600030101010101" pitchFamily="2" charset="-122"/>
                            <a:cs typeface="Times New Roman" panose="02020603050405020304" pitchFamily="18" charset="0"/>
                          </a:rPr>
                          <m:t>𝑆</m:t>
                        </m:r>
                      </m:sub>
                    </m:sSub>
                  </m:oMath>
                </a14:m>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dirty="0"/>
              </a:p>
            </p:txBody>
          </p:sp>
        </mc:Choice>
        <mc:Fallback xmlns="">
          <p:sp>
            <p:nvSpPr>
              <p:cNvPr id="9" name="文本框 8">
                <a:extLst>
                  <a:ext uri="{FF2B5EF4-FFF2-40B4-BE49-F238E27FC236}">
                    <a16:creationId xmlns:a16="http://schemas.microsoft.com/office/drawing/2014/main" id="{7DBE59C6-482D-CE41-B9FC-7EA6D45DD9DC}"/>
                  </a:ext>
                </a:extLst>
              </p:cNvPr>
              <p:cNvSpPr txBox="1">
                <a:spLocks noRot="1" noChangeAspect="1" noMove="1" noResize="1" noEditPoints="1" noAdjustHandles="1" noChangeArrowheads="1" noChangeShapeType="1" noTextEdit="1"/>
              </p:cNvSpPr>
              <p:nvPr/>
            </p:nvSpPr>
            <p:spPr>
              <a:xfrm>
                <a:off x="6163800" y="2061315"/>
                <a:ext cx="5163129" cy="923330"/>
              </a:xfrm>
              <a:prstGeom prst="rect">
                <a:avLst/>
              </a:prstGeom>
              <a:blipFill>
                <a:blip r:embed="rId7"/>
                <a:stretch>
                  <a:fillRect l="-945" t="-3289"/>
                </a:stretch>
              </a:blipFill>
            </p:spPr>
            <p:txBody>
              <a:bodyPr/>
              <a:lstStyle/>
              <a:p>
                <a:r>
                  <a:rPr lang="zh-CN" altLang="en-US">
                    <a:noFill/>
                  </a:rPr>
                  <a:t> </a:t>
                </a:r>
              </a:p>
            </p:txBody>
          </p:sp>
        </mc:Fallback>
      </mc:AlternateContent>
      <p:sp>
        <p:nvSpPr>
          <p:cNvPr id="10" name="箭头: 下 9">
            <a:extLst>
              <a:ext uri="{FF2B5EF4-FFF2-40B4-BE49-F238E27FC236}">
                <a16:creationId xmlns:a16="http://schemas.microsoft.com/office/drawing/2014/main" id="{3F72F70E-0EB0-7585-1FB8-F21B8E6224F2}"/>
              </a:ext>
            </a:extLst>
          </p:cNvPr>
          <p:cNvSpPr/>
          <p:nvPr/>
        </p:nvSpPr>
        <p:spPr>
          <a:xfrm>
            <a:off x="8416355" y="2753885"/>
            <a:ext cx="360219" cy="503031"/>
          </a:xfrm>
          <a:prstGeom prst="downArrow">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n>
                <a:solidFill>
                  <a:srgbClr val="7030A0"/>
                </a:solidFill>
              </a:ln>
              <a:solidFill>
                <a:srgbClr val="002060"/>
              </a:solidFill>
            </a:endParaRP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7A8FB4C2-7CB5-FDD5-B456-D2C853F37959}"/>
                  </a:ext>
                </a:extLst>
              </p:cNvPr>
              <p:cNvSpPr txBox="1"/>
              <p:nvPr/>
            </p:nvSpPr>
            <p:spPr>
              <a:xfrm>
                <a:off x="6112240" y="3358784"/>
                <a:ext cx="5535529" cy="369332"/>
              </a:xfrm>
              <a:prstGeom prst="rect">
                <a:avLst/>
              </a:prstGeom>
              <a:noFill/>
            </p:spPr>
            <p:txBody>
              <a:bodyPr wrap="square" rtlCol="0">
                <a:spAutoFit/>
              </a:bodyPr>
              <a:lstStyle/>
              <a:p>
                <a:r>
                  <a:rPr lang="zh-CN" altLang="en-US" dirty="0"/>
                  <a:t>排列组合计算注意力分数（即 </a:t>
                </a:r>
                <a14:m>
                  <m:oMath xmlns:m="http://schemas.openxmlformats.org/officeDocument/2006/math">
                    <m:r>
                      <a:rPr lang="en-US" altLang="zh-CN" sz="1800" i="1" smtClean="0">
                        <a:effectLst/>
                        <a:latin typeface="Cambria Math" panose="02040503050406030204" pitchFamily="18" charset="0"/>
                        <a:ea typeface="宋体" panose="02010600030101010101" pitchFamily="2" charset="-122"/>
                        <a:cs typeface="Times New Roman" panose="02020603050405020304" pitchFamily="18" charset="0"/>
                      </a:rPr>
                      <m:t>𝑄</m:t>
                    </m:r>
                    <m:r>
                      <a:rPr lang="zh-CN" altLang="zh-CN" sz="1800">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a:effectLst/>
                            <a:latin typeface="Cambria Math" panose="02040503050406030204" pitchFamily="18" charset="0"/>
                            <a:ea typeface="宋体" panose="02010600030101010101" pitchFamily="2" charset="-122"/>
                            <a:cs typeface="Times New Roman" panose="02020603050405020304" pitchFamily="18" charset="0"/>
                          </a:rPr>
                          <m:t>𝐾</m:t>
                        </m:r>
                      </m:e>
                      <m:sup>
                        <m:r>
                          <a:rPr lang="en-US" altLang="zh-CN" sz="1800" i="1">
                            <a:effectLst/>
                            <a:latin typeface="Cambria Math" panose="02040503050406030204" pitchFamily="18" charset="0"/>
                            <a:ea typeface="宋体" panose="02010600030101010101" pitchFamily="2" charset="-122"/>
                            <a:cs typeface="Times New Roman" panose="02020603050405020304" pitchFamily="18" charset="0"/>
                          </a:rPr>
                          <m:t>𝑇</m:t>
                        </m:r>
                      </m:sup>
                    </m:sSup>
                  </m:oMath>
                </a14:m>
                <a:r>
                  <a:rPr lang="zh-CN" altLang="en-US" dirty="0"/>
                  <a:t>）得到五个矩阵</a:t>
                </a:r>
              </a:p>
            </p:txBody>
          </p:sp>
        </mc:Choice>
        <mc:Fallback xmlns="">
          <p:sp>
            <p:nvSpPr>
              <p:cNvPr id="11" name="文本框 10">
                <a:extLst>
                  <a:ext uri="{FF2B5EF4-FFF2-40B4-BE49-F238E27FC236}">
                    <a16:creationId xmlns:a16="http://schemas.microsoft.com/office/drawing/2014/main" id="{7A8FB4C2-7CB5-FDD5-B456-D2C853F37959}"/>
                  </a:ext>
                </a:extLst>
              </p:cNvPr>
              <p:cNvSpPr txBox="1">
                <a:spLocks noRot="1" noChangeAspect="1" noMove="1" noResize="1" noEditPoints="1" noAdjustHandles="1" noChangeArrowheads="1" noChangeShapeType="1" noTextEdit="1"/>
              </p:cNvSpPr>
              <p:nvPr/>
            </p:nvSpPr>
            <p:spPr>
              <a:xfrm>
                <a:off x="6112240" y="3358784"/>
                <a:ext cx="5535529" cy="369332"/>
              </a:xfrm>
              <a:prstGeom prst="rect">
                <a:avLst/>
              </a:prstGeom>
              <a:blipFill>
                <a:blip r:embed="rId8"/>
                <a:stretch>
                  <a:fillRect l="-991" t="-9836" r="-881" b="-24590"/>
                </a:stretch>
              </a:blipFill>
            </p:spPr>
            <p:txBody>
              <a:bodyPr/>
              <a:lstStyle/>
              <a:p>
                <a:r>
                  <a:rPr lang="zh-CN" altLang="en-US">
                    <a:noFill/>
                  </a:rPr>
                  <a:t> </a:t>
                </a:r>
              </a:p>
            </p:txBody>
          </p:sp>
        </mc:Fallback>
      </mc:AlternateContent>
      <p:sp>
        <p:nvSpPr>
          <p:cNvPr id="12" name="箭头: 下 11">
            <a:extLst>
              <a:ext uri="{FF2B5EF4-FFF2-40B4-BE49-F238E27FC236}">
                <a16:creationId xmlns:a16="http://schemas.microsoft.com/office/drawing/2014/main" id="{316EE02E-DEEE-1D62-B883-1BABF5A59B4C}"/>
              </a:ext>
            </a:extLst>
          </p:cNvPr>
          <p:cNvSpPr/>
          <p:nvPr/>
        </p:nvSpPr>
        <p:spPr>
          <a:xfrm>
            <a:off x="8416355" y="3844286"/>
            <a:ext cx="360219" cy="503031"/>
          </a:xfrm>
          <a:prstGeom prst="downArrow">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n>
                <a:solidFill>
                  <a:srgbClr val="7030A0"/>
                </a:solidFill>
              </a:ln>
              <a:solidFill>
                <a:srgbClr val="002060"/>
              </a:solidFill>
            </a:endParaRP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07D9C65F-E0FF-74CD-1DE5-78DF6ACDB6FE}"/>
                  </a:ext>
                </a:extLst>
              </p:cNvPr>
              <p:cNvSpPr txBox="1"/>
              <p:nvPr/>
            </p:nvSpPr>
            <p:spPr>
              <a:xfrm>
                <a:off x="2949093" y="66947"/>
                <a:ext cx="6096000" cy="8082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zh-CN" altLang="en-US" b="0" smtClean="0"/>
                        <m:t>Attention</m:t>
                      </m:r>
                      <m:d>
                        <m:dPr>
                          <m:ctrlPr>
                            <a:rPr lang="zh-CN" altLang="en-US" b="0" i="1">
                              <a:latin typeface="Cambria Math" panose="02040503050406030204" pitchFamily="18" charset="0"/>
                            </a:rPr>
                          </m:ctrlPr>
                        </m:dPr>
                        <m:e>
                          <m:r>
                            <a:rPr lang="zh-CN" altLang="en-US" b="0" i="1">
                              <a:latin typeface="Cambria Math" panose="02040503050406030204" pitchFamily="18" charset="0"/>
                            </a:rPr>
                            <m:t>𝑄</m:t>
                          </m:r>
                          <m:r>
                            <a:rPr lang="zh-CN" altLang="en-US" b="0" i="0">
                              <a:latin typeface="Cambria Math" panose="02040503050406030204" pitchFamily="18" charset="0"/>
                            </a:rPr>
                            <m:t>,</m:t>
                          </m:r>
                          <m:r>
                            <a:rPr lang="zh-CN" altLang="en-US" b="0" i="1">
                              <a:latin typeface="Cambria Math" panose="02040503050406030204" pitchFamily="18" charset="0"/>
                            </a:rPr>
                            <m:t>𝐾</m:t>
                          </m:r>
                          <m:r>
                            <a:rPr lang="zh-CN" altLang="en-US" b="0" i="0">
                              <a:latin typeface="Cambria Math" panose="02040503050406030204" pitchFamily="18" charset="0"/>
                            </a:rPr>
                            <m:t>,</m:t>
                          </m:r>
                          <m:r>
                            <a:rPr lang="zh-CN" altLang="en-US" b="0" i="1">
                              <a:latin typeface="Cambria Math" panose="02040503050406030204" pitchFamily="18" charset="0"/>
                            </a:rPr>
                            <m:t>𝑉</m:t>
                          </m:r>
                        </m:e>
                      </m:d>
                      <m:r>
                        <a:rPr lang="zh-CN" altLang="en-US" b="0" i="0">
                          <a:latin typeface="Cambria Math" panose="02040503050406030204" pitchFamily="18" charset="0"/>
                        </a:rPr>
                        <m:t>=</m:t>
                      </m:r>
                      <m:r>
                        <m:rPr>
                          <m:nor/>
                        </m:rPr>
                        <a:rPr lang="zh-CN" altLang="en-US" b="0" i="1">
                          <a:latin typeface="Cambria Math" panose="02040503050406030204" pitchFamily="18" charset="0"/>
                        </a:rPr>
                        <m:t>softmax</m:t>
                      </m:r>
                      <m:d>
                        <m:dPr>
                          <m:ctrlPr>
                            <a:rPr lang="zh-CN" altLang="en-US" b="0" i="1">
                              <a:latin typeface="Cambria Math" panose="02040503050406030204" pitchFamily="18" charset="0"/>
                            </a:rPr>
                          </m:ctrlPr>
                        </m:dPr>
                        <m:e>
                          <m:f>
                            <m:fPr>
                              <m:ctrlPr>
                                <a:rPr lang="zh-CN" altLang="en-US" b="0" i="1">
                                  <a:latin typeface="Cambria Math" panose="02040503050406030204" pitchFamily="18" charset="0"/>
                                </a:rPr>
                              </m:ctrlPr>
                            </m:fPr>
                            <m:num>
                              <m:r>
                                <a:rPr lang="zh-CN" altLang="en-US" b="0" i="1">
                                  <a:latin typeface="Cambria Math" panose="02040503050406030204" pitchFamily="18" charset="0"/>
                                </a:rPr>
                                <m:t>𝑄</m:t>
                              </m:r>
                              <m:sSup>
                                <m:sSupPr>
                                  <m:ctrlPr>
                                    <a:rPr lang="zh-CN" altLang="en-US" b="0" i="1">
                                      <a:latin typeface="Cambria Math" panose="02040503050406030204" pitchFamily="18" charset="0"/>
                                    </a:rPr>
                                  </m:ctrlPr>
                                </m:sSupPr>
                                <m:e>
                                  <m:r>
                                    <a:rPr lang="zh-CN" altLang="en-US" b="0" i="1">
                                      <a:latin typeface="Cambria Math" panose="02040503050406030204" pitchFamily="18" charset="0"/>
                                    </a:rPr>
                                    <m:t>𝐾</m:t>
                                  </m:r>
                                </m:e>
                                <m:sup>
                                  <m:r>
                                    <a:rPr lang="zh-CN" altLang="en-US" b="0" i="1">
                                      <a:latin typeface="Cambria Math" panose="02040503050406030204" pitchFamily="18" charset="0"/>
                                    </a:rPr>
                                    <m:t>𝑇</m:t>
                                  </m:r>
                                </m:sup>
                              </m:sSup>
                            </m:num>
                            <m:den>
                              <m:rad>
                                <m:radPr>
                                  <m:degHide m:val="on"/>
                                  <m:ctrlPr>
                                    <a:rPr lang="zh-CN" altLang="en-US" b="0" i="1">
                                      <a:latin typeface="Cambria Math" panose="02040503050406030204" pitchFamily="18" charset="0"/>
                                    </a:rPr>
                                  </m:ctrlPr>
                                </m:radPr>
                                <m:deg/>
                                <m:e>
                                  <m:sSub>
                                    <m:sSubPr>
                                      <m:ctrlPr>
                                        <a:rPr lang="zh-CN" altLang="en-US" b="0" i="1">
                                          <a:latin typeface="Cambria Math" panose="02040503050406030204" pitchFamily="18" charset="0"/>
                                        </a:rPr>
                                      </m:ctrlPr>
                                    </m:sSubPr>
                                    <m:e>
                                      <m:r>
                                        <a:rPr lang="zh-CN" altLang="en-US" b="0" i="1">
                                          <a:latin typeface="Cambria Math" panose="02040503050406030204" pitchFamily="18" charset="0"/>
                                        </a:rPr>
                                        <m:t>𝑑</m:t>
                                      </m:r>
                                    </m:e>
                                    <m:sub>
                                      <m:r>
                                        <a:rPr lang="zh-CN" altLang="en-US" b="0" i="1">
                                          <a:latin typeface="Cambria Math" panose="02040503050406030204" pitchFamily="18" charset="0"/>
                                        </a:rPr>
                                        <m:t>𝑘</m:t>
                                      </m:r>
                                    </m:sub>
                                  </m:sSub>
                                </m:e>
                              </m:rad>
                            </m:den>
                          </m:f>
                        </m:e>
                      </m:d>
                      <m:r>
                        <a:rPr lang="zh-CN" altLang="en-US" b="0" i="1">
                          <a:latin typeface="Cambria Math" panose="02040503050406030204" pitchFamily="18" charset="0"/>
                        </a:rPr>
                        <m:t>𝑉</m:t>
                      </m:r>
                    </m:oMath>
                  </m:oMathPara>
                </a14:m>
                <a:endParaRPr lang="en-US" altLang="zh-CN" b="0" dirty="0"/>
              </a:p>
            </p:txBody>
          </p:sp>
        </mc:Choice>
        <mc:Fallback xmlns="">
          <p:sp>
            <p:nvSpPr>
              <p:cNvPr id="14" name="文本框 13">
                <a:extLst>
                  <a:ext uri="{FF2B5EF4-FFF2-40B4-BE49-F238E27FC236}">
                    <a16:creationId xmlns:a16="http://schemas.microsoft.com/office/drawing/2014/main" id="{07D9C65F-E0FF-74CD-1DE5-78DF6ACDB6FE}"/>
                  </a:ext>
                </a:extLst>
              </p:cNvPr>
              <p:cNvSpPr txBox="1">
                <a:spLocks noRot="1" noChangeAspect="1" noMove="1" noResize="1" noEditPoints="1" noAdjustHandles="1" noChangeArrowheads="1" noChangeShapeType="1" noTextEdit="1"/>
              </p:cNvSpPr>
              <p:nvPr/>
            </p:nvSpPr>
            <p:spPr>
              <a:xfrm>
                <a:off x="2949093" y="66947"/>
                <a:ext cx="6096000" cy="808235"/>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1927C694-58B1-BC23-A53D-CF672209496D}"/>
                  </a:ext>
                </a:extLst>
              </p:cNvPr>
              <p:cNvSpPr txBox="1"/>
              <p:nvPr/>
            </p:nvSpPr>
            <p:spPr>
              <a:xfrm>
                <a:off x="6112240" y="4391808"/>
                <a:ext cx="5637662" cy="1268681"/>
              </a:xfrm>
              <a:prstGeom prst="rect">
                <a:avLst/>
              </a:prstGeom>
              <a:noFill/>
            </p:spPr>
            <p:txBody>
              <a:bodyPr wrap="square">
                <a:spAutoFit/>
              </a:bodyPr>
              <a:lstStyle/>
              <a:p>
                <a:r>
                  <a:rPr lang="zh-CN" altLang="en-US" dirty="0"/>
                  <a:t>将 </a:t>
                </a:r>
                <a:r>
                  <a:rPr lang="en-US" altLang="zh-CN" dirty="0"/>
                  <a:t>5 </a:t>
                </a:r>
                <a:r>
                  <a:rPr lang="zh-CN" altLang="en-US" dirty="0"/>
                  <a:t>个矩阵按位置逐元素相加得到</a:t>
                </a:r>
                <a14:m>
                  <m:oMath xmlns:m="http://schemas.openxmlformats.org/officeDocument/2006/math">
                    <m:sSub>
                      <m:sSubPr>
                        <m:ctrlPr>
                          <a:rPr lang="zh-CN" altLang="zh-CN" sz="1800" i="1" smtClean="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宋体" panose="02010600030101010101" pitchFamily="2" charset="-122"/>
                            <a:cs typeface="Times New Roman" panose="02020603050405020304" pitchFamily="18" charset="0"/>
                          </a:rPr>
                          <m:t>𝐴</m:t>
                        </m:r>
                      </m:e>
                      <m:sub>
                        <m:r>
                          <a:rPr lang="en-US" altLang="zh-CN" sz="1800" i="1">
                            <a:effectLst/>
                            <a:latin typeface="Cambria Math" panose="02040503050406030204" pitchFamily="18" charset="0"/>
                            <a:ea typeface="宋体" panose="02010600030101010101" pitchFamily="2" charset="-122"/>
                            <a:cs typeface="Times New Roman" panose="02020603050405020304" pitchFamily="18" charset="0"/>
                          </a:rPr>
                          <m:t>𝑇𝑜𝑡𝑎𝑙</m:t>
                        </m:r>
                      </m:sub>
                    </m:sSub>
                  </m:oMath>
                </a14:m>
                <a:r>
                  <a:rPr lang="zh-CN" altLang="en-US" dirty="0"/>
                  <a:t>代入公式计算</a:t>
                </a:r>
                <a:endParaRPr lang="en-US" altLang="zh-CN" dirty="0"/>
              </a:p>
              <a:p>
                <a:pPr/>
                <a14:m>
                  <m:oMathPara xmlns:m="http://schemas.openxmlformats.org/officeDocument/2006/math">
                    <m:oMathParaPr>
                      <m:jc m:val="centerGroup"/>
                    </m:oMathParaPr>
                    <m:oMath xmlns:m="http://schemas.openxmlformats.org/officeDocument/2006/math">
                      <m:r>
                        <a:rPr lang="en-US" altLang="zh-CN" sz="1800" i="1" smtClean="0">
                          <a:effectLst/>
                          <a:latin typeface="Cambria Math" panose="02040503050406030204" pitchFamily="18" charset="0"/>
                          <a:ea typeface="宋体" panose="02010600030101010101" pitchFamily="2" charset="-122"/>
                          <a:cs typeface="Times New Roman" panose="02020603050405020304" pitchFamily="18" charset="0"/>
                        </a:rPr>
                        <m:t>𝐴𝑡𝑡𝑒𝑛𝑡𝑖𝑜𝑛</m:t>
                      </m:r>
                      <m:r>
                        <m:rPr>
                          <m:lit/>
                        </m:rPr>
                        <a:rPr lang="en-US" altLang="zh-CN" sz="1800" i="1">
                          <a:effectLst/>
                          <a:latin typeface="Cambria Math" panose="02040503050406030204" pitchFamily="18" charset="0"/>
                          <a:ea typeface="宋体" panose="02010600030101010101" pitchFamily="2" charset="-122"/>
                          <a:cs typeface="Times New Roman" panose="02020603050405020304" pitchFamily="18" charset="0"/>
                        </a:rPr>
                        <m:t>_</m:t>
                      </m:r>
                      <m:r>
                        <a:rPr lang="en-US" altLang="zh-CN" sz="1800" i="1">
                          <a:effectLst/>
                          <a:latin typeface="Cambria Math" panose="02040503050406030204" pitchFamily="18" charset="0"/>
                          <a:ea typeface="宋体" panose="02010600030101010101" pitchFamily="2" charset="-122"/>
                          <a:cs typeface="Times New Roman" panose="02020603050405020304" pitchFamily="18" charset="0"/>
                        </a:rPr>
                        <m:t>𝑊𝑒𝑖𝑔h𝑡𝑠</m:t>
                      </m:r>
                      <m:r>
                        <a:rPr lang="en-US" altLang="zh-CN" sz="1800" i="1">
                          <a:effectLst/>
                          <a:latin typeface="Cambria Math" panose="02040503050406030204" pitchFamily="18" charset="0"/>
                          <a:ea typeface="宋体" panose="02010600030101010101" pitchFamily="2" charset="-122"/>
                          <a:cs typeface="Times New Roman" panose="02020603050405020304" pitchFamily="18" charset="0"/>
                        </a:rPr>
                        <m:t>=</m:t>
                      </m:r>
                      <m:r>
                        <m:rPr>
                          <m:nor/>
                        </m:rPr>
                        <a:rPr lang="en-US" altLang="zh-CN" sz="1800">
                          <a:effectLst/>
                          <a:latin typeface="Cambria Math" panose="02040503050406030204" pitchFamily="18" charset="0"/>
                          <a:ea typeface="宋体" panose="02010600030101010101" pitchFamily="2" charset="-122"/>
                          <a:cs typeface="Times New Roman" panose="02020603050405020304" pitchFamily="18" charset="0"/>
                        </a:rPr>
                        <m:t>Softmax</m:t>
                      </m:r>
                      <m:d>
                        <m:d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dPr>
                        <m:e>
                          <m:f>
                            <m:f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宋体" panose="02010600030101010101" pitchFamily="2" charset="-122"/>
                                      <a:cs typeface="Times New Roman" panose="02020603050405020304" pitchFamily="18" charset="0"/>
                                    </a:rPr>
                                    <m:t>𝐴</m:t>
                                  </m:r>
                                </m:e>
                                <m:sub>
                                  <m:r>
                                    <a:rPr lang="en-US" altLang="zh-CN" sz="1800" i="1">
                                      <a:effectLst/>
                                      <a:latin typeface="Cambria Math" panose="02040503050406030204" pitchFamily="18" charset="0"/>
                                      <a:ea typeface="宋体" panose="02010600030101010101" pitchFamily="2" charset="-122"/>
                                      <a:cs typeface="Times New Roman" panose="02020603050405020304" pitchFamily="18" charset="0"/>
                                    </a:rPr>
                                    <m:t>𝑇𝑜𝑡𝑎𝑙</m:t>
                                  </m:r>
                                </m:sub>
                              </m:sSub>
                            </m:num>
                            <m:den>
                              <m:rad>
                                <m:radPr>
                                  <m:degHide m:val="on"/>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1800" i="1">
                                      <a:effectLst/>
                                      <a:latin typeface="Cambria Math" panose="02040503050406030204" pitchFamily="18" charset="0"/>
                                      <a:ea typeface="宋体" panose="02010600030101010101" pitchFamily="2" charset="-122"/>
                                      <a:cs typeface="Times New Roman" panose="02020603050405020304" pitchFamily="18" charset="0"/>
                                    </a:rPr>
                                    <m:t>𝑑</m:t>
                                  </m:r>
                                </m:e>
                              </m:rad>
                            </m:den>
                          </m:f>
                        </m:e>
                      </m:d>
                    </m:oMath>
                  </m:oMathPara>
                </a14:m>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dirty="0"/>
              </a:p>
            </p:txBody>
          </p:sp>
        </mc:Choice>
        <mc:Fallback xmlns="">
          <p:sp>
            <p:nvSpPr>
              <p:cNvPr id="16" name="文本框 15">
                <a:extLst>
                  <a:ext uri="{FF2B5EF4-FFF2-40B4-BE49-F238E27FC236}">
                    <a16:creationId xmlns:a16="http://schemas.microsoft.com/office/drawing/2014/main" id="{1927C694-58B1-BC23-A53D-CF672209496D}"/>
                  </a:ext>
                </a:extLst>
              </p:cNvPr>
              <p:cNvSpPr txBox="1">
                <a:spLocks noRot="1" noChangeAspect="1" noMove="1" noResize="1" noEditPoints="1" noAdjustHandles="1" noChangeArrowheads="1" noChangeShapeType="1" noTextEdit="1"/>
              </p:cNvSpPr>
              <p:nvPr/>
            </p:nvSpPr>
            <p:spPr>
              <a:xfrm>
                <a:off x="6112240" y="4391808"/>
                <a:ext cx="5637662" cy="1268681"/>
              </a:xfrm>
              <a:prstGeom prst="rect">
                <a:avLst/>
              </a:prstGeom>
              <a:blipFill>
                <a:blip r:embed="rId10"/>
                <a:stretch>
                  <a:fillRect l="-974" t="-2392" r="-649"/>
                </a:stretch>
              </a:blipFill>
            </p:spPr>
            <p:txBody>
              <a:bodyPr/>
              <a:lstStyle/>
              <a:p>
                <a:r>
                  <a:rPr lang="zh-CN" altLang="en-US">
                    <a:noFill/>
                  </a:rPr>
                  <a:t> </a:t>
                </a:r>
              </a:p>
            </p:txBody>
          </p:sp>
        </mc:Fallback>
      </mc:AlternateContent>
      <p:sp>
        <p:nvSpPr>
          <p:cNvPr id="17" name="箭头: 下 16">
            <a:extLst>
              <a:ext uri="{FF2B5EF4-FFF2-40B4-BE49-F238E27FC236}">
                <a16:creationId xmlns:a16="http://schemas.microsoft.com/office/drawing/2014/main" id="{B701EDBD-459C-B76C-F822-F03C8AB97D0F}"/>
              </a:ext>
            </a:extLst>
          </p:cNvPr>
          <p:cNvSpPr/>
          <p:nvPr/>
        </p:nvSpPr>
        <p:spPr>
          <a:xfrm>
            <a:off x="8483355" y="5248475"/>
            <a:ext cx="360219" cy="503031"/>
          </a:xfrm>
          <a:prstGeom prst="downArrow">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n>
                <a:solidFill>
                  <a:srgbClr val="7030A0"/>
                </a:solidFill>
              </a:ln>
              <a:solidFill>
                <a:srgbClr val="002060"/>
              </a:solidFill>
            </a:endParaRPr>
          </a:p>
        </p:txBody>
      </p:sp>
      <p:sp>
        <p:nvSpPr>
          <p:cNvPr id="19" name="文本框 18">
            <a:extLst>
              <a:ext uri="{FF2B5EF4-FFF2-40B4-BE49-F238E27FC236}">
                <a16:creationId xmlns:a16="http://schemas.microsoft.com/office/drawing/2014/main" id="{F07598BA-76FA-BDFA-8E89-4830FDCC0F93}"/>
              </a:ext>
            </a:extLst>
          </p:cNvPr>
          <p:cNvSpPr txBox="1"/>
          <p:nvPr/>
        </p:nvSpPr>
        <p:spPr>
          <a:xfrm>
            <a:off x="7049301" y="5905167"/>
            <a:ext cx="3428098" cy="646331"/>
          </a:xfrm>
          <a:prstGeom prst="rect">
            <a:avLst/>
          </a:prstGeom>
          <a:noFill/>
        </p:spPr>
        <p:txBody>
          <a:bodyPr wrap="square">
            <a:spAutoFit/>
          </a:bodyPr>
          <a:lstStyle/>
          <a:p>
            <a:r>
              <a:rPr lang="zh-CN" altLang="en-US" dirty="0"/>
              <a:t>输出既包含了自身的进化信息又包含</a:t>
            </a:r>
            <a:r>
              <a:rPr lang="en-US" altLang="zh-CN" dirty="0"/>
              <a:t>3D </a:t>
            </a:r>
            <a:r>
              <a:rPr lang="zh-CN" altLang="en-US" dirty="0"/>
              <a:t>结构信息的新残基特征</a:t>
            </a:r>
          </a:p>
        </p:txBody>
      </p:sp>
    </p:spTree>
    <p:extLst>
      <p:ext uri="{BB962C8B-B14F-4D97-AF65-F5344CB8AC3E}">
        <p14:creationId xmlns:p14="http://schemas.microsoft.com/office/powerpoint/2010/main" val="2978060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ABAB8-9D3E-80F4-0FCD-0B832161B9F2}"/>
            </a:ext>
          </a:extLst>
        </p:cNvPr>
        <p:cNvGrpSpPr/>
        <p:nvPr/>
      </p:nvGrpSpPr>
      <p:grpSpPr>
        <a:xfrm>
          <a:off x="0" y="0"/>
          <a:ext cx="0" cy="0"/>
          <a:chOff x="0" y="0"/>
          <a:chExt cx="0" cy="0"/>
        </a:xfrm>
      </p:grpSpPr>
      <p:grpSp>
        <p:nvGrpSpPr>
          <p:cNvPr id="20" name="组合 19">
            <a:extLst>
              <a:ext uri="{FF2B5EF4-FFF2-40B4-BE49-F238E27FC236}">
                <a16:creationId xmlns:a16="http://schemas.microsoft.com/office/drawing/2014/main" id="{6F1E3FAE-9012-B641-BDAE-38B5EF8A6208}"/>
              </a:ext>
            </a:extLst>
          </p:cNvPr>
          <p:cNvGrpSpPr/>
          <p:nvPr/>
        </p:nvGrpSpPr>
        <p:grpSpPr>
          <a:xfrm>
            <a:off x="286653" y="116633"/>
            <a:ext cx="11618694" cy="6681374"/>
            <a:chOff x="286653" y="116633"/>
            <a:chExt cx="11618694" cy="6681374"/>
          </a:xfrm>
        </p:grpSpPr>
        <p:grpSp>
          <p:nvGrpSpPr>
            <p:cNvPr id="21" name="组合 20">
              <a:extLst>
                <a:ext uri="{FF2B5EF4-FFF2-40B4-BE49-F238E27FC236}">
                  <a16:creationId xmlns:a16="http://schemas.microsoft.com/office/drawing/2014/main" id="{65CB3C52-44B5-5362-F744-7755E46230EA}"/>
                </a:ext>
              </a:extLst>
            </p:cNvPr>
            <p:cNvGrpSpPr/>
            <p:nvPr/>
          </p:nvGrpSpPr>
          <p:grpSpPr>
            <a:xfrm>
              <a:off x="335361" y="116633"/>
              <a:ext cx="629872" cy="612768"/>
              <a:chOff x="3070727" y="196457"/>
              <a:chExt cx="692047" cy="673255"/>
            </a:xfrm>
          </p:grpSpPr>
          <p:sp>
            <p:nvSpPr>
              <p:cNvPr id="26" name="平行四边形 25">
                <a:extLst>
                  <a:ext uri="{FF2B5EF4-FFF2-40B4-BE49-F238E27FC236}">
                    <a16:creationId xmlns:a16="http://schemas.microsoft.com/office/drawing/2014/main" id="{0424A10A-06E6-9426-602B-FAB443510CA5}"/>
                  </a:ext>
                </a:extLst>
              </p:cNvPr>
              <p:cNvSpPr/>
              <p:nvPr/>
            </p:nvSpPr>
            <p:spPr>
              <a:xfrm>
                <a:off x="3070727" y="196457"/>
                <a:ext cx="629587" cy="612775"/>
              </a:xfrm>
              <a:prstGeom prst="parallelogram">
                <a:avLst/>
              </a:prstGeom>
              <a:solidFill>
                <a:srgbClr val="6B0261"/>
              </a:solidFill>
              <a:ln w="25400" cap="flat" cmpd="sng" algn="ctr">
                <a:solidFill>
                  <a:srgbClr val="6B026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27" name="平行四边形 26">
                <a:extLst>
                  <a:ext uri="{FF2B5EF4-FFF2-40B4-BE49-F238E27FC236}">
                    <a16:creationId xmlns:a16="http://schemas.microsoft.com/office/drawing/2014/main" id="{FFA3B723-189F-5757-E6EA-92F92919BF9A}"/>
                  </a:ext>
                </a:extLst>
              </p:cNvPr>
              <p:cNvSpPr/>
              <p:nvPr/>
            </p:nvSpPr>
            <p:spPr>
              <a:xfrm>
                <a:off x="3133187" y="256937"/>
                <a:ext cx="629587" cy="612775"/>
              </a:xfrm>
              <a:prstGeom prst="parallelogram">
                <a:avLst/>
              </a:prstGeom>
              <a:noFill/>
              <a:ln w="25400" cap="flat" cmpd="sng" algn="ctr">
                <a:solidFill>
                  <a:srgbClr val="6B026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cxnSp>
          <p:nvCxnSpPr>
            <p:cNvPr id="22" name="直接连接符 21">
              <a:extLst>
                <a:ext uri="{FF2B5EF4-FFF2-40B4-BE49-F238E27FC236}">
                  <a16:creationId xmlns:a16="http://schemas.microsoft.com/office/drawing/2014/main" id="{229A88E8-61B0-5458-1D94-3954F00FF2D8}"/>
                </a:ext>
              </a:extLst>
            </p:cNvPr>
            <p:cNvCxnSpPr>
              <a:cxnSpLocks/>
            </p:cNvCxnSpPr>
            <p:nvPr/>
          </p:nvCxnSpPr>
          <p:spPr>
            <a:xfrm>
              <a:off x="367840" y="809674"/>
              <a:ext cx="11488800" cy="0"/>
            </a:xfrm>
            <a:prstGeom prst="line">
              <a:avLst/>
            </a:prstGeom>
            <a:noFill/>
            <a:ln w="9525" cap="flat" cmpd="sng" algn="ctr">
              <a:solidFill>
                <a:srgbClr val="6B0261"/>
              </a:solidFill>
              <a:prstDash val="solid"/>
            </a:ln>
            <a:effectLst/>
          </p:spPr>
        </p:cxnSp>
        <p:sp>
          <p:nvSpPr>
            <p:cNvPr id="23" name="文本占位符 5">
              <a:extLst>
                <a:ext uri="{FF2B5EF4-FFF2-40B4-BE49-F238E27FC236}">
                  <a16:creationId xmlns:a16="http://schemas.microsoft.com/office/drawing/2014/main" id="{587BEF87-7953-7AF4-019B-93DC6F0597C3}"/>
                </a:ext>
              </a:extLst>
            </p:cNvPr>
            <p:cNvSpPr txBox="1">
              <a:spLocks/>
            </p:cNvSpPr>
            <p:nvPr/>
          </p:nvSpPr>
          <p:spPr>
            <a:xfrm>
              <a:off x="1075777" y="214065"/>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rgbClr val="6B0261"/>
                  </a:solidFill>
                </a:rPr>
                <a:t>研究内容</a:t>
              </a:r>
            </a:p>
          </p:txBody>
        </p:sp>
        <p:sp>
          <p:nvSpPr>
            <p:cNvPr id="24" name="文本框 23">
              <a:extLst>
                <a:ext uri="{FF2B5EF4-FFF2-40B4-BE49-F238E27FC236}">
                  <a16:creationId xmlns:a16="http://schemas.microsoft.com/office/drawing/2014/main" id="{F2573A8C-4D43-18F7-49A3-4CCA9A93A43D}"/>
                </a:ext>
              </a:extLst>
            </p:cNvPr>
            <p:cNvSpPr txBox="1"/>
            <p:nvPr/>
          </p:nvSpPr>
          <p:spPr>
            <a:xfrm>
              <a:off x="10805366" y="642867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25" name="图片 24">
              <a:extLst>
                <a:ext uri="{FF2B5EF4-FFF2-40B4-BE49-F238E27FC236}">
                  <a16:creationId xmlns:a16="http://schemas.microsoft.com/office/drawing/2014/main" id="{3D3A8F1A-E34E-2A63-EA50-3DB75AE7B1B8}"/>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a:stretch/>
          </p:blipFill>
          <p:spPr>
            <a:xfrm>
              <a:off x="286653" y="6425619"/>
              <a:ext cx="2520534" cy="369332"/>
            </a:xfrm>
            <a:prstGeom prst="rect">
              <a:avLst/>
            </a:prstGeom>
          </p:spPr>
        </p:pic>
      </p:grpSp>
      <p:grpSp>
        <p:nvGrpSpPr>
          <p:cNvPr id="51" name="组合 50">
            <a:extLst>
              <a:ext uri="{FF2B5EF4-FFF2-40B4-BE49-F238E27FC236}">
                <a16:creationId xmlns:a16="http://schemas.microsoft.com/office/drawing/2014/main" id="{305F1B7C-1903-15C2-A756-5250779B2F05}"/>
              </a:ext>
            </a:extLst>
          </p:cNvPr>
          <p:cNvGrpSpPr/>
          <p:nvPr/>
        </p:nvGrpSpPr>
        <p:grpSpPr>
          <a:xfrm>
            <a:off x="9938479" y="77827"/>
            <a:ext cx="2017490" cy="675447"/>
            <a:chOff x="995884" y="398899"/>
            <a:chExt cx="3658781" cy="1224944"/>
          </a:xfrm>
        </p:grpSpPr>
        <p:pic>
          <p:nvPicPr>
            <p:cNvPr id="52" name="图片 51">
              <a:extLst>
                <a:ext uri="{FF2B5EF4-FFF2-40B4-BE49-F238E27FC236}">
                  <a16:creationId xmlns:a16="http://schemas.microsoft.com/office/drawing/2014/main" id="{EFB49216-E90F-8ABD-129A-F22C308FE8A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95884" y="398899"/>
              <a:ext cx="977348" cy="1224944"/>
            </a:xfrm>
            <a:prstGeom prst="rect">
              <a:avLst/>
            </a:prstGeom>
          </p:spPr>
        </p:pic>
        <p:pic>
          <p:nvPicPr>
            <p:cNvPr id="53" name="图片 52">
              <a:extLst>
                <a:ext uri="{FF2B5EF4-FFF2-40B4-BE49-F238E27FC236}">
                  <a16:creationId xmlns:a16="http://schemas.microsoft.com/office/drawing/2014/main" id="{1D2AA713-5FC6-B374-2CF9-7408CF3D56CF}"/>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173707" y="405382"/>
              <a:ext cx="2384890" cy="796233"/>
            </a:xfrm>
            <a:prstGeom prst="rect">
              <a:avLst/>
            </a:prstGeom>
          </p:spPr>
        </p:pic>
        <p:sp>
          <p:nvSpPr>
            <p:cNvPr id="54" name="矩形 53">
              <a:extLst>
                <a:ext uri="{FF2B5EF4-FFF2-40B4-BE49-F238E27FC236}">
                  <a16:creationId xmlns:a16="http://schemas.microsoft.com/office/drawing/2014/main" id="{B20381C5-C901-68F0-F901-F3BCA850AD44}"/>
                </a:ext>
              </a:extLst>
            </p:cNvPr>
            <p:cNvSpPr/>
            <p:nvPr/>
          </p:nvSpPr>
          <p:spPr>
            <a:xfrm>
              <a:off x="2069306" y="1138524"/>
              <a:ext cx="2585359" cy="46048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rPr>
                <a:t>NANJING UNIVERSITY</a:t>
              </a:r>
              <a:endParaRPr kumimoji="0" lang="zh-CN" altLang="en-US" sz="105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endParaRPr>
            </a:p>
          </p:txBody>
        </p:sp>
      </p:grpSp>
      <p:sp>
        <p:nvSpPr>
          <p:cNvPr id="31" name="íŝḷïḓè">
            <a:extLst>
              <a:ext uri="{FF2B5EF4-FFF2-40B4-BE49-F238E27FC236}">
                <a16:creationId xmlns:a16="http://schemas.microsoft.com/office/drawing/2014/main" id="{16290456-EBDA-ADA4-702A-2CB9449162D1}"/>
              </a:ext>
            </a:extLst>
          </p:cNvPr>
          <p:cNvSpPr/>
          <p:nvPr/>
        </p:nvSpPr>
        <p:spPr bwMode="auto">
          <a:xfrm>
            <a:off x="5828824" y="4147130"/>
            <a:ext cx="338337" cy="366161"/>
          </a:xfrm>
          <a:custGeom>
            <a:avLst/>
            <a:gdLst>
              <a:gd name="connsiteX0" fmla="*/ 327780 w 561933"/>
              <a:gd name="connsiteY0" fmla="*/ 406780 h 608145"/>
              <a:gd name="connsiteX1" fmla="*/ 285069 w 561933"/>
              <a:gd name="connsiteY1" fmla="*/ 449434 h 608145"/>
              <a:gd name="connsiteX2" fmla="*/ 327780 w 561933"/>
              <a:gd name="connsiteY2" fmla="*/ 492088 h 608145"/>
              <a:gd name="connsiteX3" fmla="*/ 370490 w 561933"/>
              <a:gd name="connsiteY3" fmla="*/ 449434 h 608145"/>
              <a:gd name="connsiteX4" fmla="*/ 327780 w 561933"/>
              <a:gd name="connsiteY4" fmla="*/ 406780 h 608145"/>
              <a:gd name="connsiteX5" fmla="*/ 91381 w 561933"/>
              <a:gd name="connsiteY5" fmla="*/ 406780 h 608145"/>
              <a:gd name="connsiteX6" fmla="*/ 49664 w 561933"/>
              <a:gd name="connsiteY6" fmla="*/ 449434 h 608145"/>
              <a:gd name="connsiteX7" fmla="*/ 91381 w 561933"/>
              <a:gd name="connsiteY7" fmla="*/ 492088 h 608145"/>
              <a:gd name="connsiteX8" fmla="*/ 134092 w 561933"/>
              <a:gd name="connsiteY8" fmla="*/ 449434 h 608145"/>
              <a:gd name="connsiteX9" fmla="*/ 91381 w 561933"/>
              <a:gd name="connsiteY9" fmla="*/ 406780 h 608145"/>
              <a:gd name="connsiteX10" fmla="*/ 130119 w 561933"/>
              <a:gd name="connsiteY10" fmla="*/ 162762 h 608145"/>
              <a:gd name="connsiteX11" fmla="*/ 50657 w 561933"/>
              <a:gd name="connsiteY11" fmla="*/ 243110 h 608145"/>
              <a:gd name="connsiteX12" fmla="*/ 50657 w 561933"/>
              <a:gd name="connsiteY12" fmla="*/ 312546 h 608145"/>
              <a:gd name="connsiteX13" fmla="*/ 78468 w 561933"/>
              <a:gd name="connsiteY13" fmla="*/ 341312 h 608145"/>
              <a:gd name="connsiteX14" fmla="*/ 340692 w 561933"/>
              <a:gd name="connsiteY14" fmla="*/ 341312 h 608145"/>
              <a:gd name="connsiteX15" fmla="*/ 369497 w 561933"/>
              <a:gd name="connsiteY15" fmla="*/ 312546 h 608145"/>
              <a:gd name="connsiteX16" fmla="*/ 369497 w 561933"/>
              <a:gd name="connsiteY16" fmla="*/ 243110 h 608145"/>
              <a:gd name="connsiteX17" fmla="*/ 289042 w 561933"/>
              <a:gd name="connsiteY17" fmla="*/ 162762 h 608145"/>
              <a:gd name="connsiteX18" fmla="*/ 127139 w 561933"/>
              <a:gd name="connsiteY18" fmla="*/ 99278 h 608145"/>
              <a:gd name="connsiteX19" fmla="*/ 293015 w 561933"/>
              <a:gd name="connsiteY19" fmla="*/ 99278 h 608145"/>
              <a:gd name="connsiteX20" fmla="*/ 420154 w 561933"/>
              <a:gd name="connsiteY20" fmla="*/ 226247 h 608145"/>
              <a:gd name="connsiteX21" fmla="*/ 420154 w 561933"/>
              <a:gd name="connsiteY21" fmla="*/ 486136 h 608145"/>
              <a:gd name="connsiteX22" fmla="*/ 382410 w 561933"/>
              <a:gd name="connsiteY22" fmla="*/ 541685 h 608145"/>
              <a:gd name="connsiteX23" fmla="*/ 382410 w 561933"/>
              <a:gd name="connsiteY23" fmla="*/ 561524 h 608145"/>
              <a:gd name="connsiteX24" fmla="*/ 334733 w 561933"/>
              <a:gd name="connsiteY24" fmla="*/ 608145 h 608145"/>
              <a:gd name="connsiteX25" fmla="*/ 326786 w 561933"/>
              <a:gd name="connsiteY25" fmla="*/ 608145 h 608145"/>
              <a:gd name="connsiteX26" fmla="*/ 280103 w 561933"/>
              <a:gd name="connsiteY26" fmla="*/ 561524 h 608145"/>
              <a:gd name="connsiteX27" fmla="*/ 280103 w 561933"/>
              <a:gd name="connsiteY27" fmla="*/ 544661 h 608145"/>
              <a:gd name="connsiteX28" fmla="*/ 140051 w 561933"/>
              <a:gd name="connsiteY28" fmla="*/ 544661 h 608145"/>
              <a:gd name="connsiteX29" fmla="*/ 140051 w 561933"/>
              <a:gd name="connsiteY29" fmla="*/ 561524 h 608145"/>
              <a:gd name="connsiteX30" fmla="*/ 92374 w 561933"/>
              <a:gd name="connsiteY30" fmla="*/ 608145 h 608145"/>
              <a:gd name="connsiteX31" fmla="*/ 84428 w 561933"/>
              <a:gd name="connsiteY31" fmla="*/ 608145 h 608145"/>
              <a:gd name="connsiteX32" fmla="*/ 37744 w 561933"/>
              <a:gd name="connsiteY32" fmla="*/ 561524 h 608145"/>
              <a:gd name="connsiteX33" fmla="*/ 37744 w 561933"/>
              <a:gd name="connsiteY33" fmla="*/ 541685 h 608145"/>
              <a:gd name="connsiteX34" fmla="*/ 0 w 561933"/>
              <a:gd name="connsiteY34" fmla="*/ 486136 h 608145"/>
              <a:gd name="connsiteX35" fmla="*/ 0 w 561933"/>
              <a:gd name="connsiteY35" fmla="*/ 226247 h 608145"/>
              <a:gd name="connsiteX36" fmla="*/ 127139 w 561933"/>
              <a:gd name="connsiteY36" fmla="*/ 99278 h 608145"/>
              <a:gd name="connsiteX37" fmla="*/ 408232 w 561933"/>
              <a:gd name="connsiteY37" fmla="*/ 74504 h 608145"/>
              <a:gd name="connsiteX38" fmla="*/ 424139 w 561933"/>
              <a:gd name="connsiteY38" fmla="*/ 75495 h 608145"/>
              <a:gd name="connsiteX39" fmla="*/ 486772 w 561933"/>
              <a:gd name="connsiteY39" fmla="*/ 185587 h 608145"/>
              <a:gd name="connsiteX40" fmla="*/ 479813 w 561933"/>
              <a:gd name="connsiteY40" fmla="*/ 199473 h 608145"/>
              <a:gd name="connsiteX41" fmla="*/ 464901 w 561933"/>
              <a:gd name="connsiteY41" fmla="*/ 202448 h 608145"/>
              <a:gd name="connsiteX42" fmla="*/ 462912 w 561933"/>
              <a:gd name="connsiteY42" fmla="*/ 201456 h 608145"/>
              <a:gd name="connsiteX43" fmla="*/ 448994 w 561933"/>
              <a:gd name="connsiteY43" fmla="*/ 183604 h 608145"/>
              <a:gd name="connsiteX44" fmla="*/ 406244 w 561933"/>
              <a:gd name="connsiteY44" fmla="*/ 109217 h 608145"/>
              <a:gd name="connsiteX45" fmla="*/ 397296 w 561933"/>
              <a:gd name="connsiteY45" fmla="*/ 89381 h 608145"/>
              <a:gd name="connsiteX46" fmla="*/ 398291 w 561933"/>
              <a:gd name="connsiteY46" fmla="*/ 87397 h 608145"/>
              <a:gd name="connsiteX47" fmla="*/ 408232 w 561933"/>
              <a:gd name="connsiteY47" fmla="*/ 74504 h 608145"/>
              <a:gd name="connsiteX48" fmla="*/ 439969 w 561933"/>
              <a:gd name="connsiteY48" fmla="*/ 1081 h 608145"/>
              <a:gd name="connsiteX49" fmla="*/ 560176 w 561933"/>
              <a:gd name="connsiteY49" fmla="*/ 205408 h 608145"/>
              <a:gd name="connsiteX50" fmla="*/ 552228 w 561933"/>
              <a:gd name="connsiteY50" fmla="*/ 217311 h 608145"/>
              <a:gd name="connsiteX51" fmla="*/ 537326 w 561933"/>
              <a:gd name="connsiteY51" fmla="*/ 220286 h 608145"/>
              <a:gd name="connsiteX52" fmla="*/ 535340 w 561933"/>
              <a:gd name="connsiteY52" fmla="*/ 219294 h 608145"/>
              <a:gd name="connsiteX53" fmla="*/ 522425 w 561933"/>
              <a:gd name="connsiteY53" fmla="*/ 199457 h 608145"/>
              <a:gd name="connsiteX54" fmla="*/ 426061 w 561933"/>
              <a:gd name="connsiteY54" fmla="*/ 36788 h 608145"/>
              <a:gd name="connsiteX55" fmla="*/ 416126 w 561933"/>
              <a:gd name="connsiteY55" fmla="*/ 15959 h 608145"/>
              <a:gd name="connsiteX56" fmla="*/ 416126 w 561933"/>
              <a:gd name="connsiteY56" fmla="*/ 13975 h 608145"/>
              <a:gd name="connsiteX57" fmla="*/ 425067 w 561933"/>
              <a:gd name="connsiteY57" fmla="*/ 2073 h 608145"/>
              <a:gd name="connsiteX58" fmla="*/ 439969 w 561933"/>
              <a:gd name="connsiteY58" fmla="*/ 1081 h 608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61933" h="608145">
                <a:moveTo>
                  <a:pt x="327780" y="406780"/>
                </a:moveTo>
                <a:cubicBezTo>
                  <a:pt x="303941" y="406780"/>
                  <a:pt x="285069" y="425627"/>
                  <a:pt x="285069" y="449434"/>
                </a:cubicBezTo>
                <a:cubicBezTo>
                  <a:pt x="285069" y="473241"/>
                  <a:pt x="303941" y="492088"/>
                  <a:pt x="327780" y="492088"/>
                </a:cubicBezTo>
                <a:cubicBezTo>
                  <a:pt x="350625" y="492088"/>
                  <a:pt x="370490" y="473241"/>
                  <a:pt x="370490" y="449434"/>
                </a:cubicBezTo>
                <a:cubicBezTo>
                  <a:pt x="370490" y="425627"/>
                  <a:pt x="350625" y="406780"/>
                  <a:pt x="327780" y="406780"/>
                </a:cubicBezTo>
                <a:close/>
                <a:moveTo>
                  <a:pt x="91381" y="406780"/>
                </a:moveTo>
                <a:cubicBezTo>
                  <a:pt x="68536" y="406780"/>
                  <a:pt x="49664" y="425627"/>
                  <a:pt x="49664" y="449434"/>
                </a:cubicBezTo>
                <a:cubicBezTo>
                  <a:pt x="49664" y="473241"/>
                  <a:pt x="68536" y="492088"/>
                  <a:pt x="91381" y="492088"/>
                </a:cubicBezTo>
                <a:cubicBezTo>
                  <a:pt x="115220" y="492088"/>
                  <a:pt x="134092" y="473241"/>
                  <a:pt x="134092" y="449434"/>
                </a:cubicBezTo>
                <a:cubicBezTo>
                  <a:pt x="134092" y="425627"/>
                  <a:pt x="115220" y="406780"/>
                  <a:pt x="91381" y="406780"/>
                </a:cubicBezTo>
                <a:close/>
                <a:moveTo>
                  <a:pt x="130119" y="162762"/>
                </a:moveTo>
                <a:cubicBezTo>
                  <a:pt x="86415" y="162762"/>
                  <a:pt x="50657" y="198472"/>
                  <a:pt x="50657" y="243110"/>
                </a:cubicBezTo>
                <a:lnTo>
                  <a:pt x="50657" y="312546"/>
                </a:lnTo>
                <a:cubicBezTo>
                  <a:pt x="50657" y="328417"/>
                  <a:pt x="62576" y="341312"/>
                  <a:pt x="78468" y="341312"/>
                </a:cubicBezTo>
                <a:lnTo>
                  <a:pt x="340692" y="341312"/>
                </a:lnTo>
                <a:cubicBezTo>
                  <a:pt x="356585" y="341312"/>
                  <a:pt x="369497" y="328417"/>
                  <a:pt x="369497" y="312546"/>
                </a:cubicBezTo>
                <a:lnTo>
                  <a:pt x="369497" y="243110"/>
                </a:lnTo>
                <a:cubicBezTo>
                  <a:pt x="369497" y="198472"/>
                  <a:pt x="332746" y="162762"/>
                  <a:pt x="289042" y="162762"/>
                </a:cubicBezTo>
                <a:close/>
                <a:moveTo>
                  <a:pt x="127139" y="99278"/>
                </a:moveTo>
                <a:lnTo>
                  <a:pt x="293015" y="99278"/>
                </a:lnTo>
                <a:cubicBezTo>
                  <a:pt x="363538" y="99278"/>
                  <a:pt x="420154" y="155819"/>
                  <a:pt x="420154" y="226247"/>
                </a:cubicBezTo>
                <a:lnTo>
                  <a:pt x="420154" y="486136"/>
                </a:lnTo>
                <a:cubicBezTo>
                  <a:pt x="420154" y="511926"/>
                  <a:pt x="404262" y="532757"/>
                  <a:pt x="382410" y="541685"/>
                </a:cubicBezTo>
                <a:lnTo>
                  <a:pt x="382410" y="561524"/>
                </a:lnTo>
                <a:cubicBezTo>
                  <a:pt x="382410" y="587314"/>
                  <a:pt x="360558" y="608145"/>
                  <a:pt x="334733" y="608145"/>
                </a:cubicBezTo>
                <a:lnTo>
                  <a:pt x="326786" y="608145"/>
                </a:lnTo>
                <a:cubicBezTo>
                  <a:pt x="300961" y="608145"/>
                  <a:pt x="280103" y="587314"/>
                  <a:pt x="280103" y="561524"/>
                </a:cubicBezTo>
                <a:lnTo>
                  <a:pt x="280103" y="544661"/>
                </a:lnTo>
                <a:lnTo>
                  <a:pt x="140051" y="544661"/>
                </a:lnTo>
                <a:lnTo>
                  <a:pt x="140051" y="561524"/>
                </a:lnTo>
                <a:cubicBezTo>
                  <a:pt x="140051" y="587314"/>
                  <a:pt x="118199" y="608145"/>
                  <a:pt x="92374" y="608145"/>
                </a:cubicBezTo>
                <a:lnTo>
                  <a:pt x="84428" y="608145"/>
                </a:lnTo>
                <a:cubicBezTo>
                  <a:pt x="58603" y="608145"/>
                  <a:pt x="37744" y="587314"/>
                  <a:pt x="37744" y="561524"/>
                </a:cubicBezTo>
                <a:lnTo>
                  <a:pt x="37744" y="541685"/>
                </a:lnTo>
                <a:cubicBezTo>
                  <a:pt x="14899" y="532757"/>
                  <a:pt x="0" y="511926"/>
                  <a:pt x="0" y="486136"/>
                </a:cubicBezTo>
                <a:lnTo>
                  <a:pt x="0" y="226247"/>
                </a:lnTo>
                <a:cubicBezTo>
                  <a:pt x="0" y="155819"/>
                  <a:pt x="56616" y="99278"/>
                  <a:pt x="127139" y="99278"/>
                </a:cubicBezTo>
                <a:close/>
                <a:moveTo>
                  <a:pt x="408232" y="74504"/>
                </a:moveTo>
                <a:cubicBezTo>
                  <a:pt x="413203" y="72520"/>
                  <a:pt x="419168" y="72520"/>
                  <a:pt x="424139" y="75495"/>
                </a:cubicBezTo>
                <a:cubicBezTo>
                  <a:pt x="464901" y="96324"/>
                  <a:pt x="489755" y="139964"/>
                  <a:pt x="486772" y="185587"/>
                </a:cubicBezTo>
                <a:cubicBezTo>
                  <a:pt x="486772" y="190546"/>
                  <a:pt x="483790" y="195505"/>
                  <a:pt x="479813" y="199473"/>
                </a:cubicBezTo>
                <a:cubicBezTo>
                  <a:pt x="475836" y="202448"/>
                  <a:pt x="469871" y="203440"/>
                  <a:pt x="464901" y="202448"/>
                </a:cubicBezTo>
                <a:lnTo>
                  <a:pt x="462912" y="201456"/>
                </a:lnTo>
                <a:cubicBezTo>
                  <a:pt x="453965" y="199473"/>
                  <a:pt x="448994" y="191538"/>
                  <a:pt x="448994" y="183604"/>
                </a:cubicBezTo>
                <a:cubicBezTo>
                  <a:pt x="450982" y="152857"/>
                  <a:pt x="434081" y="123103"/>
                  <a:pt x="406244" y="109217"/>
                </a:cubicBezTo>
                <a:cubicBezTo>
                  <a:pt x="399285" y="105250"/>
                  <a:pt x="395308" y="97315"/>
                  <a:pt x="397296" y="89381"/>
                </a:cubicBezTo>
                <a:lnTo>
                  <a:pt x="398291" y="87397"/>
                </a:lnTo>
                <a:cubicBezTo>
                  <a:pt x="399285" y="81446"/>
                  <a:pt x="403261" y="77479"/>
                  <a:pt x="408232" y="74504"/>
                </a:cubicBezTo>
                <a:close/>
                <a:moveTo>
                  <a:pt x="439969" y="1081"/>
                </a:moveTo>
                <a:cubicBezTo>
                  <a:pt x="522425" y="32821"/>
                  <a:pt x="572097" y="118123"/>
                  <a:pt x="560176" y="205408"/>
                </a:cubicBezTo>
                <a:cubicBezTo>
                  <a:pt x="559182" y="210367"/>
                  <a:pt x="556202" y="214335"/>
                  <a:pt x="552228" y="217311"/>
                </a:cubicBezTo>
                <a:cubicBezTo>
                  <a:pt x="548254" y="220286"/>
                  <a:pt x="542294" y="221278"/>
                  <a:pt x="537326" y="220286"/>
                </a:cubicBezTo>
                <a:lnTo>
                  <a:pt x="535340" y="219294"/>
                </a:lnTo>
                <a:cubicBezTo>
                  <a:pt x="526399" y="217311"/>
                  <a:pt x="520438" y="208384"/>
                  <a:pt x="522425" y="199457"/>
                </a:cubicBezTo>
                <a:cubicBezTo>
                  <a:pt x="531366" y="130025"/>
                  <a:pt x="491628" y="62577"/>
                  <a:pt x="426061" y="36788"/>
                </a:cubicBezTo>
                <a:cubicBezTo>
                  <a:pt x="418113" y="33813"/>
                  <a:pt x="413146" y="24886"/>
                  <a:pt x="416126" y="15959"/>
                </a:cubicBezTo>
                <a:lnTo>
                  <a:pt x="416126" y="13975"/>
                </a:lnTo>
                <a:cubicBezTo>
                  <a:pt x="417120" y="9016"/>
                  <a:pt x="421094" y="4056"/>
                  <a:pt x="425067" y="2073"/>
                </a:cubicBezTo>
                <a:cubicBezTo>
                  <a:pt x="430035" y="89"/>
                  <a:pt x="435002" y="-903"/>
                  <a:pt x="439969" y="1081"/>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endParaRPr lang="zh-CN" altLang="en-US">
              <a:solidFill>
                <a:srgbClr val="000000"/>
              </a:solidFill>
              <a:latin typeface="Arial" panose="020F0502020204030204"/>
              <a:ea typeface="微软雅黑"/>
              <a:cs typeface="+mn-ea"/>
              <a:sym typeface="+mn-lt"/>
            </a:endParaRPr>
          </a:p>
        </p:txBody>
      </p:sp>
      <p:sp>
        <p:nvSpPr>
          <p:cNvPr id="42" name="ïslíḓé">
            <a:extLst>
              <a:ext uri="{FF2B5EF4-FFF2-40B4-BE49-F238E27FC236}">
                <a16:creationId xmlns:a16="http://schemas.microsoft.com/office/drawing/2014/main" id="{1140B161-50EF-62AB-D61D-F31990CF432C}"/>
              </a:ext>
            </a:extLst>
          </p:cNvPr>
          <p:cNvSpPr/>
          <p:nvPr/>
        </p:nvSpPr>
        <p:spPr bwMode="auto">
          <a:xfrm>
            <a:off x="5815461" y="5339493"/>
            <a:ext cx="363264" cy="320996"/>
          </a:xfrm>
          <a:custGeom>
            <a:avLst/>
            <a:gdLst>
              <a:gd name="connsiteX0" fmla="*/ 494452 w 603405"/>
              <a:gd name="connsiteY0" fmla="*/ 356003 h 533193"/>
              <a:gd name="connsiteX1" fmla="*/ 585270 w 603405"/>
              <a:gd name="connsiteY1" fmla="*/ 356003 h 533193"/>
              <a:gd name="connsiteX2" fmla="*/ 601782 w 603405"/>
              <a:gd name="connsiteY2" fmla="*/ 372480 h 533193"/>
              <a:gd name="connsiteX3" fmla="*/ 585270 w 603405"/>
              <a:gd name="connsiteY3" fmla="*/ 388957 h 533193"/>
              <a:gd name="connsiteX4" fmla="*/ 494452 w 603405"/>
              <a:gd name="connsiteY4" fmla="*/ 388957 h 533193"/>
              <a:gd name="connsiteX5" fmla="*/ 367511 w 603405"/>
              <a:gd name="connsiteY5" fmla="*/ 244227 h 533193"/>
              <a:gd name="connsiteX6" fmla="*/ 443780 w 603405"/>
              <a:gd name="connsiteY6" fmla="*/ 244227 h 533193"/>
              <a:gd name="connsiteX7" fmla="*/ 477411 w 603405"/>
              <a:gd name="connsiteY7" fmla="*/ 277633 h 533193"/>
              <a:gd name="connsiteX8" fmla="*/ 477861 w 603405"/>
              <a:gd name="connsiteY8" fmla="*/ 381744 h 533193"/>
              <a:gd name="connsiteX9" fmla="*/ 463748 w 603405"/>
              <a:gd name="connsiteY9" fmla="*/ 395975 h 533193"/>
              <a:gd name="connsiteX10" fmla="*/ 449486 w 603405"/>
              <a:gd name="connsiteY10" fmla="*/ 381894 h 533193"/>
              <a:gd name="connsiteX11" fmla="*/ 449035 w 603405"/>
              <a:gd name="connsiteY11" fmla="*/ 277782 h 533193"/>
              <a:gd name="connsiteX12" fmla="*/ 446033 w 603405"/>
              <a:gd name="connsiteY12" fmla="*/ 274786 h 533193"/>
              <a:gd name="connsiteX13" fmla="*/ 443030 w 603405"/>
              <a:gd name="connsiteY13" fmla="*/ 277782 h 533193"/>
              <a:gd name="connsiteX14" fmla="*/ 443330 w 603405"/>
              <a:gd name="connsiteY14" fmla="*/ 516116 h 533193"/>
              <a:gd name="connsiteX15" fmla="*/ 426215 w 603405"/>
              <a:gd name="connsiteY15" fmla="*/ 533193 h 533193"/>
              <a:gd name="connsiteX16" fmla="*/ 409249 w 603405"/>
              <a:gd name="connsiteY16" fmla="*/ 516116 h 533193"/>
              <a:gd name="connsiteX17" fmla="*/ 409249 w 603405"/>
              <a:gd name="connsiteY17" fmla="*/ 380096 h 533193"/>
              <a:gd name="connsiteX18" fmla="*/ 401893 w 603405"/>
              <a:gd name="connsiteY18" fmla="*/ 380096 h 533193"/>
              <a:gd name="connsiteX19" fmla="*/ 401893 w 603405"/>
              <a:gd name="connsiteY19" fmla="*/ 516116 h 533193"/>
              <a:gd name="connsiteX20" fmla="*/ 384778 w 603405"/>
              <a:gd name="connsiteY20" fmla="*/ 533193 h 533193"/>
              <a:gd name="connsiteX21" fmla="*/ 367812 w 603405"/>
              <a:gd name="connsiteY21" fmla="*/ 516116 h 533193"/>
              <a:gd name="connsiteX22" fmla="*/ 367812 w 603405"/>
              <a:gd name="connsiteY22" fmla="*/ 380096 h 533193"/>
              <a:gd name="connsiteX23" fmla="*/ 367812 w 603405"/>
              <a:gd name="connsiteY23" fmla="*/ 277782 h 533193"/>
              <a:gd name="connsiteX24" fmla="*/ 364959 w 603405"/>
              <a:gd name="connsiteY24" fmla="*/ 274936 h 533193"/>
              <a:gd name="connsiteX25" fmla="*/ 362257 w 603405"/>
              <a:gd name="connsiteY25" fmla="*/ 277782 h 533193"/>
              <a:gd name="connsiteX26" fmla="*/ 361656 w 603405"/>
              <a:gd name="connsiteY26" fmla="*/ 381894 h 533193"/>
              <a:gd name="connsiteX27" fmla="*/ 347544 w 603405"/>
              <a:gd name="connsiteY27" fmla="*/ 395975 h 533193"/>
              <a:gd name="connsiteX28" fmla="*/ 347393 w 603405"/>
              <a:gd name="connsiteY28" fmla="*/ 395975 h 533193"/>
              <a:gd name="connsiteX29" fmla="*/ 333281 w 603405"/>
              <a:gd name="connsiteY29" fmla="*/ 381744 h 533193"/>
              <a:gd name="connsiteX30" fmla="*/ 333881 w 603405"/>
              <a:gd name="connsiteY30" fmla="*/ 277633 h 533193"/>
              <a:gd name="connsiteX31" fmla="*/ 367511 w 603405"/>
              <a:gd name="connsiteY31" fmla="*/ 244227 h 533193"/>
              <a:gd name="connsiteX32" fmla="*/ 201525 w 603405"/>
              <a:gd name="connsiteY32" fmla="*/ 244227 h 533193"/>
              <a:gd name="connsiteX33" fmla="*/ 277906 w 603405"/>
              <a:gd name="connsiteY33" fmla="*/ 244227 h 533193"/>
              <a:gd name="connsiteX34" fmla="*/ 311520 w 603405"/>
              <a:gd name="connsiteY34" fmla="*/ 277633 h 533193"/>
              <a:gd name="connsiteX35" fmla="*/ 311970 w 603405"/>
              <a:gd name="connsiteY35" fmla="*/ 381744 h 533193"/>
              <a:gd name="connsiteX36" fmla="*/ 297864 w 603405"/>
              <a:gd name="connsiteY36" fmla="*/ 395975 h 533193"/>
              <a:gd name="connsiteX37" fmla="*/ 297714 w 603405"/>
              <a:gd name="connsiteY37" fmla="*/ 395975 h 533193"/>
              <a:gd name="connsiteX38" fmla="*/ 283608 w 603405"/>
              <a:gd name="connsiteY38" fmla="*/ 381894 h 533193"/>
              <a:gd name="connsiteX39" fmla="*/ 283008 w 603405"/>
              <a:gd name="connsiteY39" fmla="*/ 277782 h 533193"/>
              <a:gd name="connsiteX40" fmla="*/ 280007 w 603405"/>
              <a:gd name="connsiteY40" fmla="*/ 274786 h 533193"/>
              <a:gd name="connsiteX41" fmla="*/ 277156 w 603405"/>
              <a:gd name="connsiteY41" fmla="*/ 277782 h 533193"/>
              <a:gd name="connsiteX42" fmla="*/ 277456 w 603405"/>
              <a:gd name="connsiteY42" fmla="*/ 516116 h 533193"/>
              <a:gd name="connsiteX43" fmla="*/ 260349 w 603405"/>
              <a:gd name="connsiteY43" fmla="*/ 533193 h 533193"/>
              <a:gd name="connsiteX44" fmla="*/ 243242 w 603405"/>
              <a:gd name="connsiteY44" fmla="*/ 516116 h 533193"/>
              <a:gd name="connsiteX45" fmla="*/ 243242 w 603405"/>
              <a:gd name="connsiteY45" fmla="*/ 380096 h 533193"/>
              <a:gd name="connsiteX46" fmla="*/ 235889 w 603405"/>
              <a:gd name="connsiteY46" fmla="*/ 380096 h 533193"/>
              <a:gd name="connsiteX47" fmla="*/ 235889 w 603405"/>
              <a:gd name="connsiteY47" fmla="*/ 516116 h 533193"/>
              <a:gd name="connsiteX48" fmla="*/ 218932 w 603405"/>
              <a:gd name="connsiteY48" fmla="*/ 533193 h 533193"/>
              <a:gd name="connsiteX49" fmla="*/ 201825 w 603405"/>
              <a:gd name="connsiteY49" fmla="*/ 516116 h 533193"/>
              <a:gd name="connsiteX50" fmla="*/ 201825 w 603405"/>
              <a:gd name="connsiteY50" fmla="*/ 380096 h 533193"/>
              <a:gd name="connsiteX51" fmla="*/ 201825 w 603405"/>
              <a:gd name="connsiteY51" fmla="*/ 277782 h 533193"/>
              <a:gd name="connsiteX52" fmla="*/ 199124 w 603405"/>
              <a:gd name="connsiteY52" fmla="*/ 274936 h 533193"/>
              <a:gd name="connsiteX53" fmla="*/ 196423 w 603405"/>
              <a:gd name="connsiteY53" fmla="*/ 277782 h 533193"/>
              <a:gd name="connsiteX54" fmla="*/ 195822 w 603405"/>
              <a:gd name="connsiteY54" fmla="*/ 381894 h 533193"/>
              <a:gd name="connsiteX55" fmla="*/ 181567 w 603405"/>
              <a:gd name="connsiteY55" fmla="*/ 395975 h 533193"/>
              <a:gd name="connsiteX56" fmla="*/ 167461 w 603405"/>
              <a:gd name="connsiteY56" fmla="*/ 381744 h 533193"/>
              <a:gd name="connsiteX57" fmla="*/ 167911 w 603405"/>
              <a:gd name="connsiteY57" fmla="*/ 277633 h 533193"/>
              <a:gd name="connsiteX58" fmla="*/ 201525 w 603405"/>
              <a:gd name="connsiteY58" fmla="*/ 244227 h 533193"/>
              <a:gd name="connsiteX59" fmla="*/ 34214 w 603405"/>
              <a:gd name="connsiteY59" fmla="*/ 244227 h 533193"/>
              <a:gd name="connsiteX60" fmla="*/ 110445 w 603405"/>
              <a:gd name="connsiteY60" fmla="*/ 244227 h 533193"/>
              <a:gd name="connsiteX61" fmla="*/ 144059 w 603405"/>
              <a:gd name="connsiteY61" fmla="*/ 277633 h 533193"/>
              <a:gd name="connsiteX62" fmla="*/ 144509 w 603405"/>
              <a:gd name="connsiteY62" fmla="*/ 381744 h 533193"/>
              <a:gd name="connsiteX63" fmla="*/ 130403 w 603405"/>
              <a:gd name="connsiteY63" fmla="*/ 395975 h 533193"/>
              <a:gd name="connsiteX64" fmla="*/ 116147 w 603405"/>
              <a:gd name="connsiteY64" fmla="*/ 381894 h 533193"/>
              <a:gd name="connsiteX65" fmla="*/ 115697 w 603405"/>
              <a:gd name="connsiteY65" fmla="*/ 277782 h 533193"/>
              <a:gd name="connsiteX66" fmla="*/ 112696 w 603405"/>
              <a:gd name="connsiteY66" fmla="*/ 274786 h 533193"/>
              <a:gd name="connsiteX67" fmla="*/ 109694 w 603405"/>
              <a:gd name="connsiteY67" fmla="*/ 277782 h 533193"/>
              <a:gd name="connsiteX68" fmla="*/ 109995 w 603405"/>
              <a:gd name="connsiteY68" fmla="*/ 516116 h 533193"/>
              <a:gd name="connsiteX69" fmla="*/ 92888 w 603405"/>
              <a:gd name="connsiteY69" fmla="*/ 533193 h 533193"/>
              <a:gd name="connsiteX70" fmla="*/ 75931 w 603405"/>
              <a:gd name="connsiteY70" fmla="*/ 516116 h 533193"/>
              <a:gd name="connsiteX71" fmla="*/ 75931 w 603405"/>
              <a:gd name="connsiteY71" fmla="*/ 380096 h 533193"/>
              <a:gd name="connsiteX72" fmla="*/ 68578 w 603405"/>
              <a:gd name="connsiteY72" fmla="*/ 380096 h 533193"/>
              <a:gd name="connsiteX73" fmla="*/ 68578 w 603405"/>
              <a:gd name="connsiteY73" fmla="*/ 516116 h 533193"/>
              <a:gd name="connsiteX74" fmla="*/ 51471 w 603405"/>
              <a:gd name="connsiteY74" fmla="*/ 533193 h 533193"/>
              <a:gd name="connsiteX75" fmla="*/ 34364 w 603405"/>
              <a:gd name="connsiteY75" fmla="*/ 516116 h 533193"/>
              <a:gd name="connsiteX76" fmla="*/ 34364 w 603405"/>
              <a:gd name="connsiteY76" fmla="*/ 380096 h 533193"/>
              <a:gd name="connsiteX77" fmla="*/ 34364 w 603405"/>
              <a:gd name="connsiteY77" fmla="*/ 277782 h 533193"/>
              <a:gd name="connsiteX78" fmla="*/ 31663 w 603405"/>
              <a:gd name="connsiteY78" fmla="*/ 275086 h 533193"/>
              <a:gd name="connsiteX79" fmla="*/ 28962 w 603405"/>
              <a:gd name="connsiteY79" fmla="*/ 277782 h 533193"/>
              <a:gd name="connsiteX80" fmla="*/ 28361 w 603405"/>
              <a:gd name="connsiteY80" fmla="*/ 381894 h 533193"/>
              <a:gd name="connsiteX81" fmla="*/ 14256 w 603405"/>
              <a:gd name="connsiteY81" fmla="*/ 395975 h 533193"/>
              <a:gd name="connsiteX82" fmla="*/ 14106 w 603405"/>
              <a:gd name="connsiteY82" fmla="*/ 395975 h 533193"/>
              <a:gd name="connsiteX83" fmla="*/ 0 w 603405"/>
              <a:gd name="connsiteY83" fmla="*/ 381744 h 533193"/>
              <a:gd name="connsiteX84" fmla="*/ 600 w 603405"/>
              <a:gd name="connsiteY84" fmla="*/ 277633 h 533193"/>
              <a:gd name="connsiteX85" fmla="*/ 34214 w 603405"/>
              <a:gd name="connsiteY85" fmla="*/ 244227 h 533193"/>
              <a:gd name="connsiteX86" fmla="*/ 298774 w 603405"/>
              <a:gd name="connsiteY86" fmla="*/ 232090 h 533193"/>
              <a:gd name="connsiteX87" fmla="*/ 346547 w 603405"/>
              <a:gd name="connsiteY87" fmla="*/ 232090 h 533193"/>
              <a:gd name="connsiteX88" fmla="*/ 322660 w 603405"/>
              <a:gd name="connsiteY88" fmla="*/ 254883 h 533193"/>
              <a:gd name="connsiteX89" fmla="*/ 298774 w 603405"/>
              <a:gd name="connsiteY89" fmla="*/ 232090 h 533193"/>
              <a:gd name="connsiteX90" fmla="*/ 405716 w 603405"/>
              <a:gd name="connsiteY90" fmla="*/ 176061 h 533193"/>
              <a:gd name="connsiteX91" fmla="*/ 435177 w 603405"/>
              <a:gd name="connsiteY91" fmla="*/ 205417 h 533193"/>
              <a:gd name="connsiteX92" fmla="*/ 405716 w 603405"/>
              <a:gd name="connsiteY92" fmla="*/ 234773 h 533193"/>
              <a:gd name="connsiteX93" fmla="*/ 376255 w 603405"/>
              <a:gd name="connsiteY93" fmla="*/ 205417 h 533193"/>
              <a:gd name="connsiteX94" fmla="*/ 405716 w 603405"/>
              <a:gd name="connsiteY94" fmla="*/ 176061 h 533193"/>
              <a:gd name="connsiteX95" fmla="*/ 239817 w 603405"/>
              <a:gd name="connsiteY95" fmla="*/ 176061 h 533193"/>
              <a:gd name="connsiteX96" fmla="*/ 269208 w 603405"/>
              <a:gd name="connsiteY96" fmla="*/ 205417 h 533193"/>
              <a:gd name="connsiteX97" fmla="*/ 239817 w 603405"/>
              <a:gd name="connsiteY97" fmla="*/ 234773 h 533193"/>
              <a:gd name="connsiteX98" fmla="*/ 210426 w 603405"/>
              <a:gd name="connsiteY98" fmla="*/ 205417 h 533193"/>
              <a:gd name="connsiteX99" fmla="*/ 239817 w 603405"/>
              <a:gd name="connsiteY99" fmla="*/ 176061 h 533193"/>
              <a:gd name="connsiteX100" fmla="*/ 72325 w 603405"/>
              <a:gd name="connsiteY100" fmla="*/ 176061 h 533193"/>
              <a:gd name="connsiteX101" fmla="*/ 101897 w 603405"/>
              <a:gd name="connsiteY101" fmla="*/ 205416 h 533193"/>
              <a:gd name="connsiteX102" fmla="*/ 72325 w 603405"/>
              <a:gd name="connsiteY102" fmla="*/ 234772 h 533193"/>
              <a:gd name="connsiteX103" fmla="*/ 42904 w 603405"/>
              <a:gd name="connsiteY103" fmla="*/ 205416 h 533193"/>
              <a:gd name="connsiteX104" fmla="*/ 72325 w 603405"/>
              <a:gd name="connsiteY104" fmla="*/ 176061 h 533193"/>
              <a:gd name="connsiteX105" fmla="*/ 1200 w 603405"/>
              <a:gd name="connsiteY105" fmla="*/ 56241 h 533193"/>
              <a:gd name="connsiteX106" fmla="*/ 384613 w 603405"/>
              <a:gd name="connsiteY106" fmla="*/ 56241 h 533193"/>
              <a:gd name="connsiteX107" fmla="*/ 603405 w 603405"/>
              <a:gd name="connsiteY107" fmla="*/ 274494 h 533193"/>
              <a:gd name="connsiteX108" fmla="*/ 540979 w 603405"/>
              <a:gd name="connsiteY108" fmla="*/ 336809 h 533193"/>
              <a:gd name="connsiteX109" fmla="*/ 494459 w 603405"/>
              <a:gd name="connsiteY109" fmla="*/ 336809 h 533193"/>
              <a:gd name="connsiteX110" fmla="*/ 494159 w 603405"/>
              <a:gd name="connsiteY110" fmla="*/ 277490 h 533193"/>
              <a:gd name="connsiteX111" fmla="*/ 464747 w 603405"/>
              <a:gd name="connsiteY111" fmla="*/ 232102 h 533193"/>
              <a:gd name="connsiteX112" fmla="*/ 551333 w 603405"/>
              <a:gd name="connsiteY112" fmla="*/ 232102 h 533193"/>
              <a:gd name="connsiteX113" fmla="*/ 551483 w 603405"/>
              <a:gd name="connsiteY113" fmla="*/ 232102 h 533193"/>
              <a:gd name="connsiteX114" fmla="*/ 557636 w 603405"/>
              <a:gd name="connsiteY114" fmla="*/ 228806 h 533193"/>
              <a:gd name="connsiteX115" fmla="*/ 558236 w 603405"/>
              <a:gd name="connsiteY115" fmla="*/ 221766 h 533193"/>
              <a:gd name="connsiteX116" fmla="*/ 504663 w 603405"/>
              <a:gd name="connsiteY116" fmla="*/ 136532 h 533193"/>
              <a:gd name="connsiteX117" fmla="*/ 415676 w 603405"/>
              <a:gd name="connsiteY117" fmla="*/ 97585 h 533193"/>
              <a:gd name="connsiteX118" fmla="*/ 397968 w 603405"/>
              <a:gd name="connsiteY118" fmla="*/ 97585 h 533193"/>
              <a:gd name="connsiteX119" fmla="*/ 397968 w 603405"/>
              <a:gd name="connsiteY119" fmla="*/ 159900 h 533193"/>
              <a:gd name="connsiteX120" fmla="*/ 364954 w 603405"/>
              <a:gd name="connsiteY120" fmla="*/ 183568 h 533193"/>
              <a:gd name="connsiteX121" fmla="*/ 364954 w 603405"/>
              <a:gd name="connsiteY121" fmla="*/ 97585 h 533193"/>
              <a:gd name="connsiteX122" fmla="*/ 174223 w 603405"/>
              <a:gd name="connsiteY122" fmla="*/ 97585 h 533193"/>
              <a:gd name="connsiteX123" fmla="*/ 174223 w 603405"/>
              <a:gd name="connsiteY123" fmla="*/ 232102 h 533193"/>
              <a:gd name="connsiteX124" fmla="*/ 180526 w 603405"/>
              <a:gd name="connsiteY124" fmla="*/ 232102 h 533193"/>
              <a:gd name="connsiteX125" fmla="*/ 174223 w 603405"/>
              <a:gd name="connsiteY125" fmla="*/ 235547 h 533193"/>
              <a:gd name="connsiteX126" fmla="*/ 156065 w 603405"/>
              <a:gd name="connsiteY126" fmla="*/ 256369 h 533193"/>
              <a:gd name="connsiteX127" fmla="*/ 141209 w 603405"/>
              <a:gd name="connsiteY127" fmla="*/ 238093 h 533193"/>
              <a:gd name="connsiteX128" fmla="*/ 131455 w 603405"/>
              <a:gd name="connsiteY128" fmla="*/ 232102 h 533193"/>
              <a:gd name="connsiteX129" fmla="*/ 141209 w 603405"/>
              <a:gd name="connsiteY129" fmla="*/ 232102 h 533193"/>
              <a:gd name="connsiteX130" fmla="*/ 141209 w 603405"/>
              <a:gd name="connsiteY130" fmla="*/ 97585 h 533193"/>
              <a:gd name="connsiteX131" fmla="*/ 1200 w 603405"/>
              <a:gd name="connsiteY131" fmla="*/ 97585 h 533193"/>
              <a:gd name="connsiteX132" fmla="*/ 30337 w 603405"/>
              <a:gd name="connsiteY132" fmla="*/ 0 h 533193"/>
              <a:gd name="connsiteX133" fmla="*/ 450496 w 603405"/>
              <a:gd name="connsiteY133" fmla="*/ 0 h 533193"/>
              <a:gd name="connsiteX134" fmla="*/ 467002 w 603405"/>
              <a:gd name="connsiteY134" fmla="*/ 16512 h 533193"/>
              <a:gd name="connsiteX135" fmla="*/ 450496 w 603405"/>
              <a:gd name="connsiteY135" fmla="*/ 33025 h 533193"/>
              <a:gd name="connsiteX136" fmla="*/ 30337 w 603405"/>
              <a:gd name="connsiteY136" fmla="*/ 33025 h 533193"/>
              <a:gd name="connsiteX137" fmla="*/ 13831 w 603405"/>
              <a:gd name="connsiteY137" fmla="*/ 16512 h 533193"/>
              <a:gd name="connsiteX138" fmla="*/ 30337 w 603405"/>
              <a:gd name="connsiteY138" fmla="*/ 0 h 533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603405" h="533193">
                <a:moveTo>
                  <a:pt x="494452" y="356003"/>
                </a:moveTo>
                <a:lnTo>
                  <a:pt x="585270" y="356003"/>
                </a:lnTo>
                <a:cubicBezTo>
                  <a:pt x="594277" y="356003"/>
                  <a:pt x="601782" y="363343"/>
                  <a:pt x="601782" y="372480"/>
                </a:cubicBezTo>
                <a:cubicBezTo>
                  <a:pt x="601782" y="381617"/>
                  <a:pt x="594277" y="388957"/>
                  <a:pt x="585270" y="388957"/>
                </a:cubicBezTo>
                <a:lnTo>
                  <a:pt x="494452" y="388957"/>
                </a:lnTo>
                <a:close/>
                <a:moveTo>
                  <a:pt x="367511" y="244227"/>
                </a:moveTo>
                <a:lnTo>
                  <a:pt x="443780" y="244227"/>
                </a:lnTo>
                <a:cubicBezTo>
                  <a:pt x="462247" y="244227"/>
                  <a:pt x="477261" y="259207"/>
                  <a:pt x="477411" y="277633"/>
                </a:cubicBezTo>
                <a:lnTo>
                  <a:pt x="477861" y="381744"/>
                </a:lnTo>
                <a:cubicBezTo>
                  <a:pt x="478011" y="389534"/>
                  <a:pt x="471706" y="395975"/>
                  <a:pt x="463748" y="395975"/>
                </a:cubicBezTo>
                <a:cubicBezTo>
                  <a:pt x="455941" y="395975"/>
                  <a:pt x="449486" y="389684"/>
                  <a:pt x="449486" y="381894"/>
                </a:cubicBezTo>
                <a:lnTo>
                  <a:pt x="449035" y="277782"/>
                </a:lnTo>
                <a:cubicBezTo>
                  <a:pt x="449035" y="276135"/>
                  <a:pt x="447684" y="274786"/>
                  <a:pt x="446033" y="274786"/>
                </a:cubicBezTo>
                <a:cubicBezTo>
                  <a:pt x="444381" y="274786"/>
                  <a:pt x="443030" y="276135"/>
                  <a:pt x="443030" y="277782"/>
                </a:cubicBezTo>
                <a:cubicBezTo>
                  <a:pt x="443030" y="419944"/>
                  <a:pt x="443330" y="291115"/>
                  <a:pt x="443330" y="516116"/>
                </a:cubicBezTo>
                <a:cubicBezTo>
                  <a:pt x="443330" y="525553"/>
                  <a:pt x="435673" y="533193"/>
                  <a:pt x="426215" y="533193"/>
                </a:cubicBezTo>
                <a:cubicBezTo>
                  <a:pt x="416906" y="533193"/>
                  <a:pt x="409249" y="525553"/>
                  <a:pt x="409249" y="516116"/>
                </a:cubicBezTo>
                <a:lnTo>
                  <a:pt x="409249" y="380096"/>
                </a:lnTo>
                <a:lnTo>
                  <a:pt x="401893" y="380096"/>
                </a:lnTo>
                <a:lnTo>
                  <a:pt x="401893" y="516116"/>
                </a:lnTo>
                <a:cubicBezTo>
                  <a:pt x="401893" y="525553"/>
                  <a:pt x="394236" y="533193"/>
                  <a:pt x="384778" y="533193"/>
                </a:cubicBezTo>
                <a:cubicBezTo>
                  <a:pt x="375319" y="533193"/>
                  <a:pt x="367812" y="525553"/>
                  <a:pt x="367812" y="516116"/>
                </a:cubicBezTo>
                <a:lnTo>
                  <a:pt x="367812" y="380096"/>
                </a:lnTo>
                <a:lnTo>
                  <a:pt x="367812" y="277782"/>
                </a:lnTo>
                <a:cubicBezTo>
                  <a:pt x="367812" y="276284"/>
                  <a:pt x="366461" y="274936"/>
                  <a:pt x="364959" y="274936"/>
                </a:cubicBezTo>
                <a:cubicBezTo>
                  <a:pt x="363458" y="274936"/>
                  <a:pt x="362257" y="276284"/>
                  <a:pt x="362257" y="277782"/>
                </a:cubicBezTo>
                <a:lnTo>
                  <a:pt x="361656" y="381894"/>
                </a:lnTo>
                <a:cubicBezTo>
                  <a:pt x="361656" y="389684"/>
                  <a:pt x="355351" y="395975"/>
                  <a:pt x="347544" y="395975"/>
                </a:cubicBezTo>
                <a:lnTo>
                  <a:pt x="347393" y="395975"/>
                </a:lnTo>
                <a:cubicBezTo>
                  <a:pt x="339586" y="395975"/>
                  <a:pt x="333281" y="389534"/>
                  <a:pt x="333281" y="381744"/>
                </a:cubicBezTo>
                <a:lnTo>
                  <a:pt x="333881" y="277633"/>
                </a:lnTo>
                <a:cubicBezTo>
                  <a:pt x="333881" y="259207"/>
                  <a:pt x="349045" y="244227"/>
                  <a:pt x="367511" y="244227"/>
                </a:cubicBezTo>
                <a:close/>
                <a:moveTo>
                  <a:pt x="201525" y="244227"/>
                </a:moveTo>
                <a:lnTo>
                  <a:pt x="277906" y="244227"/>
                </a:lnTo>
                <a:cubicBezTo>
                  <a:pt x="296213" y="244227"/>
                  <a:pt x="311370" y="259207"/>
                  <a:pt x="311520" y="277633"/>
                </a:cubicBezTo>
                <a:lnTo>
                  <a:pt x="311970" y="381744"/>
                </a:lnTo>
                <a:cubicBezTo>
                  <a:pt x="311970" y="389534"/>
                  <a:pt x="305667" y="395975"/>
                  <a:pt x="297864" y="395975"/>
                </a:cubicBezTo>
                <a:lnTo>
                  <a:pt x="297714" y="395975"/>
                </a:lnTo>
                <a:cubicBezTo>
                  <a:pt x="289911" y="395975"/>
                  <a:pt x="283608" y="389684"/>
                  <a:pt x="283608" y="381894"/>
                </a:cubicBezTo>
                <a:lnTo>
                  <a:pt x="283008" y="277782"/>
                </a:lnTo>
                <a:cubicBezTo>
                  <a:pt x="283008" y="276135"/>
                  <a:pt x="281657" y="274786"/>
                  <a:pt x="280007" y="274786"/>
                </a:cubicBezTo>
                <a:cubicBezTo>
                  <a:pt x="278356" y="274786"/>
                  <a:pt x="277156" y="276135"/>
                  <a:pt x="277156" y="277782"/>
                </a:cubicBezTo>
                <a:cubicBezTo>
                  <a:pt x="277156" y="419944"/>
                  <a:pt x="277456" y="291115"/>
                  <a:pt x="277456" y="516116"/>
                </a:cubicBezTo>
                <a:cubicBezTo>
                  <a:pt x="277456" y="525553"/>
                  <a:pt x="269803" y="533193"/>
                  <a:pt x="260349" y="533193"/>
                </a:cubicBezTo>
                <a:cubicBezTo>
                  <a:pt x="250895" y="533193"/>
                  <a:pt x="243242" y="525553"/>
                  <a:pt x="243242" y="516116"/>
                </a:cubicBezTo>
                <a:lnTo>
                  <a:pt x="243242" y="380096"/>
                </a:lnTo>
                <a:lnTo>
                  <a:pt x="235889" y="380096"/>
                </a:lnTo>
                <a:lnTo>
                  <a:pt x="235889" y="516116"/>
                </a:lnTo>
                <a:cubicBezTo>
                  <a:pt x="235889" y="525553"/>
                  <a:pt x="228386" y="533193"/>
                  <a:pt x="218932" y="533193"/>
                </a:cubicBezTo>
                <a:cubicBezTo>
                  <a:pt x="209478" y="533193"/>
                  <a:pt x="201825" y="525553"/>
                  <a:pt x="201825" y="516116"/>
                </a:cubicBezTo>
                <a:lnTo>
                  <a:pt x="201825" y="380096"/>
                </a:lnTo>
                <a:lnTo>
                  <a:pt x="201825" y="277782"/>
                </a:lnTo>
                <a:cubicBezTo>
                  <a:pt x="201825" y="276284"/>
                  <a:pt x="200624" y="274936"/>
                  <a:pt x="199124" y="274936"/>
                </a:cubicBezTo>
                <a:cubicBezTo>
                  <a:pt x="197623" y="274936"/>
                  <a:pt x="196423" y="276284"/>
                  <a:pt x="196423" y="277782"/>
                </a:cubicBezTo>
                <a:lnTo>
                  <a:pt x="195822" y="381894"/>
                </a:lnTo>
                <a:cubicBezTo>
                  <a:pt x="195822" y="389684"/>
                  <a:pt x="189370" y="395975"/>
                  <a:pt x="181567" y="395975"/>
                </a:cubicBezTo>
                <a:cubicBezTo>
                  <a:pt x="173763" y="395975"/>
                  <a:pt x="167311" y="389534"/>
                  <a:pt x="167461" y="381744"/>
                </a:cubicBezTo>
                <a:lnTo>
                  <a:pt x="167911" y="277633"/>
                </a:lnTo>
                <a:cubicBezTo>
                  <a:pt x="168061" y="259207"/>
                  <a:pt x="183067" y="244227"/>
                  <a:pt x="201525" y="244227"/>
                </a:cubicBezTo>
                <a:close/>
                <a:moveTo>
                  <a:pt x="34214" y="244227"/>
                </a:moveTo>
                <a:lnTo>
                  <a:pt x="110445" y="244227"/>
                </a:lnTo>
                <a:cubicBezTo>
                  <a:pt x="128902" y="244227"/>
                  <a:pt x="143908" y="259207"/>
                  <a:pt x="144059" y="277633"/>
                </a:cubicBezTo>
                <a:lnTo>
                  <a:pt x="144509" y="381744"/>
                </a:lnTo>
                <a:cubicBezTo>
                  <a:pt x="144659" y="389534"/>
                  <a:pt x="138206" y="395975"/>
                  <a:pt x="130403" y="395975"/>
                </a:cubicBezTo>
                <a:cubicBezTo>
                  <a:pt x="122600" y="395975"/>
                  <a:pt x="116147" y="389684"/>
                  <a:pt x="116147" y="381894"/>
                </a:cubicBezTo>
                <a:lnTo>
                  <a:pt x="115697" y="277782"/>
                </a:lnTo>
                <a:cubicBezTo>
                  <a:pt x="115547" y="276135"/>
                  <a:pt x="114346" y="274786"/>
                  <a:pt x="112696" y="274786"/>
                </a:cubicBezTo>
                <a:cubicBezTo>
                  <a:pt x="111045" y="274786"/>
                  <a:pt x="109694" y="276135"/>
                  <a:pt x="109694" y="277782"/>
                </a:cubicBezTo>
                <a:cubicBezTo>
                  <a:pt x="109694" y="343695"/>
                  <a:pt x="109995" y="452450"/>
                  <a:pt x="109995" y="516116"/>
                </a:cubicBezTo>
                <a:cubicBezTo>
                  <a:pt x="109995" y="525553"/>
                  <a:pt x="102341" y="533193"/>
                  <a:pt x="92888" y="533193"/>
                </a:cubicBezTo>
                <a:cubicBezTo>
                  <a:pt x="83584" y="533193"/>
                  <a:pt x="75931" y="525553"/>
                  <a:pt x="75931" y="516116"/>
                </a:cubicBezTo>
                <a:lnTo>
                  <a:pt x="75931" y="380096"/>
                </a:lnTo>
                <a:lnTo>
                  <a:pt x="68578" y="380096"/>
                </a:lnTo>
                <a:lnTo>
                  <a:pt x="68578" y="516116"/>
                </a:lnTo>
                <a:cubicBezTo>
                  <a:pt x="68578" y="525553"/>
                  <a:pt x="60925" y="533193"/>
                  <a:pt x="51471" y="533193"/>
                </a:cubicBezTo>
                <a:cubicBezTo>
                  <a:pt x="42017" y="533193"/>
                  <a:pt x="34364" y="525553"/>
                  <a:pt x="34364" y="516116"/>
                </a:cubicBezTo>
                <a:lnTo>
                  <a:pt x="34364" y="380096"/>
                </a:lnTo>
                <a:lnTo>
                  <a:pt x="34364" y="277782"/>
                </a:lnTo>
                <a:cubicBezTo>
                  <a:pt x="34364" y="276284"/>
                  <a:pt x="33163" y="275086"/>
                  <a:pt x="31663" y="275086"/>
                </a:cubicBezTo>
                <a:cubicBezTo>
                  <a:pt x="30162" y="274936"/>
                  <a:pt x="28962" y="276284"/>
                  <a:pt x="28962" y="277782"/>
                </a:cubicBezTo>
                <a:lnTo>
                  <a:pt x="28361" y="381894"/>
                </a:lnTo>
                <a:cubicBezTo>
                  <a:pt x="28361" y="389684"/>
                  <a:pt x="22059" y="395975"/>
                  <a:pt x="14256" y="395975"/>
                </a:cubicBezTo>
                <a:lnTo>
                  <a:pt x="14106" y="395975"/>
                </a:lnTo>
                <a:cubicBezTo>
                  <a:pt x="6302" y="395975"/>
                  <a:pt x="0" y="389534"/>
                  <a:pt x="0" y="381744"/>
                </a:cubicBezTo>
                <a:lnTo>
                  <a:pt x="600" y="277633"/>
                </a:lnTo>
                <a:cubicBezTo>
                  <a:pt x="600" y="259207"/>
                  <a:pt x="15756" y="244227"/>
                  <a:pt x="34214" y="244227"/>
                </a:cubicBezTo>
                <a:close/>
                <a:moveTo>
                  <a:pt x="298774" y="232090"/>
                </a:moveTo>
                <a:lnTo>
                  <a:pt x="346547" y="232090"/>
                </a:lnTo>
                <a:cubicBezTo>
                  <a:pt x="336331" y="236739"/>
                  <a:pt x="327768" y="244836"/>
                  <a:pt x="322660" y="254883"/>
                </a:cubicBezTo>
                <a:cubicBezTo>
                  <a:pt x="317552" y="244836"/>
                  <a:pt x="309140" y="236739"/>
                  <a:pt x="298774" y="232090"/>
                </a:cubicBezTo>
                <a:close/>
                <a:moveTo>
                  <a:pt x="405716" y="176061"/>
                </a:moveTo>
                <a:cubicBezTo>
                  <a:pt x="421987" y="176061"/>
                  <a:pt x="435177" y="189204"/>
                  <a:pt x="435177" y="205417"/>
                </a:cubicBezTo>
                <a:cubicBezTo>
                  <a:pt x="435177" y="221630"/>
                  <a:pt x="421987" y="234773"/>
                  <a:pt x="405716" y="234773"/>
                </a:cubicBezTo>
                <a:cubicBezTo>
                  <a:pt x="389445" y="234773"/>
                  <a:pt x="376255" y="221630"/>
                  <a:pt x="376255" y="205417"/>
                </a:cubicBezTo>
                <a:cubicBezTo>
                  <a:pt x="376255" y="189204"/>
                  <a:pt x="389445" y="176061"/>
                  <a:pt x="405716" y="176061"/>
                </a:cubicBezTo>
                <a:close/>
                <a:moveTo>
                  <a:pt x="239817" y="176061"/>
                </a:moveTo>
                <a:cubicBezTo>
                  <a:pt x="256049" y="176061"/>
                  <a:pt x="269208" y="189204"/>
                  <a:pt x="269208" y="205417"/>
                </a:cubicBezTo>
                <a:cubicBezTo>
                  <a:pt x="269208" y="221630"/>
                  <a:pt x="256049" y="234773"/>
                  <a:pt x="239817" y="234773"/>
                </a:cubicBezTo>
                <a:cubicBezTo>
                  <a:pt x="223585" y="234773"/>
                  <a:pt x="210426" y="221630"/>
                  <a:pt x="210426" y="205417"/>
                </a:cubicBezTo>
                <a:cubicBezTo>
                  <a:pt x="210426" y="189204"/>
                  <a:pt x="223585" y="176061"/>
                  <a:pt x="239817" y="176061"/>
                </a:cubicBezTo>
                <a:close/>
                <a:moveTo>
                  <a:pt x="72325" y="176061"/>
                </a:moveTo>
                <a:cubicBezTo>
                  <a:pt x="88687" y="176061"/>
                  <a:pt x="101897" y="189241"/>
                  <a:pt x="101897" y="205416"/>
                </a:cubicBezTo>
                <a:cubicBezTo>
                  <a:pt x="101897" y="221592"/>
                  <a:pt x="88687" y="234772"/>
                  <a:pt x="72325" y="234772"/>
                </a:cubicBezTo>
                <a:cubicBezTo>
                  <a:pt x="56113" y="234772"/>
                  <a:pt x="42904" y="221592"/>
                  <a:pt x="42904" y="205416"/>
                </a:cubicBezTo>
                <a:cubicBezTo>
                  <a:pt x="42904" y="189241"/>
                  <a:pt x="55963" y="176061"/>
                  <a:pt x="72325" y="176061"/>
                </a:cubicBezTo>
                <a:close/>
                <a:moveTo>
                  <a:pt x="1200" y="56241"/>
                </a:moveTo>
                <a:lnTo>
                  <a:pt x="384613" y="56241"/>
                </a:lnTo>
                <a:cubicBezTo>
                  <a:pt x="505414" y="56241"/>
                  <a:pt x="603405" y="154058"/>
                  <a:pt x="603405" y="274494"/>
                </a:cubicBezTo>
                <a:cubicBezTo>
                  <a:pt x="603405" y="308947"/>
                  <a:pt x="575493" y="336809"/>
                  <a:pt x="540979" y="336809"/>
                </a:cubicBezTo>
                <a:lnTo>
                  <a:pt x="494459" y="336809"/>
                </a:lnTo>
                <a:lnTo>
                  <a:pt x="494159" y="277490"/>
                </a:lnTo>
                <a:cubicBezTo>
                  <a:pt x="494009" y="257417"/>
                  <a:pt x="482004" y="240041"/>
                  <a:pt x="464747" y="232102"/>
                </a:cubicBezTo>
                <a:lnTo>
                  <a:pt x="551333" y="232102"/>
                </a:lnTo>
                <a:lnTo>
                  <a:pt x="551483" y="232102"/>
                </a:lnTo>
                <a:cubicBezTo>
                  <a:pt x="553884" y="232102"/>
                  <a:pt x="556285" y="230753"/>
                  <a:pt x="557636" y="228806"/>
                </a:cubicBezTo>
                <a:cubicBezTo>
                  <a:pt x="558986" y="226709"/>
                  <a:pt x="559136" y="224013"/>
                  <a:pt x="558236" y="221766"/>
                </a:cubicBezTo>
                <a:cubicBezTo>
                  <a:pt x="550283" y="203790"/>
                  <a:pt x="531825" y="165892"/>
                  <a:pt x="504663" y="136532"/>
                </a:cubicBezTo>
                <a:cubicBezTo>
                  <a:pt x="481704" y="111666"/>
                  <a:pt x="449440" y="97585"/>
                  <a:pt x="415676" y="97585"/>
                </a:cubicBezTo>
                <a:lnTo>
                  <a:pt x="397968" y="97585"/>
                </a:lnTo>
                <a:lnTo>
                  <a:pt x="397968" y="159900"/>
                </a:lnTo>
                <a:cubicBezTo>
                  <a:pt x="383712" y="162297"/>
                  <a:pt x="371707" y="171284"/>
                  <a:pt x="364954" y="183568"/>
                </a:cubicBezTo>
                <a:lnTo>
                  <a:pt x="364954" y="97585"/>
                </a:lnTo>
                <a:lnTo>
                  <a:pt x="174223" y="97585"/>
                </a:lnTo>
                <a:lnTo>
                  <a:pt x="174223" y="232102"/>
                </a:lnTo>
                <a:lnTo>
                  <a:pt x="180526" y="232102"/>
                </a:lnTo>
                <a:cubicBezTo>
                  <a:pt x="178425" y="233150"/>
                  <a:pt x="176324" y="234199"/>
                  <a:pt x="174223" y="235547"/>
                </a:cubicBezTo>
                <a:cubicBezTo>
                  <a:pt x="166420" y="240640"/>
                  <a:pt x="159967" y="247830"/>
                  <a:pt x="156065" y="256369"/>
                </a:cubicBezTo>
                <a:cubicBezTo>
                  <a:pt x="152614" y="249178"/>
                  <a:pt x="147512" y="242887"/>
                  <a:pt x="141209" y="238093"/>
                </a:cubicBezTo>
                <a:cubicBezTo>
                  <a:pt x="138208" y="235697"/>
                  <a:pt x="134906" y="233749"/>
                  <a:pt x="131455" y="232102"/>
                </a:cubicBezTo>
                <a:lnTo>
                  <a:pt x="141209" y="232102"/>
                </a:lnTo>
                <a:lnTo>
                  <a:pt x="141209" y="97585"/>
                </a:lnTo>
                <a:lnTo>
                  <a:pt x="1200" y="97585"/>
                </a:lnTo>
                <a:close/>
                <a:moveTo>
                  <a:pt x="30337" y="0"/>
                </a:moveTo>
                <a:lnTo>
                  <a:pt x="450496" y="0"/>
                </a:lnTo>
                <a:cubicBezTo>
                  <a:pt x="459649" y="0"/>
                  <a:pt x="467002" y="7356"/>
                  <a:pt x="467002" y="16512"/>
                </a:cubicBezTo>
                <a:cubicBezTo>
                  <a:pt x="467002" y="25669"/>
                  <a:pt x="459649" y="33025"/>
                  <a:pt x="450496" y="33025"/>
                </a:cubicBezTo>
                <a:lnTo>
                  <a:pt x="30337" y="33025"/>
                </a:lnTo>
                <a:cubicBezTo>
                  <a:pt x="21184" y="33025"/>
                  <a:pt x="13831" y="25669"/>
                  <a:pt x="13831" y="16512"/>
                </a:cubicBezTo>
                <a:cubicBezTo>
                  <a:pt x="13831" y="7356"/>
                  <a:pt x="21184" y="0"/>
                  <a:pt x="30337" y="0"/>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endParaRPr lang="zh-CN" altLang="en-US">
              <a:solidFill>
                <a:srgbClr val="000000"/>
              </a:solidFill>
              <a:latin typeface="Arial" panose="020F0502020204030204"/>
              <a:ea typeface="微软雅黑"/>
              <a:cs typeface="+mn-ea"/>
              <a:sym typeface="+mn-lt"/>
            </a:endParaRPr>
          </a:p>
        </p:txBody>
      </p:sp>
      <p:pic>
        <p:nvPicPr>
          <p:cNvPr id="3" name="图片 2">
            <a:extLst>
              <a:ext uri="{FF2B5EF4-FFF2-40B4-BE49-F238E27FC236}">
                <a16:creationId xmlns:a16="http://schemas.microsoft.com/office/drawing/2014/main" id="{DE585B2B-DF35-6E23-144D-4CA38DB3CE16}"/>
              </a:ext>
            </a:extLst>
          </p:cNvPr>
          <p:cNvPicPr>
            <a:picLocks noChangeAspect="1"/>
          </p:cNvPicPr>
          <p:nvPr/>
        </p:nvPicPr>
        <p:blipFill>
          <a:blip r:embed="rId6"/>
          <a:stretch>
            <a:fillRect/>
          </a:stretch>
        </p:blipFill>
        <p:spPr>
          <a:xfrm>
            <a:off x="476103" y="1184633"/>
            <a:ext cx="6615922" cy="4057421"/>
          </a:xfrm>
          <a:prstGeom prst="rect">
            <a:avLst/>
          </a:prstGeom>
        </p:spPr>
      </p:pic>
      <p:sp>
        <p:nvSpPr>
          <p:cNvPr id="4" name="文本框 3">
            <a:extLst>
              <a:ext uri="{FF2B5EF4-FFF2-40B4-BE49-F238E27FC236}">
                <a16:creationId xmlns:a16="http://schemas.microsoft.com/office/drawing/2014/main" id="{2D04563D-726B-F2AF-37BD-1A754B077C82}"/>
              </a:ext>
            </a:extLst>
          </p:cNvPr>
          <p:cNvSpPr txBox="1"/>
          <p:nvPr/>
        </p:nvSpPr>
        <p:spPr>
          <a:xfrm>
            <a:off x="7569200" y="3244334"/>
            <a:ext cx="3994150" cy="369332"/>
          </a:xfrm>
          <a:prstGeom prst="rect">
            <a:avLst/>
          </a:prstGeom>
          <a:noFill/>
        </p:spPr>
        <p:txBody>
          <a:bodyPr wrap="square" rtlCol="0">
            <a:spAutoFit/>
          </a:bodyPr>
          <a:lstStyle/>
          <a:p>
            <a:r>
              <a:rPr lang="zh-CN" altLang="en-US" dirty="0"/>
              <a:t>对蛋白质突变体进行零样本测试</a:t>
            </a:r>
          </a:p>
        </p:txBody>
      </p:sp>
    </p:spTree>
    <p:extLst>
      <p:ext uri="{BB962C8B-B14F-4D97-AF65-F5344CB8AC3E}">
        <p14:creationId xmlns:p14="http://schemas.microsoft.com/office/powerpoint/2010/main" val="35000011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ABAB8-9D3E-80F4-0FCD-0B832161B9F2}"/>
            </a:ext>
          </a:extLst>
        </p:cNvPr>
        <p:cNvGrpSpPr/>
        <p:nvPr/>
      </p:nvGrpSpPr>
      <p:grpSpPr>
        <a:xfrm>
          <a:off x="0" y="0"/>
          <a:ext cx="0" cy="0"/>
          <a:chOff x="0" y="0"/>
          <a:chExt cx="0" cy="0"/>
        </a:xfrm>
      </p:grpSpPr>
      <p:grpSp>
        <p:nvGrpSpPr>
          <p:cNvPr id="20" name="组合 19">
            <a:extLst>
              <a:ext uri="{FF2B5EF4-FFF2-40B4-BE49-F238E27FC236}">
                <a16:creationId xmlns:a16="http://schemas.microsoft.com/office/drawing/2014/main" id="{6F1E3FAE-9012-B641-BDAE-38B5EF8A6208}"/>
              </a:ext>
            </a:extLst>
          </p:cNvPr>
          <p:cNvGrpSpPr/>
          <p:nvPr/>
        </p:nvGrpSpPr>
        <p:grpSpPr>
          <a:xfrm>
            <a:off x="286653" y="116633"/>
            <a:ext cx="11618694" cy="6681374"/>
            <a:chOff x="286653" y="116633"/>
            <a:chExt cx="11618694" cy="6681374"/>
          </a:xfrm>
        </p:grpSpPr>
        <p:grpSp>
          <p:nvGrpSpPr>
            <p:cNvPr id="21" name="组合 20">
              <a:extLst>
                <a:ext uri="{FF2B5EF4-FFF2-40B4-BE49-F238E27FC236}">
                  <a16:creationId xmlns:a16="http://schemas.microsoft.com/office/drawing/2014/main" id="{65CB3C52-44B5-5362-F744-7755E46230EA}"/>
                </a:ext>
              </a:extLst>
            </p:cNvPr>
            <p:cNvGrpSpPr/>
            <p:nvPr/>
          </p:nvGrpSpPr>
          <p:grpSpPr>
            <a:xfrm>
              <a:off x="335361" y="116633"/>
              <a:ext cx="629872" cy="612768"/>
              <a:chOff x="3070727" y="196457"/>
              <a:chExt cx="692047" cy="673255"/>
            </a:xfrm>
          </p:grpSpPr>
          <p:sp>
            <p:nvSpPr>
              <p:cNvPr id="26" name="平行四边形 25">
                <a:extLst>
                  <a:ext uri="{FF2B5EF4-FFF2-40B4-BE49-F238E27FC236}">
                    <a16:creationId xmlns:a16="http://schemas.microsoft.com/office/drawing/2014/main" id="{0424A10A-06E6-9426-602B-FAB443510CA5}"/>
                  </a:ext>
                </a:extLst>
              </p:cNvPr>
              <p:cNvSpPr/>
              <p:nvPr/>
            </p:nvSpPr>
            <p:spPr>
              <a:xfrm>
                <a:off x="3070727" y="196457"/>
                <a:ext cx="629587" cy="612775"/>
              </a:xfrm>
              <a:prstGeom prst="parallelogram">
                <a:avLst/>
              </a:prstGeom>
              <a:solidFill>
                <a:srgbClr val="6B0261"/>
              </a:solidFill>
              <a:ln w="25400" cap="flat" cmpd="sng" algn="ctr">
                <a:solidFill>
                  <a:srgbClr val="6B026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27" name="平行四边形 26">
                <a:extLst>
                  <a:ext uri="{FF2B5EF4-FFF2-40B4-BE49-F238E27FC236}">
                    <a16:creationId xmlns:a16="http://schemas.microsoft.com/office/drawing/2014/main" id="{FFA3B723-189F-5757-E6EA-92F92919BF9A}"/>
                  </a:ext>
                </a:extLst>
              </p:cNvPr>
              <p:cNvSpPr/>
              <p:nvPr/>
            </p:nvSpPr>
            <p:spPr>
              <a:xfrm>
                <a:off x="3133187" y="256937"/>
                <a:ext cx="629587" cy="612775"/>
              </a:xfrm>
              <a:prstGeom prst="parallelogram">
                <a:avLst/>
              </a:prstGeom>
              <a:noFill/>
              <a:ln w="25400" cap="flat" cmpd="sng" algn="ctr">
                <a:solidFill>
                  <a:srgbClr val="6B026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cxnSp>
          <p:nvCxnSpPr>
            <p:cNvPr id="22" name="直接连接符 21">
              <a:extLst>
                <a:ext uri="{FF2B5EF4-FFF2-40B4-BE49-F238E27FC236}">
                  <a16:creationId xmlns:a16="http://schemas.microsoft.com/office/drawing/2014/main" id="{229A88E8-61B0-5458-1D94-3954F00FF2D8}"/>
                </a:ext>
              </a:extLst>
            </p:cNvPr>
            <p:cNvCxnSpPr>
              <a:cxnSpLocks/>
            </p:cNvCxnSpPr>
            <p:nvPr/>
          </p:nvCxnSpPr>
          <p:spPr>
            <a:xfrm>
              <a:off x="367840" y="809674"/>
              <a:ext cx="11488800" cy="0"/>
            </a:xfrm>
            <a:prstGeom prst="line">
              <a:avLst/>
            </a:prstGeom>
            <a:noFill/>
            <a:ln w="9525" cap="flat" cmpd="sng" algn="ctr">
              <a:solidFill>
                <a:srgbClr val="6B0261"/>
              </a:solidFill>
              <a:prstDash val="solid"/>
            </a:ln>
            <a:effectLst/>
          </p:spPr>
        </p:cxnSp>
        <p:sp>
          <p:nvSpPr>
            <p:cNvPr id="23" name="文本占位符 5">
              <a:extLst>
                <a:ext uri="{FF2B5EF4-FFF2-40B4-BE49-F238E27FC236}">
                  <a16:creationId xmlns:a16="http://schemas.microsoft.com/office/drawing/2014/main" id="{587BEF87-7953-7AF4-019B-93DC6F0597C3}"/>
                </a:ext>
              </a:extLst>
            </p:cNvPr>
            <p:cNvSpPr txBox="1">
              <a:spLocks/>
            </p:cNvSpPr>
            <p:nvPr/>
          </p:nvSpPr>
          <p:spPr>
            <a:xfrm>
              <a:off x="1075777" y="214065"/>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rgbClr val="6B0261"/>
                  </a:solidFill>
                </a:rPr>
                <a:t>总结与反思</a:t>
              </a:r>
            </a:p>
          </p:txBody>
        </p:sp>
        <p:sp>
          <p:nvSpPr>
            <p:cNvPr id="24" name="文本框 23">
              <a:extLst>
                <a:ext uri="{FF2B5EF4-FFF2-40B4-BE49-F238E27FC236}">
                  <a16:creationId xmlns:a16="http://schemas.microsoft.com/office/drawing/2014/main" id="{F2573A8C-4D43-18F7-49A3-4CCA9A93A43D}"/>
                </a:ext>
              </a:extLst>
            </p:cNvPr>
            <p:cNvSpPr txBox="1"/>
            <p:nvPr/>
          </p:nvSpPr>
          <p:spPr>
            <a:xfrm>
              <a:off x="10805366" y="642867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25" name="图片 24">
              <a:extLst>
                <a:ext uri="{FF2B5EF4-FFF2-40B4-BE49-F238E27FC236}">
                  <a16:creationId xmlns:a16="http://schemas.microsoft.com/office/drawing/2014/main" id="{3D3A8F1A-E34E-2A63-EA50-3DB75AE7B1B8}"/>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a:stretch/>
          </p:blipFill>
          <p:spPr>
            <a:xfrm>
              <a:off x="286653" y="6425619"/>
              <a:ext cx="2520534" cy="369332"/>
            </a:xfrm>
            <a:prstGeom prst="rect">
              <a:avLst/>
            </a:prstGeom>
          </p:spPr>
        </p:pic>
      </p:grpSp>
      <p:grpSp>
        <p:nvGrpSpPr>
          <p:cNvPr id="51" name="组合 50">
            <a:extLst>
              <a:ext uri="{FF2B5EF4-FFF2-40B4-BE49-F238E27FC236}">
                <a16:creationId xmlns:a16="http://schemas.microsoft.com/office/drawing/2014/main" id="{305F1B7C-1903-15C2-A756-5250779B2F05}"/>
              </a:ext>
            </a:extLst>
          </p:cNvPr>
          <p:cNvGrpSpPr/>
          <p:nvPr/>
        </p:nvGrpSpPr>
        <p:grpSpPr>
          <a:xfrm>
            <a:off x="9938479" y="77827"/>
            <a:ext cx="2017490" cy="675447"/>
            <a:chOff x="995884" y="398899"/>
            <a:chExt cx="3658781" cy="1224944"/>
          </a:xfrm>
        </p:grpSpPr>
        <p:pic>
          <p:nvPicPr>
            <p:cNvPr id="52" name="图片 51">
              <a:extLst>
                <a:ext uri="{FF2B5EF4-FFF2-40B4-BE49-F238E27FC236}">
                  <a16:creationId xmlns:a16="http://schemas.microsoft.com/office/drawing/2014/main" id="{EFB49216-E90F-8ABD-129A-F22C308FE8A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95884" y="398899"/>
              <a:ext cx="977348" cy="1224944"/>
            </a:xfrm>
            <a:prstGeom prst="rect">
              <a:avLst/>
            </a:prstGeom>
          </p:spPr>
        </p:pic>
        <p:pic>
          <p:nvPicPr>
            <p:cNvPr id="53" name="图片 52">
              <a:extLst>
                <a:ext uri="{FF2B5EF4-FFF2-40B4-BE49-F238E27FC236}">
                  <a16:creationId xmlns:a16="http://schemas.microsoft.com/office/drawing/2014/main" id="{1D2AA713-5FC6-B374-2CF9-7408CF3D56CF}"/>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173707" y="405382"/>
              <a:ext cx="2384890" cy="796233"/>
            </a:xfrm>
            <a:prstGeom prst="rect">
              <a:avLst/>
            </a:prstGeom>
          </p:spPr>
        </p:pic>
        <p:sp>
          <p:nvSpPr>
            <p:cNvPr id="54" name="矩形 53">
              <a:extLst>
                <a:ext uri="{FF2B5EF4-FFF2-40B4-BE49-F238E27FC236}">
                  <a16:creationId xmlns:a16="http://schemas.microsoft.com/office/drawing/2014/main" id="{B20381C5-C901-68F0-F901-F3BCA850AD44}"/>
                </a:ext>
              </a:extLst>
            </p:cNvPr>
            <p:cNvSpPr/>
            <p:nvPr/>
          </p:nvSpPr>
          <p:spPr>
            <a:xfrm>
              <a:off x="2069306" y="1138524"/>
              <a:ext cx="2585359" cy="46048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rPr>
                <a:t>NANJING UNIVERSITY</a:t>
              </a:r>
              <a:endParaRPr kumimoji="0" lang="zh-CN" altLang="en-US" sz="105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endParaRPr>
            </a:p>
          </p:txBody>
        </p:sp>
      </p:grpSp>
      <p:sp>
        <p:nvSpPr>
          <p:cNvPr id="31" name="íŝḷïḓè">
            <a:extLst>
              <a:ext uri="{FF2B5EF4-FFF2-40B4-BE49-F238E27FC236}">
                <a16:creationId xmlns:a16="http://schemas.microsoft.com/office/drawing/2014/main" id="{16290456-EBDA-ADA4-702A-2CB9449162D1}"/>
              </a:ext>
            </a:extLst>
          </p:cNvPr>
          <p:cNvSpPr/>
          <p:nvPr/>
        </p:nvSpPr>
        <p:spPr bwMode="auto">
          <a:xfrm>
            <a:off x="5828824" y="4147130"/>
            <a:ext cx="338337" cy="366161"/>
          </a:xfrm>
          <a:custGeom>
            <a:avLst/>
            <a:gdLst>
              <a:gd name="connsiteX0" fmla="*/ 327780 w 561933"/>
              <a:gd name="connsiteY0" fmla="*/ 406780 h 608145"/>
              <a:gd name="connsiteX1" fmla="*/ 285069 w 561933"/>
              <a:gd name="connsiteY1" fmla="*/ 449434 h 608145"/>
              <a:gd name="connsiteX2" fmla="*/ 327780 w 561933"/>
              <a:gd name="connsiteY2" fmla="*/ 492088 h 608145"/>
              <a:gd name="connsiteX3" fmla="*/ 370490 w 561933"/>
              <a:gd name="connsiteY3" fmla="*/ 449434 h 608145"/>
              <a:gd name="connsiteX4" fmla="*/ 327780 w 561933"/>
              <a:gd name="connsiteY4" fmla="*/ 406780 h 608145"/>
              <a:gd name="connsiteX5" fmla="*/ 91381 w 561933"/>
              <a:gd name="connsiteY5" fmla="*/ 406780 h 608145"/>
              <a:gd name="connsiteX6" fmla="*/ 49664 w 561933"/>
              <a:gd name="connsiteY6" fmla="*/ 449434 h 608145"/>
              <a:gd name="connsiteX7" fmla="*/ 91381 w 561933"/>
              <a:gd name="connsiteY7" fmla="*/ 492088 h 608145"/>
              <a:gd name="connsiteX8" fmla="*/ 134092 w 561933"/>
              <a:gd name="connsiteY8" fmla="*/ 449434 h 608145"/>
              <a:gd name="connsiteX9" fmla="*/ 91381 w 561933"/>
              <a:gd name="connsiteY9" fmla="*/ 406780 h 608145"/>
              <a:gd name="connsiteX10" fmla="*/ 130119 w 561933"/>
              <a:gd name="connsiteY10" fmla="*/ 162762 h 608145"/>
              <a:gd name="connsiteX11" fmla="*/ 50657 w 561933"/>
              <a:gd name="connsiteY11" fmla="*/ 243110 h 608145"/>
              <a:gd name="connsiteX12" fmla="*/ 50657 w 561933"/>
              <a:gd name="connsiteY12" fmla="*/ 312546 h 608145"/>
              <a:gd name="connsiteX13" fmla="*/ 78468 w 561933"/>
              <a:gd name="connsiteY13" fmla="*/ 341312 h 608145"/>
              <a:gd name="connsiteX14" fmla="*/ 340692 w 561933"/>
              <a:gd name="connsiteY14" fmla="*/ 341312 h 608145"/>
              <a:gd name="connsiteX15" fmla="*/ 369497 w 561933"/>
              <a:gd name="connsiteY15" fmla="*/ 312546 h 608145"/>
              <a:gd name="connsiteX16" fmla="*/ 369497 w 561933"/>
              <a:gd name="connsiteY16" fmla="*/ 243110 h 608145"/>
              <a:gd name="connsiteX17" fmla="*/ 289042 w 561933"/>
              <a:gd name="connsiteY17" fmla="*/ 162762 h 608145"/>
              <a:gd name="connsiteX18" fmla="*/ 127139 w 561933"/>
              <a:gd name="connsiteY18" fmla="*/ 99278 h 608145"/>
              <a:gd name="connsiteX19" fmla="*/ 293015 w 561933"/>
              <a:gd name="connsiteY19" fmla="*/ 99278 h 608145"/>
              <a:gd name="connsiteX20" fmla="*/ 420154 w 561933"/>
              <a:gd name="connsiteY20" fmla="*/ 226247 h 608145"/>
              <a:gd name="connsiteX21" fmla="*/ 420154 w 561933"/>
              <a:gd name="connsiteY21" fmla="*/ 486136 h 608145"/>
              <a:gd name="connsiteX22" fmla="*/ 382410 w 561933"/>
              <a:gd name="connsiteY22" fmla="*/ 541685 h 608145"/>
              <a:gd name="connsiteX23" fmla="*/ 382410 w 561933"/>
              <a:gd name="connsiteY23" fmla="*/ 561524 h 608145"/>
              <a:gd name="connsiteX24" fmla="*/ 334733 w 561933"/>
              <a:gd name="connsiteY24" fmla="*/ 608145 h 608145"/>
              <a:gd name="connsiteX25" fmla="*/ 326786 w 561933"/>
              <a:gd name="connsiteY25" fmla="*/ 608145 h 608145"/>
              <a:gd name="connsiteX26" fmla="*/ 280103 w 561933"/>
              <a:gd name="connsiteY26" fmla="*/ 561524 h 608145"/>
              <a:gd name="connsiteX27" fmla="*/ 280103 w 561933"/>
              <a:gd name="connsiteY27" fmla="*/ 544661 h 608145"/>
              <a:gd name="connsiteX28" fmla="*/ 140051 w 561933"/>
              <a:gd name="connsiteY28" fmla="*/ 544661 h 608145"/>
              <a:gd name="connsiteX29" fmla="*/ 140051 w 561933"/>
              <a:gd name="connsiteY29" fmla="*/ 561524 h 608145"/>
              <a:gd name="connsiteX30" fmla="*/ 92374 w 561933"/>
              <a:gd name="connsiteY30" fmla="*/ 608145 h 608145"/>
              <a:gd name="connsiteX31" fmla="*/ 84428 w 561933"/>
              <a:gd name="connsiteY31" fmla="*/ 608145 h 608145"/>
              <a:gd name="connsiteX32" fmla="*/ 37744 w 561933"/>
              <a:gd name="connsiteY32" fmla="*/ 561524 h 608145"/>
              <a:gd name="connsiteX33" fmla="*/ 37744 w 561933"/>
              <a:gd name="connsiteY33" fmla="*/ 541685 h 608145"/>
              <a:gd name="connsiteX34" fmla="*/ 0 w 561933"/>
              <a:gd name="connsiteY34" fmla="*/ 486136 h 608145"/>
              <a:gd name="connsiteX35" fmla="*/ 0 w 561933"/>
              <a:gd name="connsiteY35" fmla="*/ 226247 h 608145"/>
              <a:gd name="connsiteX36" fmla="*/ 127139 w 561933"/>
              <a:gd name="connsiteY36" fmla="*/ 99278 h 608145"/>
              <a:gd name="connsiteX37" fmla="*/ 408232 w 561933"/>
              <a:gd name="connsiteY37" fmla="*/ 74504 h 608145"/>
              <a:gd name="connsiteX38" fmla="*/ 424139 w 561933"/>
              <a:gd name="connsiteY38" fmla="*/ 75495 h 608145"/>
              <a:gd name="connsiteX39" fmla="*/ 486772 w 561933"/>
              <a:gd name="connsiteY39" fmla="*/ 185587 h 608145"/>
              <a:gd name="connsiteX40" fmla="*/ 479813 w 561933"/>
              <a:gd name="connsiteY40" fmla="*/ 199473 h 608145"/>
              <a:gd name="connsiteX41" fmla="*/ 464901 w 561933"/>
              <a:gd name="connsiteY41" fmla="*/ 202448 h 608145"/>
              <a:gd name="connsiteX42" fmla="*/ 462912 w 561933"/>
              <a:gd name="connsiteY42" fmla="*/ 201456 h 608145"/>
              <a:gd name="connsiteX43" fmla="*/ 448994 w 561933"/>
              <a:gd name="connsiteY43" fmla="*/ 183604 h 608145"/>
              <a:gd name="connsiteX44" fmla="*/ 406244 w 561933"/>
              <a:gd name="connsiteY44" fmla="*/ 109217 h 608145"/>
              <a:gd name="connsiteX45" fmla="*/ 397296 w 561933"/>
              <a:gd name="connsiteY45" fmla="*/ 89381 h 608145"/>
              <a:gd name="connsiteX46" fmla="*/ 398291 w 561933"/>
              <a:gd name="connsiteY46" fmla="*/ 87397 h 608145"/>
              <a:gd name="connsiteX47" fmla="*/ 408232 w 561933"/>
              <a:gd name="connsiteY47" fmla="*/ 74504 h 608145"/>
              <a:gd name="connsiteX48" fmla="*/ 439969 w 561933"/>
              <a:gd name="connsiteY48" fmla="*/ 1081 h 608145"/>
              <a:gd name="connsiteX49" fmla="*/ 560176 w 561933"/>
              <a:gd name="connsiteY49" fmla="*/ 205408 h 608145"/>
              <a:gd name="connsiteX50" fmla="*/ 552228 w 561933"/>
              <a:gd name="connsiteY50" fmla="*/ 217311 h 608145"/>
              <a:gd name="connsiteX51" fmla="*/ 537326 w 561933"/>
              <a:gd name="connsiteY51" fmla="*/ 220286 h 608145"/>
              <a:gd name="connsiteX52" fmla="*/ 535340 w 561933"/>
              <a:gd name="connsiteY52" fmla="*/ 219294 h 608145"/>
              <a:gd name="connsiteX53" fmla="*/ 522425 w 561933"/>
              <a:gd name="connsiteY53" fmla="*/ 199457 h 608145"/>
              <a:gd name="connsiteX54" fmla="*/ 426061 w 561933"/>
              <a:gd name="connsiteY54" fmla="*/ 36788 h 608145"/>
              <a:gd name="connsiteX55" fmla="*/ 416126 w 561933"/>
              <a:gd name="connsiteY55" fmla="*/ 15959 h 608145"/>
              <a:gd name="connsiteX56" fmla="*/ 416126 w 561933"/>
              <a:gd name="connsiteY56" fmla="*/ 13975 h 608145"/>
              <a:gd name="connsiteX57" fmla="*/ 425067 w 561933"/>
              <a:gd name="connsiteY57" fmla="*/ 2073 h 608145"/>
              <a:gd name="connsiteX58" fmla="*/ 439969 w 561933"/>
              <a:gd name="connsiteY58" fmla="*/ 1081 h 608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61933" h="608145">
                <a:moveTo>
                  <a:pt x="327780" y="406780"/>
                </a:moveTo>
                <a:cubicBezTo>
                  <a:pt x="303941" y="406780"/>
                  <a:pt x="285069" y="425627"/>
                  <a:pt x="285069" y="449434"/>
                </a:cubicBezTo>
                <a:cubicBezTo>
                  <a:pt x="285069" y="473241"/>
                  <a:pt x="303941" y="492088"/>
                  <a:pt x="327780" y="492088"/>
                </a:cubicBezTo>
                <a:cubicBezTo>
                  <a:pt x="350625" y="492088"/>
                  <a:pt x="370490" y="473241"/>
                  <a:pt x="370490" y="449434"/>
                </a:cubicBezTo>
                <a:cubicBezTo>
                  <a:pt x="370490" y="425627"/>
                  <a:pt x="350625" y="406780"/>
                  <a:pt x="327780" y="406780"/>
                </a:cubicBezTo>
                <a:close/>
                <a:moveTo>
                  <a:pt x="91381" y="406780"/>
                </a:moveTo>
                <a:cubicBezTo>
                  <a:pt x="68536" y="406780"/>
                  <a:pt x="49664" y="425627"/>
                  <a:pt x="49664" y="449434"/>
                </a:cubicBezTo>
                <a:cubicBezTo>
                  <a:pt x="49664" y="473241"/>
                  <a:pt x="68536" y="492088"/>
                  <a:pt x="91381" y="492088"/>
                </a:cubicBezTo>
                <a:cubicBezTo>
                  <a:pt x="115220" y="492088"/>
                  <a:pt x="134092" y="473241"/>
                  <a:pt x="134092" y="449434"/>
                </a:cubicBezTo>
                <a:cubicBezTo>
                  <a:pt x="134092" y="425627"/>
                  <a:pt x="115220" y="406780"/>
                  <a:pt x="91381" y="406780"/>
                </a:cubicBezTo>
                <a:close/>
                <a:moveTo>
                  <a:pt x="130119" y="162762"/>
                </a:moveTo>
                <a:cubicBezTo>
                  <a:pt x="86415" y="162762"/>
                  <a:pt x="50657" y="198472"/>
                  <a:pt x="50657" y="243110"/>
                </a:cubicBezTo>
                <a:lnTo>
                  <a:pt x="50657" y="312546"/>
                </a:lnTo>
                <a:cubicBezTo>
                  <a:pt x="50657" y="328417"/>
                  <a:pt x="62576" y="341312"/>
                  <a:pt x="78468" y="341312"/>
                </a:cubicBezTo>
                <a:lnTo>
                  <a:pt x="340692" y="341312"/>
                </a:lnTo>
                <a:cubicBezTo>
                  <a:pt x="356585" y="341312"/>
                  <a:pt x="369497" y="328417"/>
                  <a:pt x="369497" y="312546"/>
                </a:cubicBezTo>
                <a:lnTo>
                  <a:pt x="369497" y="243110"/>
                </a:lnTo>
                <a:cubicBezTo>
                  <a:pt x="369497" y="198472"/>
                  <a:pt x="332746" y="162762"/>
                  <a:pt x="289042" y="162762"/>
                </a:cubicBezTo>
                <a:close/>
                <a:moveTo>
                  <a:pt x="127139" y="99278"/>
                </a:moveTo>
                <a:lnTo>
                  <a:pt x="293015" y="99278"/>
                </a:lnTo>
                <a:cubicBezTo>
                  <a:pt x="363538" y="99278"/>
                  <a:pt x="420154" y="155819"/>
                  <a:pt x="420154" y="226247"/>
                </a:cubicBezTo>
                <a:lnTo>
                  <a:pt x="420154" y="486136"/>
                </a:lnTo>
                <a:cubicBezTo>
                  <a:pt x="420154" y="511926"/>
                  <a:pt x="404262" y="532757"/>
                  <a:pt x="382410" y="541685"/>
                </a:cubicBezTo>
                <a:lnTo>
                  <a:pt x="382410" y="561524"/>
                </a:lnTo>
                <a:cubicBezTo>
                  <a:pt x="382410" y="587314"/>
                  <a:pt x="360558" y="608145"/>
                  <a:pt x="334733" y="608145"/>
                </a:cubicBezTo>
                <a:lnTo>
                  <a:pt x="326786" y="608145"/>
                </a:lnTo>
                <a:cubicBezTo>
                  <a:pt x="300961" y="608145"/>
                  <a:pt x="280103" y="587314"/>
                  <a:pt x="280103" y="561524"/>
                </a:cubicBezTo>
                <a:lnTo>
                  <a:pt x="280103" y="544661"/>
                </a:lnTo>
                <a:lnTo>
                  <a:pt x="140051" y="544661"/>
                </a:lnTo>
                <a:lnTo>
                  <a:pt x="140051" y="561524"/>
                </a:lnTo>
                <a:cubicBezTo>
                  <a:pt x="140051" y="587314"/>
                  <a:pt x="118199" y="608145"/>
                  <a:pt x="92374" y="608145"/>
                </a:cubicBezTo>
                <a:lnTo>
                  <a:pt x="84428" y="608145"/>
                </a:lnTo>
                <a:cubicBezTo>
                  <a:pt x="58603" y="608145"/>
                  <a:pt x="37744" y="587314"/>
                  <a:pt x="37744" y="561524"/>
                </a:cubicBezTo>
                <a:lnTo>
                  <a:pt x="37744" y="541685"/>
                </a:lnTo>
                <a:cubicBezTo>
                  <a:pt x="14899" y="532757"/>
                  <a:pt x="0" y="511926"/>
                  <a:pt x="0" y="486136"/>
                </a:cubicBezTo>
                <a:lnTo>
                  <a:pt x="0" y="226247"/>
                </a:lnTo>
                <a:cubicBezTo>
                  <a:pt x="0" y="155819"/>
                  <a:pt x="56616" y="99278"/>
                  <a:pt x="127139" y="99278"/>
                </a:cubicBezTo>
                <a:close/>
                <a:moveTo>
                  <a:pt x="408232" y="74504"/>
                </a:moveTo>
                <a:cubicBezTo>
                  <a:pt x="413203" y="72520"/>
                  <a:pt x="419168" y="72520"/>
                  <a:pt x="424139" y="75495"/>
                </a:cubicBezTo>
                <a:cubicBezTo>
                  <a:pt x="464901" y="96324"/>
                  <a:pt x="489755" y="139964"/>
                  <a:pt x="486772" y="185587"/>
                </a:cubicBezTo>
                <a:cubicBezTo>
                  <a:pt x="486772" y="190546"/>
                  <a:pt x="483790" y="195505"/>
                  <a:pt x="479813" y="199473"/>
                </a:cubicBezTo>
                <a:cubicBezTo>
                  <a:pt x="475836" y="202448"/>
                  <a:pt x="469871" y="203440"/>
                  <a:pt x="464901" y="202448"/>
                </a:cubicBezTo>
                <a:lnTo>
                  <a:pt x="462912" y="201456"/>
                </a:lnTo>
                <a:cubicBezTo>
                  <a:pt x="453965" y="199473"/>
                  <a:pt x="448994" y="191538"/>
                  <a:pt x="448994" y="183604"/>
                </a:cubicBezTo>
                <a:cubicBezTo>
                  <a:pt x="450982" y="152857"/>
                  <a:pt x="434081" y="123103"/>
                  <a:pt x="406244" y="109217"/>
                </a:cubicBezTo>
                <a:cubicBezTo>
                  <a:pt x="399285" y="105250"/>
                  <a:pt x="395308" y="97315"/>
                  <a:pt x="397296" y="89381"/>
                </a:cubicBezTo>
                <a:lnTo>
                  <a:pt x="398291" y="87397"/>
                </a:lnTo>
                <a:cubicBezTo>
                  <a:pt x="399285" y="81446"/>
                  <a:pt x="403261" y="77479"/>
                  <a:pt x="408232" y="74504"/>
                </a:cubicBezTo>
                <a:close/>
                <a:moveTo>
                  <a:pt x="439969" y="1081"/>
                </a:moveTo>
                <a:cubicBezTo>
                  <a:pt x="522425" y="32821"/>
                  <a:pt x="572097" y="118123"/>
                  <a:pt x="560176" y="205408"/>
                </a:cubicBezTo>
                <a:cubicBezTo>
                  <a:pt x="559182" y="210367"/>
                  <a:pt x="556202" y="214335"/>
                  <a:pt x="552228" y="217311"/>
                </a:cubicBezTo>
                <a:cubicBezTo>
                  <a:pt x="548254" y="220286"/>
                  <a:pt x="542294" y="221278"/>
                  <a:pt x="537326" y="220286"/>
                </a:cubicBezTo>
                <a:lnTo>
                  <a:pt x="535340" y="219294"/>
                </a:lnTo>
                <a:cubicBezTo>
                  <a:pt x="526399" y="217311"/>
                  <a:pt x="520438" y="208384"/>
                  <a:pt x="522425" y="199457"/>
                </a:cubicBezTo>
                <a:cubicBezTo>
                  <a:pt x="531366" y="130025"/>
                  <a:pt x="491628" y="62577"/>
                  <a:pt x="426061" y="36788"/>
                </a:cubicBezTo>
                <a:cubicBezTo>
                  <a:pt x="418113" y="33813"/>
                  <a:pt x="413146" y="24886"/>
                  <a:pt x="416126" y="15959"/>
                </a:cubicBezTo>
                <a:lnTo>
                  <a:pt x="416126" y="13975"/>
                </a:lnTo>
                <a:cubicBezTo>
                  <a:pt x="417120" y="9016"/>
                  <a:pt x="421094" y="4056"/>
                  <a:pt x="425067" y="2073"/>
                </a:cubicBezTo>
                <a:cubicBezTo>
                  <a:pt x="430035" y="89"/>
                  <a:pt x="435002" y="-903"/>
                  <a:pt x="439969" y="1081"/>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endParaRPr lang="zh-CN" altLang="en-US">
              <a:solidFill>
                <a:srgbClr val="000000"/>
              </a:solidFill>
              <a:latin typeface="Arial" panose="020F0502020204030204"/>
              <a:ea typeface="微软雅黑"/>
              <a:cs typeface="+mn-ea"/>
              <a:sym typeface="+mn-lt"/>
            </a:endParaRPr>
          </a:p>
        </p:txBody>
      </p:sp>
      <p:sp>
        <p:nvSpPr>
          <p:cNvPr id="42" name="ïslíḓé">
            <a:extLst>
              <a:ext uri="{FF2B5EF4-FFF2-40B4-BE49-F238E27FC236}">
                <a16:creationId xmlns:a16="http://schemas.microsoft.com/office/drawing/2014/main" id="{1140B161-50EF-62AB-D61D-F31990CF432C}"/>
              </a:ext>
            </a:extLst>
          </p:cNvPr>
          <p:cNvSpPr/>
          <p:nvPr/>
        </p:nvSpPr>
        <p:spPr bwMode="auto">
          <a:xfrm>
            <a:off x="5815461" y="5339493"/>
            <a:ext cx="363264" cy="320996"/>
          </a:xfrm>
          <a:custGeom>
            <a:avLst/>
            <a:gdLst>
              <a:gd name="connsiteX0" fmla="*/ 494452 w 603405"/>
              <a:gd name="connsiteY0" fmla="*/ 356003 h 533193"/>
              <a:gd name="connsiteX1" fmla="*/ 585270 w 603405"/>
              <a:gd name="connsiteY1" fmla="*/ 356003 h 533193"/>
              <a:gd name="connsiteX2" fmla="*/ 601782 w 603405"/>
              <a:gd name="connsiteY2" fmla="*/ 372480 h 533193"/>
              <a:gd name="connsiteX3" fmla="*/ 585270 w 603405"/>
              <a:gd name="connsiteY3" fmla="*/ 388957 h 533193"/>
              <a:gd name="connsiteX4" fmla="*/ 494452 w 603405"/>
              <a:gd name="connsiteY4" fmla="*/ 388957 h 533193"/>
              <a:gd name="connsiteX5" fmla="*/ 367511 w 603405"/>
              <a:gd name="connsiteY5" fmla="*/ 244227 h 533193"/>
              <a:gd name="connsiteX6" fmla="*/ 443780 w 603405"/>
              <a:gd name="connsiteY6" fmla="*/ 244227 h 533193"/>
              <a:gd name="connsiteX7" fmla="*/ 477411 w 603405"/>
              <a:gd name="connsiteY7" fmla="*/ 277633 h 533193"/>
              <a:gd name="connsiteX8" fmla="*/ 477861 w 603405"/>
              <a:gd name="connsiteY8" fmla="*/ 381744 h 533193"/>
              <a:gd name="connsiteX9" fmla="*/ 463748 w 603405"/>
              <a:gd name="connsiteY9" fmla="*/ 395975 h 533193"/>
              <a:gd name="connsiteX10" fmla="*/ 449486 w 603405"/>
              <a:gd name="connsiteY10" fmla="*/ 381894 h 533193"/>
              <a:gd name="connsiteX11" fmla="*/ 449035 w 603405"/>
              <a:gd name="connsiteY11" fmla="*/ 277782 h 533193"/>
              <a:gd name="connsiteX12" fmla="*/ 446033 w 603405"/>
              <a:gd name="connsiteY12" fmla="*/ 274786 h 533193"/>
              <a:gd name="connsiteX13" fmla="*/ 443030 w 603405"/>
              <a:gd name="connsiteY13" fmla="*/ 277782 h 533193"/>
              <a:gd name="connsiteX14" fmla="*/ 443330 w 603405"/>
              <a:gd name="connsiteY14" fmla="*/ 516116 h 533193"/>
              <a:gd name="connsiteX15" fmla="*/ 426215 w 603405"/>
              <a:gd name="connsiteY15" fmla="*/ 533193 h 533193"/>
              <a:gd name="connsiteX16" fmla="*/ 409249 w 603405"/>
              <a:gd name="connsiteY16" fmla="*/ 516116 h 533193"/>
              <a:gd name="connsiteX17" fmla="*/ 409249 w 603405"/>
              <a:gd name="connsiteY17" fmla="*/ 380096 h 533193"/>
              <a:gd name="connsiteX18" fmla="*/ 401893 w 603405"/>
              <a:gd name="connsiteY18" fmla="*/ 380096 h 533193"/>
              <a:gd name="connsiteX19" fmla="*/ 401893 w 603405"/>
              <a:gd name="connsiteY19" fmla="*/ 516116 h 533193"/>
              <a:gd name="connsiteX20" fmla="*/ 384778 w 603405"/>
              <a:gd name="connsiteY20" fmla="*/ 533193 h 533193"/>
              <a:gd name="connsiteX21" fmla="*/ 367812 w 603405"/>
              <a:gd name="connsiteY21" fmla="*/ 516116 h 533193"/>
              <a:gd name="connsiteX22" fmla="*/ 367812 w 603405"/>
              <a:gd name="connsiteY22" fmla="*/ 380096 h 533193"/>
              <a:gd name="connsiteX23" fmla="*/ 367812 w 603405"/>
              <a:gd name="connsiteY23" fmla="*/ 277782 h 533193"/>
              <a:gd name="connsiteX24" fmla="*/ 364959 w 603405"/>
              <a:gd name="connsiteY24" fmla="*/ 274936 h 533193"/>
              <a:gd name="connsiteX25" fmla="*/ 362257 w 603405"/>
              <a:gd name="connsiteY25" fmla="*/ 277782 h 533193"/>
              <a:gd name="connsiteX26" fmla="*/ 361656 w 603405"/>
              <a:gd name="connsiteY26" fmla="*/ 381894 h 533193"/>
              <a:gd name="connsiteX27" fmla="*/ 347544 w 603405"/>
              <a:gd name="connsiteY27" fmla="*/ 395975 h 533193"/>
              <a:gd name="connsiteX28" fmla="*/ 347393 w 603405"/>
              <a:gd name="connsiteY28" fmla="*/ 395975 h 533193"/>
              <a:gd name="connsiteX29" fmla="*/ 333281 w 603405"/>
              <a:gd name="connsiteY29" fmla="*/ 381744 h 533193"/>
              <a:gd name="connsiteX30" fmla="*/ 333881 w 603405"/>
              <a:gd name="connsiteY30" fmla="*/ 277633 h 533193"/>
              <a:gd name="connsiteX31" fmla="*/ 367511 w 603405"/>
              <a:gd name="connsiteY31" fmla="*/ 244227 h 533193"/>
              <a:gd name="connsiteX32" fmla="*/ 201525 w 603405"/>
              <a:gd name="connsiteY32" fmla="*/ 244227 h 533193"/>
              <a:gd name="connsiteX33" fmla="*/ 277906 w 603405"/>
              <a:gd name="connsiteY33" fmla="*/ 244227 h 533193"/>
              <a:gd name="connsiteX34" fmla="*/ 311520 w 603405"/>
              <a:gd name="connsiteY34" fmla="*/ 277633 h 533193"/>
              <a:gd name="connsiteX35" fmla="*/ 311970 w 603405"/>
              <a:gd name="connsiteY35" fmla="*/ 381744 h 533193"/>
              <a:gd name="connsiteX36" fmla="*/ 297864 w 603405"/>
              <a:gd name="connsiteY36" fmla="*/ 395975 h 533193"/>
              <a:gd name="connsiteX37" fmla="*/ 297714 w 603405"/>
              <a:gd name="connsiteY37" fmla="*/ 395975 h 533193"/>
              <a:gd name="connsiteX38" fmla="*/ 283608 w 603405"/>
              <a:gd name="connsiteY38" fmla="*/ 381894 h 533193"/>
              <a:gd name="connsiteX39" fmla="*/ 283008 w 603405"/>
              <a:gd name="connsiteY39" fmla="*/ 277782 h 533193"/>
              <a:gd name="connsiteX40" fmla="*/ 280007 w 603405"/>
              <a:gd name="connsiteY40" fmla="*/ 274786 h 533193"/>
              <a:gd name="connsiteX41" fmla="*/ 277156 w 603405"/>
              <a:gd name="connsiteY41" fmla="*/ 277782 h 533193"/>
              <a:gd name="connsiteX42" fmla="*/ 277456 w 603405"/>
              <a:gd name="connsiteY42" fmla="*/ 516116 h 533193"/>
              <a:gd name="connsiteX43" fmla="*/ 260349 w 603405"/>
              <a:gd name="connsiteY43" fmla="*/ 533193 h 533193"/>
              <a:gd name="connsiteX44" fmla="*/ 243242 w 603405"/>
              <a:gd name="connsiteY44" fmla="*/ 516116 h 533193"/>
              <a:gd name="connsiteX45" fmla="*/ 243242 w 603405"/>
              <a:gd name="connsiteY45" fmla="*/ 380096 h 533193"/>
              <a:gd name="connsiteX46" fmla="*/ 235889 w 603405"/>
              <a:gd name="connsiteY46" fmla="*/ 380096 h 533193"/>
              <a:gd name="connsiteX47" fmla="*/ 235889 w 603405"/>
              <a:gd name="connsiteY47" fmla="*/ 516116 h 533193"/>
              <a:gd name="connsiteX48" fmla="*/ 218932 w 603405"/>
              <a:gd name="connsiteY48" fmla="*/ 533193 h 533193"/>
              <a:gd name="connsiteX49" fmla="*/ 201825 w 603405"/>
              <a:gd name="connsiteY49" fmla="*/ 516116 h 533193"/>
              <a:gd name="connsiteX50" fmla="*/ 201825 w 603405"/>
              <a:gd name="connsiteY50" fmla="*/ 380096 h 533193"/>
              <a:gd name="connsiteX51" fmla="*/ 201825 w 603405"/>
              <a:gd name="connsiteY51" fmla="*/ 277782 h 533193"/>
              <a:gd name="connsiteX52" fmla="*/ 199124 w 603405"/>
              <a:gd name="connsiteY52" fmla="*/ 274936 h 533193"/>
              <a:gd name="connsiteX53" fmla="*/ 196423 w 603405"/>
              <a:gd name="connsiteY53" fmla="*/ 277782 h 533193"/>
              <a:gd name="connsiteX54" fmla="*/ 195822 w 603405"/>
              <a:gd name="connsiteY54" fmla="*/ 381894 h 533193"/>
              <a:gd name="connsiteX55" fmla="*/ 181567 w 603405"/>
              <a:gd name="connsiteY55" fmla="*/ 395975 h 533193"/>
              <a:gd name="connsiteX56" fmla="*/ 167461 w 603405"/>
              <a:gd name="connsiteY56" fmla="*/ 381744 h 533193"/>
              <a:gd name="connsiteX57" fmla="*/ 167911 w 603405"/>
              <a:gd name="connsiteY57" fmla="*/ 277633 h 533193"/>
              <a:gd name="connsiteX58" fmla="*/ 201525 w 603405"/>
              <a:gd name="connsiteY58" fmla="*/ 244227 h 533193"/>
              <a:gd name="connsiteX59" fmla="*/ 34214 w 603405"/>
              <a:gd name="connsiteY59" fmla="*/ 244227 h 533193"/>
              <a:gd name="connsiteX60" fmla="*/ 110445 w 603405"/>
              <a:gd name="connsiteY60" fmla="*/ 244227 h 533193"/>
              <a:gd name="connsiteX61" fmla="*/ 144059 w 603405"/>
              <a:gd name="connsiteY61" fmla="*/ 277633 h 533193"/>
              <a:gd name="connsiteX62" fmla="*/ 144509 w 603405"/>
              <a:gd name="connsiteY62" fmla="*/ 381744 h 533193"/>
              <a:gd name="connsiteX63" fmla="*/ 130403 w 603405"/>
              <a:gd name="connsiteY63" fmla="*/ 395975 h 533193"/>
              <a:gd name="connsiteX64" fmla="*/ 116147 w 603405"/>
              <a:gd name="connsiteY64" fmla="*/ 381894 h 533193"/>
              <a:gd name="connsiteX65" fmla="*/ 115697 w 603405"/>
              <a:gd name="connsiteY65" fmla="*/ 277782 h 533193"/>
              <a:gd name="connsiteX66" fmla="*/ 112696 w 603405"/>
              <a:gd name="connsiteY66" fmla="*/ 274786 h 533193"/>
              <a:gd name="connsiteX67" fmla="*/ 109694 w 603405"/>
              <a:gd name="connsiteY67" fmla="*/ 277782 h 533193"/>
              <a:gd name="connsiteX68" fmla="*/ 109995 w 603405"/>
              <a:gd name="connsiteY68" fmla="*/ 516116 h 533193"/>
              <a:gd name="connsiteX69" fmla="*/ 92888 w 603405"/>
              <a:gd name="connsiteY69" fmla="*/ 533193 h 533193"/>
              <a:gd name="connsiteX70" fmla="*/ 75931 w 603405"/>
              <a:gd name="connsiteY70" fmla="*/ 516116 h 533193"/>
              <a:gd name="connsiteX71" fmla="*/ 75931 w 603405"/>
              <a:gd name="connsiteY71" fmla="*/ 380096 h 533193"/>
              <a:gd name="connsiteX72" fmla="*/ 68578 w 603405"/>
              <a:gd name="connsiteY72" fmla="*/ 380096 h 533193"/>
              <a:gd name="connsiteX73" fmla="*/ 68578 w 603405"/>
              <a:gd name="connsiteY73" fmla="*/ 516116 h 533193"/>
              <a:gd name="connsiteX74" fmla="*/ 51471 w 603405"/>
              <a:gd name="connsiteY74" fmla="*/ 533193 h 533193"/>
              <a:gd name="connsiteX75" fmla="*/ 34364 w 603405"/>
              <a:gd name="connsiteY75" fmla="*/ 516116 h 533193"/>
              <a:gd name="connsiteX76" fmla="*/ 34364 w 603405"/>
              <a:gd name="connsiteY76" fmla="*/ 380096 h 533193"/>
              <a:gd name="connsiteX77" fmla="*/ 34364 w 603405"/>
              <a:gd name="connsiteY77" fmla="*/ 277782 h 533193"/>
              <a:gd name="connsiteX78" fmla="*/ 31663 w 603405"/>
              <a:gd name="connsiteY78" fmla="*/ 275086 h 533193"/>
              <a:gd name="connsiteX79" fmla="*/ 28962 w 603405"/>
              <a:gd name="connsiteY79" fmla="*/ 277782 h 533193"/>
              <a:gd name="connsiteX80" fmla="*/ 28361 w 603405"/>
              <a:gd name="connsiteY80" fmla="*/ 381894 h 533193"/>
              <a:gd name="connsiteX81" fmla="*/ 14256 w 603405"/>
              <a:gd name="connsiteY81" fmla="*/ 395975 h 533193"/>
              <a:gd name="connsiteX82" fmla="*/ 14106 w 603405"/>
              <a:gd name="connsiteY82" fmla="*/ 395975 h 533193"/>
              <a:gd name="connsiteX83" fmla="*/ 0 w 603405"/>
              <a:gd name="connsiteY83" fmla="*/ 381744 h 533193"/>
              <a:gd name="connsiteX84" fmla="*/ 600 w 603405"/>
              <a:gd name="connsiteY84" fmla="*/ 277633 h 533193"/>
              <a:gd name="connsiteX85" fmla="*/ 34214 w 603405"/>
              <a:gd name="connsiteY85" fmla="*/ 244227 h 533193"/>
              <a:gd name="connsiteX86" fmla="*/ 298774 w 603405"/>
              <a:gd name="connsiteY86" fmla="*/ 232090 h 533193"/>
              <a:gd name="connsiteX87" fmla="*/ 346547 w 603405"/>
              <a:gd name="connsiteY87" fmla="*/ 232090 h 533193"/>
              <a:gd name="connsiteX88" fmla="*/ 322660 w 603405"/>
              <a:gd name="connsiteY88" fmla="*/ 254883 h 533193"/>
              <a:gd name="connsiteX89" fmla="*/ 298774 w 603405"/>
              <a:gd name="connsiteY89" fmla="*/ 232090 h 533193"/>
              <a:gd name="connsiteX90" fmla="*/ 405716 w 603405"/>
              <a:gd name="connsiteY90" fmla="*/ 176061 h 533193"/>
              <a:gd name="connsiteX91" fmla="*/ 435177 w 603405"/>
              <a:gd name="connsiteY91" fmla="*/ 205417 h 533193"/>
              <a:gd name="connsiteX92" fmla="*/ 405716 w 603405"/>
              <a:gd name="connsiteY92" fmla="*/ 234773 h 533193"/>
              <a:gd name="connsiteX93" fmla="*/ 376255 w 603405"/>
              <a:gd name="connsiteY93" fmla="*/ 205417 h 533193"/>
              <a:gd name="connsiteX94" fmla="*/ 405716 w 603405"/>
              <a:gd name="connsiteY94" fmla="*/ 176061 h 533193"/>
              <a:gd name="connsiteX95" fmla="*/ 239817 w 603405"/>
              <a:gd name="connsiteY95" fmla="*/ 176061 h 533193"/>
              <a:gd name="connsiteX96" fmla="*/ 269208 w 603405"/>
              <a:gd name="connsiteY96" fmla="*/ 205417 h 533193"/>
              <a:gd name="connsiteX97" fmla="*/ 239817 w 603405"/>
              <a:gd name="connsiteY97" fmla="*/ 234773 h 533193"/>
              <a:gd name="connsiteX98" fmla="*/ 210426 w 603405"/>
              <a:gd name="connsiteY98" fmla="*/ 205417 h 533193"/>
              <a:gd name="connsiteX99" fmla="*/ 239817 w 603405"/>
              <a:gd name="connsiteY99" fmla="*/ 176061 h 533193"/>
              <a:gd name="connsiteX100" fmla="*/ 72325 w 603405"/>
              <a:gd name="connsiteY100" fmla="*/ 176061 h 533193"/>
              <a:gd name="connsiteX101" fmla="*/ 101897 w 603405"/>
              <a:gd name="connsiteY101" fmla="*/ 205416 h 533193"/>
              <a:gd name="connsiteX102" fmla="*/ 72325 w 603405"/>
              <a:gd name="connsiteY102" fmla="*/ 234772 h 533193"/>
              <a:gd name="connsiteX103" fmla="*/ 42904 w 603405"/>
              <a:gd name="connsiteY103" fmla="*/ 205416 h 533193"/>
              <a:gd name="connsiteX104" fmla="*/ 72325 w 603405"/>
              <a:gd name="connsiteY104" fmla="*/ 176061 h 533193"/>
              <a:gd name="connsiteX105" fmla="*/ 1200 w 603405"/>
              <a:gd name="connsiteY105" fmla="*/ 56241 h 533193"/>
              <a:gd name="connsiteX106" fmla="*/ 384613 w 603405"/>
              <a:gd name="connsiteY106" fmla="*/ 56241 h 533193"/>
              <a:gd name="connsiteX107" fmla="*/ 603405 w 603405"/>
              <a:gd name="connsiteY107" fmla="*/ 274494 h 533193"/>
              <a:gd name="connsiteX108" fmla="*/ 540979 w 603405"/>
              <a:gd name="connsiteY108" fmla="*/ 336809 h 533193"/>
              <a:gd name="connsiteX109" fmla="*/ 494459 w 603405"/>
              <a:gd name="connsiteY109" fmla="*/ 336809 h 533193"/>
              <a:gd name="connsiteX110" fmla="*/ 494159 w 603405"/>
              <a:gd name="connsiteY110" fmla="*/ 277490 h 533193"/>
              <a:gd name="connsiteX111" fmla="*/ 464747 w 603405"/>
              <a:gd name="connsiteY111" fmla="*/ 232102 h 533193"/>
              <a:gd name="connsiteX112" fmla="*/ 551333 w 603405"/>
              <a:gd name="connsiteY112" fmla="*/ 232102 h 533193"/>
              <a:gd name="connsiteX113" fmla="*/ 551483 w 603405"/>
              <a:gd name="connsiteY113" fmla="*/ 232102 h 533193"/>
              <a:gd name="connsiteX114" fmla="*/ 557636 w 603405"/>
              <a:gd name="connsiteY114" fmla="*/ 228806 h 533193"/>
              <a:gd name="connsiteX115" fmla="*/ 558236 w 603405"/>
              <a:gd name="connsiteY115" fmla="*/ 221766 h 533193"/>
              <a:gd name="connsiteX116" fmla="*/ 504663 w 603405"/>
              <a:gd name="connsiteY116" fmla="*/ 136532 h 533193"/>
              <a:gd name="connsiteX117" fmla="*/ 415676 w 603405"/>
              <a:gd name="connsiteY117" fmla="*/ 97585 h 533193"/>
              <a:gd name="connsiteX118" fmla="*/ 397968 w 603405"/>
              <a:gd name="connsiteY118" fmla="*/ 97585 h 533193"/>
              <a:gd name="connsiteX119" fmla="*/ 397968 w 603405"/>
              <a:gd name="connsiteY119" fmla="*/ 159900 h 533193"/>
              <a:gd name="connsiteX120" fmla="*/ 364954 w 603405"/>
              <a:gd name="connsiteY120" fmla="*/ 183568 h 533193"/>
              <a:gd name="connsiteX121" fmla="*/ 364954 w 603405"/>
              <a:gd name="connsiteY121" fmla="*/ 97585 h 533193"/>
              <a:gd name="connsiteX122" fmla="*/ 174223 w 603405"/>
              <a:gd name="connsiteY122" fmla="*/ 97585 h 533193"/>
              <a:gd name="connsiteX123" fmla="*/ 174223 w 603405"/>
              <a:gd name="connsiteY123" fmla="*/ 232102 h 533193"/>
              <a:gd name="connsiteX124" fmla="*/ 180526 w 603405"/>
              <a:gd name="connsiteY124" fmla="*/ 232102 h 533193"/>
              <a:gd name="connsiteX125" fmla="*/ 174223 w 603405"/>
              <a:gd name="connsiteY125" fmla="*/ 235547 h 533193"/>
              <a:gd name="connsiteX126" fmla="*/ 156065 w 603405"/>
              <a:gd name="connsiteY126" fmla="*/ 256369 h 533193"/>
              <a:gd name="connsiteX127" fmla="*/ 141209 w 603405"/>
              <a:gd name="connsiteY127" fmla="*/ 238093 h 533193"/>
              <a:gd name="connsiteX128" fmla="*/ 131455 w 603405"/>
              <a:gd name="connsiteY128" fmla="*/ 232102 h 533193"/>
              <a:gd name="connsiteX129" fmla="*/ 141209 w 603405"/>
              <a:gd name="connsiteY129" fmla="*/ 232102 h 533193"/>
              <a:gd name="connsiteX130" fmla="*/ 141209 w 603405"/>
              <a:gd name="connsiteY130" fmla="*/ 97585 h 533193"/>
              <a:gd name="connsiteX131" fmla="*/ 1200 w 603405"/>
              <a:gd name="connsiteY131" fmla="*/ 97585 h 533193"/>
              <a:gd name="connsiteX132" fmla="*/ 30337 w 603405"/>
              <a:gd name="connsiteY132" fmla="*/ 0 h 533193"/>
              <a:gd name="connsiteX133" fmla="*/ 450496 w 603405"/>
              <a:gd name="connsiteY133" fmla="*/ 0 h 533193"/>
              <a:gd name="connsiteX134" fmla="*/ 467002 w 603405"/>
              <a:gd name="connsiteY134" fmla="*/ 16512 h 533193"/>
              <a:gd name="connsiteX135" fmla="*/ 450496 w 603405"/>
              <a:gd name="connsiteY135" fmla="*/ 33025 h 533193"/>
              <a:gd name="connsiteX136" fmla="*/ 30337 w 603405"/>
              <a:gd name="connsiteY136" fmla="*/ 33025 h 533193"/>
              <a:gd name="connsiteX137" fmla="*/ 13831 w 603405"/>
              <a:gd name="connsiteY137" fmla="*/ 16512 h 533193"/>
              <a:gd name="connsiteX138" fmla="*/ 30337 w 603405"/>
              <a:gd name="connsiteY138" fmla="*/ 0 h 533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603405" h="533193">
                <a:moveTo>
                  <a:pt x="494452" y="356003"/>
                </a:moveTo>
                <a:lnTo>
                  <a:pt x="585270" y="356003"/>
                </a:lnTo>
                <a:cubicBezTo>
                  <a:pt x="594277" y="356003"/>
                  <a:pt x="601782" y="363343"/>
                  <a:pt x="601782" y="372480"/>
                </a:cubicBezTo>
                <a:cubicBezTo>
                  <a:pt x="601782" y="381617"/>
                  <a:pt x="594277" y="388957"/>
                  <a:pt x="585270" y="388957"/>
                </a:cubicBezTo>
                <a:lnTo>
                  <a:pt x="494452" y="388957"/>
                </a:lnTo>
                <a:close/>
                <a:moveTo>
                  <a:pt x="367511" y="244227"/>
                </a:moveTo>
                <a:lnTo>
                  <a:pt x="443780" y="244227"/>
                </a:lnTo>
                <a:cubicBezTo>
                  <a:pt x="462247" y="244227"/>
                  <a:pt x="477261" y="259207"/>
                  <a:pt x="477411" y="277633"/>
                </a:cubicBezTo>
                <a:lnTo>
                  <a:pt x="477861" y="381744"/>
                </a:lnTo>
                <a:cubicBezTo>
                  <a:pt x="478011" y="389534"/>
                  <a:pt x="471706" y="395975"/>
                  <a:pt x="463748" y="395975"/>
                </a:cubicBezTo>
                <a:cubicBezTo>
                  <a:pt x="455941" y="395975"/>
                  <a:pt x="449486" y="389684"/>
                  <a:pt x="449486" y="381894"/>
                </a:cubicBezTo>
                <a:lnTo>
                  <a:pt x="449035" y="277782"/>
                </a:lnTo>
                <a:cubicBezTo>
                  <a:pt x="449035" y="276135"/>
                  <a:pt x="447684" y="274786"/>
                  <a:pt x="446033" y="274786"/>
                </a:cubicBezTo>
                <a:cubicBezTo>
                  <a:pt x="444381" y="274786"/>
                  <a:pt x="443030" y="276135"/>
                  <a:pt x="443030" y="277782"/>
                </a:cubicBezTo>
                <a:cubicBezTo>
                  <a:pt x="443030" y="419944"/>
                  <a:pt x="443330" y="291115"/>
                  <a:pt x="443330" y="516116"/>
                </a:cubicBezTo>
                <a:cubicBezTo>
                  <a:pt x="443330" y="525553"/>
                  <a:pt x="435673" y="533193"/>
                  <a:pt x="426215" y="533193"/>
                </a:cubicBezTo>
                <a:cubicBezTo>
                  <a:pt x="416906" y="533193"/>
                  <a:pt x="409249" y="525553"/>
                  <a:pt x="409249" y="516116"/>
                </a:cubicBezTo>
                <a:lnTo>
                  <a:pt x="409249" y="380096"/>
                </a:lnTo>
                <a:lnTo>
                  <a:pt x="401893" y="380096"/>
                </a:lnTo>
                <a:lnTo>
                  <a:pt x="401893" y="516116"/>
                </a:lnTo>
                <a:cubicBezTo>
                  <a:pt x="401893" y="525553"/>
                  <a:pt x="394236" y="533193"/>
                  <a:pt x="384778" y="533193"/>
                </a:cubicBezTo>
                <a:cubicBezTo>
                  <a:pt x="375319" y="533193"/>
                  <a:pt x="367812" y="525553"/>
                  <a:pt x="367812" y="516116"/>
                </a:cubicBezTo>
                <a:lnTo>
                  <a:pt x="367812" y="380096"/>
                </a:lnTo>
                <a:lnTo>
                  <a:pt x="367812" y="277782"/>
                </a:lnTo>
                <a:cubicBezTo>
                  <a:pt x="367812" y="276284"/>
                  <a:pt x="366461" y="274936"/>
                  <a:pt x="364959" y="274936"/>
                </a:cubicBezTo>
                <a:cubicBezTo>
                  <a:pt x="363458" y="274936"/>
                  <a:pt x="362257" y="276284"/>
                  <a:pt x="362257" y="277782"/>
                </a:cubicBezTo>
                <a:lnTo>
                  <a:pt x="361656" y="381894"/>
                </a:lnTo>
                <a:cubicBezTo>
                  <a:pt x="361656" y="389684"/>
                  <a:pt x="355351" y="395975"/>
                  <a:pt x="347544" y="395975"/>
                </a:cubicBezTo>
                <a:lnTo>
                  <a:pt x="347393" y="395975"/>
                </a:lnTo>
                <a:cubicBezTo>
                  <a:pt x="339586" y="395975"/>
                  <a:pt x="333281" y="389534"/>
                  <a:pt x="333281" y="381744"/>
                </a:cubicBezTo>
                <a:lnTo>
                  <a:pt x="333881" y="277633"/>
                </a:lnTo>
                <a:cubicBezTo>
                  <a:pt x="333881" y="259207"/>
                  <a:pt x="349045" y="244227"/>
                  <a:pt x="367511" y="244227"/>
                </a:cubicBezTo>
                <a:close/>
                <a:moveTo>
                  <a:pt x="201525" y="244227"/>
                </a:moveTo>
                <a:lnTo>
                  <a:pt x="277906" y="244227"/>
                </a:lnTo>
                <a:cubicBezTo>
                  <a:pt x="296213" y="244227"/>
                  <a:pt x="311370" y="259207"/>
                  <a:pt x="311520" y="277633"/>
                </a:cubicBezTo>
                <a:lnTo>
                  <a:pt x="311970" y="381744"/>
                </a:lnTo>
                <a:cubicBezTo>
                  <a:pt x="311970" y="389534"/>
                  <a:pt x="305667" y="395975"/>
                  <a:pt x="297864" y="395975"/>
                </a:cubicBezTo>
                <a:lnTo>
                  <a:pt x="297714" y="395975"/>
                </a:lnTo>
                <a:cubicBezTo>
                  <a:pt x="289911" y="395975"/>
                  <a:pt x="283608" y="389684"/>
                  <a:pt x="283608" y="381894"/>
                </a:cubicBezTo>
                <a:lnTo>
                  <a:pt x="283008" y="277782"/>
                </a:lnTo>
                <a:cubicBezTo>
                  <a:pt x="283008" y="276135"/>
                  <a:pt x="281657" y="274786"/>
                  <a:pt x="280007" y="274786"/>
                </a:cubicBezTo>
                <a:cubicBezTo>
                  <a:pt x="278356" y="274786"/>
                  <a:pt x="277156" y="276135"/>
                  <a:pt x="277156" y="277782"/>
                </a:cubicBezTo>
                <a:cubicBezTo>
                  <a:pt x="277156" y="419944"/>
                  <a:pt x="277456" y="291115"/>
                  <a:pt x="277456" y="516116"/>
                </a:cubicBezTo>
                <a:cubicBezTo>
                  <a:pt x="277456" y="525553"/>
                  <a:pt x="269803" y="533193"/>
                  <a:pt x="260349" y="533193"/>
                </a:cubicBezTo>
                <a:cubicBezTo>
                  <a:pt x="250895" y="533193"/>
                  <a:pt x="243242" y="525553"/>
                  <a:pt x="243242" y="516116"/>
                </a:cubicBezTo>
                <a:lnTo>
                  <a:pt x="243242" y="380096"/>
                </a:lnTo>
                <a:lnTo>
                  <a:pt x="235889" y="380096"/>
                </a:lnTo>
                <a:lnTo>
                  <a:pt x="235889" y="516116"/>
                </a:lnTo>
                <a:cubicBezTo>
                  <a:pt x="235889" y="525553"/>
                  <a:pt x="228386" y="533193"/>
                  <a:pt x="218932" y="533193"/>
                </a:cubicBezTo>
                <a:cubicBezTo>
                  <a:pt x="209478" y="533193"/>
                  <a:pt x="201825" y="525553"/>
                  <a:pt x="201825" y="516116"/>
                </a:cubicBezTo>
                <a:lnTo>
                  <a:pt x="201825" y="380096"/>
                </a:lnTo>
                <a:lnTo>
                  <a:pt x="201825" y="277782"/>
                </a:lnTo>
                <a:cubicBezTo>
                  <a:pt x="201825" y="276284"/>
                  <a:pt x="200624" y="274936"/>
                  <a:pt x="199124" y="274936"/>
                </a:cubicBezTo>
                <a:cubicBezTo>
                  <a:pt x="197623" y="274936"/>
                  <a:pt x="196423" y="276284"/>
                  <a:pt x="196423" y="277782"/>
                </a:cubicBezTo>
                <a:lnTo>
                  <a:pt x="195822" y="381894"/>
                </a:lnTo>
                <a:cubicBezTo>
                  <a:pt x="195822" y="389684"/>
                  <a:pt x="189370" y="395975"/>
                  <a:pt x="181567" y="395975"/>
                </a:cubicBezTo>
                <a:cubicBezTo>
                  <a:pt x="173763" y="395975"/>
                  <a:pt x="167311" y="389534"/>
                  <a:pt x="167461" y="381744"/>
                </a:cubicBezTo>
                <a:lnTo>
                  <a:pt x="167911" y="277633"/>
                </a:lnTo>
                <a:cubicBezTo>
                  <a:pt x="168061" y="259207"/>
                  <a:pt x="183067" y="244227"/>
                  <a:pt x="201525" y="244227"/>
                </a:cubicBezTo>
                <a:close/>
                <a:moveTo>
                  <a:pt x="34214" y="244227"/>
                </a:moveTo>
                <a:lnTo>
                  <a:pt x="110445" y="244227"/>
                </a:lnTo>
                <a:cubicBezTo>
                  <a:pt x="128902" y="244227"/>
                  <a:pt x="143908" y="259207"/>
                  <a:pt x="144059" y="277633"/>
                </a:cubicBezTo>
                <a:lnTo>
                  <a:pt x="144509" y="381744"/>
                </a:lnTo>
                <a:cubicBezTo>
                  <a:pt x="144659" y="389534"/>
                  <a:pt x="138206" y="395975"/>
                  <a:pt x="130403" y="395975"/>
                </a:cubicBezTo>
                <a:cubicBezTo>
                  <a:pt x="122600" y="395975"/>
                  <a:pt x="116147" y="389684"/>
                  <a:pt x="116147" y="381894"/>
                </a:cubicBezTo>
                <a:lnTo>
                  <a:pt x="115697" y="277782"/>
                </a:lnTo>
                <a:cubicBezTo>
                  <a:pt x="115547" y="276135"/>
                  <a:pt x="114346" y="274786"/>
                  <a:pt x="112696" y="274786"/>
                </a:cubicBezTo>
                <a:cubicBezTo>
                  <a:pt x="111045" y="274786"/>
                  <a:pt x="109694" y="276135"/>
                  <a:pt x="109694" y="277782"/>
                </a:cubicBezTo>
                <a:cubicBezTo>
                  <a:pt x="109694" y="343695"/>
                  <a:pt x="109995" y="452450"/>
                  <a:pt x="109995" y="516116"/>
                </a:cubicBezTo>
                <a:cubicBezTo>
                  <a:pt x="109995" y="525553"/>
                  <a:pt x="102341" y="533193"/>
                  <a:pt x="92888" y="533193"/>
                </a:cubicBezTo>
                <a:cubicBezTo>
                  <a:pt x="83584" y="533193"/>
                  <a:pt x="75931" y="525553"/>
                  <a:pt x="75931" y="516116"/>
                </a:cubicBezTo>
                <a:lnTo>
                  <a:pt x="75931" y="380096"/>
                </a:lnTo>
                <a:lnTo>
                  <a:pt x="68578" y="380096"/>
                </a:lnTo>
                <a:lnTo>
                  <a:pt x="68578" y="516116"/>
                </a:lnTo>
                <a:cubicBezTo>
                  <a:pt x="68578" y="525553"/>
                  <a:pt x="60925" y="533193"/>
                  <a:pt x="51471" y="533193"/>
                </a:cubicBezTo>
                <a:cubicBezTo>
                  <a:pt x="42017" y="533193"/>
                  <a:pt x="34364" y="525553"/>
                  <a:pt x="34364" y="516116"/>
                </a:cubicBezTo>
                <a:lnTo>
                  <a:pt x="34364" y="380096"/>
                </a:lnTo>
                <a:lnTo>
                  <a:pt x="34364" y="277782"/>
                </a:lnTo>
                <a:cubicBezTo>
                  <a:pt x="34364" y="276284"/>
                  <a:pt x="33163" y="275086"/>
                  <a:pt x="31663" y="275086"/>
                </a:cubicBezTo>
                <a:cubicBezTo>
                  <a:pt x="30162" y="274936"/>
                  <a:pt x="28962" y="276284"/>
                  <a:pt x="28962" y="277782"/>
                </a:cubicBezTo>
                <a:lnTo>
                  <a:pt x="28361" y="381894"/>
                </a:lnTo>
                <a:cubicBezTo>
                  <a:pt x="28361" y="389684"/>
                  <a:pt x="22059" y="395975"/>
                  <a:pt x="14256" y="395975"/>
                </a:cubicBezTo>
                <a:lnTo>
                  <a:pt x="14106" y="395975"/>
                </a:lnTo>
                <a:cubicBezTo>
                  <a:pt x="6302" y="395975"/>
                  <a:pt x="0" y="389534"/>
                  <a:pt x="0" y="381744"/>
                </a:cubicBezTo>
                <a:lnTo>
                  <a:pt x="600" y="277633"/>
                </a:lnTo>
                <a:cubicBezTo>
                  <a:pt x="600" y="259207"/>
                  <a:pt x="15756" y="244227"/>
                  <a:pt x="34214" y="244227"/>
                </a:cubicBezTo>
                <a:close/>
                <a:moveTo>
                  <a:pt x="298774" y="232090"/>
                </a:moveTo>
                <a:lnTo>
                  <a:pt x="346547" y="232090"/>
                </a:lnTo>
                <a:cubicBezTo>
                  <a:pt x="336331" y="236739"/>
                  <a:pt x="327768" y="244836"/>
                  <a:pt x="322660" y="254883"/>
                </a:cubicBezTo>
                <a:cubicBezTo>
                  <a:pt x="317552" y="244836"/>
                  <a:pt x="309140" y="236739"/>
                  <a:pt x="298774" y="232090"/>
                </a:cubicBezTo>
                <a:close/>
                <a:moveTo>
                  <a:pt x="405716" y="176061"/>
                </a:moveTo>
                <a:cubicBezTo>
                  <a:pt x="421987" y="176061"/>
                  <a:pt x="435177" y="189204"/>
                  <a:pt x="435177" y="205417"/>
                </a:cubicBezTo>
                <a:cubicBezTo>
                  <a:pt x="435177" y="221630"/>
                  <a:pt x="421987" y="234773"/>
                  <a:pt x="405716" y="234773"/>
                </a:cubicBezTo>
                <a:cubicBezTo>
                  <a:pt x="389445" y="234773"/>
                  <a:pt x="376255" y="221630"/>
                  <a:pt x="376255" y="205417"/>
                </a:cubicBezTo>
                <a:cubicBezTo>
                  <a:pt x="376255" y="189204"/>
                  <a:pt x="389445" y="176061"/>
                  <a:pt x="405716" y="176061"/>
                </a:cubicBezTo>
                <a:close/>
                <a:moveTo>
                  <a:pt x="239817" y="176061"/>
                </a:moveTo>
                <a:cubicBezTo>
                  <a:pt x="256049" y="176061"/>
                  <a:pt x="269208" y="189204"/>
                  <a:pt x="269208" y="205417"/>
                </a:cubicBezTo>
                <a:cubicBezTo>
                  <a:pt x="269208" y="221630"/>
                  <a:pt x="256049" y="234773"/>
                  <a:pt x="239817" y="234773"/>
                </a:cubicBezTo>
                <a:cubicBezTo>
                  <a:pt x="223585" y="234773"/>
                  <a:pt x="210426" y="221630"/>
                  <a:pt x="210426" y="205417"/>
                </a:cubicBezTo>
                <a:cubicBezTo>
                  <a:pt x="210426" y="189204"/>
                  <a:pt x="223585" y="176061"/>
                  <a:pt x="239817" y="176061"/>
                </a:cubicBezTo>
                <a:close/>
                <a:moveTo>
                  <a:pt x="72325" y="176061"/>
                </a:moveTo>
                <a:cubicBezTo>
                  <a:pt x="88687" y="176061"/>
                  <a:pt x="101897" y="189241"/>
                  <a:pt x="101897" y="205416"/>
                </a:cubicBezTo>
                <a:cubicBezTo>
                  <a:pt x="101897" y="221592"/>
                  <a:pt x="88687" y="234772"/>
                  <a:pt x="72325" y="234772"/>
                </a:cubicBezTo>
                <a:cubicBezTo>
                  <a:pt x="56113" y="234772"/>
                  <a:pt x="42904" y="221592"/>
                  <a:pt x="42904" y="205416"/>
                </a:cubicBezTo>
                <a:cubicBezTo>
                  <a:pt x="42904" y="189241"/>
                  <a:pt x="55963" y="176061"/>
                  <a:pt x="72325" y="176061"/>
                </a:cubicBezTo>
                <a:close/>
                <a:moveTo>
                  <a:pt x="1200" y="56241"/>
                </a:moveTo>
                <a:lnTo>
                  <a:pt x="384613" y="56241"/>
                </a:lnTo>
                <a:cubicBezTo>
                  <a:pt x="505414" y="56241"/>
                  <a:pt x="603405" y="154058"/>
                  <a:pt x="603405" y="274494"/>
                </a:cubicBezTo>
                <a:cubicBezTo>
                  <a:pt x="603405" y="308947"/>
                  <a:pt x="575493" y="336809"/>
                  <a:pt x="540979" y="336809"/>
                </a:cubicBezTo>
                <a:lnTo>
                  <a:pt x="494459" y="336809"/>
                </a:lnTo>
                <a:lnTo>
                  <a:pt x="494159" y="277490"/>
                </a:lnTo>
                <a:cubicBezTo>
                  <a:pt x="494009" y="257417"/>
                  <a:pt x="482004" y="240041"/>
                  <a:pt x="464747" y="232102"/>
                </a:cubicBezTo>
                <a:lnTo>
                  <a:pt x="551333" y="232102"/>
                </a:lnTo>
                <a:lnTo>
                  <a:pt x="551483" y="232102"/>
                </a:lnTo>
                <a:cubicBezTo>
                  <a:pt x="553884" y="232102"/>
                  <a:pt x="556285" y="230753"/>
                  <a:pt x="557636" y="228806"/>
                </a:cubicBezTo>
                <a:cubicBezTo>
                  <a:pt x="558986" y="226709"/>
                  <a:pt x="559136" y="224013"/>
                  <a:pt x="558236" y="221766"/>
                </a:cubicBezTo>
                <a:cubicBezTo>
                  <a:pt x="550283" y="203790"/>
                  <a:pt x="531825" y="165892"/>
                  <a:pt x="504663" y="136532"/>
                </a:cubicBezTo>
                <a:cubicBezTo>
                  <a:pt x="481704" y="111666"/>
                  <a:pt x="449440" y="97585"/>
                  <a:pt x="415676" y="97585"/>
                </a:cubicBezTo>
                <a:lnTo>
                  <a:pt x="397968" y="97585"/>
                </a:lnTo>
                <a:lnTo>
                  <a:pt x="397968" y="159900"/>
                </a:lnTo>
                <a:cubicBezTo>
                  <a:pt x="383712" y="162297"/>
                  <a:pt x="371707" y="171284"/>
                  <a:pt x="364954" y="183568"/>
                </a:cubicBezTo>
                <a:lnTo>
                  <a:pt x="364954" y="97585"/>
                </a:lnTo>
                <a:lnTo>
                  <a:pt x="174223" y="97585"/>
                </a:lnTo>
                <a:lnTo>
                  <a:pt x="174223" y="232102"/>
                </a:lnTo>
                <a:lnTo>
                  <a:pt x="180526" y="232102"/>
                </a:lnTo>
                <a:cubicBezTo>
                  <a:pt x="178425" y="233150"/>
                  <a:pt x="176324" y="234199"/>
                  <a:pt x="174223" y="235547"/>
                </a:cubicBezTo>
                <a:cubicBezTo>
                  <a:pt x="166420" y="240640"/>
                  <a:pt x="159967" y="247830"/>
                  <a:pt x="156065" y="256369"/>
                </a:cubicBezTo>
                <a:cubicBezTo>
                  <a:pt x="152614" y="249178"/>
                  <a:pt x="147512" y="242887"/>
                  <a:pt x="141209" y="238093"/>
                </a:cubicBezTo>
                <a:cubicBezTo>
                  <a:pt x="138208" y="235697"/>
                  <a:pt x="134906" y="233749"/>
                  <a:pt x="131455" y="232102"/>
                </a:cubicBezTo>
                <a:lnTo>
                  <a:pt x="141209" y="232102"/>
                </a:lnTo>
                <a:lnTo>
                  <a:pt x="141209" y="97585"/>
                </a:lnTo>
                <a:lnTo>
                  <a:pt x="1200" y="97585"/>
                </a:lnTo>
                <a:close/>
                <a:moveTo>
                  <a:pt x="30337" y="0"/>
                </a:moveTo>
                <a:lnTo>
                  <a:pt x="450496" y="0"/>
                </a:lnTo>
                <a:cubicBezTo>
                  <a:pt x="459649" y="0"/>
                  <a:pt x="467002" y="7356"/>
                  <a:pt x="467002" y="16512"/>
                </a:cubicBezTo>
                <a:cubicBezTo>
                  <a:pt x="467002" y="25669"/>
                  <a:pt x="459649" y="33025"/>
                  <a:pt x="450496" y="33025"/>
                </a:cubicBezTo>
                <a:lnTo>
                  <a:pt x="30337" y="33025"/>
                </a:lnTo>
                <a:cubicBezTo>
                  <a:pt x="21184" y="33025"/>
                  <a:pt x="13831" y="25669"/>
                  <a:pt x="13831" y="16512"/>
                </a:cubicBezTo>
                <a:cubicBezTo>
                  <a:pt x="13831" y="7356"/>
                  <a:pt x="21184" y="0"/>
                  <a:pt x="30337" y="0"/>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endParaRPr lang="zh-CN" altLang="en-US">
              <a:solidFill>
                <a:srgbClr val="000000"/>
              </a:solidFill>
              <a:latin typeface="Arial" panose="020F0502020204030204"/>
              <a:ea typeface="微软雅黑"/>
              <a:cs typeface="+mn-ea"/>
              <a:sym typeface="+mn-lt"/>
            </a:endParaRPr>
          </a:p>
        </p:txBody>
      </p:sp>
      <p:sp>
        <p:nvSpPr>
          <p:cNvPr id="6" name="文本框 5">
            <a:extLst>
              <a:ext uri="{FF2B5EF4-FFF2-40B4-BE49-F238E27FC236}">
                <a16:creationId xmlns:a16="http://schemas.microsoft.com/office/drawing/2014/main" id="{20241A44-08DA-D8DB-9B94-F256334CD66F}"/>
              </a:ext>
            </a:extLst>
          </p:cNvPr>
          <p:cNvSpPr txBox="1"/>
          <p:nvPr/>
        </p:nvSpPr>
        <p:spPr>
          <a:xfrm>
            <a:off x="392209" y="944994"/>
            <a:ext cx="10437526" cy="923330"/>
          </a:xfrm>
          <a:prstGeom prst="rect">
            <a:avLst/>
          </a:prstGeom>
          <a:noFill/>
        </p:spPr>
        <p:txBody>
          <a:bodyPr wrap="square">
            <a:spAutoFit/>
          </a:bodyPr>
          <a:lstStyle/>
          <a:p>
            <a:r>
              <a:rPr lang="zh-CN" altLang="en-US" dirty="0"/>
              <a:t>本文用公开的 </a:t>
            </a:r>
            <a:r>
              <a:rPr lang="en-US" altLang="zh-CN" dirty="0"/>
              <a:t>CATH </a:t>
            </a:r>
            <a:r>
              <a:rPr lang="zh-CN" altLang="en-US" dirty="0"/>
              <a:t>数据库（提取了约 </a:t>
            </a:r>
            <a:r>
              <a:rPr lang="en-US" altLang="zh-CN" dirty="0"/>
              <a:t>500 </a:t>
            </a:r>
            <a:r>
              <a:rPr lang="zh-CN" altLang="en-US" dirty="0"/>
              <a:t>万个局部结构）来训练 </a:t>
            </a:r>
            <a:r>
              <a:rPr lang="en-US" altLang="zh-CN" dirty="0"/>
              <a:t>K-Means </a:t>
            </a:r>
            <a:r>
              <a:rPr lang="zh-CN" altLang="en-US" dirty="0"/>
              <a:t>聚类的词，从 </a:t>
            </a:r>
            <a:r>
              <a:rPr lang="en-US" altLang="zh-CN" dirty="0"/>
              <a:t>AlphaFold DB </a:t>
            </a:r>
            <a:r>
              <a:rPr lang="zh-CN" altLang="en-US" dirty="0"/>
              <a:t>中提取了上千万个高质量的预测结构，将它们转换成</a:t>
            </a:r>
            <a:r>
              <a:rPr lang="en-US" altLang="zh-CN" dirty="0"/>
              <a:t>1D </a:t>
            </a:r>
            <a:r>
              <a:rPr lang="zh-CN" altLang="en-US" dirty="0"/>
              <a:t>氨基酸序列 </a:t>
            </a:r>
            <a:r>
              <a:rPr lang="en-US" altLang="zh-CN" dirty="0"/>
              <a:t>+ 1D </a:t>
            </a:r>
            <a:r>
              <a:rPr lang="zh-CN" altLang="en-US" dirty="0"/>
              <a:t>结构 </a:t>
            </a:r>
            <a:r>
              <a:rPr lang="en-US" altLang="zh-CN" dirty="0"/>
              <a:t>Token </a:t>
            </a:r>
            <a:r>
              <a:rPr lang="zh-CN" altLang="en-US" dirty="0"/>
              <a:t>序列的双轨语料库，用这个自己构建的平行数据集来预训练解耦 </a:t>
            </a:r>
            <a:r>
              <a:rPr lang="en-US" altLang="zh-CN" dirty="0"/>
              <a:t>Transformer</a:t>
            </a:r>
            <a:r>
              <a:rPr lang="zh-CN" altLang="en-US" dirty="0"/>
              <a:t>。</a:t>
            </a:r>
          </a:p>
        </p:txBody>
      </p:sp>
      <p:sp>
        <p:nvSpPr>
          <p:cNvPr id="7" name="文本框 6">
            <a:extLst>
              <a:ext uri="{FF2B5EF4-FFF2-40B4-BE49-F238E27FC236}">
                <a16:creationId xmlns:a16="http://schemas.microsoft.com/office/drawing/2014/main" id="{46F13AFB-294D-88DB-A8D4-04FBA773986C}"/>
              </a:ext>
            </a:extLst>
          </p:cNvPr>
          <p:cNvSpPr txBox="1"/>
          <p:nvPr/>
        </p:nvSpPr>
        <p:spPr>
          <a:xfrm>
            <a:off x="392209" y="2253751"/>
            <a:ext cx="7118350" cy="369332"/>
          </a:xfrm>
          <a:prstGeom prst="rect">
            <a:avLst/>
          </a:prstGeom>
          <a:noFill/>
        </p:spPr>
        <p:txBody>
          <a:bodyPr wrap="square" rtlCol="0">
            <a:spAutoFit/>
          </a:bodyPr>
          <a:lstStyle/>
          <a:p>
            <a:r>
              <a:rPr lang="zh-CN" altLang="en-US" dirty="0"/>
              <a:t>不足之处：完全没有做实验验证，以及更多的验证集测试</a:t>
            </a:r>
          </a:p>
        </p:txBody>
      </p:sp>
      <p:sp>
        <p:nvSpPr>
          <p:cNvPr id="8" name="文本框 7">
            <a:extLst>
              <a:ext uri="{FF2B5EF4-FFF2-40B4-BE49-F238E27FC236}">
                <a16:creationId xmlns:a16="http://schemas.microsoft.com/office/drawing/2014/main" id="{C5714E87-E481-660F-8E2F-B4CBC039F1C8}"/>
              </a:ext>
            </a:extLst>
          </p:cNvPr>
          <p:cNvSpPr txBox="1"/>
          <p:nvPr/>
        </p:nvSpPr>
        <p:spPr>
          <a:xfrm>
            <a:off x="488950" y="3219450"/>
            <a:ext cx="11118850" cy="2862322"/>
          </a:xfrm>
          <a:prstGeom prst="rect">
            <a:avLst/>
          </a:prstGeom>
          <a:noFill/>
        </p:spPr>
        <p:txBody>
          <a:bodyPr wrap="square" rtlCol="0">
            <a:spAutoFit/>
          </a:bodyPr>
          <a:lstStyle/>
          <a:p>
            <a:r>
              <a:rPr lang="zh-CN" altLang="en-US" dirty="0"/>
              <a:t>思考：</a:t>
            </a:r>
            <a:endParaRPr lang="en-US" altLang="zh-CN" dirty="0"/>
          </a:p>
          <a:p>
            <a:r>
              <a:rPr lang="en-US" altLang="zh-CN" dirty="0"/>
              <a:t>1</a:t>
            </a:r>
            <a:r>
              <a:rPr lang="zh-CN" altLang="en-US" dirty="0"/>
              <a:t>、和上一篇文章做了同样的事：融合蛋白质的序列信息和结构信息，如果用这一篇的模型和方法替代上一篇中的交叉注意力，效果是否会更好</a:t>
            </a:r>
            <a:endParaRPr lang="en-US" altLang="zh-CN" dirty="0"/>
          </a:p>
          <a:p>
            <a:r>
              <a:rPr lang="en-US" altLang="zh-CN" dirty="0"/>
              <a:t>2</a:t>
            </a:r>
            <a:r>
              <a:rPr lang="zh-CN" altLang="en-US" dirty="0"/>
              <a:t>、虽然</a:t>
            </a:r>
            <a:r>
              <a:rPr lang="en-US" altLang="zh-CN" dirty="0" err="1"/>
              <a:t>ProSST</a:t>
            </a:r>
            <a:r>
              <a:rPr lang="zh-CN" altLang="en-US" dirty="0"/>
              <a:t>理论上已经拥有超越</a:t>
            </a:r>
            <a:r>
              <a:rPr lang="en-US" altLang="zh-CN" dirty="0"/>
              <a:t>ESM-2</a:t>
            </a:r>
            <a:r>
              <a:rPr lang="zh-CN" altLang="en-US" dirty="0"/>
              <a:t>的泛化性能，但由于其本身训练数据的规模相比</a:t>
            </a:r>
            <a:r>
              <a:rPr lang="en-US" altLang="zh-CN" dirty="0"/>
              <a:t>ESM</a:t>
            </a:r>
            <a:r>
              <a:rPr lang="zh-CN" altLang="en-US" dirty="0"/>
              <a:t>系列</a:t>
            </a:r>
            <a:r>
              <a:rPr lang="en-US" altLang="zh-CN" dirty="0"/>
              <a:t>(</a:t>
            </a:r>
            <a:r>
              <a:rPr lang="zh-CN" altLang="en-US" dirty="0"/>
              <a:t>千万</a:t>
            </a:r>
            <a:r>
              <a:rPr lang="en-US" altLang="zh-CN" dirty="0"/>
              <a:t>vs</a:t>
            </a:r>
            <a:r>
              <a:rPr lang="zh-CN" altLang="en-US" dirty="0"/>
              <a:t>几十亿）差距明显，在一般任务上表现的优劣还未知，以及高度依赖于输入的蛋白结构的准确性</a:t>
            </a:r>
            <a:endParaRPr lang="en-US" altLang="zh-CN" dirty="0"/>
          </a:p>
          <a:p>
            <a:r>
              <a:rPr lang="en-US" altLang="zh-CN" dirty="0"/>
              <a:t>2</a:t>
            </a:r>
            <a:r>
              <a:rPr lang="zh-CN" altLang="en-US" dirty="0"/>
              <a:t>、既然在</a:t>
            </a:r>
            <a:r>
              <a:rPr lang="en-US" altLang="zh-CN" dirty="0"/>
              <a:t>ESM-2</a:t>
            </a:r>
            <a:r>
              <a:rPr lang="zh-CN" altLang="en-US" dirty="0"/>
              <a:t>在纯序列任务上由于极大的参数量拥有天然的优势，那能否结合两者的优势（</a:t>
            </a:r>
            <a:r>
              <a:rPr lang="en-US" altLang="zh-CN" dirty="0"/>
              <a:t>ESM-2</a:t>
            </a:r>
            <a:r>
              <a:rPr lang="zh-CN" altLang="en-US" dirty="0"/>
              <a:t>序列特征提取</a:t>
            </a:r>
            <a:r>
              <a:rPr lang="en-US" altLang="zh-CN" dirty="0"/>
              <a:t>+ </a:t>
            </a:r>
            <a:r>
              <a:rPr lang="en-US" altLang="zh-CN" dirty="0" err="1"/>
              <a:t>ProSST</a:t>
            </a:r>
            <a:r>
              <a:rPr lang="zh-CN" altLang="en-US" dirty="0"/>
              <a:t>编码）做一个性能更优异而且能感知结构的模型（有类似的工作</a:t>
            </a:r>
            <a:r>
              <a:rPr lang="en-US" altLang="zh-CN" b="1" dirty="0" err="1"/>
              <a:t>SaProt</a:t>
            </a:r>
            <a:r>
              <a:rPr lang="en-US" altLang="zh-CN" b="1" dirty="0"/>
              <a:t>: Protein Language Modeling with Structure-aware Vocabulary</a:t>
            </a:r>
            <a:r>
              <a:rPr lang="zh-CN" altLang="en-US" dirty="0"/>
              <a:t>即对</a:t>
            </a:r>
            <a:r>
              <a:rPr lang="en-US" altLang="zh-CN" dirty="0"/>
              <a:t>ESM-2</a:t>
            </a:r>
            <a:r>
              <a:rPr lang="zh-CN" altLang="en-US" dirty="0"/>
              <a:t>添加结构感知的功能但是实现原理不尽相同）</a:t>
            </a:r>
            <a:endParaRPr lang="en-US" altLang="zh-CN" dirty="0"/>
          </a:p>
          <a:p>
            <a:endParaRPr lang="en-US" altLang="zh-CN" dirty="0"/>
          </a:p>
          <a:p>
            <a:endParaRPr lang="zh-CN" altLang="en-US" dirty="0"/>
          </a:p>
        </p:txBody>
      </p:sp>
    </p:spTree>
    <p:extLst>
      <p:ext uri="{BB962C8B-B14F-4D97-AF65-F5344CB8AC3E}">
        <p14:creationId xmlns:p14="http://schemas.microsoft.com/office/powerpoint/2010/main" val="23988669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占位符 10">
            <a:extLst>
              <a:ext uri="{FF2B5EF4-FFF2-40B4-BE49-F238E27FC236}">
                <a16:creationId xmlns:a16="http://schemas.microsoft.com/office/drawing/2014/main" id="{80D2D300-E2A5-458D-8F00-D5D2C933BB81}"/>
              </a:ext>
            </a:extLst>
          </p:cNvPr>
          <p:cNvPicPr>
            <a:picLocks noChangeAspect="1"/>
          </p:cNvPicPr>
          <p:nvPr/>
        </p:nvPicPr>
        <p:blipFill rotWithShape="1">
          <a:blip r:embed="rId2">
            <a:extLst>
              <a:ext uri="{28A0092B-C50C-407E-A947-70E740481C1C}">
                <a14:useLocalDpi xmlns:a14="http://schemas.microsoft.com/office/drawing/2010/main" val="0"/>
              </a:ext>
            </a:extLst>
          </a:blip>
          <a:srcRect t="32726" b="9149"/>
          <a:stretch/>
        </p:blipFill>
        <p:spPr>
          <a:xfrm>
            <a:off x="0" y="-4272"/>
            <a:ext cx="12192000" cy="3073231"/>
          </a:xfrm>
          <a:prstGeom prst="rect">
            <a:avLst/>
          </a:prstGeom>
        </p:spPr>
      </p:pic>
      <p:sp>
        <p:nvSpPr>
          <p:cNvPr id="3" name="矩形 2">
            <a:extLst>
              <a:ext uri="{FF2B5EF4-FFF2-40B4-BE49-F238E27FC236}">
                <a16:creationId xmlns:a16="http://schemas.microsoft.com/office/drawing/2014/main" id="{870BA051-1F66-4795-BF26-66EAB0A4B901}"/>
              </a:ext>
            </a:extLst>
          </p:cNvPr>
          <p:cNvSpPr/>
          <p:nvPr/>
        </p:nvSpPr>
        <p:spPr>
          <a:xfrm>
            <a:off x="0" y="-4272"/>
            <a:ext cx="12191997" cy="3073231"/>
          </a:xfrm>
          <a:prstGeom prst="rect">
            <a:avLst/>
          </a:prstGeom>
          <a:solidFill>
            <a:srgbClr val="6B0261">
              <a:alpha val="83000"/>
            </a:srgbClr>
          </a:solidFill>
          <a:ln w="12700" cap="flat" cmpd="sng" algn="ctr">
            <a:noFill/>
            <a:prstDash val="solid"/>
            <a:miter lim="800000"/>
          </a:ln>
          <a:effectLst/>
        </p:spPr>
        <p:txBody>
          <a:bodyPr rtlCol="0" anchor="ctr"/>
          <a:lstStyle/>
          <a:p>
            <a:pPr algn="ctr">
              <a:defRPr/>
            </a:pPr>
            <a:endParaRPr lang="zh-CN" altLang="en-US" kern="0">
              <a:solidFill>
                <a:srgbClr val="FFFFFF"/>
              </a:solidFill>
              <a:latin typeface="Arial" panose="020F0502020204030204"/>
              <a:ea typeface="Microsoft YaHei"/>
              <a:cs typeface="+mn-ea"/>
              <a:sym typeface="+mn-lt"/>
            </a:endParaRPr>
          </a:p>
        </p:txBody>
      </p:sp>
      <p:sp>
        <p:nvSpPr>
          <p:cNvPr id="4" name="文本占位符 8">
            <a:extLst>
              <a:ext uri="{FF2B5EF4-FFF2-40B4-BE49-F238E27FC236}">
                <a16:creationId xmlns:a16="http://schemas.microsoft.com/office/drawing/2014/main" id="{1CAD00BC-C857-42B1-9436-E1BC522185D4}"/>
              </a:ext>
            </a:extLst>
          </p:cNvPr>
          <p:cNvSpPr txBox="1">
            <a:spLocks/>
          </p:cNvSpPr>
          <p:nvPr/>
        </p:nvSpPr>
        <p:spPr>
          <a:xfrm>
            <a:off x="4815507" y="1844824"/>
            <a:ext cx="2560983" cy="2530053"/>
          </a:xfrm>
          <a:custGeom>
            <a:avLst/>
            <a:gdLst>
              <a:gd name="connsiteX0" fmla="*/ 2057400 w 4114800"/>
              <a:gd name="connsiteY0" fmla="*/ 0 h 4065104"/>
              <a:gd name="connsiteX1" fmla="*/ 4114800 w 4114800"/>
              <a:gd name="connsiteY1" fmla="*/ 2032552 h 4065104"/>
              <a:gd name="connsiteX2" fmla="*/ 2057400 w 4114800"/>
              <a:gd name="connsiteY2" fmla="*/ 4065104 h 4065104"/>
              <a:gd name="connsiteX3" fmla="*/ 0 w 4114800"/>
              <a:gd name="connsiteY3" fmla="*/ 2032552 h 4065104"/>
            </a:gdLst>
            <a:ahLst/>
            <a:cxnLst>
              <a:cxn ang="0">
                <a:pos x="connsiteX0" y="connsiteY0"/>
              </a:cxn>
              <a:cxn ang="0">
                <a:pos x="connsiteX1" y="connsiteY1"/>
              </a:cxn>
              <a:cxn ang="0">
                <a:pos x="connsiteX2" y="connsiteY2"/>
              </a:cxn>
              <a:cxn ang="0">
                <a:pos x="connsiteX3" y="connsiteY3"/>
              </a:cxn>
            </a:cxnLst>
            <a:rect l="l" t="t" r="r" b="b"/>
            <a:pathLst>
              <a:path w="4114800" h="4065104">
                <a:moveTo>
                  <a:pt x="2057400" y="0"/>
                </a:moveTo>
                <a:lnTo>
                  <a:pt x="4114800" y="2032552"/>
                </a:lnTo>
                <a:lnTo>
                  <a:pt x="2057400" y="4065104"/>
                </a:lnTo>
                <a:lnTo>
                  <a:pt x="0" y="2032552"/>
                </a:lnTo>
                <a:close/>
              </a:path>
            </a:pathLst>
          </a:custGeom>
          <a:solidFill>
            <a:srgbClr val="6B0261"/>
          </a:solidFill>
          <a:ln w="193675">
            <a:solidFill>
              <a:srgbClr val="FFFFFF"/>
            </a:solidFill>
          </a:ln>
        </p:spPr>
        <p:txBody>
          <a:bodyPr wrap="square" anchor="ctr">
            <a:noAutofit/>
          </a:bodyPr>
          <a:lstStyle>
            <a:lvl1pPr marL="0" indent="0" algn="ctr" defTabSz="914400" rtl="0" eaLnBrk="1" latinLnBrk="0" hangingPunct="1">
              <a:lnSpc>
                <a:spcPct val="90000"/>
              </a:lnSpc>
              <a:spcBef>
                <a:spcPts val="1000"/>
              </a:spcBef>
              <a:buFont typeface="Arial" panose="020B0604020202020204" pitchFamily="34" charset="0"/>
              <a:buNone/>
              <a:defRPr sz="9600" kern="1200">
                <a:solidFill>
                  <a:schemeClr val="bg1"/>
                </a:solidFill>
                <a:effectLst>
                  <a:innerShdw dist="63500" dir="16200000">
                    <a:schemeClr val="accent3"/>
                  </a:innerShdw>
                </a:effectLst>
                <a:latin typeface="Impact" panose="020B080603090205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endParaRPr lang="zh-CN" altLang="en-US" dirty="0">
              <a:solidFill>
                <a:srgbClr val="FFFFFF"/>
              </a:solidFill>
              <a:effectLst>
                <a:innerShdw dist="63500" dir="16200000">
                  <a:srgbClr val="3889F5"/>
                </a:innerShdw>
              </a:effectLst>
              <a:latin typeface="Arial" panose="020F0502020204030204"/>
              <a:ea typeface="Microsoft YaHei"/>
              <a:cs typeface="+mn-ea"/>
              <a:sym typeface="+mn-lt"/>
            </a:endParaRPr>
          </a:p>
        </p:txBody>
      </p:sp>
      <p:pic>
        <p:nvPicPr>
          <p:cNvPr id="5" name="图片 4">
            <a:extLst>
              <a:ext uri="{FF2B5EF4-FFF2-40B4-BE49-F238E27FC236}">
                <a16:creationId xmlns:a16="http://schemas.microsoft.com/office/drawing/2014/main" id="{017F3159-E1AF-4C71-96C9-C803867299E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57527" y="6406826"/>
            <a:ext cx="2520526" cy="369331"/>
          </a:xfrm>
          <a:prstGeom prst="rect">
            <a:avLst/>
          </a:prstGeom>
        </p:spPr>
      </p:pic>
      <p:sp>
        <p:nvSpPr>
          <p:cNvPr id="6" name="标题 4">
            <a:extLst>
              <a:ext uri="{FF2B5EF4-FFF2-40B4-BE49-F238E27FC236}">
                <a16:creationId xmlns:a16="http://schemas.microsoft.com/office/drawing/2014/main" id="{8B77D6E9-EAB7-4C7D-B483-7AB658C9EA59}"/>
              </a:ext>
            </a:extLst>
          </p:cNvPr>
          <p:cNvSpPr txBox="1">
            <a:spLocks/>
          </p:cNvSpPr>
          <p:nvPr/>
        </p:nvSpPr>
        <p:spPr>
          <a:xfrm>
            <a:off x="395589" y="4272457"/>
            <a:ext cx="11400816" cy="746593"/>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2400" b="1" dirty="0">
                <a:solidFill>
                  <a:srgbClr val="6B0261"/>
                </a:solidFill>
                <a:latin typeface="微软雅黑" panose="020B0503020204020204" pitchFamily="34" charset="-122"/>
                <a:ea typeface="微软雅黑" panose="020B0503020204020204" pitchFamily="34" charset="-122"/>
              </a:rPr>
              <a:t>Accurate Prediction of Protein Structural Flexibility by Deep Learning Integrating Intricate Atomic Structures and Cryo-EM Density Information</a:t>
            </a:r>
          </a:p>
        </p:txBody>
      </p:sp>
      <p:cxnSp>
        <p:nvCxnSpPr>
          <p:cNvPr id="7" name="直接连接符 6">
            <a:extLst>
              <a:ext uri="{FF2B5EF4-FFF2-40B4-BE49-F238E27FC236}">
                <a16:creationId xmlns:a16="http://schemas.microsoft.com/office/drawing/2014/main" id="{47736D54-4D9B-4617-B0AC-C54D929188B6}"/>
              </a:ext>
            </a:extLst>
          </p:cNvPr>
          <p:cNvCxnSpPr>
            <a:cxnSpLocks/>
          </p:cNvCxnSpPr>
          <p:nvPr/>
        </p:nvCxnSpPr>
        <p:spPr>
          <a:xfrm>
            <a:off x="3575720" y="5244190"/>
            <a:ext cx="4752528" cy="0"/>
          </a:xfrm>
          <a:prstGeom prst="line">
            <a:avLst/>
          </a:prstGeom>
          <a:noFill/>
          <a:ln w="28575" cap="flat" cmpd="sng" algn="ctr">
            <a:solidFill>
              <a:srgbClr val="6B0261"/>
            </a:solidFill>
            <a:prstDash val="solid"/>
            <a:headEnd type="oval" w="med" len="med"/>
            <a:tailEnd type="oval" w="med" len="med"/>
          </a:ln>
          <a:effectLst/>
        </p:spPr>
      </p:cxnSp>
      <p:sp>
        <p:nvSpPr>
          <p:cNvPr id="10" name="文本框 9">
            <a:extLst>
              <a:ext uri="{FF2B5EF4-FFF2-40B4-BE49-F238E27FC236}">
                <a16:creationId xmlns:a16="http://schemas.microsoft.com/office/drawing/2014/main" id="{8E368B87-23FA-4C37-A79E-822207AA5826}"/>
              </a:ext>
            </a:extLst>
          </p:cNvPr>
          <p:cNvSpPr txBox="1"/>
          <p:nvPr/>
        </p:nvSpPr>
        <p:spPr>
          <a:xfrm>
            <a:off x="5250253" y="2386575"/>
            <a:ext cx="1691489" cy="1446550"/>
          </a:xfrm>
          <a:prstGeom prst="rect">
            <a:avLst/>
          </a:prstGeom>
          <a:noFill/>
        </p:spPr>
        <p:txBody>
          <a:bodyPr wrap="none" rtlCol="0">
            <a:spAutoFit/>
          </a:bodyPr>
          <a:lstStyle/>
          <a:p>
            <a:r>
              <a:rPr lang="en-US" altLang="zh-CN" sz="8800" b="1" dirty="0">
                <a:solidFill>
                  <a:prstClr val="white"/>
                </a:solidFill>
                <a:latin typeface="Arial Black" panose="020B0A04020102020204" pitchFamily="34" charset="0"/>
                <a:ea typeface="宋体" panose="02010600030101010101" pitchFamily="2" charset="-122"/>
              </a:rPr>
              <a:t>03</a:t>
            </a:r>
            <a:endParaRPr lang="zh-CN" altLang="en-US" sz="8800" b="1" dirty="0">
              <a:solidFill>
                <a:prstClr val="white"/>
              </a:solidFill>
              <a:latin typeface="Arial Black" panose="020B0A04020102020204" pitchFamily="34" charset="0"/>
              <a:ea typeface="宋体" panose="02010600030101010101" pitchFamily="2" charset="-122"/>
            </a:endParaRPr>
          </a:p>
        </p:txBody>
      </p:sp>
      <p:sp>
        <p:nvSpPr>
          <p:cNvPr id="8" name="文本框 7">
            <a:extLst>
              <a:ext uri="{FF2B5EF4-FFF2-40B4-BE49-F238E27FC236}">
                <a16:creationId xmlns:a16="http://schemas.microsoft.com/office/drawing/2014/main" id="{C3A23CA3-33FA-08F7-0DF4-1338CB6E72A7}"/>
              </a:ext>
            </a:extLst>
          </p:cNvPr>
          <p:cNvSpPr txBox="1"/>
          <p:nvPr/>
        </p:nvSpPr>
        <p:spPr>
          <a:xfrm>
            <a:off x="1653699" y="5393321"/>
            <a:ext cx="8884596" cy="369332"/>
          </a:xfrm>
          <a:prstGeom prst="rect">
            <a:avLst/>
          </a:prstGeom>
          <a:noFill/>
        </p:spPr>
        <p:txBody>
          <a:bodyPr wrap="square" rtlCol="0">
            <a:spAutoFit/>
          </a:bodyPr>
          <a:lstStyle/>
          <a:p>
            <a:r>
              <a:rPr lang="zh-CN" altLang="en-US" dirty="0"/>
              <a:t>融合精细原子结构与冷冻电镜密度信息的基于深度学习的蛋白质结构柔性精准预测</a:t>
            </a:r>
          </a:p>
        </p:txBody>
      </p:sp>
      <p:sp>
        <p:nvSpPr>
          <p:cNvPr id="9" name="文本框 8">
            <a:extLst>
              <a:ext uri="{FF2B5EF4-FFF2-40B4-BE49-F238E27FC236}">
                <a16:creationId xmlns:a16="http://schemas.microsoft.com/office/drawing/2014/main" id="{5030BCC0-CFC5-0B33-B50C-A775D5A0B2E5}"/>
              </a:ext>
            </a:extLst>
          </p:cNvPr>
          <p:cNvSpPr txBox="1"/>
          <p:nvPr/>
        </p:nvSpPr>
        <p:spPr>
          <a:xfrm>
            <a:off x="7101191" y="5953328"/>
            <a:ext cx="3437104" cy="369332"/>
          </a:xfrm>
          <a:prstGeom prst="rect">
            <a:avLst/>
          </a:prstGeom>
          <a:noFill/>
        </p:spPr>
        <p:txBody>
          <a:bodyPr wrap="square" rtlCol="0">
            <a:spAutoFit/>
          </a:bodyPr>
          <a:lstStyle/>
          <a:p>
            <a:r>
              <a:rPr lang="fr-FR" altLang="zh-CN" i="1" dirty="0"/>
              <a:t>Nat Commun</a:t>
            </a:r>
            <a:r>
              <a:rPr lang="fr-FR" altLang="zh-CN" dirty="0"/>
              <a:t> </a:t>
            </a:r>
            <a:r>
              <a:rPr lang="fr-FR" altLang="zh-CN" b="1" dirty="0"/>
              <a:t>15</a:t>
            </a:r>
            <a:r>
              <a:rPr lang="fr-FR" altLang="zh-CN" dirty="0"/>
              <a:t>, 5538 (2024)</a:t>
            </a:r>
            <a:endParaRPr lang="zh-CN" altLang="en-US" dirty="0"/>
          </a:p>
        </p:txBody>
      </p:sp>
    </p:spTree>
    <p:extLst>
      <p:ext uri="{BB962C8B-B14F-4D97-AF65-F5344CB8AC3E}">
        <p14:creationId xmlns:p14="http://schemas.microsoft.com/office/powerpoint/2010/main" val="4091709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a:extLst>
              <a:ext uri="{FF2B5EF4-FFF2-40B4-BE49-F238E27FC236}">
                <a16:creationId xmlns:a16="http://schemas.microsoft.com/office/drawing/2014/main" id="{1CDEAC00-CB00-4675-A90D-82EBB1B95A95}"/>
              </a:ext>
            </a:extLst>
          </p:cNvPr>
          <p:cNvGrpSpPr/>
          <p:nvPr/>
        </p:nvGrpSpPr>
        <p:grpSpPr>
          <a:xfrm>
            <a:off x="286653" y="116633"/>
            <a:ext cx="11618694" cy="6681374"/>
            <a:chOff x="286653" y="116633"/>
            <a:chExt cx="11618694" cy="6681374"/>
          </a:xfrm>
        </p:grpSpPr>
        <p:grpSp>
          <p:nvGrpSpPr>
            <p:cNvPr id="21" name="组合 20">
              <a:extLst>
                <a:ext uri="{FF2B5EF4-FFF2-40B4-BE49-F238E27FC236}">
                  <a16:creationId xmlns:a16="http://schemas.microsoft.com/office/drawing/2014/main" id="{ADE7E934-A396-4E05-A413-0B55170D945E}"/>
                </a:ext>
              </a:extLst>
            </p:cNvPr>
            <p:cNvGrpSpPr/>
            <p:nvPr/>
          </p:nvGrpSpPr>
          <p:grpSpPr>
            <a:xfrm>
              <a:off x="335361" y="116633"/>
              <a:ext cx="629872" cy="612768"/>
              <a:chOff x="3070727" y="196457"/>
              <a:chExt cx="692047" cy="673255"/>
            </a:xfrm>
          </p:grpSpPr>
          <p:sp>
            <p:nvSpPr>
              <p:cNvPr id="26" name="平行四边形 25">
                <a:extLst>
                  <a:ext uri="{FF2B5EF4-FFF2-40B4-BE49-F238E27FC236}">
                    <a16:creationId xmlns:a16="http://schemas.microsoft.com/office/drawing/2014/main" id="{A80BB8F5-982E-4E8F-9D17-0AADEA28054E}"/>
                  </a:ext>
                </a:extLst>
              </p:cNvPr>
              <p:cNvSpPr/>
              <p:nvPr/>
            </p:nvSpPr>
            <p:spPr>
              <a:xfrm>
                <a:off x="3070727" y="196457"/>
                <a:ext cx="629587" cy="612775"/>
              </a:xfrm>
              <a:prstGeom prst="parallelogram">
                <a:avLst/>
              </a:prstGeom>
              <a:solidFill>
                <a:srgbClr val="6B0261"/>
              </a:solidFill>
              <a:ln w="25400" cap="flat" cmpd="sng" algn="ctr">
                <a:solidFill>
                  <a:srgbClr val="6B026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27" name="平行四边形 26">
                <a:extLst>
                  <a:ext uri="{FF2B5EF4-FFF2-40B4-BE49-F238E27FC236}">
                    <a16:creationId xmlns:a16="http://schemas.microsoft.com/office/drawing/2014/main" id="{5971BFFE-BCA4-473F-9549-01DF1DFC4F38}"/>
                  </a:ext>
                </a:extLst>
              </p:cNvPr>
              <p:cNvSpPr/>
              <p:nvPr/>
            </p:nvSpPr>
            <p:spPr>
              <a:xfrm>
                <a:off x="3133187" y="256937"/>
                <a:ext cx="629587" cy="612775"/>
              </a:xfrm>
              <a:prstGeom prst="parallelogram">
                <a:avLst/>
              </a:prstGeom>
              <a:noFill/>
              <a:ln w="25400" cap="flat" cmpd="sng" algn="ctr">
                <a:solidFill>
                  <a:srgbClr val="6B026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cxnSp>
          <p:nvCxnSpPr>
            <p:cNvPr id="22" name="直接连接符 21">
              <a:extLst>
                <a:ext uri="{FF2B5EF4-FFF2-40B4-BE49-F238E27FC236}">
                  <a16:creationId xmlns:a16="http://schemas.microsoft.com/office/drawing/2014/main" id="{956B360A-A327-4D64-8405-C1E76B472343}"/>
                </a:ext>
              </a:extLst>
            </p:cNvPr>
            <p:cNvCxnSpPr>
              <a:cxnSpLocks/>
            </p:cNvCxnSpPr>
            <p:nvPr/>
          </p:nvCxnSpPr>
          <p:spPr>
            <a:xfrm>
              <a:off x="367840" y="809674"/>
              <a:ext cx="11488800" cy="0"/>
            </a:xfrm>
            <a:prstGeom prst="line">
              <a:avLst/>
            </a:prstGeom>
            <a:noFill/>
            <a:ln w="9525" cap="flat" cmpd="sng" algn="ctr">
              <a:solidFill>
                <a:srgbClr val="6B0261"/>
              </a:solidFill>
              <a:prstDash val="solid"/>
            </a:ln>
            <a:effectLst/>
          </p:spPr>
        </p:cxnSp>
        <p:sp>
          <p:nvSpPr>
            <p:cNvPr id="23" name="文本占位符 5">
              <a:extLst>
                <a:ext uri="{FF2B5EF4-FFF2-40B4-BE49-F238E27FC236}">
                  <a16:creationId xmlns:a16="http://schemas.microsoft.com/office/drawing/2014/main" id="{D95C22E1-B9AE-4878-B952-F2D914F7C28E}"/>
                </a:ext>
              </a:extLst>
            </p:cNvPr>
            <p:cNvSpPr txBox="1">
              <a:spLocks/>
            </p:cNvSpPr>
            <p:nvPr/>
          </p:nvSpPr>
          <p:spPr>
            <a:xfrm>
              <a:off x="1075777" y="214065"/>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zh-CN" altLang="en-US" sz="3200" b="1" dirty="0">
                  <a:solidFill>
                    <a:srgbClr val="6B0261"/>
                  </a:solidFill>
                  <a:latin typeface="微软雅黑" panose="020B0503020204020204" pitchFamily="34" charset="-122"/>
                  <a:ea typeface="微软雅黑" panose="020B0503020204020204" pitchFamily="34" charset="-122"/>
                </a:rPr>
                <a:t>研究背景与痛点</a:t>
              </a:r>
            </a:p>
          </p:txBody>
        </p:sp>
        <p:sp>
          <p:nvSpPr>
            <p:cNvPr id="24" name="文本框 23">
              <a:extLst>
                <a:ext uri="{FF2B5EF4-FFF2-40B4-BE49-F238E27FC236}">
                  <a16:creationId xmlns:a16="http://schemas.microsoft.com/office/drawing/2014/main" id="{121FD0EB-46D5-4623-8523-4874D0AAB7CF}"/>
                </a:ext>
              </a:extLst>
            </p:cNvPr>
            <p:cNvSpPr txBox="1"/>
            <p:nvPr/>
          </p:nvSpPr>
          <p:spPr>
            <a:xfrm>
              <a:off x="10805366" y="642867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25" name="图片 24">
              <a:extLst>
                <a:ext uri="{FF2B5EF4-FFF2-40B4-BE49-F238E27FC236}">
                  <a16:creationId xmlns:a16="http://schemas.microsoft.com/office/drawing/2014/main" id="{641C5E9E-B80C-4C09-8EB6-7A19450AD47B}"/>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a:stretch/>
          </p:blipFill>
          <p:spPr>
            <a:xfrm>
              <a:off x="286653" y="6425619"/>
              <a:ext cx="2520534" cy="369332"/>
            </a:xfrm>
            <a:prstGeom prst="rect">
              <a:avLst/>
            </a:prstGeom>
          </p:spPr>
        </p:pic>
      </p:grpSp>
      <p:grpSp>
        <p:nvGrpSpPr>
          <p:cNvPr id="51" name="组合 50">
            <a:extLst>
              <a:ext uri="{FF2B5EF4-FFF2-40B4-BE49-F238E27FC236}">
                <a16:creationId xmlns:a16="http://schemas.microsoft.com/office/drawing/2014/main" id="{097FFE8F-E67B-48ED-BF99-9B6AC289485F}"/>
              </a:ext>
            </a:extLst>
          </p:cNvPr>
          <p:cNvGrpSpPr/>
          <p:nvPr/>
        </p:nvGrpSpPr>
        <p:grpSpPr>
          <a:xfrm>
            <a:off x="9938479" y="77827"/>
            <a:ext cx="2017490" cy="675447"/>
            <a:chOff x="995884" y="398899"/>
            <a:chExt cx="3658781" cy="1224944"/>
          </a:xfrm>
        </p:grpSpPr>
        <p:pic>
          <p:nvPicPr>
            <p:cNvPr id="52" name="图片 51">
              <a:extLst>
                <a:ext uri="{FF2B5EF4-FFF2-40B4-BE49-F238E27FC236}">
                  <a16:creationId xmlns:a16="http://schemas.microsoft.com/office/drawing/2014/main" id="{62615C2E-CB3A-4F42-9F58-32435467650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95884" y="398899"/>
              <a:ext cx="977348" cy="1224944"/>
            </a:xfrm>
            <a:prstGeom prst="rect">
              <a:avLst/>
            </a:prstGeom>
          </p:spPr>
        </p:pic>
        <p:pic>
          <p:nvPicPr>
            <p:cNvPr id="53" name="图片 52">
              <a:extLst>
                <a:ext uri="{FF2B5EF4-FFF2-40B4-BE49-F238E27FC236}">
                  <a16:creationId xmlns:a16="http://schemas.microsoft.com/office/drawing/2014/main" id="{73D29D5B-717B-4005-8D58-91CFAA5C9AB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173707" y="405382"/>
              <a:ext cx="2384890" cy="796233"/>
            </a:xfrm>
            <a:prstGeom prst="rect">
              <a:avLst/>
            </a:prstGeom>
          </p:spPr>
        </p:pic>
        <p:sp>
          <p:nvSpPr>
            <p:cNvPr id="54" name="矩形 53">
              <a:extLst>
                <a:ext uri="{FF2B5EF4-FFF2-40B4-BE49-F238E27FC236}">
                  <a16:creationId xmlns:a16="http://schemas.microsoft.com/office/drawing/2014/main" id="{3853F067-9917-4C0C-8BE5-4A7F0D0D268C}"/>
                </a:ext>
              </a:extLst>
            </p:cNvPr>
            <p:cNvSpPr/>
            <p:nvPr/>
          </p:nvSpPr>
          <p:spPr>
            <a:xfrm>
              <a:off x="2069306" y="1138524"/>
              <a:ext cx="2585359" cy="46048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rPr>
                <a:t>NANJING UNIVERSITY</a:t>
              </a:r>
              <a:endParaRPr kumimoji="0" lang="zh-CN" altLang="en-US" sz="105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endParaRPr>
            </a:p>
          </p:txBody>
        </p:sp>
      </p:grpSp>
      <p:sp>
        <p:nvSpPr>
          <p:cNvPr id="31" name="íŝḷïḓè">
            <a:extLst>
              <a:ext uri="{FF2B5EF4-FFF2-40B4-BE49-F238E27FC236}">
                <a16:creationId xmlns:a16="http://schemas.microsoft.com/office/drawing/2014/main" id="{D856A71F-9BD4-4B59-AADB-5BE7693C9A06}"/>
              </a:ext>
            </a:extLst>
          </p:cNvPr>
          <p:cNvSpPr/>
          <p:nvPr/>
        </p:nvSpPr>
        <p:spPr bwMode="auto">
          <a:xfrm>
            <a:off x="5828824" y="4147130"/>
            <a:ext cx="338337" cy="366161"/>
          </a:xfrm>
          <a:custGeom>
            <a:avLst/>
            <a:gdLst>
              <a:gd name="connsiteX0" fmla="*/ 327780 w 561933"/>
              <a:gd name="connsiteY0" fmla="*/ 406780 h 608145"/>
              <a:gd name="connsiteX1" fmla="*/ 285069 w 561933"/>
              <a:gd name="connsiteY1" fmla="*/ 449434 h 608145"/>
              <a:gd name="connsiteX2" fmla="*/ 327780 w 561933"/>
              <a:gd name="connsiteY2" fmla="*/ 492088 h 608145"/>
              <a:gd name="connsiteX3" fmla="*/ 370490 w 561933"/>
              <a:gd name="connsiteY3" fmla="*/ 449434 h 608145"/>
              <a:gd name="connsiteX4" fmla="*/ 327780 w 561933"/>
              <a:gd name="connsiteY4" fmla="*/ 406780 h 608145"/>
              <a:gd name="connsiteX5" fmla="*/ 91381 w 561933"/>
              <a:gd name="connsiteY5" fmla="*/ 406780 h 608145"/>
              <a:gd name="connsiteX6" fmla="*/ 49664 w 561933"/>
              <a:gd name="connsiteY6" fmla="*/ 449434 h 608145"/>
              <a:gd name="connsiteX7" fmla="*/ 91381 w 561933"/>
              <a:gd name="connsiteY7" fmla="*/ 492088 h 608145"/>
              <a:gd name="connsiteX8" fmla="*/ 134092 w 561933"/>
              <a:gd name="connsiteY8" fmla="*/ 449434 h 608145"/>
              <a:gd name="connsiteX9" fmla="*/ 91381 w 561933"/>
              <a:gd name="connsiteY9" fmla="*/ 406780 h 608145"/>
              <a:gd name="connsiteX10" fmla="*/ 130119 w 561933"/>
              <a:gd name="connsiteY10" fmla="*/ 162762 h 608145"/>
              <a:gd name="connsiteX11" fmla="*/ 50657 w 561933"/>
              <a:gd name="connsiteY11" fmla="*/ 243110 h 608145"/>
              <a:gd name="connsiteX12" fmla="*/ 50657 w 561933"/>
              <a:gd name="connsiteY12" fmla="*/ 312546 h 608145"/>
              <a:gd name="connsiteX13" fmla="*/ 78468 w 561933"/>
              <a:gd name="connsiteY13" fmla="*/ 341312 h 608145"/>
              <a:gd name="connsiteX14" fmla="*/ 340692 w 561933"/>
              <a:gd name="connsiteY14" fmla="*/ 341312 h 608145"/>
              <a:gd name="connsiteX15" fmla="*/ 369497 w 561933"/>
              <a:gd name="connsiteY15" fmla="*/ 312546 h 608145"/>
              <a:gd name="connsiteX16" fmla="*/ 369497 w 561933"/>
              <a:gd name="connsiteY16" fmla="*/ 243110 h 608145"/>
              <a:gd name="connsiteX17" fmla="*/ 289042 w 561933"/>
              <a:gd name="connsiteY17" fmla="*/ 162762 h 608145"/>
              <a:gd name="connsiteX18" fmla="*/ 127139 w 561933"/>
              <a:gd name="connsiteY18" fmla="*/ 99278 h 608145"/>
              <a:gd name="connsiteX19" fmla="*/ 293015 w 561933"/>
              <a:gd name="connsiteY19" fmla="*/ 99278 h 608145"/>
              <a:gd name="connsiteX20" fmla="*/ 420154 w 561933"/>
              <a:gd name="connsiteY20" fmla="*/ 226247 h 608145"/>
              <a:gd name="connsiteX21" fmla="*/ 420154 w 561933"/>
              <a:gd name="connsiteY21" fmla="*/ 486136 h 608145"/>
              <a:gd name="connsiteX22" fmla="*/ 382410 w 561933"/>
              <a:gd name="connsiteY22" fmla="*/ 541685 h 608145"/>
              <a:gd name="connsiteX23" fmla="*/ 382410 w 561933"/>
              <a:gd name="connsiteY23" fmla="*/ 561524 h 608145"/>
              <a:gd name="connsiteX24" fmla="*/ 334733 w 561933"/>
              <a:gd name="connsiteY24" fmla="*/ 608145 h 608145"/>
              <a:gd name="connsiteX25" fmla="*/ 326786 w 561933"/>
              <a:gd name="connsiteY25" fmla="*/ 608145 h 608145"/>
              <a:gd name="connsiteX26" fmla="*/ 280103 w 561933"/>
              <a:gd name="connsiteY26" fmla="*/ 561524 h 608145"/>
              <a:gd name="connsiteX27" fmla="*/ 280103 w 561933"/>
              <a:gd name="connsiteY27" fmla="*/ 544661 h 608145"/>
              <a:gd name="connsiteX28" fmla="*/ 140051 w 561933"/>
              <a:gd name="connsiteY28" fmla="*/ 544661 h 608145"/>
              <a:gd name="connsiteX29" fmla="*/ 140051 w 561933"/>
              <a:gd name="connsiteY29" fmla="*/ 561524 h 608145"/>
              <a:gd name="connsiteX30" fmla="*/ 92374 w 561933"/>
              <a:gd name="connsiteY30" fmla="*/ 608145 h 608145"/>
              <a:gd name="connsiteX31" fmla="*/ 84428 w 561933"/>
              <a:gd name="connsiteY31" fmla="*/ 608145 h 608145"/>
              <a:gd name="connsiteX32" fmla="*/ 37744 w 561933"/>
              <a:gd name="connsiteY32" fmla="*/ 561524 h 608145"/>
              <a:gd name="connsiteX33" fmla="*/ 37744 w 561933"/>
              <a:gd name="connsiteY33" fmla="*/ 541685 h 608145"/>
              <a:gd name="connsiteX34" fmla="*/ 0 w 561933"/>
              <a:gd name="connsiteY34" fmla="*/ 486136 h 608145"/>
              <a:gd name="connsiteX35" fmla="*/ 0 w 561933"/>
              <a:gd name="connsiteY35" fmla="*/ 226247 h 608145"/>
              <a:gd name="connsiteX36" fmla="*/ 127139 w 561933"/>
              <a:gd name="connsiteY36" fmla="*/ 99278 h 608145"/>
              <a:gd name="connsiteX37" fmla="*/ 408232 w 561933"/>
              <a:gd name="connsiteY37" fmla="*/ 74504 h 608145"/>
              <a:gd name="connsiteX38" fmla="*/ 424139 w 561933"/>
              <a:gd name="connsiteY38" fmla="*/ 75495 h 608145"/>
              <a:gd name="connsiteX39" fmla="*/ 486772 w 561933"/>
              <a:gd name="connsiteY39" fmla="*/ 185587 h 608145"/>
              <a:gd name="connsiteX40" fmla="*/ 479813 w 561933"/>
              <a:gd name="connsiteY40" fmla="*/ 199473 h 608145"/>
              <a:gd name="connsiteX41" fmla="*/ 464901 w 561933"/>
              <a:gd name="connsiteY41" fmla="*/ 202448 h 608145"/>
              <a:gd name="connsiteX42" fmla="*/ 462912 w 561933"/>
              <a:gd name="connsiteY42" fmla="*/ 201456 h 608145"/>
              <a:gd name="connsiteX43" fmla="*/ 448994 w 561933"/>
              <a:gd name="connsiteY43" fmla="*/ 183604 h 608145"/>
              <a:gd name="connsiteX44" fmla="*/ 406244 w 561933"/>
              <a:gd name="connsiteY44" fmla="*/ 109217 h 608145"/>
              <a:gd name="connsiteX45" fmla="*/ 397296 w 561933"/>
              <a:gd name="connsiteY45" fmla="*/ 89381 h 608145"/>
              <a:gd name="connsiteX46" fmla="*/ 398291 w 561933"/>
              <a:gd name="connsiteY46" fmla="*/ 87397 h 608145"/>
              <a:gd name="connsiteX47" fmla="*/ 408232 w 561933"/>
              <a:gd name="connsiteY47" fmla="*/ 74504 h 608145"/>
              <a:gd name="connsiteX48" fmla="*/ 439969 w 561933"/>
              <a:gd name="connsiteY48" fmla="*/ 1081 h 608145"/>
              <a:gd name="connsiteX49" fmla="*/ 560176 w 561933"/>
              <a:gd name="connsiteY49" fmla="*/ 205408 h 608145"/>
              <a:gd name="connsiteX50" fmla="*/ 552228 w 561933"/>
              <a:gd name="connsiteY50" fmla="*/ 217311 h 608145"/>
              <a:gd name="connsiteX51" fmla="*/ 537326 w 561933"/>
              <a:gd name="connsiteY51" fmla="*/ 220286 h 608145"/>
              <a:gd name="connsiteX52" fmla="*/ 535340 w 561933"/>
              <a:gd name="connsiteY52" fmla="*/ 219294 h 608145"/>
              <a:gd name="connsiteX53" fmla="*/ 522425 w 561933"/>
              <a:gd name="connsiteY53" fmla="*/ 199457 h 608145"/>
              <a:gd name="connsiteX54" fmla="*/ 426061 w 561933"/>
              <a:gd name="connsiteY54" fmla="*/ 36788 h 608145"/>
              <a:gd name="connsiteX55" fmla="*/ 416126 w 561933"/>
              <a:gd name="connsiteY55" fmla="*/ 15959 h 608145"/>
              <a:gd name="connsiteX56" fmla="*/ 416126 w 561933"/>
              <a:gd name="connsiteY56" fmla="*/ 13975 h 608145"/>
              <a:gd name="connsiteX57" fmla="*/ 425067 w 561933"/>
              <a:gd name="connsiteY57" fmla="*/ 2073 h 608145"/>
              <a:gd name="connsiteX58" fmla="*/ 439969 w 561933"/>
              <a:gd name="connsiteY58" fmla="*/ 1081 h 608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61933" h="608145">
                <a:moveTo>
                  <a:pt x="327780" y="406780"/>
                </a:moveTo>
                <a:cubicBezTo>
                  <a:pt x="303941" y="406780"/>
                  <a:pt x="285069" y="425627"/>
                  <a:pt x="285069" y="449434"/>
                </a:cubicBezTo>
                <a:cubicBezTo>
                  <a:pt x="285069" y="473241"/>
                  <a:pt x="303941" y="492088"/>
                  <a:pt x="327780" y="492088"/>
                </a:cubicBezTo>
                <a:cubicBezTo>
                  <a:pt x="350625" y="492088"/>
                  <a:pt x="370490" y="473241"/>
                  <a:pt x="370490" y="449434"/>
                </a:cubicBezTo>
                <a:cubicBezTo>
                  <a:pt x="370490" y="425627"/>
                  <a:pt x="350625" y="406780"/>
                  <a:pt x="327780" y="406780"/>
                </a:cubicBezTo>
                <a:close/>
                <a:moveTo>
                  <a:pt x="91381" y="406780"/>
                </a:moveTo>
                <a:cubicBezTo>
                  <a:pt x="68536" y="406780"/>
                  <a:pt x="49664" y="425627"/>
                  <a:pt x="49664" y="449434"/>
                </a:cubicBezTo>
                <a:cubicBezTo>
                  <a:pt x="49664" y="473241"/>
                  <a:pt x="68536" y="492088"/>
                  <a:pt x="91381" y="492088"/>
                </a:cubicBezTo>
                <a:cubicBezTo>
                  <a:pt x="115220" y="492088"/>
                  <a:pt x="134092" y="473241"/>
                  <a:pt x="134092" y="449434"/>
                </a:cubicBezTo>
                <a:cubicBezTo>
                  <a:pt x="134092" y="425627"/>
                  <a:pt x="115220" y="406780"/>
                  <a:pt x="91381" y="406780"/>
                </a:cubicBezTo>
                <a:close/>
                <a:moveTo>
                  <a:pt x="130119" y="162762"/>
                </a:moveTo>
                <a:cubicBezTo>
                  <a:pt x="86415" y="162762"/>
                  <a:pt x="50657" y="198472"/>
                  <a:pt x="50657" y="243110"/>
                </a:cubicBezTo>
                <a:lnTo>
                  <a:pt x="50657" y="312546"/>
                </a:lnTo>
                <a:cubicBezTo>
                  <a:pt x="50657" y="328417"/>
                  <a:pt x="62576" y="341312"/>
                  <a:pt x="78468" y="341312"/>
                </a:cubicBezTo>
                <a:lnTo>
                  <a:pt x="340692" y="341312"/>
                </a:lnTo>
                <a:cubicBezTo>
                  <a:pt x="356585" y="341312"/>
                  <a:pt x="369497" y="328417"/>
                  <a:pt x="369497" y="312546"/>
                </a:cubicBezTo>
                <a:lnTo>
                  <a:pt x="369497" y="243110"/>
                </a:lnTo>
                <a:cubicBezTo>
                  <a:pt x="369497" y="198472"/>
                  <a:pt x="332746" y="162762"/>
                  <a:pt x="289042" y="162762"/>
                </a:cubicBezTo>
                <a:close/>
                <a:moveTo>
                  <a:pt x="127139" y="99278"/>
                </a:moveTo>
                <a:lnTo>
                  <a:pt x="293015" y="99278"/>
                </a:lnTo>
                <a:cubicBezTo>
                  <a:pt x="363538" y="99278"/>
                  <a:pt x="420154" y="155819"/>
                  <a:pt x="420154" y="226247"/>
                </a:cubicBezTo>
                <a:lnTo>
                  <a:pt x="420154" y="486136"/>
                </a:lnTo>
                <a:cubicBezTo>
                  <a:pt x="420154" y="511926"/>
                  <a:pt x="404262" y="532757"/>
                  <a:pt x="382410" y="541685"/>
                </a:cubicBezTo>
                <a:lnTo>
                  <a:pt x="382410" y="561524"/>
                </a:lnTo>
                <a:cubicBezTo>
                  <a:pt x="382410" y="587314"/>
                  <a:pt x="360558" y="608145"/>
                  <a:pt x="334733" y="608145"/>
                </a:cubicBezTo>
                <a:lnTo>
                  <a:pt x="326786" y="608145"/>
                </a:lnTo>
                <a:cubicBezTo>
                  <a:pt x="300961" y="608145"/>
                  <a:pt x="280103" y="587314"/>
                  <a:pt x="280103" y="561524"/>
                </a:cubicBezTo>
                <a:lnTo>
                  <a:pt x="280103" y="544661"/>
                </a:lnTo>
                <a:lnTo>
                  <a:pt x="140051" y="544661"/>
                </a:lnTo>
                <a:lnTo>
                  <a:pt x="140051" y="561524"/>
                </a:lnTo>
                <a:cubicBezTo>
                  <a:pt x="140051" y="587314"/>
                  <a:pt x="118199" y="608145"/>
                  <a:pt x="92374" y="608145"/>
                </a:cubicBezTo>
                <a:lnTo>
                  <a:pt x="84428" y="608145"/>
                </a:lnTo>
                <a:cubicBezTo>
                  <a:pt x="58603" y="608145"/>
                  <a:pt x="37744" y="587314"/>
                  <a:pt x="37744" y="561524"/>
                </a:cubicBezTo>
                <a:lnTo>
                  <a:pt x="37744" y="541685"/>
                </a:lnTo>
                <a:cubicBezTo>
                  <a:pt x="14899" y="532757"/>
                  <a:pt x="0" y="511926"/>
                  <a:pt x="0" y="486136"/>
                </a:cubicBezTo>
                <a:lnTo>
                  <a:pt x="0" y="226247"/>
                </a:lnTo>
                <a:cubicBezTo>
                  <a:pt x="0" y="155819"/>
                  <a:pt x="56616" y="99278"/>
                  <a:pt x="127139" y="99278"/>
                </a:cubicBezTo>
                <a:close/>
                <a:moveTo>
                  <a:pt x="408232" y="74504"/>
                </a:moveTo>
                <a:cubicBezTo>
                  <a:pt x="413203" y="72520"/>
                  <a:pt x="419168" y="72520"/>
                  <a:pt x="424139" y="75495"/>
                </a:cubicBezTo>
                <a:cubicBezTo>
                  <a:pt x="464901" y="96324"/>
                  <a:pt x="489755" y="139964"/>
                  <a:pt x="486772" y="185587"/>
                </a:cubicBezTo>
                <a:cubicBezTo>
                  <a:pt x="486772" y="190546"/>
                  <a:pt x="483790" y="195505"/>
                  <a:pt x="479813" y="199473"/>
                </a:cubicBezTo>
                <a:cubicBezTo>
                  <a:pt x="475836" y="202448"/>
                  <a:pt x="469871" y="203440"/>
                  <a:pt x="464901" y="202448"/>
                </a:cubicBezTo>
                <a:lnTo>
                  <a:pt x="462912" y="201456"/>
                </a:lnTo>
                <a:cubicBezTo>
                  <a:pt x="453965" y="199473"/>
                  <a:pt x="448994" y="191538"/>
                  <a:pt x="448994" y="183604"/>
                </a:cubicBezTo>
                <a:cubicBezTo>
                  <a:pt x="450982" y="152857"/>
                  <a:pt x="434081" y="123103"/>
                  <a:pt x="406244" y="109217"/>
                </a:cubicBezTo>
                <a:cubicBezTo>
                  <a:pt x="399285" y="105250"/>
                  <a:pt x="395308" y="97315"/>
                  <a:pt x="397296" y="89381"/>
                </a:cubicBezTo>
                <a:lnTo>
                  <a:pt x="398291" y="87397"/>
                </a:lnTo>
                <a:cubicBezTo>
                  <a:pt x="399285" y="81446"/>
                  <a:pt x="403261" y="77479"/>
                  <a:pt x="408232" y="74504"/>
                </a:cubicBezTo>
                <a:close/>
                <a:moveTo>
                  <a:pt x="439969" y="1081"/>
                </a:moveTo>
                <a:cubicBezTo>
                  <a:pt x="522425" y="32821"/>
                  <a:pt x="572097" y="118123"/>
                  <a:pt x="560176" y="205408"/>
                </a:cubicBezTo>
                <a:cubicBezTo>
                  <a:pt x="559182" y="210367"/>
                  <a:pt x="556202" y="214335"/>
                  <a:pt x="552228" y="217311"/>
                </a:cubicBezTo>
                <a:cubicBezTo>
                  <a:pt x="548254" y="220286"/>
                  <a:pt x="542294" y="221278"/>
                  <a:pt x="537326" y="220286"/>
                </a:cubicBezTo>
                <a:lnTo>
                  <a:pt x="535340" y="219294"/>
                </a:lnTo>
                <a:cubicBezTo>
                  <a:pt x="526399" y="217311"/>
                  <a:pt x="520438" y="208384"/>
                  <a:pt x="522425" y="199457"/>
                </a:cubicBezTo>
                <a:cubicBezTo>
                  <a:pt x="531366" y="130025"/>
                  <a:pt x="491628" y="62577"/>
                  <a:pt x="426061" y="36788"/>
                </a:cubicBezTo>
                <a:cubicBezTo>
                  <a:pt x="418113" y="33813"/>
                  <a:pt x="413146" y="24886"/>
                  <a:pt x="416126" y="15959"/>
                </a:cubicBezTo>
                <a:lnTo>
                  <a:pt x="416126" y="13975"/>
                </a:lnTo>
                <a:cubicBezTo>
                  <a:pt x="417120" y="9016"/>
                  <a:pt x="421094" y="4056"/>
                  <a:pt x="425067" y="2073"/>
                </a:cubicBezTo>
                <a:cubicBezTo>
                  <a:pt x="430035" y="89"/>
                  <a:pt x="435002" y="-903"/>
                  <a:pt x="439969" y="1081"/>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endParaRPr lang="zh-CN" altLang="en-US">
              <a:solidFill>
                <a:srgbClr val="000000"/>
              </a:solidFill>
              <a:latin typeface="Arial" panose="020F0502020204030204"/>
              <a:ea typeface="微软雅黑"/>
              <a:cs typeface="+mn-ea"/>
              <a:sym typeface="+mn-lt"/>
            </a:endParaRPr>
          </a:p>
        </p:txBody>
      </p:sp>
      <p:sp>
        <p:nvSpPr>
          <p:cNvPr id="42" name="ïslíḓé">
            <a:extLst>
              <a:ext uri="{FF2B5EF4-FFF2-40B4-BE49-F238E27FC236}">
                <a16:creationId xmlns:a16="http://schemas.microsoft.com/office/drawing/2014/main" id="{D963F65D-29F3-4197-9E86-7D71366741B4}"/>
              </a:ext>
            </a:extLst>
          </p:cNvPr>
          <p:cNvSpPr/>
          <p:nvPr/>
        </p:nvSpPr>
        <p:spPr bwMode="auto">
          <a:xfrm>
            <a:off x="5815461" y="5339493"/>
            <a:ext cx="363264" cy="320996"/>
          </a:xfrm>
          <a:custGeom>
            <a:avLst/>
            <a:gdLst>
              <a:gd name="connsiteX0" fmla="*/ 494452 w 603405"/>
              <a:gd name="connsiteY0" fmla="*/ 356003 h 533193"/>
              <a:gd name="connsiteX1" fmla="*/ 585270 w 603405"/>
              <a:gd name="connsiteY1" fmla="*/ 356003 h 533193"/>
              <a:gd name="connsiteX2" fmla="*/ 601782 w 603405"/>
              <a:gd name="connsiteY2" fmla="*/ 372480 h 533193"/>
              <a:gd name="connsiteX3" fmla="*/ 585270 w 603405"/>
              <a:gd name="connsiteY3" fmla="*/ 388957 h 533193"/>
              <a:gd name="connsiteX4" fmla="*/ 494452 w 603405"/>
              <a:gd name="connsiteY4" fmla="*/ 388957 h 533193"/>
              <a:gd name="connsiteX5" fmla="*/ 367511 w 603405"/>
              <a:gd name="connsiteY5" fmla="*/ 244227 h 533193"/>
              <a:gd name="connsiteX6" fmla="*/ 443780 w 603405"/>
              <a:gd name="connsiteY6" fmla="*/ 244227 h 533193"/>
              <a:gd name="connsiteX7" fmla="*/ 477411 w 603405"/>
              <a:gd name="connsiteY7" fmla="*/ 277633 h 533193"/>
              <a:gd name="connsiteX8" fmla="*/ 477861 w 603405"/>
              <a:gd name="connsiteY8" fmla="*/ 381744 h 533193"/>
              <a:gd name="connsiteX9" fmla="*/ 463748 w 603405"/>
              <a:gd name="connsiteY9" fmla="*/ 395975 h 533193"/>
              <a:gd name="connsiteX10" fmla="*/ 449486 w 603405"/>
              <a:gd name="connsiteY10" fmla="*/ 381894 h 533193"/>
              <a:gd name="connsiteX11" fmla="*/ 449035 w 603405"/>
              <a:gd name="connsiteY11" fmla="*/ 277782 h 533193"/>
              <a:gd name="connsiteX12" fmla="*/ 446033 w 603405"/>
              <a:gd name="connsiteY12" fmla="*/ 274786 h 533193"/>
              <a:gd name="connsiteX13" fmla="*/ 443030 w 603405"/>
              <a:gd name="connsiteY13" fmla="*/ 277782 h 533193"/>
              <a:gd name="connsiteX14" fmla="*/ 443330 w 603405"/>
              <a:gd name="connsiteY14" fmla="*/ 516116 h 533193"/>
              <a:gd name="connsiteX15" fmla="*/ 426215 w 603405"/>
              <a:gd name="connsiteY15" fmla="*/ 533193 h 533193"/>
              <a:gd name="connsiteX16" fmla="*/ 409249 w 603405"/>
              <a:gd name="connsiteY16" fmla="*/ 516116 h 533193"/>
              <a:gd name="connsiteX17" fmla="*/ 409249 w 603405"/>
              <a:gd name="connsiteY17" fmla="*/ 380096 h 533193"/>
              <a:gd name="connsiteX18" fmla="*/ 401893 w 603405"/>
              <a:gd name="connsiteY18" fmla="*/ 380096 h 533193"/>
              <a:gd name="connsiteX19" fmla="*/ 401893 w 603405"/>
              <a:gd name="connsiteY19" fmla="*/ 516116 h 533193"/>
              <a:gd name="connsiteX20" fmla="*/ 384778 w 603405"/>
              <a:gd name="connsiteY20" fmla="*/ 533193 h 533193"/>
              <a:gd name="connsiteX21" fmla="*/ 367812 w 603405"/>
              <a:gd name="connsiteY21" fmla="*/ 516116 h 533193"/>
              <a:gd name="connsiteX22" fmla="*/ 367812 w 603405"/>
              <a:gd name="connsiteY22" fmla="*/ 380096 h 533193"/>
              <a:gd name="connsiteX23" fmla="*/ 367812 w 603405"/>
              <a:gd name="connsiteY23" fmla="*/ 277782 h 533193"/>
              <a:gd name="connsiteX24" fmla="*/ 364959 w 603405"/>
              <a:gd name="connsiteY24" fmla="*/ 274936 h 533193"/>
              <a:gd name="connsiteX25" fmla="*/ 362257 w 603405"/>
              <a:gd name="connsiteY25" fmla="*/ 277782 h 533193"/>
              <a:gd name="connsiteX26" fmla="*/ 361656 w 603405"/>
              <a:gd name="connsiteY26" fmla="*/ 381894 h 533193"/>
              <a:gd name="connsiteX27" fmla="*/ 347544 w 603405"/>
              <a:gd name="connsiteY27" fmla="*/ 395975 h 533193"/>
              <a:gd name="connsiteX28" fmla="*/ 347393 w 603405"/>
              <a:gd name="connsiteY28" fmla="*/ 395975 h 533193"/>
              <a:gd name="connsiteX29" fmla="*/ 333281 w 603405"/>
              <a:gd name="connsiteY29" fmla="*/ 381744 h 533193"/>
              <a:gd name="connsiteX30" fmla="*/ 333881 w 603405"/>
              <a:gd name="connsiteY30" fmla="*/ 277633 h 533193"/>
              <a:gd name="connsiteX31" fmla="*/ 367511 w 603405"/>
              <a:gd name="connsiteY31" fmla="*/ 244227 h 533193"/>
              <a:gd name="connsiteX32" fmla="*/ 201525 w 603405"/>
              <a:gd name="connsiteY32" fmla="*/ 244227 h 533193"/>
              <a:gd name="connsiteX33" fmla="*/ 277906 w 603405"/>
              <a:gd name="connsiteY33" fmla="*/ 244227 h 533193"/>
              <a:gd name="connsiteX34" fmla="*/ 311520 w 603405"/>
              <a:gd name="connsiteY34" fmla="*/ 277633 h 533193"/>
              <a:gd name="connsiteX35" fmla="*/ 311970 w 603405"/>
              <a:gd name="connsiteY35" fmla="*/ 381744 h 533193"/>
              <a:gd name="connsiteX36" fmla="*/ 297864 w 603405"/>
              <a:gd name="connsiteY36" fmla="*/ 395975 h 533193"/>
              <a:gd name="connsiteX37" fmla="*/ 297714 w 603405"/>
              <a:gd name="connsiteY37" fmla="*/ 395975 h 533193"/>
              <a:gd name="connsiteX38" fmla="*/ 283608 w 603405"/>
              <a:gd name="connsiteY38" fmla="*/ 381894 h 533193"/>
              <a:gd name="connsiteX39" fmla="*/ 283008 w 603405"/>
              <a:gd name="connsiteY39" fmla="*/ 277782 h 533193"/>
              <a:gd name="connsiteX40" fmla="*/ 280007 w 603405"/>
              <a:gd name="connsiteY40" fmla="*/ 274786 h 533193"/>
              <a:gd name="connsiteX41" fmla="*/ 277156 w 603405"/>
              <a:gd name="connsiteY41" fmla="*/ 277782 h 533193"/>
              <a:gd name="connsiteX42" fmla="*/ 277456 w 603405"/>
              <a:gd name="connsiteY42" fmla="*/ 516116 h 533193"/>
              <a:gd name="connsiteX43" fmla="*/ 260349 w 603405"/>
              <a:gd name="connsiteY43" fmla="*/ 533193 h 533193"/>
              <a:gd name="connsiteX44" fmla="*/ 243242 w 603405"/>
              <a:gd name="connsiteY44" fmla="*/ 516116 h 533193"/>
              <a:gd name="connsiteX45" fmla="*/ 243242 w 603405"/>
              <a:gd name="connsiteY45" fmla="*/ 380096 h 533193"/>
              <a:gd name="connsiteX46" fmla="*/ 235889 w 603405"/>
              <a:gd name="connsiteY46" fmla="*/ 380096 h 533193"/>
              <a:gd name="connsiteX47" fmla="*/ 235889 w 603405"/>
              <a:gd name="connsiteY47" fmla="*/ 516116 h 533193"/>
              <a:gd name="connsiteX48" fmla="*/ 218932 w 603405"/>
              <a:gd name="connsiteY48" fmla="*/ 533193 h 533193"/>
              <a:gd name="connsiteX49" fmla="*/ 201825 w 603405"/>
              <a:gd name="connsiteY49" fmla="*/ 516116 h 533193"/>
              <a:gd name="connsiteX50" fmla="*/ 201825 w 603405"/>
              <a:gd name="connsiteY50" fmla="*/ 380096 h 533193"/>
              <a:gd name="connsiteX51" fmla="*/ 201825 w 603405"/>
              <a:gd name="connsiteY51" fmla="*/ 277782 h 533193"/>
              <a:gd name="connsiteX52" fmla="*/ 199124 w 603405"/>
              <a:gd name="connsiteY52" fmla="*/ 274936 h 533193"/>
              <a:gd name="connsiteX53" fmla="*/ 196423 w 603405"/>
              <a:gd name="connsiteY53" fmla="*/ 277782 h 533193"/>
              <a:gd name="connsiteX54" fmla="*/ 195822 w 603405"/>
              <a:gd name="connsiteY54" fmla="*/ 381894 h 533193"/>
              <a:gd name="connsiteX55" fmla="*/ 181567 w 603405"/>
              <a:gd name="connsiteY55" fmla="*/ 395975 h 533193"/>
              <a:gd name="connsiteX56" fmla="*/ 167461 w 603405"/>
              <a:gd name="connsiteY56" fmla="*/ 381744 h 533193"/>
              <a:gd name="connsiteX57" fmla="*/ 167911 w 603405"/>
              <a:gd name="connsiteY57" fmla="*/ 277633 h 533193"/>
              <a:gd name="connsiteX58" fmla="*/ 201525 w 603405"/>
              <a:gd name="connsiteY58" fmla="*/ 244227 h 533193"/>
              <a:gd name="connsiteX59" fmla="*/ 34214 w 603405"/>
              <a:gd name="connsiteY59" fmla="*/ 244227 h 533193"/>
              <a:gd name="connsiteX60" fmla="*/ 110445 w 603405"/>
              <a:gd name="connsiteY60" fmla="*/ 244227 h 533193"/>
              <a:gd name="connsiteX61" fmla="*/ 144059 w 603405"/>
              <a:gd name="connsiteY61" fmla="*/ 277633 h 533193"/>
              <a:gd name="connsiteX62" fmla="*/ 144509 w 603405"/>
              <a:gd name="connsiteY62" fmla="*/ 381744 h 533193"/>
              <a:gd name="connsiteX63" fmla="*/ 130403 w 603405"/>
              <a:gd name="connsiteY63" fmla="*/ 395975 h 533193"/>
              <a:gd name="connsiteX64" fmla="*/ 116147 w 603405"/>
              <a:gd name="connsiteY64" fmla="*/ 381894 h 533193"/>
              <a:gd name="connsiteX65" fmla="*/ 115697 w 603405"/>
              <a:gd name="connsiteY65" fmla="*/ 277782 h 533193"/>
              <a:gd name="connsiteX66" fmla="*/ 112696 w 603405"/>
              <a:gd name="connsiteY66" fmla="*/ 274786 h 533193"/>
              <a:gd name="connsiteX67" fmla="*/ 109694 w 603405"/>
              <a:gd name="connsiteY67" fmla="*/ 277782 h 533193"/>
              <a:gd name="connsiteX68" fmla="*/ 109995 w 603405"/>
              <a:gd name="connsiteY68" fmla="*/ 516116 h 533193"/>
              <a:gd name="connsiteX69" fmla="*/ 92888 w 603405"/>
              <a:gd name="connsiteY69" fmla="*/ 533193 h 533193"/>
              <a:gd name="connsiteX70" fmla="*/ 75931 w 603405"/>
              <a:gd name="connsiteY70" fmla="*/ 516116 h 533193"/>
              <a:gd name="connsiteX71" fmla="*/ 75931 w 603405"/>
              <a:gd name="connsiteY71" fmla="*/ 380096 h 533193"/>
              <a:gd name="connsiteX72" fmla="*/ 68578 w 603405"/>
              <a:gd name="connsiteY72" fmla="*/ 380096 h 533193"/>
              <a:gd name="connsiteX73" fmla="*/ 68578 w 603405"/>
              <a:gd name="connsiteY73" fmla="*/ 516116 h 533193"/>
              <a:gd name="connsiteX74" fmla="*/ 51471 w 603405"/>
              <a:gd name="connsiteY74" fmla="*/ 533193 h 533193"/>
              <a:gd name="connsiteX75" fmla="*/ 34364 w 603405"/>
              <a:gd name="connsiteY75" fmla="*/ 516116 h 533193"/>
              <a:gd name="connsiteX76" fmla="*/ 34364 w 603405"/>
              <a:gd name="connsiteY76" fmla="*/ 380096 h 533193"/>
              <a:gd name="connsiteX77" fmla="*/ 34364 w 603405"/>
              <a:gd name="connsiteY77" fmla="*/ 277782 h 533193"/>
              <a:gd name="connsiteX78" fmla="*/ 31663 w 603405"/>
              <a:gd name="connsiteY78" fmla="*/ 275086 h 533193"/>
              <a:gd name="connsiteX79" fmla="*/ 28962 w 603405"/>
              <a:gd name="connsiteY79" fmla="*/ 277782 h 533193"/>
              <a:gd name="connsiteX80" fmla="*/ 28361 w 603405"/>
              <a:gd name="connsiteY80" fmla="*/ 381894 h 533193"/>
              <a:gd name="connsiteX81" fmla="*/ 14256 w 603405"/>
              <a:gd name="connsiteY81" fmla="*/ 395975 h 533193"/>
              <a:gd name="connsiteX82" fmla="*/ 14106 w 603405"/>
              <a:gd name="connsiteY82" fmla="*/ 395975 h 533193"/>
              <a:gd name="connsiteX83" fmla="*/ 0 w 603405"/>
              <a:gd name="connsiteY83" fmla="*/ 381744 h 533193"/>
              <a:gd name="connsiteX84" fmla="*/ 600 w 603405"/>
              <a:gd name="connsiteY84" fmla="*/ 277633 h 533193"/>
              <a:gd name="connsiteX85" fmla="*/ 34214 w 603405"/>
              <a:gd name="connsiteY85" fmla="*/ 244227 h 533193"/>
              <a:gd name="connsiteX86" fmla="*/ 298774 w 603405"/>
              <a:gd name="connsiteY86" fmla="*/ 232090 h 533193"/>
              <a:gd name="connsiteX87" fmla="*/ 346547 w 603405"/>
              <a:gd name="connsiteY87" fmla="*/ 232090 h 533193"/>
              <a:gd name="connsiteX88" fmla="*/ 322660 w 603405"/>
              <a:gd name="connsiteY88" fmla="*/ 254883 h 533193"/>
              <a:gd name="connsiteX89" fmla="*/ 298774 w 603405"/>
              <a:gd name="connsiteY89" fmla="*/ 232090 h 533193"/>
              <a:gd name="connsiteX90" fmla="*/ 405716 w 603405"/>
              <a:gd name="connsiteY90" fmla="*/ 176061 h 533193"/>
              <a:gd name="connsiteX91" fmla="*/ 435177 w 603405"/>
              <a:gd name="connsiteY91" fmla="*/ 205417 h 533193"/>
              <a:gd name="connsiteX92" fmla="*/ 405716 w 603405"/>
              <a:gd name="connsiteY92" fmla="*/ 234773 h 533193"/>
              <a:gd name="connsiteX93" fmla="*/ 376255 w 603405"/>
              <a:gd name="connsiteY93" fmla="*/ 205417 h 533193"/>
              <a:gd name="connsiteX94" fmla="*/ 405716 w 603405"/>
              <a:gd name="connsiteY94" fmla="*/ 176061 h 533193"/>
              <a:gd name="connsiteX95" fmla="*/ 239817 w 603405"/>
              <a:gd name="connsiteY95" fmla="*/ 176061 h 533193"/>
              <a:gd name="connsiteX96" fmla="*/ 269208 w 603405"/>
              <a:gd name="connsiteY96" fmla="*/ 205417 h 533193"/>
              <a:gd name="connsiteX97" fmla="*/ 239817 w 603405"/>
              <a:gd name="connsiteY97" fmla="*/ 234773 h 533193"/>
              <a:gd name="connsiteX98" fmla="*/ 210426 w 603405"/>
              <a:gd name="connsiteY98" fmla="*/ 205417 h 533193"/>
              <a:gd name="connsiteX99" fmla="*/ 239817 w 603405"/>
              <a:gd name="connsiteY99" fmla="*/ 176061 h 533193"/>
              <a:gd name="connsiteX100" fmla="*/ 72325 w 603405"/>
              <a:gd name="connsiteY100" fmla="*/ 176061 h 533193"/>
              <a:gd name="connsiteX101" fmla="*/ 101897 w 603405"/>
              <a:gd name="connsiteY101" fmla="*/ 205416 h 533193"/>
              <a:gd name="connsiteX102" fmla="*/ 72325 w 603405"/>
              <a:gd name="connsiteY102" fmla="*/ 234772 h 533193"/>
              <a:gd name="connsiteX103" fmla="*/ 42904 w 603405"/>
              <a:gd name="connsiteY103" fmla="*/ 205416 h 533193"/>
              <a:gd name="connsiteX104" fmla="*/ 72325 w 603405"/>
              <a:gd name="connsiteY104" fmla="*/ 176061 h 533193"/>
              <a:gd name="connsiteX105" fmla="*/ 1200 w 603405"/>
              <a:gd name="connsiteY105" fmla="*/ 56241 h 533193"/>
              <a:gd name="connsiteX106" fmla="*/ 384613 w 603405"/>
              <a:gd name="connsiteY106" fmla="*/ 56241 h 533193"/>
              <a:gd name="connsiteX107" fmla="*/ 603405 w 603405"/>
              <a:gd name="connsiteY107" fmla="*/ 274494 h 533193"/>
              <a:gd name="connsiteX108" fmla="*/ 540979 w 603405"/>
              <a:gd name="connsiteY108" fmla="*/ 336809 h 533193"/>
              <a:gd name="connsiteX109" fmla="*/ 494459 w 603405"/>
              <a:gd name="connsiteY109" fmla="*/ 336809 h 533193"/>
              <a:gd name="connsiteX110" fmla="*/ 494159 w 603405"/>
              <a:gd name="connsiteY110" fmla="*/ 277490 h 533193"/>
              <a:gd name="connsiteX111" fmla="*/ 464747 w 603405"/>
              <a:gd name="connsiteY111" fmla="*/ 232102 h 533193"/>
              <a:gd name="connsiteX112" fmla="*/ 551333 w 603405"/>
              <a:gd name="connsiteY112" fmla="*/ 232102 h 533193"/>
              <a:gd name="connsiteX113" fmla="*/ 551483 w 603405"/>
              <a:gd name="connsiteY113" fmla="*/ 232102 h 533193"/>
              <a:gd name="connsiteX114" fmla="*/ 557636 w 603405"/>
              <a:gd name="connsiteY114" fmla="*/ 228806 h 533193"/>
              <a:gd name="connsiteX115" fmla="*/ 558236 w 603405"/>
              <a:gd name="connsiteY115" fmla="*/ 221766 h 533193"/>
              <a:gd name="connsiteX116" fmla="*/ 504663 w 603405"/>
              <a:gd name="connsiteY116" fmla="*/ 136532 h 533193"/>
              <a:gd name="connsiteX117" fmla="*/ 415676 w 603405"/>
              <a:gd name="connsiteY117" fmla="*/ 97585 h 533193"/>
              <a:gd name="connsiteX118" fmla="*/ 397968 w 603405"/>
              <a:gd name="connsiteY118" fmla="*/ 97585 h 533193"/>
              <a:gd name="connsiteX119" fmla="*/ 397968 w 603405"/>
              <a:gd name="connsiteY119" fmla="*/ 159900 h 533193"/>
              <a:gd name="connsiteX120" fmla="*/ 364954 w 603405"/>
              <a:gd name="connsiteY120" fmla="*/ 183568 h 533193"/>
              <a:gd name="connsiteX121" fmla="*/ 364954 w 603405"/>
              <a:gd name="connsiteY121" fmla="*/ 97585 h 533193"/>
              <a:gd name="connsiteX122" fmla="*/ 174223 w 603405"/>
              <a:gd name="connsiteY122" fmla="*/ 97585 h 533193"/>
              <a:gd name="connsiteX123" fmla="*/ 174223 w 603405"/>
              <a:gd name="connsiteY123" fmla="*/ 232102 h 533193"/>
              <a:gd name="connsiteX124" fmla="*/ 180526 w 603405"/>
              <a:gd name="connsiteY124" fmla="*/ 232102 h 533193"/>
              <a:gd name="connsiteX125" fmla="*/ 174223 w 603405"/>
              <a:gd name="connsiteY125" fmla="*/ 235547 h 533193"/>
              <a:gd name="connsiteX126" fmla="*/ 156065 w 603405"/>
              <a:gd name="connsiteY126" fmla="*/ 256369 h 533193"/>
              <a:gd name="connsiteX127" fmla="*/ 141209 w 603405"/>
              <a:gd name="connsiteY127" fmla="*/ 238093 h 533193"/>
              <a:gd name="connsiteX128" fmla="*/ 131455 w 603405"/>
              <a:gd name="connsiteY128" fmla="*/ 232102 h 533193"/>
              <a:gd name="connsiteX129" fmla="*/ 141209 w 603405"/>
              <a:gd name="connsiteY129" fmla="*/ 232102 h 533193"/>
              <a:gd name="connsiteX130" fmla="*/ 141209 w 603405"/>
              <a:gd name="connsiteY130" fmla="*/ 97585 h 533193"/>
              <a:gd name="connsiteX131" fmla="*/ 1200 w 603405"/>
              <a:gd name="connsiteY131" fmla="*/ 97585 h 533193"/>
              <a:gd name="connsiteX132" fmla="*/ 30337 w 603405"/>
              <a:gd name="connsiteY132" fmla="*/ 0 h 533193"/>
              <a:gd name="connsiteX133" fmla="*/ 450496 w 603405"/>
              <a:gd name="connsiteY133" fmla="*/ 0 h 533193"/>
              <a:gd name="connsiteX134" fmla="*/ 467002 w 603405"/>
              <a:gd name="connsiteY134" fmla="*/ 16512 h 533193"/>
              <a:gd name="connsiteX135" fmla="*/ 450496 w 603405"/>
              <a:gd name="connsiteY135" fmla="*/ 33025 h 533193"/>
              <a:gd name="connsiteX136" fmla="*/ 30337 w 603405"/>
              <a:gd name="connsiteY136" fmla="*/ 33025 h 533193"/>
              <a:gd name="connsiteX137" fmla="*/ 13831 w 603405"/>
              <a:gd name="connsiteY137" fmla="*/ 16512 h 533193"/>
              <a:gd name="connsiteX138" fmla="*/ 30337 w 603405"/>
              <a:gd name="connsiteY138" fmla="*/ 0 h 533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603405" h="533193">
                <a:moveTo>
                  <a:pt x="494452" y="356003"/>
                </a:moveTo>
                <a:lnTo>
                  <a:pt x="585270" y="356003"/>
                </a:lnTo>
                <a:cubicBezTo>
                  <a:pt x="594277" y="356003"/>
                  <a:pt x="601782" y="363343"/>
                  <a:pt x="601782" y="372480"/>
                </a:cubicBezTo>
                <a:cubicBezTo>
                  <a:pt x="601782" y="381617"/>
                  <a:pt x="594277" y="388957"/>
                  <a:pt x="585270" y="388957"/>
                </a:cubicBezTo>
                <a:lnTo>
                  <a:pt x="494452" y="388957"/>
                </a:lnTo>
                <a:close/>
                <a:moveTo>
                  <a:pt x="367511" y="244227"/>
                </a:moveTo>
                <a:lnTo>
                  <a:pt x="443780" y="244227"/>
                </a:lnTo>
                <a:cubicBezTo>
                  <a:pt x="462247" y="244227"/>
                  <a:pt x="477261" y="259207"/>
                  <a:pt x="477411" y="277633"/>
                </a:cubicBezTo>
                <a:lnTo>
                  <a:pt x="477861" y="381744"/>
                </a:lnTo>
                <a:cubicBezTo>
                  <a:pt x="478011" y="389534"/>
                  <a:pt x="471706" y="395975"/>
                  <a:pt x="463748" y="395975"/>
                </a:cubicBezTo>
                <a:cubicBezTo>
                  <a:pt x="455941" y="395975"/>
                  <a:pt x="449486" y="389684"/>
                  <a:pt x="449486" y="381894"/>
                </a:cubicBezTo>
                <a:lnTo>
                  <a:pt x="449035" y="277782"/>
                </a:lnTo>
                <a:cubicBezTo>
                  <a:pt x="449035" y="276135"/>
                  <a:pt x="447684" y="274786"/>
                  <a:pt x="446033" y="274786"/>
                </a:cubicBezTo>
                <a:cubicBezTo>
                  <a:pt x="444381" y="274786"/>
                  <a:pt x="443030" y="276135"/>
                  <a:pt x="443030" y="277782"/>
                </a:cubicBezTo>
                <a:cubicBezTo>
                  <a:pt x="443030" y="419944"/>
                  <a:pt x="443330" y="291115"/>
                  <a:pt x="443330" y="516116"/>
                </a:cubicBezTo>
                <a:cubicBezTo>
                  <a:pt x="443330" y="525553"/>
                  <a:pt x="435673" y="533193"/>
                  <a:pt x="426215" y="533193"/>
                </a:cubicBezTo>
                <a:cubicBezTo>
                  <a:pt x="416906" y="533193"/>
                  <a:pt x="409249" y="525553"/>
                  <a:pt x="409249" y="516116"/>
                </a:cubicBezTo>
                <a:lnTo>
                  <a:pt x="409249" y="380096"/>
                </a:lnTo>
                <a:lnTo>
                  <a:pt x="401893" y="380096"/>
                </a:lnTo>
                <a:lnTo>
                  <a:pt x="401893" y="516116"/>
                </a:lnTo>
                <a:cubicBezTo>
                  <a:pt x="401893" y="525553"/>
                  <a:pt x="394236" y="533193"/>
                  <a:pt x="384778" y="533193"/>
                </a:cubicBezTo>
                <a:cubicBezTo>
                  <a:pt x="375319" y="533193"/>
                  <a:pt x="367812" y="525553"/>
                  <a:pt x="367812" y="516116"/>
                </a:cubicBezTo>
                <a:lnTo>
                  <a:pt x="367812" y="380096"/>
                </a:lnTo>
                <a:lnTo>
                  <a:pt x="367812" y="277782"/>
                </a:lnTo>
                <a:cubicBezTo>
                  <a:pt x="367812" y="276284"/>
                  <a:pt x="366461" y="274936"/>
                  <a:pt x="364959" y="274936"/>
                </a:cubicBezTo>
                <a:cubicBezTo>
                  <a:pt x="363458" y="274936"/>
                  <a:pt x="362257" y="276284"/>
                  <a:pt x="362257" y="277782"/>
                </a:cubicBezTo>
                <a:lnTo>
                  <a:pt x="361656" y="381894"/>
                </a:lnTo>
                <a:cubicBezTo>
                  <a:pt x="361656" y="389684"/>
                  <a:pt x="355351" y="395975"/>
                  <a:pt x="347544" y="395975"/>
                </a:cubicBezTo>
                <a:lnTo>
                  <a:pt x="347393" y="395975"/>
                </a:lnTo>
                <a:cubicBezTo>
                  <a:pt x="339586" y="395975"/>
                  <a:pt x="333281" y="389534"/>
                  <a:pt x="333281" y="381744"/>
                </a:cubicBezTo>
                <a:lnTo>
                  <a:pt x="333881" y="277633"/>
                </a:lnTo>
                <a:cubicBezTo>
                  <a:pt x="333881" y="259207"/>
                  <a:pt x="349045" y="244227"/>
                  <a:pt x="367511" y="244227"/>
                </a:cubicBezTo>
                <a:close/>
                <a:moveTo>
                  <a:pt x="201525" y="244227"/>
                </a:moveTo>
                <a:lnTo>
                  <a:pt x="277906" y="244227"/>
                </a:lnTo>
                <a:cubicBezTo>
                  <a:pt x="296213" y="244227"/>
                  <a:pt x="311370" y="259207"/>
                  <a:pt x="311520" y="277633"/>
                </a:cubicBezTo>
                <a:lnTo>
                  <a:pt x="311970" y="381744"/>
                </a:lnTo>
                <a:cubicBezTo>
                  <a:pt x="311970" y="389534"/>
                  <a:pt x="305667" y="395975"/>
                  <a:pt x="297864" y="395975"/>
                </a:cubicBezTo>
                <a:lnTo>
                  <a:pt x="297714" y="395975"/>
                </a:lnTo>
                <a:cubicBezTo>
                  <a:pt x="289911" y="395975"/>
                  <a:pt x="283608" y="389684"/>
                  <a:pt x="283608" y="381894"/>
                </a:cubicBezTo>
                <a:lnTo>
                  <a:pt x="283008" y="277782"/>
                </a:lnTo>
                <a:cubicBezTo>
                  <a:pt x="283008" y="276135"/>
                  <a:pt x="281657" y="274786"/>
                  <a:pt x="280007" y="274786"/>
                </a:cubicBezTo>
                <a:cubicBezTo>
                  <a:pt x="278356" y="274786"/>
                  <a:pt x="277156" y="276135"/>
                  <a:pt x="277156" y="277782"/>
                </a:cubicBezTo>
                <a:cubicBezTo>
                  <a:pt x="277156" y="419944"/>
                  <a:pt x="277456" y="291115"/>
                  <a:pt x="277456" y="516116"/>
                </a:cubicBezTo>
                <a:cubicBezTo>
                  <a:pt x="277456" y="525553"/>
                  <a:pt x="269803" y="533193"/>
                  <a:pt x="260349" y="533193"/>
                </a:cubicBezTo>
                <a:cubicBezTo>
                  <a:pt x="250895" y="533193"/>
                  <a:pt x="243242" y="525553"/>
                  <a:pt x="243242" y="516116"/>
                </a:cubicBezTo>
                <a:lnTo>
                  <a:pt x="243242" y="380096"/>
                </a:lnTo>
                <a:lnTo>
                  <a:pt x="235889" y="380096"/>
                </a:lnTo>
                <a:lnTo>
                  <a:pt x="235889" y="516116"/>
                </a:lnTo>
                <a:cubicBezTo>
                  <a:pt x="235889" y="525553"/>
                  <a:pt x="228386" y="533193"/>
                  <a:pt x="218932" y="533193"/>
                </a:cubicBezTo>
                <a:cubicBezTo>
                  <a:pt x="209478" y="533193"/>
                  <a:pt x="201825" y="525553"/>
                  <a:pt x="201825" y="516116"/>
                </a:cubicBezTo>
                <a:lnTo>
                  <a:pt x="201825" y="380096"/>
                </a:lnTo>
                <a:lnTo>
                  <a:pt x="201825" y="277782"/>
                </a:lnTo>
                <a:cubicBezTo>
                  <a:pt x="201825" y="276284"/>
                  <a:pt x="200624" y="274936"/>
                  <a:pt x="199124" y="274936"/>
                </a:cubicBezTo>
                <a:cubicBezTo>
                  <a:pt x="197623" y="274936"/>
                  <a:pt x="196423" y="276284"/>
                  <a:pt x="196423" y="277782"/>
                </a:cubicBezTo>
                <a:lnTo>
                  <a:pt x="195822" y="381894"/>
                </a:lnTo>
                <a:cubicBezTo>
                  <a:pt x="195822" y="389684"/>
                  <a:pt x="189370" y="395975"/>
                  <a:pt x="181567" y="395975"/>
                </a:cubicBezTo>
                <a:cubicBezTo>
                  <a:pt x="173763" y="395975"/>
                  <a:pt x="167311" y="389534"/>
                  <a:pt x="167461" y="381744"/>
                </a:cubicBezTo>
                <a:lnTo>
                  <a:pt x="167911" y="277633"/>
                </a:lnTo>
                <a:cubicBezTo>
                  <a:pt x="168061" y="259207"/>
                  <a:pt x="183067" y="244227"/>
                  <a:pt x="201525" y="244227"/>
                </a:cubicBezTo>
                <a:close/>
                <a:moveTo>
                  <a:pt x="34214" y="244227"/>
                </a:moveTo>
                <a:lnTo>
                  <a:pt x="110445" y="244227"/>
                </a:lnTo>
                <a:cubicBezTo>
                  <a:pt x="128902" y="244227"/>
                  <a:pt x="143908" y="259207"/>
                  <a:pt x="144059" y="277633"/>
                </a:cubicBezTo>
                <a:lnTo>
                  <a:pt x="144509" y="381744"/>
                </a:lnTo>
                <a:cubicBezTo>
                  <a:pt x="144659" y="389534"/>
                  <a:pt x="138206" y="395975"/>
                  <a:pt x="130403" y="395975"/>
                </a:cubicBezTo>
                <a:cubicBezTo>
                  <a:pt x="122600" y="395975"/>
                  <a:pt x="116147" y="389684"/>
                  <a:pt x="116147" y="381894"/>
                </a:cubicBezTo>
                <a:lnTo>
                  <a:pt x="115697" y="277782"/>
                </a:lnTo>
                <a:cubicBezTo>
                  <a:pt x="115547" y="276135"/>
                  <a:pt x="114346" y="274786"/>
                  <a:pt x="112696" y="274786"/>
                </a:cubicBezTo>
                <a:cubicBezTo>
                  <a:pt x="111045" y="274786"/>
                  <a:pt x="109694" y="276135"/>
                  <a:pt x="109694" y="277782"/>
                </a:cubicBezTo>
                <a:cubicBezTo>
                  <a:pt x="109694" y="343695"/>
                  <a:pt x="109995" y="452450"/>
                  <a:pt x="109995" y="516116"/>
                </a:cubicBezTo>
                <a:cubicBezTo>
                  <a:pt x="109995" y="525553"/>
                  <a:pt x="102341" y="533193"/>
                  <a:pt x="92888" y="533193"/>
                </a:cubicBezTo>
                <a:cubicBezTo>
                  <a:pt x="83584" y="533193"/>
                  <a:pt x="75931" y="525553"/>
                  <a:pt x="75931" y="516116"/>
                </a:cubicBezTo>
                <a:lnTo>
                  <a:pt x="75931" y="380096"/>
                </a:lnTo>
                <a:lnTo>
                  <a:pt x="68578" y="380096"/>
                </a:lnTo>
                <a:lnTo>
                  <a:pt x="68578" y="516116"/>
                </a:lnTo>
                <a:cubicBezTo>
                  <a:pt x="68578" y="525553"/>
                  <a:pt x="60925" y="533193"/>
                  <a:pt x="51471" y="533193"/>
                </a:cubicBezTo>
                <a:cubicBezTo>
                  <a:pt x="42017" y="533193"/>
                  <a:pt x="34364" y="525553"/>
                  <a:pt x="34364" y="516116"/>
                </a:cubicBezTo>
                <a:lnTo>
                  <a:pt x="34364" y="380096"/>
                </a:lnTo>
                <a:lnTo>
                  <a:pt x="34364" y="277782"/>
                </a:lnTo>
                <a:cubicBezTo>
                  <a:pt x="34364" y="276284"/>
                  <a:pt x="33163" y="275086"/>
                  <a:pt x="31663" y="275086"/>
                </a:cubicBezTo>
                <a:cubicBezTo>
                  <a:pt x="30162" y="274936"/>
                  <a:pt x="28962" y="276284"/>
                  <a:pt x="28962" y="277782"/>
                </a:cubicBezTo>
                <a:lnTo>
                  <a:pt x="28361" y="381894"/>
                </a:lnTo>
                <a:cubicBezTo>
                  <a:pt x="28361" y="389684"/>
                  <a:pt x="22059" y="395975"/>
                  <a:pt x="14256" y="395975"/>
                </a:cubicBezTo>
                <a:lnTo>
                  <a:pt x="14106" y="395975"/>
                </a:lnTo>
                <a:cubicBezTo>
                  <a:pt x="6302" y="395975"/>
                  <a:pt x="0" y="389534"/>
                  <a:pt x="0" y="381744"/>
                </a:cubicBezTo>
                <a:lnTo>
                  <a:pt x="600" y="277633"/>
                </a:lnTo>
                <a:cubicBezTo>
                  <a:pt x="600" y="259207"/>
                  <a:pt x="15756" y="244227"/>
                  <a:pt x="34214" y="244227"/>
                </a:cubicBezTo>
                <a:close/>
                <a:moveTo>
                  <a:pt x="298774" y="232090"/>
                </a:moveTo>
                <a:lnTo>
                  <a:pt x="346547" y="232090"/>
                </a:lnTo>
                <a:cubicBezTo>
                  <a:pt x="336331" y="236739"/>
                  <a:pt x="327768" y="244836"/>
                  <a:pt x="322660" y="254883"/>
                </a:cubicBezTo>
                <a:cubicBezTo>
                  <a:pt x="317552" y="244836"/>
                  <a:pt x="309140" y="236739"/>
                  <a:pt x="298774" y="232090"/>
                </a:cubicBezTo>
                <a:close/>
                <a:moveTo>
                  <a:pt x="405716" y="176061"/>
                </a:moveTo>
                <a:cubicBezTo>
                  <a:pt x="421987" y="176061"/>
                  <a:pt x="435177" y="189204"/>
                  <a:pt x="435177" y="205417"/>
                </a:cubicBezTo>
                <a:cubicBezTo>
                  <a:pt x="435177" y="221630"/>
                  <a:pt x="421987" y="234773"/>
                  <a:pt x="405716" y="234773"/>
                </a:cubicBezTo>
                <a:cubicBezTo>
                  <a:pt x="389445" y="234773"/>
                  <a:pt x="376255" y="221630"/>
                  <a:pt x="376255" y="205417"/>
                </a:cubicBezTo>
                <a:cubicBezTo>
                  <a:pt x="376255" y="189204"/>
                  <a:pt x="389445" y="176061"/>
                  <a:pt x="405716" y="176061"/>
                </a:cubicBezTo>
                <a:close/>
                <a:moveTo>
                  <a:pt x="239817" y="176061"/>
                </a:moveTo>
                <a:cubicBezTo>
                  <a:pt x="256049" y="176061"/>
                  <a:pt x="269208" y="189204"/>
                  <a:pt x="269208" y="205417"/>
                </a:cubicBezTo>
                <a:cubicBezTo>
                  <a:pt x="269208" y="221630"/>
                  <a:pt x="256049" y="234773"/>
                  <a:pt x="239817" y="234773"/>
                </a:cubicBezTo>
                <a:cubicBezTo>
                  <a:pt x="223585" y="234773"/>
                  <a:pt x="210426" y="221630"/>
                  <a:pt x="210426" y="205417"/>
                </a:cubicBezTo>
                <a:cubicBezTo>
                  <a:pt x="210426" y="189204"/>
                  <a:pt x="223585" y="176061"/>
                  <a:pt x="239817" y="176061"/>
                </a:cubicBezTo>
                <a:close/>
                <a:moveTo>
                  <a:pt x="72325" y="176061"/>
                </a:moveTo>
                <a:cubicBezTo>
                  <a:pt x="88687" y="176061"/>
                  <a:pt x="101897" y="189241"/>
                  <a:pt x="101897" y="205416"/>
                </a:cubicBezTo>
                <a:cubicBezTo>
                  <a:pt x="101897" y="221592"/>
                  <a:pt x="88687" y="234772"/>
                  <a:pt x="72325" y="234772"/>
                </a:cubicBezTo>
                <a:cubicBezTo>
                  <a:pt x="56113" y="234772"/>
                  <a:pt x="42904" y="221592"/>
                  <a:pt x="42904" y="205416"/>
                </a:cubicBezTo>
                <a:cubicBezTo>
                  <a:pt x="42904" y="189241"/>
                  <a:pt x="55963" y="176061"/>
                  <a:pt x="72325" y="176061"/>
                </a:cubicBezTo>
                <a:close/>
                <a:moveTo>
                  <a:pt x="1200" y="56241"/>
                </a:moveTo>
                <a:lnTo>
                  <a:pt x="384613" y="56241"/>
                </a:lnTo>
                <a:cubicBezTo>
                  <a:pt x="505414" y="56241"/>
                  <a:pt x="603405" y="154058"/>
                  <a:pt x="603405" y="274494"/>
                </a:cubicBezTo>
                <a:cubicBezTo>
                  <a:pt x="603405" y="308947"/>
                  <a:pt x="575493" y="336809"/>
                  <a:pt x="540979" y="336809"/>
                </a:cubicBezTo>
                <a:lnTo>
                  <a:pt x="494459" y="336809"/>
                </a:lnTo>
                <a:lnTo>
                  <a:pt x="494159" y="277490"/>
                </a:lnTo>
                <a:cubicBezTo>
                  <a:pt x="494009" y="257417"/>
                  <a:pt x="482004" y="240041"/>
                  <a:pt x="464747" y="232102"/>
                </a:cubicBezTo>
                <a:lnTo>
                  <a:pt x="551333" y="232102"/>
                </a:lnTo>
                <a:lnTo>
                  <a:pt x="551483" y="232102"/>
                </a:lnTo>
                <a:cubicBezTo>
                  <a:pt x="553884" y="232102"/>
                  <a:pt x="556285" y="230753"/>
                  <a:pt x="557636" y="228806"/>
                </a:cubicBezTo>
                <a:cubicBezTo>
                  <a:pt x="558986" y="226709"/>
                  <a:pt x="559136" y="224013"/>
                  <a:pt x="558236" y="221766"/>
                </a:cubicBezTo>
                <a:cubicBezTo>
                  <a:pt x="550283" y="203790"/>
                  <a:pt x="531825" y="165892"/>
                  <a:pt x="504663" y="136532"/>
                </a:cubicBezTo>
                <a:cubicBezTo>
                  <a:pt x="481704" y="111666"/>
                  <a:pt x="449440" y="97585"/>
                  <a:pt x="415676" y="97585"/>
                </a:cubicBezTo>
                <a:lnTo>
                  <a:pt x="397968" y="97585"/>
                </a:lnTo>
                <a:lnTo>
                  <a:pt x="397968" y="159900"/>
                </a:lnTo>
                <a:cubicBezTo>
                  <a:pt x="383712" y="162297"/>
                  <a:pt x="371707" y="171284"/>
                  <a:pt x="364954" y="183568"/>
                </a:cubicBezTo>
                <a:lnTo>
                  <a:pt x="364954" y="97585"/>
                </a:lnTo>
                <a:lnTo>
                  <a:pt x="174223" y="97585"/>
                </a:lnTo>
                <a:lnTo>
                  <a:pt x="174223" y="232102"/>
                </a:lnTo>
                <a:lnTo>
                  <a:pt x="180526" y="232102"/>
                </a:lnTo>
                <a:cubicBezTo>
                  <a:pt x="178425" y="233150"/>
                  <a:pt x="176324" y="234199"/>
                  <a:pt x="174223" y="235547"/>
                </a:cubicBezTo>
                <a:cubicBezTo>
                  <a:pt x="166420" y="240640"/>
                  <a:pt x="159967" y="247830"/>
                  <a:pt x="156065" y="256369"/>
                </a:cubicBezTo>
                <a:cubicBezTo>
                  <a:pt x="152614" y="249178"/>
                  <a:pt x="147512" y="242887"/>
                  <a:pt x="141209" y="238093"/>
                </a:cubicBezTo>
                <a:cubicBezTo>
                  <a:pt x="138208" y="235697"/>
                  <a:pt x="134906" y="233749"/>
                  <a:pt x="131455" y="232102"/>
                </a:cubicBezTo>
                <a:lnTo>
                  <a:pt x="141209" y="232102"/>
                </a:lnTo>
                <a:lnTo>
                  <a:pt x="141209" y="97585"/>
                </a:lnTo>
                <a:lnTo>
                  <a:pt x="1200" y="97585"/>
                </a:lnTo>
                <a:close/>
                <a:moveTo>
                  <a:pt x="30337" y="0"/>
                </a:moveTo>
                <a:lnTo>
                  <a:pt x="450496" y="0"/>
                </a:lnTo>
                <a:cubicBezTo>
                  <a:pt x="459649" y="0"/>
                  <a:pt x="467002" y="7356"/>
                  <a:pt x="467002" y="16512"/>
                </a:cubicBezTo>
                <a:cubicBezTo>
                  <a:pt x="467002" y="25669"/>
                  <a:pt x="459649" y="33025"/>
                  <a:pt x="450496" y="33025"/>
                </a:cubicBezTo>
                <a:lnTo>
                  <a:pt x="30337" y="33025"/>
                </a:lnTo>
                <a:cubicBezTo>
                  <a:pt x="21184" y="33025"/>
                  <a:pt x="13831" y="25669"/>
                  <a:pt x="13831" y="16512"/>
                </a:cubicBezTo>
                <a:cubicBezTo>
                  <a:pt x="13831" y="7356"/>
                  <a:pt x="21184" y="0"/>
                  <a:pt x="30337" y="0"/>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endParaRPr lang="zh-CN" altLang="en-US">
              <a:solidFill>
                <a:srgbClr val="000000"/>
              </a:solidFill>
              <a:latin typeface="Arial" panose="020F0502020204030204"/>
              <a:ea typeface="微软雅黑"/>
              <a:cs typeface="+mn-ea"/>
              <a:sym typeface="+mn-lt"/>
            </a:endParaRPr>
          </a:p>
        </p:txBody>
      </p:sp>
      <p:sp>
        <p:nvSpPr>
          <p:cNvPr id="8" name="文本框 7">
            <a:extLst>
              <a:ext uri="{FF2B5EF4-FFF2-40B4-BE49-F238E27FC236}">
                <a16:creationId xmlns:a16="http://schemas.microsoft.com/office/drawing/2014/main" id="{F4723851-48BA-6299-5557-6CDFD68EBCB2}"/>
              </a:ext>
            </a:extLst>
          </p:cNvPr>
          <p:cNvSpPr txBox="1"/>
          <p:nvPr/>
        </p:nvSpPr>
        <p:spPr>
          <a:xfrm>
            <a:off x="778212" y="1057072"/>
            <a:ext cx="9967609" cy="2585323"/>
          </a:xfrm>
          <a:prstGeom prst="rect">
            <a:avLst/>
          </a:prstGeom>
          <a:noFill/>
        </p:spPr>
        <p:txBody>
          <a:bodyPr wrap="square" rtlCol="0">
            <a:spAutoFit/>
          </a:bodyPr>
          <a:lstStyle/>
          <a:p>
            <a:r>
              <a:rPr lang="zh-CN" altLang="en-US" dirty="0"/>
              <a:t>蛋白质柔性的重要性： 蛋白质不是静态的僵硬积木，它们的动态变化（柔性）对于结合配体、催化反应等生物学功能至关重要。衡量这种柔性的黄金指标是 </a:t>
            </a:r>
            <a:r>
              <a:rPr lang="en-US" altLang="zh-CN" dirty="0"/>
              <a:t>RMSF </a:t>
            </a:r>
            <a:r>
              <a:rPr lang="zh-CN" altLang="en-US" dirty="0"/>
              <a:t>均方根涨落</a:t>
            </a:r>
            <a:r>
              <a:rPr lang="en-US" altLang="zh-CN" dirty="0"/>
              <a:t>)</a:t>
            </a:r>
            <a:r>
              <a:rPr lang="zh-CN" altLang="en-US" dirty="0"/>
              <a:t>。</a:t>
            </a:r>
            <a:endParaRPr lang="en-US" altLang="zh-CN" dirty="0"/>
          </a:p>
          <a:p>
            <a:endParaRPr lang="en-US" altLang="zh-CN" dirty="0"/>
          </a:p>
          <a:p>
            <a:r>
              <a:rPr lang="zh-CN" altLang="en-US" dirty="0"/>
              <a:t>传统方法的局限： 传统获取 </a:t>
            </a:r>
            <a:r>
              <a:rPr lang="en-US" altLang="zh-CN" dirty="0"/>
              <a:t>RMSF </a:t>
            </a:r>
            <a:r>
              <a:rPr lang="zh-CN" altLang="en-US" dirty="0"/>
              <a:t>的方法主要依赖 分子动力学模拟 </a:t>
            </a:r>
            <a:r>
              <a:rPr lang="en-US" altLang="zh-CN" dirty="0"/>
              <a:t>(MD)</a:t>
            </a:r>
            <a:r>
              <a:rPr lang="zh-CN" altLang="en-US" dirty="0"/>
              <a:t>。但 </a:t>
            </a:r>
            <a:r>
              <a:rPr lang="en-US" altLang="zh-CN" dirty="0"/>
              <a:t>MD </a:t>
            </a:r>
            <a:r>
              <a:rPr lang="zh-CN" altLang="en-US" dirty="0"/>
              <a:t>模拟极其耗费计算资源，模拟一个稍微大点的蛋白质通常需要超算跑上几天甚至几周。</a:t>
            </a:r>
            <a:endParaRPr lang="en-US" altLang="zh-CN" dirty="0"/>
          </a:p>
          <a:p>
            <a:endParaRPr lang="en-US" altLang="zh-CN" dirty="0"/>
          </a:p>
          <a:p>
            <a:r>
              <a:rPr lang="zh-CN" altLang="en-US" dirty="0"/>
              <a:t>现有的数据金矿未被充分利用：随着冷冻电镜技术的爆发，数据库中积累了大量的电镜密度图。电镜图中的“模糊区域”往往就代表了高柔性区域，但之前的预测模型大多只看 </a:t>
            </a:r>
            <a:r>
              <a:rPr lang="en-US" altLang="zh-CN" dirty="0"/>
              <a:t>PDB </a:t>
            </a:r>
            <a:r>
              <a:rPr lang="zh-CN" altLang="en-US" dirty="0"/>
              <a:t>原子坐标，忽略了电镜图里蕴含的丰富动态实验信息。</a:t>
            </a:r>
          </a:p>
        </p:txBody>
      </p:sp>
    </p:spTree>
    <p:extLst>
      <p:ext uri="{BB962C8B-B14F-4D97-AF65-F5344CB8AC3E}">
        <p14:creationId xmlns:p14="http://schemas.microsoft.com/office/powerpoint/2010/main" val="18157598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65EAE-F98B-CBE4-F137-721744927282}"/>
            </a:ext>
          </a:extLst>
        </p:cNvPr>
        <p:cNvGrpSpPr/>
        <p:nvPr/>
      </p:nvGrpSpPr>
      <p:grpSpPr>
        <a:xfrm>
          <a:off x="0" y="0"/>
          <a:ext cx="0" cy="0"/>
          <a:chOff x="0" y="0"/>
          <a:chExt cx="0" cy="0"/>
        </a:xfrm>
      </p:grpSpPr>
      <p:grpSp>
        <p:nvGrpSpPr>
          <p:cNvPr id="20" name="组合 19">
            <a:extLst>
              <a:ext uri="{FF2B5EF4-FFF2-40B4-BE49-F238E27FC236}">
                <a16:creationId xmlns:a16="http://schemas.microsoft.com/office/drawing/2014/main" id="{336CDCD0-190C-994C-4746-01A61322E150}"/>
              </a:ext>
            </a:extLst>
          </p:cNvPr>
          <p:cNvGrpSpPr/>
          <p:nvPr/>
        </p:nvGrpSpPr>
        <p:grpSpPr>
          <a:xfrm>
            <a:off x="286653" y="116633"/>
            <a:ext cx="11618694" cy="6681374"/>
            <a:chOff x="286653" y="116633"/>
            <a:chExt cx="11618694" cy="6681374"/>
          </a:xfrm>
        </p:grpSpPr>
        <p:grpSp>
          <p:nvGrpSpPr>
            <p:cNvPr id="21" name="组合 20">
              <a:extLst>
                <a:ext uri="{FF2B5EF4-FFF2-40B4-BE49-F238E27FC236}">
                  <a16:creationId xmlns:a16="http://schemas.microsoft.com/office/drawing/2014/main" id="{4570911A-93E9-0661-CC41-289A5439FBB9}"/>
                </a:ext>
              </a:extLst>
            </p:cNvPr>
            <p:cNvGrpSpPr/>
            <p:nvPr/>
          </p:nvGrpSpPr>
          <p:grpSpPr>
            <a:xfrm>
              <a:off x="335361" y="116633"/>
              <a:ext cx="629872" cy="612768"/>
              <a:chOff x="3070727" y="196457"/>
              <a:chExt cx="692047" cy="673255"/>
            </a:xfrm>
          </p:grpSpPr>
          <p:sp>
            <p:nvSpPr>
              <p:cNvPr id="26" name="平行四边形 25">
                <a:extLst>
                  <a:ext uri="{FF2B5EF4-FFF2-40B4-BE49-F238E27FC236}">
                    <a16:creationId xmlns:a16="http://schemas.microsoft.com/office/drawing/2014/main" id="{09D1F99B-D09E-11B5-1136-ED25577B49B9}"/>
                  </a:ext>
                </a:extLst>
              </p:cNvPr>
              <p:cNvSpPr/>
              <p:nvPr/>
            </p:nvSpPr>
            <p:spPr>
              <a:xfrm>
                <a:off x="3070727" y="196457"/>
                <a:ext cx="629587" cy="612775"/>
              </a:xfrm>
              <a:prstGeom prst="parallelogram">
                <a:avLst/>
              </a:prstGeom>
              <a:solidFill>
                <a:srgbClr val="6B0261"/>
              </a:solidFill>
              <a:ln w="25400" cap="flat" cmpd="sng" algn="ctr">
                <a:solidFill>
                  <a:srgbClr val="6B026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27" name="平行四边形 26">
                <a:extLst>
                  <a:ext uri="{FF2B5EF4-FFF2-40B4-BE49-F238E27FC236}">
                    <a16:creationId xmlns:a16="http://schemas.microsoft.com/office/drawing/2014/main" id="{AFB741FF-1D17-3774-7F89-F0F016FD9EA7}"/>
                  </a:ext>
                </a:extLst>
              </p:cNvPr>
              <p:cNvSpPr/>
              <p:nvPr/>
            </p:nvSpPr>
            <p:spPr>
              <a:xfrm>
                <a:off x="3133187" y="256937"/>
                <a:ext cx="629587" cy="612775"/>
              </a:xfrm>
              <a:prstGeom prst="parallelogram">
                <a:avLst/>
              </a:prstGeom>
              <a:noFill/>
              <a:ln w="25400" cap="flat" cmpd="sng" algn="ctr">
                <a:solidFill>
                  <a:srgbClr val="6B026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cxnSp>
          <p:nvCxnSpPr>
            <p:cNvPr id="22" name="直接连接符 21">
              <a:extLst>
                <a:ext uri="{FF2B5EF4-FFF2-40B4-BE49-F238E27FC236}">
                  <a16:creationId xmlns:a16="http://schemas.microsoft.com/office/drawing/2014/main" id="{8A0B9AA0-E67D-6FE0-1112-639DCE83190E}"/>
                </a:ext>
              </a:extLst>
            </p:cNvPr>
            <p:cNvCxnSpPr>
              <a:cxnSpLocks/>
            </p:cNvCxnSpPr>
            <p:nvPr/>
          </p:nvCxnSpPr>
          <p:spPr>
            <a:xfrm>
              <a:off x="367840" y="809674"/>
              <a:ext cx="11488800" cy="0"/>
            </a:xfrm>
            <a:prstGeom prst="line">
              <a:avLst/>
            </a:prstGeom>
            <a:noFill/>
            <a:ln w="9525" cap="flat" cmpd="sng" algn="ctr">
              <a:solidFill>
                <a:srgbClr val="6B0261"/>
              </a:solidFill>
              <a:prstDash val="solid"/>
            </a:ln>
            <a:effectLst/>
          </p:spPr>
        </p:cxnSp>
        <p:sp>
          <p:nvSpPr>
            <p:cNvPr id="23" name="文本占位符 5">
              <a:extLst>
                <a:ext uri="{FF2B5EF4-FFF2-40B4-BE49-F238E27FC236}">
                  <a16:creationId xmlns:a16="http://schemas.microsoft.com/office/drawing/2014/main" id="{6028B010-FDEC-5D0A-0D67-4B46047E35DA}"/>
                </a:ext>
              </a:extLst>
            </p:cNvPr>
            <p:cNvSpPr txBox="1">
              <a:spLocks/>
            </p:cNvSpPr>
            <p:nvPr/>
          </p:nvSpPr>
          <p:spPr>
            <a:xfrm>
              <a:off x="1075777" y="214065"/>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zh-CN" altLang="en-US" sz="3200" b="1" dirty="0">
                  <a:solidFill>
                    <a:srgbClr val="6B0261"/>
                  </a:solidFill>
                  <a:latin typeface="微软雅黑" panose="020B0503020204020204" pitchFamily="34" charset="-122"/>
                  <a:ea typeface="微软雅黑" panose="020B0503020204020204" pitchFamily="34" charset="-122"/>
                </a:rPr>
                <a:t>研究内容</a:t>
              </a:r>
            </a:p>
          </p:txBody>
        </p:sp>
        <p:sp>
          <p:nvSpPr>
            <p:cNvPr id="24" name="文本框 23">
              <a:extLst>
                <a:ext uri="{FF2B5EF4-FFF2-40B4-BE49-F238E27FC236}">
                  <a16:creationId xmlns:a16="http://schemas.microsoft.com/office/drawing/2014/main" id="{8533055A-B0ED-E71B-D4CF-1F6A875A9E9D}"/>
                </a:ext>
              </a:extLst>
            </p:cNvPr>
            <p:cNvSpPr txBox="1"/>
            <p:nvPr/>
          </p:nvSpPr>
          <p:spPr>
            <a:xfrm>
              <a:off x="10805366" y="642867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25" name="图片 24">
              <a:extLst>
                <a:ext uri="{FF2B5EF4-FFF2-40B4-BE49-F238E27FC236}">
                  <a16:creationId xmlns:a16="http://schemas.microsoft.com/office/drawing/2014/main" id="{46D2E700-FA18-91FE-3F98-7DCF418CCAC0}"/>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a:stretch/>
          </p:blipFill>
          <p:spPr>
            <a:xfrm>
              <a:off x="286653" y="6425619"/>
              <a:ext cx="2520534" cy="369332"/>
            </a:xfrm>
            <a:prstGeom prst="rect">
              <a:avLst/>
            </a:prstGeom>
          </p:spPr>
        </p:pic>
      </p:grpSp>
      <p:grpSp>
        <p:nvGrpSpPr>
          <p:cNvPr id="51" name="组合 50">
            <a:extLst>
              <a:ext uri="{FF2B5EF4-FFF2-40B4-BE49-F238E27FC236}">
                <a16:creationId xmlns:a16="http://schemas.microsoft.com/office/drawing/2014/main" id="{F505A533-5ACC-16BB-FD72-BE5FA44A56E0}"/>
              </a:ext>
            </a:extLst>
          </p:cNvPr>
          <p:cNvGrpSpPr/>
          <p:nvPr/>
        </p:nvGrpSpPr>
        <p:grpSpPr>
          <a:xfrm>
            <a:off x="9938479" y="77827"/>
            <a:ext cx="2017490" cy="675447"/>
            <a:chOff x="995884" y="398899"/>
            <a:chExt cx="3658781" cy="1224944"/>
          </a:xfrm>
        </p:grpSpPr>
        <p:pic>
          <p:nvPicPr>
            <p:cNvPr id="52" name="图片 51">
              <a:extLst>
                <a:ext uri="{FF2B5EF4-FFF2-40B4-BE49-F238E27FC236}">
                  <a16:creationId xmlns:a16="http://schemas.microsoft.com/office/drawing/2014/main" id="{535C5748-D577-53E9-48AE-F5831C854A7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95884" y="398899"/>
              <a:ext cx="977348" cy="1224944"/>
            </a:xfrm>
            <a:prstGeom prst="rect">
              <a:avLst/>
            </a:prstGeom>
          </p:spPr>
        </p:pic>
        <p:pic>
          <p:nvPicPr>
            <p:cNvPr id="53" name="图片 52">
              <a:extLst>
                <a:ext uri="{FF2B5EF4-FFF2-40B4-BE49-F238E27FC236}">
                  <a16:creationId xmlns:a16="http://schemas.microsoft.com/office/drawing/2014/main" id="{6C477A84-EC98-0DB1-952A-C8C1622947E5}"/>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173707" y="405382"/>
              <a:ext cx="2384890" cy="796233"/>
            </a:xfrm>
            <a:prstGeom prst="rect">
              <a:avLst/>
            </a:prstGeom>
          </p:spPr>
        </p:pic>
        <p:sp>
          <p:nvSpPr>
            <p:cNvPr id="54" name="矩形 53">
              <a:extLst>
                <a:ext uri="{FF2B5EF4-FFF2-40B4-BE49-F238E27FC236}">
                  <a16:creationId xmlns:a16="http://schemas.microsoft.com/office/drawing/2014/main" id="{DC5E5B46-7307-59B8-4A00-FD00C41502FF}"/>
                </a:ext>
              </a:extLst>
            </p:cNvPr>
            <p:cNvSpPr/>
            <p:nvPr/>
          </p:nvSpPr>
          <p:spPr>
            <a:xfrm>
              <a:off x="2069306" y="1138524"/>
              <a:ext cx="2585359" cy="46048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rPr>
                <a:t>NANJING UNIVERSITY</a:t>
              </a:r>
              <a:endParaRPr kumimoji="0" lang="zh-CN" altLang="en-US" sz="105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endParaRPr>
            </a:p>
          </p:txBody>
        </p:sp>
      </p:grpSp>
      <p:sp>
        <p:nvSpPr>
          <p:cNvPr id="31" name="íŝḷïḓè">
            <a:extLst>
              <a:ext uri="{FF2B5EF4-FFF2-40B4-BE49-F238E27FC236}">
                <a16:creationId xmlns:a16="http://schemas.microsoft.com/office/drawing/2014/main" id="{AA63572C-67EE-90D1-9EF2-2B2D5ED169C2}"/>
              </a:ext>
            </a:extLst>
          </p:cNvPr>
          <p:cNvSpPr/>
          <p:nvPr/>
        </p:nvSpPr>
        <p:spPr bwMode="auto">
          <a:xfrm>
            <a:off x="5828824" y="4147130"/>
            <a:ext cx="338337" cy="366161"/>
          </a:xfrm>
          <a:custGeom>
            <a:avLst/>
            <a:gdLst>
              <a:gd name="connsiteX0" fmla="*/ 327780 w 561933"/>
              <a:gd name="connsiteY0" fmla="*/ 406780 h 608145"/>
              <a:gd name="connsiteX1" fmla="*/ 285069 w 561933"/>
              <a:gd name="connsiteY1" fmla="*/ 449434 h 608145"/>
              <a:gd name="connsiteX2" fmla="*/ 327780 w 561933"/>
              <a:gd name="connsiteY2" fmla="*/ 492088 h 608145"/>
              <a:gd name="connsiteX3" fmla="*/ 370490 w 561933"/>
              <a:gd name="connsiteY3" fmla="*/ 449434 h 608145"/>
              <a:gd name="connsiteX4" fmla="*/ 327780 w 561933"/>
              <a:gd name="connsiteY4" fmla="*/ 406780 h 608145"/>
              <a:gd name="connsiteX5" fmla="*/ 91381 w 561933"/>
              <a:gd name="connsiteY5" fmla="*/ 406780 h 608145"/>
              <a:gd name="connsiteX6" fmla="*/ 49664 w 561933"/>
              <a:gd name="connsiteY6" fmla="*/ 449434 h 608145"/>
              <a:gd name="connsiteX7" fmla="*/ 91381 w 561933"/>
              <a:gd name="connsiteY7" fmla="*/ 492088 h 608145"/>
              <a:gd name="connsiteX8" fmla="*/ 134092 w 561933"/>
              <a:gd name="connsiteY8" fmla="*/ 449434 h 608145"/>
              <a:gd name="connsiteX9" fmla="*/ 91381 w 561933"/>
              <a:gd name="connsiteY9" fmla="*/ 406780 h 608145"/>
              <a:gd name="connsiteX10" fmla="*/ 130119 w 561933"/>
              <a:gd name="connsiteY10" fmla="*/ 162762 h 608145"/>
              <a:gd name="connsiteX11" fmla="*/ 50657 w 561933"/>
              <a:gd name="connsiteY11" fmla="*/ 243110 h 608145"/>
              <a:gd name="connsiteX12" fmla="*/ 50657 w 561933"/>
              <a:gd name="connsiteY12" fmla="*/ 312546 h 608145"/>
              <a:gd name="connsiteX13" fmla="*/ 78468 w 561933"/>
              <a:gd name="connsiteY13" fmla="*/ 341312 h 608145"/>
              <a:gd name="connsiteX14" fmla="*/ 340692 w 561933"/>
              <a:gd name="connsiteY14" fmla="*/ 341312 h 608145"/>
              <a:gd name="connsiteX15" fmla="*/ 369497 w 561933"/>
              <a:gd name="connsiteY15" fmla="*/ 312546 h 608145"/>
              <a:gd name="connsiteX16" fmla="*/ 369497 w 561933"/>
              <a:gd name="connsiteY16" fmla="*/ 243110 h 608145"/>
              <a:gd name="connsiteX17" fmla="*/ 289042 w 561933"/>
              <a:gd name="connsiteY17" fmla="*/ 162762 h 608145"/>
              <a:gd name="connsiteX18" fmla="*/ 127139 w 561933"/>
              <a:gd name="connsiteY18" fmla="*/ 99278 h 608145"/>
              <a:gd name="connsiteX19" fmla="*/ 293015 w 561933"/>
              <a:gd name="connsiteY19" fmla="*/ 99278 h 608145"/>
              <a:gd name="connsiteX20" fmla="*/ 420154 w 561933"/>
              <a:gd name="connsiteY20" fmla="*/ 226247 h 608145"/>
              <a:gd name="connsiteX21" fmla="*/ 420154 w 561933"/>
              <a:gd name="connsiteY21" fmla="*/ 486136 h 608145"/>
              <a:gd name="connsiteX22" fmla="*/ 382410 w 561933"/>
              <a:gd name="connsiteY22" fmla="*/ 541685 h 608145"/>
              <a:gd name="connsiteX23" fmla="*/ 382410 w 561933"/>
              <a:gd name="connsiteY23" fmla="*/ 561524 h 608145"/>
              <a:gd name="connsiteX24" fmla="*/ 334733 w 561933"/>
              <a:gd name="connsiteY24" fmla="*/ 608145 h 608145"/>
              <a:gd name="connsiteX25" fmla="*/ 326786 w 561933"/>
              <a:gd name="connsiteY25" fmla="*/ 608145 h 608145"/>
              <a:gd name="connsiteX26" fmla="*/ 280103 w 561933"/>
              <a:gd name="connsiteY26" fmla="*/ 561524 h 608145"/>
              <a:gd name="connsiteX27" fmla="*/ 280103 w 561933"/>
              <a:gd name="connsiteY27" fmla="*/ 544661 h 608145"/>
              <a:gd name="connsiteX28" fmla="*/ 140051 w 561933"/>
              <a:gd name="connsiteY28" fmla="*/ 544661 h 608145"/>
              <a:gd name="connsiteX29" fmla="*/ 140051 w 561933"/>
              <a:gd name="connsiteY29" fmla="*/ 561524 h 608145"/>
              <a:gd name="connsiteX30" fmla="*/ 92374 w 561933"/>
              <a:gd name="connsiteY30" fmla="*/ 608145 h 608145"/>
              <a:gd name="connsiteX31" fmla="*/ 84428 w 561933"/>
              <a:gd name="connsiteY31" fmla="*/ 608145 h 608145"/>
              <a:gd name="connsiteX32" fmla="*/ 37744 w 561933"/>
              <a:gd name="connsiteY32" fmla="*/ 561524 h 608145"/>
              <a:gd name="connsiteX33" fmla="*/ 37744 w 561933"/>
              <a:gd name="connsiteY33" fmla="*/ 541685 h 608145"/>
              <a:gd name="connsiteX34" fmla="*/ 0 w 561933"/>
              <a:gd name="connsiteY34" fmla="*/ 486136 h 608145"/>
              <a:gd name="connsiteX35" fmla="*/ 0 w 561933"/>
              <a:gd name="connsiteY35" fmla="*/ 226247 h 608145"/>
              <a:gd name="connsiteX36" fmla="*/ 127139 w 561933"/>
              <a:gd name="connsiteY36" fmla="*/ 99278 h 608145"/>
              <a:gd name="connsiteX37" fmla="*/ 408232 w 561933"/>
              <a:gd name="connsiteY37" fmla="*/ 74504 h 608145"/>
              <a:gd name="connsiteX38" fmla="*/ 424139 w 561933"/>
              <a:gd name="connsiteY38" fmla="*/ 75495 h 608145"/>
              <a:gd name="connsiteX39" fmla="*/ 486772 w 561933"/>
              <a:gd name="connsiteY39" fmla="*/ 185587 h 608145"/>
              <a:gd name="connsiteX40" fmla="*/ 479813 w 561933"/>
              <a:gd name="connsiteY40" fmla="*/ 199473 h 608145"/>
              <a:gd name="connsiteX41" fmla="*/ 464901 w 561933"/>
              <a:gd name="connsiteY41" fmla="*/ 202448 h 608145"/>
              <a:gd name="connsiteX42" fmla="*/ 462912 w 561933"/>
              <a:gd name="connsiteY42" fmla="*/ 201456 h 608145"/>
              <a:gd name="connsiteX43" fmla="*/ 448994 w 561933"/>
              <a:gd name="connsiteY43" fmla="*/ 183604 h 608145"/>
              <a:gd name="connsiteX44" fmla="*/ 406244 w 561933"/>
              <a:gd name="connsiteY44" fmla="*/ 109217 h 608145"/>
              <a:gd name="connsiteX45" fmla="*/ 397296 w 561933"/>
              <a:gd name="connsiteY45" fmla="*/ 89381 h 608145"/>
              <a:gd name="connsiteX46" fmla="*/ 398291 w 561933"/>
              <a:gd name="connsiteY46" fmla="*/ 87397 h 608145"/>
              <a:gd name="connsiteX47" fmla="*/ 408232 w 561933"/>
              <a:gd name="connsiteY47" fmla="*/ 74504 h 608145"/>
              <a:gd name="connsiteX48" fmla="*/ 439969 w 561933"/>
              <a:gd name="connsiteY48" fmla="*/ 1081 h 608145"/>
              <a:gd name="connsiteX49" fmla="*/ 560176 w 561933"/>
              <a:gd name="connsiteY49" fmla="*/ 205408 h 608145"/>
              <a:gd name="connsiteX50" fmla="*/ 552228 w 561933"/>
              <a:gd name="connsiteY50" fmla="*/ 217311 h 608145"/>
              <a:gd name="connsiteX51" fmla="*/ 537326 w 561933"/>
              <a:gd name="connsiteY51" fmla="*/ 220286 h 608145"/>
              <a:gd name="connsiteX52" fmla="*/ 535340 w 561933"/>
              <a:gd name="connsiteY52" fmla="*/ 219294 h 608145"/>
              <a:gd name="connsiteX53" fmla="*/ 522425 w 561933"/>
              <a:gd name="connsiteY53" fmla="*/ 199457 h 608145"/>
              <a:gd name="connsiteX54" fmla="*/ 426061 w 561933"/>
              <a:gd name="connsiteY54" fmla="*/ 36788 h 608145"/>
              <a:gd name="connsiteX55" fmla="*/ 416126 w 561933"/>
              <a:gd name="connsiteY55" fmla="*/ 15959 h 608145"/>
              <a:gd name="connsiteX56" fmla="*/ 416126 w 561933"/>
              <a:gd name="connsiteY56" fmla="*/ 13975 h 608145"/>
              <a:gd name="connsiteX57" fmla="*/ 425067 w 561933"/>
              <a:gd name="connsiteY57" fmla="*/ 2073 h 608145"/>
              <a:gd name="connsiteX58" fmla="*/ 439969 w 561933"/>
              <a:gd name="connsiteY58" fmla="*/ 1081 h 608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61933" h="608145">
                <a:moveTo>
                  <a:pt x="327780" y="406780"/>
                </a:moveTo>
                <a:cubicBezTo>
                  <a:pt x="303941" y="406780"/>
                  <a:pt x="285069" y="425627"/>
                  <a:pt x="285069" y="449434"/>
                </a:cubicBezTo>
                <a:cubicBezTo>
                  <a:pt x="285069" y="473241"/>
                  <a:pt x="303941" y="492088"/>
                  <a:pt x="327780" y="492088"/>
                </a:cubicBezTo>
                <a:cubicBezTo>
                  <a:pt x="350625" y="492088"/>
                  <a:pt x="370490" y="473241"/>
                  <a:pt x="370490" y="449434"/>
                </a:cubicBezTo>
                <a:cubicBezTo>
                  <a:pt x="370490" y="425627"/>
                  <a:pt x="350625" y="406780"/>
                  <a:pt x="327780" y="406780"/>
                </a:cubicBezTo>
                <a:close/>
                <a:moveTo>
                  <a:pt x="91381" y="406780"/>
                </a:moveTo>
                <a:cubicBezTo>
                  <a:pt x="68536" y="406780"/>
                  <a:pt x="49664" y="425627"/>
                  <a:pt x="49664" y="449434"/>
                </a:cubicBezTo>
                <a:cubicBezTo>
                  <a:pt x="49664" y="473241"/>
                  <a:pt x="68536" y="492088"/>
                  <a:pt x="91381" y="492088"/>
                </a:cubicBezTo>
                <a:cubicBezTo>
                  <a:pt x="115220" y="492088"/>
                  <a:pt x="134092" y="473241"/>
                  <a:pt x="134092" y="449434"/>
                </a:cubicBezTo>
                <a:cubicBezTo>
                  <a:pt x="134092" y="425627"/>
                  <a:pt x="115220" y="406780"/>
                  <a:pt x="91381" y="406780"/>
                </a:cubicBezTo>
                <a:close/>
                <a:moveTo>
                  <a:pt x="130119" y="162762"/>
                </a:moveTo>
                <a:cubicBezTo>
                  <a:pt x="86415" y="162762"/>
                  <a:pt x="50657" y="198472"/>
                  <a:pt x="50657" y="243110"/>
                </a:cubicBezTo>
                <a:lnTo>
                  <a:pt x="50657" y="312546"/>
                </a:lnTo>
                <a:cubicBezTo>
                  <a:pt x="50657" y="328417"/>
                  <a:pt x="62576" y="341312"/>
                  <a:pt x="78468" y="341312"/>
                </a:cubicBezTo>
                <a:lnTo>
                  <a:pt x="340692" y="341312"/>
                </a:lnTo>
                <a:cubicBezTo>
                  <a:pt x="356585" y="341312"/>
                  <a:pt x="369497" y="328417"/>
                  <a:pt x="369497" y="312546"/>
                </a:cubicBezTo>
                <a:lnTo>
                  <a:pt x="369497" y="243110"/>
                </a:lnTo>
                <a:cubicBezTo>
                  <a:pt x="369497" y="198472"/>
                  <a:pt x="332746" y="162762"/>
                  <a:pt x="289042" y="162762"/>
                </a:cubicBezTo>
                <a:close/>
                <a:moveTo>
                  <a:pt x="127139" y="99278"/>
                </a:moveTo>
                <a:lnTo>
                  <a:pt x="293015" y="99278"/>
                </a:lnTo>
                <a:cubicBezTo>
                  <a:pt x="363538" y="99278"/>
                  <a:pt x="420154" y="155819"/>
                  <a:pt x="420154" y="226247"/>
                </a:cubicBezTo>
                <a:lnTo>
                  <a:pt x="420154" y="486136"/>
                </a:lnTo>
                <a:cubicBezTo>
                  <a:pt x="420154" y="511926"/>
                  <a:pt x="404262" y="532757"/>
                  <a:pt x="382410" y="541685"/>
                </a:cubicBezTo>
                <a:lnTo>
                  <a:pt x="382410" y="561524"/>
                </a:lnTo>
                <a:cubicBezTo>
                  <a:pt x="382410" y="587314"/>
                  <a:pt x="360558" y="608145"/>
                  <a:pt x="334733" y="608145"/>
                </a:cubicBezTo>
                <a:lnTo>
                  <a:pt x="326786" y="608145"/>
                </a:lnTo>
                <a:cubicBezTo>
                  <a:pt x="300961" y="608145"/>
                  <a:pt x="280103" y="587314"/>
                  <a:pt x="280103" y="561524"/>
                </a:cubicBezTo>
                <a:lnTo>
                  <a:pt x="280103" y="544661"/>
                </a:lnTo>
                <a:lnTo>
                  <a:pt x="140051" y="544661"/>
                </a:lnTo>
                <a:lnTo>
                  <a:pt x="140051" y="561524"/>
                </a:lnTo>
                <a:cubicBezTo>
                  <a:pt x="140051" y="587314"/>
                  <a:pt x="118199" y="608145"/>
                  <a:pt x="92374" y="608145"/>
                </a:cubicBezTo>
                <a:lnTo>
                  <a:pt x="84428" y="608145"/>
                </a:lnTo>
                <a:cubicBezTo>
                  <a:pt x="58603" y="608145"/>
                  <a:pt x="37744" y="587314"/>
                  <a:pt x="37744" y="561524"/>
                </a:cubicBezTo>
                <a:lnTo>
                  <a:pt x="37744" y="541685"/>
                </a:lnTo>
                <a:cubicBezTo>
                  <a:pt x="14899" y="532757"/>
                  <a:pt x="0" y="511926"/>
                  <a:pt x="0" y="486136"/>
                </a:cubicBezTo>
                <a:lnTo>
                  <a:pt x="0" y="226247"/>
                </a:lnTo>
                <a:cubicBezTo>
                  <a:pt x="0" y="155819"/>
                  <a:pt x="56616" y="99278"/>
                  <a:pt x="127139" y="99278"/>
                </a:cubicBezTo>
                <a:close/>
                <a:moveTo>
                  <a:pt x="408232" y="74504"/>
                </a:moveTo>
                <a:cubicBezTo>
                  <a:pt x="413203" y="72520"/>
                  <a:pt x="419168" y="72520"/>
                  <a:pt x="424139" y="75495"/>
                </a:cubicBezTo>
                <a:cubicBezTo>
                  <a:pt x="464901" y="96324"/>
                  <a:pt x="489755" y="139964"/>
                  <a:pt x="486772" y="185587"/>
                </a:cubicBezTo>
                <a:cubicBezTo>
                  <a:pt x="486772" y="190546"/>
                  <a:pt x="483790" y="195505"/>
                  <a:pt x="479813" y="199473"/>
                </a:cubicBezTo>
                <a:cubicBezTo>
                  <a:pt x="475836" y="202448"/>
                  <a:pt x="469871" y="203440"/>
                  <a:pt x="464901" y="202448"/>
                </a:cubicBezTo>
                <a:lnTo>
                  <a:pt x="462912" y="201456"/>
                </a:lnTo>
                <a:cubicBezTo>
                  <a:pt x="453965" y="199473"/>
                  <a:pt x="448994" y="191538"/>
                  <a:pt x="448994" y="183604"/>
                </a:cubicBezTo>
                <a:cubicBezTo>
                  <a:pt x="450982" y="152857"/>
                  <a:pt x="434081" y="123103"/>
                  <a:pt x="406244" y="109217"/>
                </a:cubicBezTo>
                <a:cubicBezTo>
                  <a:pt x="399285" y="105250"/>
                  <a:pt x="395308" y="97315"/>
                  <a:pt x="397296" y="89381"/>
                </a:cubicBezTo>
                <a:lnTo>
                  <a:pt x="398291" y="87397"/>
                </a:lnTo>
                <a:cubicBezTo>
                  <a:pt x="399285" y="81446"/>
                  <a:pt x="403261" y="77479"/>
                  <a:pt x="408232" y="74504"/>
                </a:cubicBezTo>
                <a:close/>
                <a:moveTo>
                  <a:pt x="439969" y="1081"/>
                </a:moveTo>
                <a:cubicBezTo>
                  <a:pt x="522425" y="32821"/>
                  <a:pt x="572097" y="118123"/>
                  <a:pt x="560176" y="205408"/>
                </a:cubicBezTo>
                <a:cubicBezTo>
                  <a:pt x="559182" y="210367"/>
                  <a:pt x="556202" y="214335"/>
                  <a:pt x="552228" y="217311"/>
                </a:cubicBezTo>
                <a:cubicBezTo>
                  <a:pt x="548254" y="220286"/>
                  <a:pt x="542294" y="221278"/>
                  <a:pt x="537326" y="220286"/>
                </a:cubicBezTo>
                <a:lnTo>
                  <a:pt x="535340" y="219294"/>
                </a:lnTo>
                <a:cubicBezTo>
                  <a:pt x="526399" y="217311"/>
                  <a:pt x="520438" y="208384"/>
                  <a:pt x="522425" y="199457"/>
                </a:cubicBezTo>
                <a:cubicBezTo>
                  <a:pt x="531366" y="130025"/>
                  <a:pt x="491628" y="62577"/>
                  <a:pt x="426061" y="36788"/>
                </a:cubicBezTo>
                <a:cubicBezTo>
                  <a:pt x="418113" y="33813"/>
                  <a:pt x="413146" y="24886"/>
                  <a:pt x="416126" y="15959"/>
                </a:cubicBezTo>
                <a:lnTo>
                  <a:pt x="416126" y="13975"/>
                </a:lnTo>
                <a:cubicBezTo>
                  <a:pt x="417120" y="9016"/>
                  <a:pt x="421094" y="4056"/>
                  <a:pt x="425067" y="2073"/>
                </a:cubicBezTo>
                <a:cubicBezTo>
                  <a:pt x="430035" y="89"/>
                  <a:pt x="435002" y="-903"/>
                  <a:pt x="439969" y="1081"/>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endParaRPr lang="zh-CN" altLang="en-US">
              <a:solidFill>
                <a:srgbClr val="000000"/>
              </a:solidFill>
              <a:latin typeface="Arial" panose="020F0502020204030204"/>
              <a:ea typeface="微软雅黑"/>
              <a:cs typeface="+mn-ea"/>
              <a:sym typeface="+mn-lt"/>
            </a:endParaRPr>
          </a:p>
        </p:txBody>
      </p:sp>
      <p:sp>
        <p:nvSpPr>
          <p:cNvPr id="42" name="ïslíḓé">
            <a:extLst>
              <a:ext uri="{FF2B5EF4-FFF2-40B4-BE49-F238E27FC236}">
                <a16:creationId xmlns:a16="http://schemas.microsoft.com/office/drawing/2014/main" id="{EE524C85-273D-7B30-B3A8-2BAE6FE38C41}"/>
              </a:ext>
            </a:extLst>
          </p:cNvPr>
          <p:cNvSpPr/>
          <p:nvPr/>
        </p:nvSpPr>
        <p:spPr bwMode="auto">
          <a:xfrm>
            <a:off x="5815461" y="5339493"/>
            <a:ext cx="363264" cy="320996"/>
          </a:xfrm>
          <a:custGeom>
            <a:avLst/>
            <a:gdLst>
              <a:gd name="connsiteX0" fmla="*/ 494452 w 603405"/>
              <a:gd name="connsiteY0" fmla="*/ 356003 h 533193"/>
              <a:gd name="connsiteX1" fmla="*/ 585270 w 603405"/>
              <a:gd name="connsiteY1" fmla="*/ 356003 h 533193"/>
              <a:gd name="connsiteX2" fmla="*/ 601782 w 603405"/>
              <a:gd name="connsiteY2" fmla="*/ 372480 h 533193"/>
              <a:gd name="connsiteX3" fmla="*/ 585270 w 603405"/>
              <a:gd name="connsiteY3" fmla="*/ 388957 h 533193"/>
              <a:gd name="connsiteX4" fmla="*/ 494452 w 603405"/>
              <a:gd name="connsiteY4" fmla="*/ 388957 h 533193"/>
              <a:gd name="connsiteX5" fmla="*/ 367511 w 603405"/>
              <a:gd name="connsiteY5" fmla="*/ 244227 h 533193"/>
              <a:gd name="connsiteX6" fmla="*/ 443780 w 603405"/>
              <a:gd name="connsiteY6" fmla="*/ 244227 h 533193"/>
              <a:gd name="connsiteX7" fmla="*/ 477411 w 603405"/>
              <a:gd name="connsiteY7" fmla="*/ 277633 h 533193"/>
              <a:gd name="connsiteX8" fmla="*/ 477861 w 603405"/>
              <a:gd name="connsiteY8" fmla="*/ 381744 h 533193"/>
              <a:gd name="connsiteX9" fmla="*/ 463748 w 603405"/>
              <a:gd name="connsiteY9" fmla="*/ 395975 h 533193"/>
              <a:gd name="connsiteX10" fmla="*/ 449486 w 603405"/>
              <a:gd name="connsiteY10" fmla="*/ 381894 h 533193"/>
              <a:gd name="connsiteX11" fmla="*/ 449035 w 603405"/>
              <a:gd name="connsiteY11" fmla="*/ 277782 h 533193"/>
              <a:gd name="connsiteX12" fmla="*/ 446033 w 603405"/>
              <a:gd name="connsiteY12" fmla="*/ 274786 h 533193"/>
              <a:gd name="connsiteX13" fmla="*/ 443030 w 603405"/>
              <a:gd name="connsiteY13" fmla="*/ 277782 h 533193"/>
              <a:gd name="connsiteX14" fmla="*/ 443330 w 603405"/>
              <a:gd name="connsiteY14" fmla="*/ 516116 h 533193"/>
              <a:gd name="connsiteX15" fmla="*/ 426215 w 603405"/>
              <a:gd name="connsiteY15" fmla="*/ 533193 h 533193"/>
              <a:gd name="connsiteX16" fmla="*/ 409249 w 603405"/>
              <a:gd name="connsiteY16" fmla="*/ 516116 h 533193"/>
              <a:gd name="connsiteX17" fmla="*/ 409249 w 603405"/>
              <a:gd name="connsiteY17" fmla="*/ 380096 h 533193"/>
              <a:gd name="connsiteX18" fmla="*/ 401893 w 603405"/>
              <a:gd name="connsiteY18" fmla="*/ 380096 h 533193"/>
              <a:gd name="connsiteX19" fmla="*/ 401893 w 603405"/>
              <a:gd name="connsiteY19" fmla="*/ 516116 h 533193"/>
              <a:gd name="connsiteX20" fmla="*/ 384778 w 603405"/>
              <a:gd name="connsiteY20" fmla="*/ 533193 h 533193"/>
              <a:gd name="connsiteX21" fmla="*/ 367812 w 603405"/>
              <a:gd name="connsiteY21" fmla="*/ 516116 h 533193"/>
              <a:gd name="connsiteX22" fmla="*/ 367812 w 603405"/>
              <a:gd name="connsiteY22" fmla="*/ 380096 h 533193"/>
              <a:gd name="connsiteX23" fmla="*/ 367812 w 603405"/>
              <a:gd name="connsiteY23" fmla="*/ 277782 h 533193"/>
              <a:gd name="connsiteX24" fmla="*/ 364959 w 603405"/>
              <a:gd name="connsiteY24" fmla="*/ 274936 h 533193"/>
              <a:gd name="connsiteX25" fmla="*/ 362257 w 603405"/>
              <a:gd name="connsiteY25" fmla="*/ 277782 h 533193"/>
              <a:gd name="connsiteX26" fmla="*/ 361656 w 603405"/>
              <a:gd name="connsiteY26" fmla="*/ 381894 h 533193"/>
              <a:gd name="connsiteX27" fmla="*/ 347544 w 603405"/>
              <a:gd name="connsiteY27" fmla="*/ 395975 h 533193"/>
              <a:gd name="connsiteX28" fmla="*/ 347393 w 603405"/>
              <a:gd name="connsiteY28" fmla="*/ 395975 h 533193"/>
              <a:gd name="connsiteX29" fmla="*/ 333281 w 603405"/>
              <a:gd name="connsiteY29" fmla="*/ 381744 h 533193"/>
              <a:gd name="connsiteX30" fmla="*/ 333881 w 603405"/>
              <a:gd name="connsiteY30" fmla="*/ 277633 h 533193"/>
              <a:gd name="connsiteX31" fmla="*/ 367511 w 603405"/>
              <a:gd name="connsiteY31" fmla="*/ 244227 h 533193"/>
              <a:gd name="connsiteX32" fmla="*/ 201525 w 603405"/>
              <a:gd name="connsiteY32" fmla="*/ 244227 h 533193"/>
              <a:gd name="connsiteX33" fmla="*/ 277906 w 603405"/>
              <a:gd name="connsiteY33" fmla="*/ 244227 h 533193"/>
              <a:gd name="connsiteX34" fmla="*/ 311520 w 603405"/>
              <a:gd name="connsiteY34" fmla="*/ 277633 h 533193"/>
              <a:gd name="connsiteX35" fmla="*/ 311970 w 603405"/>
              <a:gd name="connsiteY35" fmla="*/ 381744 h 533193"/>
              <a:gd name="connsiteX36" fmla="*/ 297864 w 603405"/>
              <a:gd name="connsiteY36" fmla="*/ 395975 h 533193"/>
              <a:gd name="connsiteX37" fmla="*/ 297714 w 603405"/>
              <a:gd name="connsiteY37" fmla="*/ 395975 h 533193"/>
              <a:gd name="connsiteX38" fmla="*/ 283608 w 603405"/>
              <a:gd name="connsiteY38" fmla="*/ 381894 h 533193"/>
              <a:gd name="connsiteX39" fmla="*/ 283008 w 603405"/>
              <a:gd name="connsiteY39" fmla="*/ 277782 h 533193"/>
              <a:gd name="connsiteX40" fmla="*/ 280007 w 603405"/>
              <a:gd name="connsiteY40" fmla="*/ 274786 h 533193"/>
              <a:gd name="connsiteX41" fmla="*/ 277156 w 603405"/>
              <a:gd name="connsiteY41" fmla="*/ 277782 h 533193"/>
              <a:gd name="connsiteX42" fmla="*/ 277456 w 603405"/>
              <a:gd name="connsiteY42" fmla="*/ 516116 h 533193"/>
              <a:gd name="connsiteX43" fmla="*/ 260349 w 603405"/>
              <a:gd name="connsiteY43" fmla="*/ 533193 h 533193"/>
              <a:gd name="connsiteX44" fmla="*/ 243242 w 603405"/>
              <a:gd name="connsiteY44" fmla="*/ 516116 h 533193"/>
              <a:gd name="connsiteX45" fmla="*/ 243242 w 603405"/>
              <a:gd name="connsiteY45" fmla="*/ 380096 h 533193"/>
              <a:gd name="connsiteX46" fmla="*/ 235889 w 603405"/>
              <a:gd name="connsiteY46" fmla="*/ 380096 h 533193"/>
              <a:gd name="connsiteX47" fmla="*/ 235889 w 603405"/>
              <a:gd name="connsiteY47" fmla="*/ 516116 h 533193"/>
              <a:gd name="connsiteX48" fmla="*/ 218932 w 603405"/>
              <a:gd name="connsiteY48" fmla="*/ 533193 h 533193"/>
              <a:gd name="connsiteX49" fmla="*/ 201825 w 603405"/>
              <a:gd name="connsiteY49" fmla="*/ 516116 h 533193"/>
              <a:gd name="connsiteX50" fmla="*/ 201825 w 603405"/>
              <a:gd name="connsiteY50" fmla="*/ 380096 h 533193"/>
              <a:gd name="connsiteX51" fmla="*/ 201825 w 603405"/>
              <a:gd name="connsiteY51" fmla="*/ 277782 h 533193"/>
              <a:gd name="connsiteX52" fmla="*/ 199124 w 603405"/>
              <a:gd name="connsiteY52" fmla="*/ 274936 h 533193"/>
              <a:gd name="connsiteX53" fmla="*/ 196423 w 603405"/>
              <a:gd name="connsiteY53" fmla="*/ 277782 h 533193"/>
              <a:gd name="connsiteX54" fmla="*/ 195822 w 603405"/>
              <a:gd name="connsiteY54" fmla="*/ 381894 h 533193"/>
              <a:gd name="connsiteX55" fmla="*/ 181567 w 603405"/>
              <a:gd name="connsiteY55" fmla="*/ 395975 h 533193"/>
              <a:gd name="connsiteX56" fmla="*/ 167461 w 603405"/>
              <a:gd name="connsiteY56" fmla="*/ 381744 h 533193"/>
              <a:gd name="connsiteX57" fmla="*/ 167911 w 603405"/>
              <a:gd name="connsiteY57" fmla="*/ 277633 h 533193"/>
              <a:gd name="connsiteX58" fmla="*/ 201525 w 603405"/>
              <a:gd name="connsiteY58" fmla="*/ 244227 h 533193"/>
              <a:gd name="connsiteX59" fmla="*/ 34214 w 603405"/>
              <a:gd name="connsiteY59" fmla="*/ 244227 h 533193"/>
              <a:gd name="connsiteX60" fmla="*/ 110445 w 603405"/>
              <a:gd name="connsiteY60" fmla="*/ 244227 h 533193"/>
              <a:gd name="connsiteX61" fmla="*/ 144059 w 603405"/>
              <a:gd name="connsiteY61" fmla="*/ 277633 h 533193"/>
              <a:gd name="connsiteX62" fmla="*/ 144509 w 603405"/>
              <a:gd name="connsiteY62" fmla="*/ 381744 h 533193"/>
              <a:gd name="connsiteX63" fmla="*/ 130403 w 603405"/>
              <a:gd name="connsiteY63" fmla="*/ 395975 h 533193"/>
              <a:gd name="connsiteX64" fmla="*/ 116147 w 603405"/>
              <a:gd name="connsiteY64" fmla="*/ 381894 h 533193"/>
              <a:gd name="connsiteX65" fmla="*/ 115697 w 603405"/>
              <a:gd name="connsiteY65" fmla="*/ 277782 h 533193"/>
              <a:gd name="connsiteX66" fmla="*/ 112696 w 603405"/>
              <a:gd name="connsiteY66" fmla="*/ 274786 h 533193"/>
              <a:gd name="connsiteX67" fmla="*/ 109694 w 603405"/>
              <a:gd name="connsiteY67" fmla="*/ 277782 h 533193"/>
              <a:gd name="connsiteX68" fmla="*/ 109995 w 603405"/>
              <a:gd name="connsiteY68" fmla="*/ 516116 h 533193"/>
              <a:gd name="connsiteX69" fmla="*/ 92888 w 603405"/>
              <a:gd name="connsiteY69" fmla="*/ 533193 h 533193"/>
              <a:gd name="connsiteX70" fmla="*/ 75931 w 603405"/>
              <a:gd name="connsiteY70" fmla="*/ 516116 h 533193"/>
              <a:gd name="connsiteX71" fmla="*/ 75931 w 603405"/>
              <a:gd name="connsiteY71" fmla="*/ 380096 h 533193"/>
              <a:gd name="connsiteX72" fmla="*/ 68578 w 603405"/>
              <a:gd name="connsiteY72" fmla="*/ 380096 h 533193"/>
              <a:gd name="connsiteX73" fmla="*/ 68578 w 603405"/>
              <a:gd name="connsiteY73" fmla="*/ 516116 h 533193"/>
              <a:gd name="connsiteX74" fmla="*/ 51471 w 603405"/>
              <a:gd name="connsiteY74" fmla="*/ 533193 h 533193"/>
              <a:gd name="connsiteX75" fmla="*/ 34364 w 603405"/>
              <a:gd name="connsiteY75" fmla="*/ 516116 h 533193"/>
              <a:gd name="connsiteX76" fmla="*/ 34364 w 603405"/>
              <a:gd name="connsiteY76" fmla="*/ 380096 h 533193"/>
              <a:gd name="connsiteX77" fmla="*/ 34364 w 603405"/>
              <a:gd name="connsiteY77" fmla="*/ 277782 h 533193"/>
              <a:gd name="connsiteX78" fmla="*/ 31663 w 603405"/>
              <a:gd name="connsiteY78" fmla="*/ 275086 h 533193"/>
              <a:gd name="connsiteX79" fmla="*/ 28962 w 603405"/>
              <a:gd name="connsiteY79" fmla="*/ 277782 h 533193"/>
              <a:gd name="connsiteX80" fmla="*/ 28361 w 603405"/>
              <a:gd name="connsiteY80" fmla="*/ 381894 h 533193"/>
              <a:gd name="connsiteX81" fmla="*/ 14256 w 603405"/>
              <a:gd name="connsiteY81" fmla="*/ 395975 h 533193"/>
              <a:gd name="connsiteX82" fmla="*/ 14106 w 603405"/>
              <a:gd name="connsiteY82" fmla="*/ 395975 h 533193"/>
              <a:gd name="connsiteX83" fmla="*/ 0 w 603405"/>
              <a:gd name="connsiteY83" fmla="*/ 381744 h 533193"/>
              <a:gd name="connsiteX84" fmla="*/ 600 w 603405"/>
              <a:gd name="connsiteY84" fmla="*/ 277633 h 533193"/>
              <a:gd name="connsiteX85" fmla="*/ 34214 w 603405"/>
              <a:gd name="connsiteY85" fmla="*/ 244227 h 533193"/>
              <a:gd name="connsiteX86" fmla="*/ 298774 w 603405"/>
              <a:gd name="connsiteY86" fmla="*/ 232090 h 533193"/>
              <a:gd name="connsiteX87" fmla="*/ 346547 w 603405"/>
              <a:gd name="connsiteY87" fmla="*/ 232090 h 533193"/>
              <a:gd name="connsiteX88" fmla="*/ 322660 w 603405"/>
              <a:gd name="connsiteY88" fmla="*/ 254883 h 533193"/>
              <a:gd name="connsiteX89" fmla="*/ 298774 w 603405"/>
              <a:gd name="connsiteY89" fmla="*/ 232090 h 533193"/>
              <a:gd name="connsiteX90" fmla="*/ 405716 w 603405"/>
              <a:gd name="connsiteY90" fmla="*/ 176061 h 533193"/>
              <a:gd name="connsiteX91" fmla="*/ 435177 w 603405"/>
              <a:gd name="connsiteY91" fmla="*/ 205417 h 533193"/>
              <a:gd name="connsiteX92" fmla="*/ 405716 w 603405"/>
              <a:gd name="connsiteY92" fmla="*/ 234773 h 533193"/>
              <a:gd name="connsiteX93" fmla="*/ 376255 w 603405"/>
              <a:gd name="connsiteY93" fmla="*/ 205417 h 533193"/>
              <a:gd name="connsiteX94" fmla="*/ 405716 w 603405"/>
              <a:gd name="connsiteY94" fmla="*/ 176061 h 533193"/>
              <a:gd name="connsiteX95" fmla="*/ 239817 w 603405"/>
              <a:gd name="connsiteY95" fmla="*/ 176061 h 533193"/>
              <a:gd name="connsiteX96" fmla="*/ 269208 w 603405"/>
              <a:gd name="connsiteY96" fmla="*/ 205417 h 533193"/>
              <a:gd name="connsiteX97" fmla="*/ 239817 w 603405"/>
              <a:gd name="connsiteY97" fmla="*/ 234773 h 533193"/>
              <a:gd name="connsiteX98" fmla="*/ 210426 w 603405"/>
              <a:gd name="connsiteY98" fmla="*/ 205417 h 533193"/>
              <a:gd name="connsiteX99" fmla="*/ 239817 w 603405"/>
              <a:gd name="connsiteY99" fmla="*/ 176061 h 533193"/>
              <a:gd name="connsiteX100" fmla="*/ 72325 w 603405"/>
              <a:gd name="connsiteY100" fmla="*/ 176061 h 533193"/>
              <a:gd name="connsiteX101" fmla="*/ 101897 w 603405"/>
              <a:gd name="connsiteY101" fmla="*/ 205416 h 533193"/>
              <a:gd name="connsiteX102" fmla="*/ 72325 w 603405"/>
              <a:gd name="connsiteY102" fmla="*/ 234772 h 533193"/>
              <a:gd name="connsiteX103" fmla="*/ 42904 w 603405"/>
              <a:gd name="connsiteY103" fmla="*/ 205416 h 533193"/>
              <a:gd name="connsiteX104" fmla="*/ 72325 w 603405"/>
              <a:gd name="connsiteY104" fmla="*/ 176061 h 533193"/>
              <a:gd name="connsiteX105" fmla="*/ 1200 w 603405"/>
              <a:gd name="connsiteY105" fmla="*/ 56241 h 533193"/>
              <a:gd name="connsiteX106" fmla="*/ 384613 w 603405"/>
              <a:gd name="connsiteY106" fmla="*/ 56241 h 533193"/>
              <a:gd name="connsiteX107" fmla="*/ 603405 w 603405"/>
              <a:gd name="connsiteY107" fmla="*/ 274494 h 533193"/>
              <a:gd name="connsiteX108" fmla="*/ 540979 w 603405"/>
              <a:gd name="connsiteY108" fmla="*/ 336809 h 533193"/>
              <a:gd name="connsiteX109" fmla="*/ 494459 w 603405"/>
              <a:gd name="connsiteY109" fmla="*/ 336809 h 533193"/>
              <a:gd name="connsiteX110" fmla="*/ 494159 w 603405"/>
              <a:gd name="connsiteY110" fmla="*/ 277490 h 533193"/>
              <a:gd name="connsiteX111" fmla="*/ 464747 w 603405"/>
              <a:gd name="connsiteY111" fmla="*/ 232102 h 533193"/>
              <a:gd name="connsiteX112" fmla="*/ 551333 w 603405"/>
              <a:gd name="connsiteY112" fmla="*/ 232102 h 533193"/>
              <a:gd name="connsiteX113" fmla="*/ 551483 w 603405"/>
              <a:gd name="connsiteY113" fmla="*/ 232102 h 533193"/>
              <a:gd name="connsiteX114" fmla="*/ 557636 w 603405"/>
              <a:gd name="connsiteY114" fmla="*/ 228806 h 533193"/>
              <a:gd name="connsiteX115" fmla="*/ 558236 w 603405"/>
              <a:gd name="connsiteY115" fmla="*/ 221766 h 533193"/>
              <a:gd name="connsiteX116" fmla="*/ 504663 w 603405"/>
              <a:gd name="connsiteY116" fmla="*/ 136532 h 533193"/>
              <a:gd name="connsiteX117" fmla="*/ 415676 w 603405"/>
              <a:gd name="connsiteY117" fmla="*/ 97585 h 533193"/>
              <a:gd name="connsiteX118" fmla="*/ 397968 w 603405"/>
              <a:gd name="connsiteY118" fmla="*/ 97585 h 533193"/>
              <a:gd name="connsiteX119" fmla="*/ 397968 w 603405"/>
              <a:gd name="connsiteY119" fmla="*/ 159900 h 533193"/>
              <a:gd name="connsiteX120" fmla="*/ 364954 w 603405"/>
              <a:gd name="connsiteY120" fmla="*/ 183568 h 533193"/>
              <a:gd name="connsiteX121" fmla="*/ 364954 w 603405"/>
              <a:gd name="connsiteY121" fmla="*/ 97585 h 533193"/>
              <a:gd name="connsiteX122" fmla="*/ 174223 w 603405"/>
              <a:gd name="connsiteY122" fmla="*/ 97585 h 533193"/>
              <a:gd name="connsiteX123" fmla="*/ 174223 w 603405"/>
              <a:gd name="connsiteY123" fmla="*/ 232102 h 533193"/>
              <a:gd name="connsiteX124" fmla="*/ 180526 w 603405"/>
              <a:gd name="connsiteY124" fmla="*/ 232102 h 533193"/>
              <a:gd name="connsiteX125" fmla="*/ 174223 w 603405"/>
              <a:gd name="connsiteY125" fmla="*/ 235547 h 533193"/>
              <a:gd name="connsiteX126" fmla="*/ 156065 w 603405"/>
              <a:gd name="connsiteY126" fmla="*/ 256369 h 533193"/>
              <a:gd name="connsiteX127" fmla="*/ 141209 w 603405"/>
              <a:gd name="connsiteY127" fmla="*/ 238093 h 533193"/>
              <a:gd name="connsiteX128" fmla="*/ 131455 w 603405"/>
              <a:gd name="connsiteY128" fmla="*/ 232102 h 533193"/>
              <a:gd name="connsiteX129" fmla="*/ 141209 w 603405"/>
              <a:gd name="connsiteY129" fmla="*/ 232102 h 533193"/>
              <a:gd name="connsiteX130" fmla="*/ 141209 w 603405"/>
              <a:gd name="connsiteY130" fmla="*/ 97585 h 533193"/>
              <a:gd name="connsiteX131" fmla="*/ 1200 w 603405"/>
              <a:gd name="connsiteY131" fmla="*/ 97585 h 533193"/>
              <a:gd name="connsiteX132" fmla="*/ 30337 w 603405"/>
              <a:gd name="connsiteY132" fmla="*/ 0 h 533193"/>
              <a:gd name="connsiteX133" fmla="*/ 450496 w 603405"/>
              <a:gd name="connsiteY133" fmla="*/ 0 h 533193"/>
              <a:gd name="connsiteX134" fmla="*/ 467002 w 603405"/>
              <a:gd name="connsiteY134" fmla="*/ 16512 h 533193"/>
              <a:gd name="connsiteX135" fmla="*/ 450496 w 603405"/>
              <a:gd name="connsiteY135" fmla="*/ 33025 h 533193"/>
              <a:gd name="connsiteX136" fmla="*/ 30337 w 603405"/>
              <a:gd name="connsiteY136" fmla="*/ 33025 h 533193"/>
              <a:gd name="connsiteX137" fmla="*/ 13831 w 603405"/>
              <a:gd name="connsiteY137" fmla="*/ 16512 h 533193"/>
              <a:gd name="connsiteX138" fmla="*/ 30337 w 603405"/>
              <a:gd name="connsiteY138" fmla="*/ 0 h 533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603405" h="533193">
                <a:moveTo>
                  <a:pt x="494452" y="356003"/>
                </a:moveTo>
                <a:lnTo>
                  <a:pt x="585270" y="356003"/>
                </a:lnTo>
                <a:cubicBezTo>
                  <a:pt x="594277" y="356003"/>
                  <a:pt x="601782" y="363343"/>
                  <a:pt x="601782" y="372480"/>
                </a:cubicBezTo>
                <a:cubicBezTo>
                  <a:pt x="601782" y="381617"/>
                  <a:pt x="594277" y="388957"/>
                  <a:pt x="585270" y="388957"/>
                </a:cubicBezTo>
                <a:lnTo>
                  <a:pt x="494452" y="388957"/>
                </a:lnTo>
                <a:close/>
                <a:moveTo>
                  <a:pt x="367511" y="244227"/>
                </a:moveTo>
                <a:lnTo>
                  <a:pt x="443780" y="244227"/>
                </a:lnTo>
                <a:cubicBezTo>
                  <a:pt x="462247" y="244227"/>
                  <a:pt x="477261" y="259207"/>
                  <a:pt x="477411" y="277633"/>
                </a:cubicBezTo>
                <a:lnTo>
                  <a:pt x="477861" y="381744"/>
                </a:lnTo>
                <a:cubicBezTo>
                  <a:pt x="478011" y="389534"/>
                  <a:pt x="471706" y="395975"/>
                  <a:pt x="463748" y="395975"/>
                </a:cubicBezTo>
                <a:cubicBezTo>
                  <a:pt x="455941" y="395975"/>
                  <a:pt x="449486" y="389684"/>
                  <a:pt x="449486" y="381894"/>
                </a:cubicBezTo>
                <a:lnTo>
                  <a:pt x="449035" y="277782"/>
                </a:lnTo>
                <a:cubicBezTo>
                  <a:pt x="449035" y="276135"/>
                  <a:pt x="447684" y="274786"/>
                  <a:pt x="446033" y="274786"/>
                </a:cubicBezTo>
                <a:cubicBezTo>
                  <a:pt x="444381" y="274786"/>
                  <a:pt x="443030" y="276135"/>
                  <a:pt x="443030" y="277782"/>
                </a:cubicBezTo>
                <a:cubicBezTo>
                  <a:pt x="443030" y="419944"/>
                  <a:pt x="443330" y="291115"/>
                  <a:pt x="443330" y="516116"/>
                </a:cubicBezTo>
                <a:cubicBezTo>
                  <a:pt x="443330" y="525553"/>
                  <a:pt x="435673" y="533193"/>
                  <a:pt x="426215" y="533193"/>
                </a:cubicBezTo>
                <a:cubicBezTo>
                  <a:pt x="416906" y="533193"/>
                  <a:pt x="409249" y="525553"/>
                  <a:pt x="409249" y="516116"/>
                </a:cubicBezTo>
                <a:lnTo>
                  <a:pt x="409249" y="380096"/>
                </a:lnTo>
                <a:lnTo>
                  <a:pt x="401893" y="380096"/>
                </a:lnTo>
                <a:lnTo>
                  <a:pt x="401893" y="516116"/>
                </a:lnTo>
                <a:cubicBezTo>
                  <a:pt x="401893" y="525553"/>
                  <a:pt x="394236" y="533193"/>
                  <a:pt x="384778" y="533193"/>
                </a:cubicBezTo>
                <a:cubicBezTo>
                  <a:pt x="375319" y="533193"/>
                  <a:pt x="367812" y="525553"/>
                  <a:pt x="367812" y="516116"/>
                </a:cubicBezTo>
                <a:lnTo>
                  <a:pt x="367812" y="380096"/>
                </a:lnTo>
                <a:lnTo>
                  <a:pt x="367812" y="277782"/>
                </a:lnTo>
                <a:cubicBezTo>
                  <a:pt x="367812" y="276284"/>
                  <a:pt x="366461" y="274936"/>
                  <a:pt x="364959" y="274936"/>
                </a:cubicBezTo>
                <a:cubicBezTo>
                  <a:pt x="363458" y="274936"/>
                  <a:pt x="362257" y="276284"/>
                  <a:pt x="362257" y="277782"/>
                </a:cubicBezTo>
                <a:lnTo>
                  <a:pt x="361656" y="381894"/>
                </a:lnTo>
                <a:cubicBezTo>
                  <a:pt x="361656" y="389684"/>
                  <a:pt x="355351" y="395975"/>
                  <a:pt x="347544" y="395975"/>
                </a:cubicBezTo>
                <a:lnTo>
                  <a:pt x="347393" y="395975"/>
                </a:lnTo>
                <a:cubicBezTo>
                  <a:pt x="339586" y="395975"/>
                  <a:pt x="333281" y="389534"/>
                  <a:pt x="333281" y="381744"/>
                </a:cubicBezTo>
                <a:lnTo>
                  <a:pt x="333881" y="277633"/>
                </a:lnTo>
                <a:cubicBezTo>
                  <a:pt x="333881" y="259207"/>
                  <a:pt x="349045" y="244227"/>
                  <a:pt x="367511" y="244227"/>
                </a:cubicBezTo>
                <a:close/>
                <a:moveTo>
                  <a:pt x="201525" y="244227"/>
                </a:moveTo>
                <a:lnTo>
                  <a:pt x="277906" y="244227"/>
                </a:lnTo>
                <a:cubicBezTo>
                  <a:pt x="296213" y="244227"/>
                  <a:pt x="311370" y="259207"/>
                  <a:pt x="311520" y="277633"/>
                </a:cubicBezTo>
                <a:lnTo>
                  <a:pt x="311970" y="381744"/>
                </a:lnTo>
                <a:cubicBezTo>
                  <a:pt x="311970" y="389534"/>
                  <a:pt x="305667" y="395975"/>
                  <a:pt x="297864" y="395975"/>
                </a:cubicBezTo>
                <a:lnTo>
                  <a:pt x="297714" y="395975"/>
                </a:lnTo>
                <a:cubicBezTo>
                  <a:pt x="289911" y="395975"/>
                  <a:pt x="283608" y="389684"/>
                  <a:pt x="283608" y="381894"/>
                </a:cubicBezTo>
                <a:lnTo>
                  <a:pt x="283008" y="277782"/>
                </a:lnTo>
                <a:cubicBezTo>
                  <a:pt x="283008" y="276135"/>
                  <a:pt x="281657" y="274786"/>
                  <a:pt x="280007" y="274786"/>
                </a:cubicBezTo>
                <a:cubicBezTo>
                  <a:pt x="278356" y="274786"/>
                  <a:pt x="277156" y="276135"/>
                  <a:pt x="277156" y="277782"/>
                </a:cubicBezTo>
                <a:cubicBezTo>
                  <a:pt x="277156" y="419944"/>
                  <a:pt x="277456" y="291115"/>
                  <a:pt x="277456" y="516116"/>
                </a:cubicBezTo>
                <a:cubicBezTo>
                  <a:pt x="277456" y="525553"/>
                  <a:pt x="269803" y="533193"/>
                  <a:pt x="260349" y="533193"/>
                </a:cubicBezTo>
                <a:cubicBezTo>
                  <a:pt x="250895" y="533193"/>
                  <a:pt x="243242" y="525553"/>
                  <a:pt x="243242" y="516116"/>
                </a:cubicBezTo>
                <a:lnTo>
                  <a:pt x="243242" y="380096"/>
                </a:lnTo>
                <a:lnTo>
                  <a:pt x="235889" y="380096"/>
                </a:lnTo>
                <a:lnTo>
                  <a:pt x="235889" y="516116"/>
                </a:lnTo>
                <a:cubicBezTo>
                  <a:pt x="235889" y="525553"/>
                  <a:pt x="228386" y="533193"/>
                  <a:pt x="218932" y="533193"/>
                </a:cubicBezTo>
                <a:cubicBezTo>
                  <a:pt x="209478" y="533193"/>
                  <a:pt x="201825" y="525553"/>
                  <a:pt x="201825" y="516116"/>
                </a:cubicBezTo>
                <a:lnTo>
                  <a:pt x="201825" y="380096"/>
                </a:lnTo>
                <a:lnTo>
                  <a:pt x="201825" y="277782"/>
                </a:lnTo>
                <a:cubicBezTo>
                  <a:pt x="201825" y="276284"/>
                  <a:pt x="200624" y="274936"/>
                  <a:pt x="199124" y="274936"/>
                </a:cubicBezTo>
                <a:cubicBezTo>
                  <a:pt x="197623" y="274936"/>
                  <a:pt x="196423" y="276284"/>
                  <a:pt x="196423" y="277782"/>
                </a:cubicBezTo>
                <a:lnTo>
                  <a:pt x="195822" y="381894"/>
                </a:lnTo>
                <a:cubicBezTo>
                  <a:pt x="195822" y="389684"/>
                  <a:pt x="189370" y="395975"/>
                  <a:pt x="181567" y="395975"/>
                </a:cubicBezTo>
                <a:cubicBezTo>
                  <a:pt x="173763" y="395975"/>
                  <a:pt x="167311" y="389534"/>
                  <a:pt x="167461" y="381744"/>
                </a:cubicBezTo>
                <a:lnTo>
                  <a:pt x="167911" y="277633"/>
                </a:lnTo>
                <a:cubicBezTo>
                  <a:pt x="168061" y="259207"/>
                  <a:pt x="183067" y="244227"/>
                  <a:pt x="201525" y="244227"/>
                </a:cubicBezTo>
                <a:close/>
                <a:moveTo>
                  <a:pt x="34214" y="244227"/>
                </a:moveTo>
                <a:lnTo>
                  <a:pt x="110445" y="244227"/>
                </a:lnTo>
                <a:cubicBezTo>
                  <a:pt x="128902" y="244227"/>
                  <a:pt x="143908" y="259207"/>
                  <a:pt x="144059" y="277633"/>
                </a:cubicBezTo>
                <a:lnTo>
                  <a:pt x="144509" y="381744"/>
                </a:lnTo>
                <a:cubicBezTo>
                  <a:pt x="144659" y="389534"/>
                  <a:pt x="138206" y="395975"/>
                  <a:pt x="130403" y="395975"/>
                </a:cubicBezTo>
                <a:cubicBezTo>
                  <a:pt x="122600" y="395975"/>
                  <a:pt x="116147" y="389684"/>
                  <a:pt x="116147" y="381894"/>
                </a:cubicBezTo>
                <a:lnTo>
                  <a:pt x="115697" y="277782"/>
                </a:lnTo>
                <a:cubicBezTo>
                  <a:pt x="115547" y="276135"/>
                  <a:pt x="114346" y="274786"/>
                  <a:pt x="112696" y="274786"/>
                </a:cubicBezTo>
                <a:cubicBezTo>
                  <a:pt x="111045" y="274786"/>
                  <a:pt x="109694" y="276135"/>
                  <a:pt x="109694" y="277782"/>
                </a:cubicBezTo>
                <a:cubicBezTo>
                  <a:pt x="109694" y="343695"/>
                  <a:pt x="109995" y="452450"/>
                  <a:pt x="109995" y="516116"/>
                </a:cubicBezTo>
                <a:cubicBezTo>
                  <a:pt x="109995" y="525553"/>
                  <a:pt x="102341" y="533193"/>
                  <a:pt x="92888" y="533193"/>
                </a:cubicBezTo>
                <a:cubicBezTo>
                  <a:pt x="83584" y="533193"/>
                  <a:pt x="75931" y="525553"/>
                  <a:pt x="75931" y="516116"/>
                </a:cubicBezTo>
                <a:lnTo>
                  <a:pt x="75931" y="380096"/>
                </a:lnTo>
                <a:lnTo>
                  <a:pt x="68578" y="380096"/>
                </a:lnTo>
                <a:lnTo>
                  <a:pt x="68578" y="516116"/>
                </a:lnTo>
                <a:cubicBezTo>
                  <a:pt x="68578" y="525553"/>
                  <a:pt x="60925" y="533193"/>
                  <a:pt x="51471" y="533193"/>
                </a:cubicBezTo>
                <a:cubicBezTo>
                  <a:pt x="42017" y="533193"/>
                  <a:pt x="34364" y="525553"/>
                  <a:pt x="34364" y="516116"/>
                </a:cubicBezTo>
                <a:lnTo>
                  <a:pt x="34364" y="380096"/>
                </a:lnTo>
                <a:lnTo>
                  <a:pt x="34364" y="277782"/>
                </a:lnTo>
                <a:cubicBezTo>
                  <a:pt x="34364" y="276284"/>
                  <a:pt x="33163" y="275086"/>
                  <a:pt x="31663" y="275086"/>
                </a:cubicBezTo>
                <a:cubicBezTo>
                  <a:pt x="30162" y="274936"/>
                  <a:pt x="28962" y="276284"/>
                  <a:pt x="28962" y="277782"/>
                </a:cubicBezTo>
                <a:lnTo>
                  <a:pt x="28361" y="381894"/>
                </a:lnTo>
                <a:cubicBezTo>
                  <a:pt x="28361" y="389684"/>
                  <a:pt x="22059" y="395975"/>
                  <a:pt x="14256" y="395975"/>
                </a:cubicBezTo>
                <a:lnTo>
                  <a:pt x="14106" y="395975"/>
                </a:lnTo>
                <a:cubicBezTo>
                  <a:pt x="6302" y="395975"/>
                  <a:pt x="0" y="389534"/>
                  <a:pt x="0" y="381744"/>
                </a:cubicBezTo>
                <a:lnTo>
                  <a:pt x="600" y="277633"/>
                </a:lnTo>
                <a:cubicBezTo>
                  <a:pt x="600" y="259207"/>
                  <a:pt x="15756" y="244227"/>
                  <a:pt x="34214" y="244227"/>
                </a:cubicBezTo>
                <a:close/>
                <a:moveTo>
                  <a:pt x="298774" y="232090"/>
                </a:moveTo>
                <a:lnTo>
                  <a:pt x="346547" y="232090"/>
                </a:lnTo>
                <a:cubicBezTo>
                  <a:pt x="336331" y="236739"/>
                  <a:pt x="327768" y="244836"/>
                  <a:pt x="322660" y="254883"/>
                </a:cubicBezTo>
                <a:cubicBezTo>
                  <a:pt x="317552" y="244836"/>
                  <a:pt x="309140" y="236739"/>
                  <a:pt x="298774" y="232090"/>
                </a:cubicBezTo>
                <a:close/>
                <a:moveTo>
                  <a:pt x="405716" y="176061"/>
                </a:moveTo>
                <a:cubicBezTo>
                  <a:pt x="421987" y="176061"/>
                  <a:pt x="435177" y="189204"/>
                  <a:pt x="435177" y="205417"/>
                </a:cubicBezTo>
                <a:cubicBezTo>
                  <a:pt x="435177" y="221630"/>
                  <a:pt x="421987" y="234773"/>
                  <a:pt x="405716" y="234773"/>
                </a:cubicBezTo>
                <a:cubicBezTo>
                  <a:pt x="389445" y="234773"/>
                  <a:pt x="376255" y="221630"/>
                  <a:pt x="376255" y="205417"/>
                </a:cubicBezTo>
                <a:cubicBezTo>
                  <a:pt x="376255" y="189204"/>
                  <a:pt x="389445" y="176061"/>
                  <a:pt x="405716" y="176061"/>
                </a:cubicBezTo>
                <a:close/>
                <a:moveTo>
                  <a:pt x="239817" y="176061"/>
                </a:moveTo>
                <a:cubicBezTo>
                  <a:pt x="256049" y="176061"/>
                  <a:pt x="269208" y="189204"/>
                  <a:pt x="269208" y="205417"/>
                </a:cubicBezTo>
                <a:cubicBezTo>
                  <a:pt x="269208" y="221630"/>
                  <a:pt x="256049" y="234773"/>
                  <a:pt x="239817" y="234773"/>
                </a:cubicBezTo>
                <a:cubicBezTo>
                  <a:pt x="223585" y="234773"/>
                  <a:pt x="210426" y="221630"/>
                  <a:pt x="210426" y="205417"/>
                </a:cubicBezTo>
                <a:cubicBezTo>
                  <a:pt x="210426" y="189204"/>
                  <a:pt x="223585" y="176061"/>
                  <a:pt x="239817" y="176061"/>
                </a:cubicBezTo>
                <a:close/>
                <a:moveTo>
                  <a:pt x="72325" y="176061"/>
                </a:moveTo>
                <a:cubicBezTo>
                  <a:pt x="88687" y="176061"/>
                  <a:pt x="101897" y="189241"/>
                  <a:pt x="101897" y="205416"/>
                </a:cubicBezTo>
                <a:cubicBezTo>
                  <a:pt x="101897" y="221592"/>
                  <a:pt x="88687" y="234772"/>
                  <a:pt x="72325" y="234772"/>
                </a:cubicBezTo>
                <a:cubicBezTo>
                  <a:pt x="56113" y="234772"/>
                  <a:pt x="42904" y="221592"/>
                  <a:pt x="42904" y="205416"/>
                </a:cubicBezTo>
                <a:cubicBezTo>
                  <a:pt x="42904" y="189241"/>
                  <a:pt x="55963" y="176061"/>
                  <a:pt x="72325" y="176061"/>
                </a:cubicBezTo>
                <a:close/>
                <a:moveTo>
                  <a:pt x="1200" y="56241"/>
                </a:moveTo>
                <a:lnTo>
                  <a:pt x="384613" y="56241"/>
                </a:lnTo>
                <a:cubicBezTo>
                  <a:pt x="505414" y="56241"/>
                  <a:pt x="603405" y="154058"/>
                  <a:pt x="603405" y="274494"/>
                </a:cubicBezTo>
                <a:cubicBezTo>
                  <a:pt x="603405" y="308947"/>
                  <a:pt x="575493" y="336809"/>
                  <a:pt x="540979" y="336809"/>
                </a:cubicBezTo>
                <a:lnTo>
                  <a:pt x="494459" y="336809"/>
                </a:lnTo>
                <a:lnTo>
                  <a:pt x="494159" y="277490"/>
                </a:lnTo>
                <a:cubicBezTo>
                  <a:pt x="494009" y="257417"/>
                  <a:pt x="482004" y="240041"/>
                  <a:pt x="464747" y="232102"/>
                </a:cubicBezTo>
                <a:lnTo>
                  <a:pt x="551333" y="232102"/>
                </a:lnTo>
                <a:lnTo>
                  <a:pt x="551483" y="232102"/>
                </a:lnTo>
                <a:cubicBezTo>
                  <a:pt x="553884" y="232102"/>
                  <a:pt x="556285" y="230753"/>
                  <a:pt x="557636" y="228806"/>
                </a:cubicBezTo>
                <a:cubicBezTo>
                  <a:pt x="558986" y="226709"/>
                  <a:pt x="559136" y="224013"/>
                  <a:pt x="558236" y="221766"/>
                </a:cubicBezTo>
                <a:cubicBezTo>
                  <a:pt x="550283" y="203790"/>
                  <a:pt x="531825" y="165892"/>
                  <a:pt x="504663" y="136532"/>
                </a:cubicBezTo>
                <a:cubicBezTo>
                  <a:pt x="481704" y="111666"/>
                  <a:pt x="449440" y="97585"/>
                  <a:pt x="415676" y="97585"/>
                </a:cubicBezTo>
                <a:lnTo>
                  <a:pt x="397968" y="97585"/>
                </a:lnTo>
                <a:lnTo>
                  <a:pt x="397968" y="159900"/>
                </a:lnTo>
                <a:cubicBezTo>
                  <a:pt x="383712" y="162297"/>
                  <a:pt x="371707" y="171284"/>
                  <a:pt x="364954" y="183568"/>
                </a:cubicBezTo>
                <a:lnTo>
                  <a:pt x="364954" y="97585"/>
                </a:lnTo>
                <a:lnTo>
                  <a:pt x="174223" y="97585"/>
                </a:lnTo>
                <a:lnTo>
                  <a:pt x="174223" y="232102"/>
                </a:lnTo>
                <a:lnTo>
                  <a:pt x="180526" y="232102"/>
                </a:lnTo>
                <a:cubicBezTo>
                  <a:pt x="178425" y="233150"/>
                  <a:pt x="176324" y="234199"/>
                  <a:pt x="174223" y="235547"/>
                </a:cubicBezTo>
                <a:cubicBezTo>
                  <a:pt x="166420" y="240640"/>
                  <a:pt x="159967" y="247830"/>
                  <a:pt x="156065" y="256369"/>
                </a:cubicBezTo>
                <a:cubicBezTo>
                  <a:pt x="152614" y="249178"/>
                  <a:pt x="147512" y="242887"/>
                  <a:pt x="141209" y="238093"/>
                </a:cubicBezTo>
                <a:cubicBezTo>
                  <a:pt x="138208" y="235697"/>
                  <a:pt x="134906" y="233749"/>
                  <a:pt x="131455" y="232102"/>
                </a:cubicBezTo>
                <a:lnTo>
                  <a:pt x="141209" y="232102"/>
                </a:lnTo>
                <a:lnTo>
                  <a:pt x="141209" y="97585"/>
                </a:lnTo>
                <a:lnTo>
                  <a:pt x="1200" y="97585"/>
                </a:lnTo>
                <a:close/>
                <a:moveTo>
                  <a:pt x="30337" y="0"/>
                </a:moveTo>
                <a:lnTo>
                  <a:pt x="450496" y="0"/>
                </a:lnTo>
                <a:cubicBezTo>
                  <a:pt x="459649" y="0"/>
                  <a:pt x="467002" y="7356"/>
                  <a:pt x="467002" y="16512"/>
                </a:cubicBezTo>
                <a:cubicBezTo>
                  <a:pt x="467002" y="25669"/>
                  <a:pt x="459649" y="33025"/>
                  <a:pt x="450496" y="33025"/>
                </a:cubicBezTo>
                <a:lnTo>
                  <a:pt x="30337" y="33025"/>
                </a:lnTo>
                <a:cubicBezTo>
                  <a:pt x="21184" y="33025"/>
                  <a:pt x="13831" y="25669"/>
                  <a:pt x="13831" y="16512"/>
                </a:cubicBezTo>
                <a:cubicBezTo>
                  <a:pt x="13831" y="7356"/>
                  <a:pt x="21184" y="0"/>
                  <a:pt x="30337" y="0"/>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endParaRPr lang="zh-CN" altLang="en-US">
              <a:solidFill>
                <a:srgbClr val="000000"/>
              </a:solidFill>
              <a:latin typeface="Arial" panose="020F0502020204030204"/>
              <a:ea typeface="微软雅黑"/>
              <a:cs typeface="+mn-ea"/>
              <a:sym typeface="+mn-lt"/>
            </a:endParaRPr>
          </a:p>
        </p:txBody>
      </p:sp>
      <p:pic>
        <p:nvPicPr>
          <p:cNvPr id="2050" name="Picture 2" descr="Fig. 1: RMSF-net implementation.">
            <a:extLst>
              <a:ext uri="{FF2B5EF4-FFF2-40B4-BE49-F238E27FC236}">
                <a16:creationId xmlns:a16="http://schemas.microsoft.com/office/drawing/2014/main" id="{05E97344-AD24-ADF3-7ED5-CAC7756DC6A5}"/>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384" t="-9" r="32553"/>
          <a:stretch>
            <a:fillRect/>
          </a:stretch>
        </p:blipFill>
        <p:spPr bwMode="auto">
          <a:xfrm>
            <a:off x="190635" y="993054"/>
            <a:ext cx="6430658" cy="4092966"/>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223D3607-AE98-6C13-6CED-4365DE4D0046}"/>
              </a:ext>
            </a:extLst>
          </p:cNvPr>
          <p:cNvSpPr txBox="1"/>
          <p:nvPr/>
        </p:nvSpPr>
        <p:spPr>
          <a:xfrm>
            <a:off x="7282774" y="1220618"/>
            <a:ext cx="3247601" cy="369332"/>
          </a:xfrm>
          <a:prstGeom prst="rect">
            <a:avLst/>
          </a:prstGeom>
          <a:noFill/>
        </p:spPr>
        <p:txBody>
          <a:bodyPr wrap="square" rtlCol="0">
            <a:spAutoFit/>
          </a:bodyPr>
          <a:lstStyle/>
          <a:p>
            <a:r>
              <a:rPr lang="zh-CN" altLang="en-US" dirty="0"/>
              <a:t>提出了</a:t>
            </a:r>
            <a:r>
              <a:rPr lang="en-US" altLang="zh-CN" dirty="0"/>
              <a:t>RMSF-Net</a:t>
            </a:r>
            <a:r>
              <a:rPr lang="zh-CN" altLang="en-US" dirty="0"/>
              <a:t>预测</a:t>
            </a:r>
            <a:r>
              <a:rPr lang="en-US" altLang="zh-CN" dirty="0"/>
              <a:t>RMSF</a:t>
            </a:r>
          </a:p>
        </p:txBody>
      </p:sp>
      <p:sp>
        <p:nvSpPr>
          <p:cNvPr id="3" name="文本框 2">
            <a:extLst>
              <a:ext uri="{FF2B5EF4-FFF2-40B4-BE49-F238E27FC236}">
                <a16:creationId xmlns:a16="http://schemas.microsoft.com/office/drawing/2014/main" id="{9B6EC458-4788-7B64-E90E-6971EE11948B}"/>
              </a:ext>
            </a:extLst>
          </p:cNvPr>
          <p:cNvSpPr txBox="1"/>
          <p:nvPr/>
        </p:nvSpPr>
        <p:spPr>
          <a:xfrm>
            <a:off x="7094705" y="2000893"/>
            <a:ext cx="5097295" cy="1200329"/>
          </a:xfrm>
          <a:prstGeom prst="rect">
            <a:avLst/>
          </a:prstGeom>
          <a:noFill/>
        </p:spPr>
        <p:txBody>
          <a:bodyPr wrap="square" rtlCol="0">
            <a:spAutoFit/>
          </a:bodyPr>
          <a:lstStyle/>
          <a:p>
            <a:r>
              <a:rPr lang="en-US" altLang="zh-CN" dirty="0"/>
              <a:t>RMSF</a:t>
            </a:r>
            <a:r>
              <a:rPr lang="zh-CN" altLang="en-US" dirty="0"/>
              <a:t>的数据来源：</a:t>
            </a:r>
            <a:r>
              <a:rPr lang="en-US" altLang="zh-CN" dirty="0"/>
              <a:t>MD</a:t>
            </a:r>
            <a:r>
              <a:rPr lang="zh-CN" altLang="en-US" dirty="0"/>
              <a:t>模拟产生（使用</a:t>
            </a:r>
            <a:r>
              <a:rPr lang="en-US" altLang="zh-CN" dirty="0"/>
              <a:t>AMBER ff14SB</a:t>
            </a:r>
            <a:r>
              <a:rPr lang="zh-CN" altLang="en-US" dirty="0"/>
              <a:t>结合</a:t>
            </a:r>
            <a:r>
              <a:rPr lang="en-US" altLang="zh-CN" dirty="0"/>
              <a:t>TIP3P</a:t>
            </a:r>
            <a:r>
              <a:rPr lang="zh-CN" altLang="en-US" dirty="0"/>
              <a:t>水模型模拟</a:t>
            </a:r>
            <a:r>
              <a:rPr lang="en-US" altLang="zh-CN" dirty="0"/>
              <a:t>30ns</a:t>
            </a:r>
            <a:r>
              <a:rPr lang="zh-CN" altLang="en-US" dirty="0"/>
              <a:t>）</a:t>
            </a:r>
            <a:r>
              <a:rPr lang="en-US" altLang="zh-CN" dirty="0"/>
              <a:t>335</a:t>
            </a:r>
            <a:r>
              <a:rPr lang="zh-CN" altLang="en-US" dirty="0"/>
              <a:t>条含有</a:t>
            </a:r>
            <a:r>
              <a:rPr lang="en-US" altLang="zh-CN" b="0" i="0" dirty="0">
                <a:solidFill>
                  <a:srgbClr val="222222"/>
                </a:solidFill>
                <a:effectLst/>
                <a:latin typeface="Harding"/>
              </a:rPr>
              <a:t>PDB </a:t>
            </a:r>
            <a:r>
              <a:rPr lang="zh-CN" altLang="en-US" b="0" i="0" dirty="0">
                <a:solidFill>
                  <a:srgbClr val="222222"/>
                </a:solidFill>
                <a:effectLst/>
                <a:latin typeface="Harding"/>
              </a:rPr>
              <a:t>模型和冷冻密度图的蛋白</a:t>
            </a:r>
            <a:endParaRPr lang="en-US" altLang="zh-CN" dirty="0"/>
          </a:p>
          <a:p>
            <a:endParaRPr lang="en-US" altLang="zh-CN" dirty="0"/>
          </a:p>
        </p:txBody>
      </p:sp>
      <p:sp>
        <p:nvSpPr>
          <p:cNvPr id="4" name="文本框 3">
            <a:extLst>
              <a:ext uri="{FF2B5EF4-FFF2-40B4-BE49-F238E27FC236}">
                <a16:creationId xmlns:a16="http://schemas.microsoft.com/office/drawing/2014/main" id="{2E0C1549-2D02-4B96-C634-703C648A54A2}"/>
              </a:ext>
            </a:extLst>
          </p:cNvPr>
          <p:cNvSpPr txBox="1"/>
          <p:nvPr/>
        </p:nvSpPr>
        <p:spPr>
          <a:xfrm>
            <a:off x="7094705" y="3026567"/>
            <a:ext cx="4987048" cy="923330"/>
          </a:xfrm>
          <a:prstGeom prst="rect">
            <a:avLst/>
          </a:prstGeom>
          <a:noFill/>
        </p:spPr>
        <p:txBody>
          <a:bodyPr wrap="square" rtlCol="0">
            <a:spAutoFit/>
          </a:bodyPr>
          <a:lstStyle/>
          <a:p>
            <a:r>
              <a:rPr lang="zh-CN" altLang="en-US" dirty="0"/>
              <a:t>模型的输入数据：</a:t>
            </a:r>
            <a:r>
              <a:rPr lang="en-US" altLang="zh-CN" dirty="0"/>
              <a:t>PDB</a:t>
            </a:r>
            <a:r>
              <a:rPr lang="zh-CN" altLang="en-US" dirty="0"/>
              <a:t>蛋白结构和冷冻电镜密度图，分别都使用</a:t>
            </a:r>
            <a:r>
              <a:rPr lang="en-US" altLang="zh-CN" dirty="0"/>
              <a:t>3D</a:t>
            </a:r>
            <a:r>
              <a:rPr lang="zh-CN" altLang="en-US" dirty="0"/>
              <a:t>卷积神经网络提取特征并融合两种信息</a:t>
            </a:r>
          </a:p>
        </p:txBody>
      </p:sp>
    </p:spTree>
    <p:extLst>
      <p:ext uri="{BB962C8B-B14F-4D97-AF65-F5344CB8AC3E}">
        <p14:creationId xmlns:p14="http://schemas.microsoft.com/office/powerpoint/2010/main" val="13436542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78CBC-7016-F933-1138-D7CCB0FFC50E}"/>
            </a:ext>
          </a:extLst>
        </p:cNvPr>
        <p:cNvGrpSpPr/>
        <p:nvPr/>
      </p:nvGrpSpPr>
      <p:grpSpPr>
        <a:xfrm>
          <a:off x="0" y="0"/>
          <a:ext cx="0" cy="0"/>
          <a:chOff x="0" y="0"/>
          <a:chExt cx="0" cy="0"/>
        </a:xfrm>
      </p:grpSpPr>
      <p:grpSp>
        <p:nvGrpSpPr>
          <p:cNvPr id="20" name="组合 19">
            <a:extLst>
              <a:ext uri="{FF2B5EF4-FFF2-40B4-BE49-F238E27FC236}">
                <a16:creationId xmlns:a16="http://schemas.microsoft.com/office/drawing/2014/main" id="{9CBB0A7D-04C9-E6D4-CC9D-F0186F7CE486}"/>
              </a:ext>
            </a:extLst>
          </p:cNvPr>
          <p:cNvGrpSpPr/>
          <p:nvPr/>
        </p:nvGrpSpPr>
        <p:grpSpPr>
          <a:xfrm>
            <a:off x="286653" y="116633"/>
            <a:ext cx="11618694" cy="6681374"/>
            <a:chOff x="286653" y="116633"/>
            <a:chExt cx="11618694" cy="6681374"/>
          </a:xfrm>
        </p:grpSpPr>
        <p:grpSp>
          <p:nvGrpSpPr>
            <p:cNvPr id="21" name="组合 20">
              <a:extLst>
                <a:ext uri="{FF2B5EF4-FFF2-40B4-BE49-F238E27FC236}">
                  <a16:creationId xmlns:a16="http://schemas.microsoft.com/office/drawing/2014/main" id="{0725B646-4C3A-D841-B45D-9F5241BBE531}"/>
                </a:ext>
              </a:extLst>
            </p:cNvPr>
            <p:cNvGrpSpPr/>
            <p:nvPr/>
          </p:nvGrpSpPr>
          <p:grpSpPr>
            <a:xfrm>
              <a:off x="335361" y="116633"/>
              <a:ext cx="629872" cy="612768"/>
              <a:chOff x="3070727" y="196457"/>
              <a:chExt cx="692047" cy="673255"/>
            </a:xfrm>
          </p:grpSpPr>
          <p:sp>
            <p:nvSpPr>
              <p:cNvPr id="26" name="平行四边形 25">
                <a:extLst>
                  <a:ext uri="{FF2B5EF4-FFF2-40B4-BE49-F238E27FC236}">
                    <a16:creationId xmlns:a16="http://schemas.microsoft.com/office/drawing/2014/main" id="{B208D5B3-100B-F27A-1062-3FFAC43EA71E}"/>
                  </a:ext>
                </a:extLst>
              </p:cNvPr>
              <p:cNvSpPr/>
              <p:nvPr/>
            </p:nvSpPr>
            <p:spPr>
              <a:xfrm>
                <a:off x="3070727" y="196457"/>
                <a:ext cx="629587" cy="612775"/>
              </a:xfrm>
              <a:prstGeom prst="parallelogram">
                <a:avLst/>
              </a:prstGeom>
              <a:solidFill>
                <a:srgbClr val="6B0261"/>
              </a:solidFill>
              <a:ln w="25400" cap="flat" cmpd="sng" algn="ctr">
                <a:solidFill>
                  <a:srgbClr val="6B026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27" name="平行四边形 26">
                <a:extLst>
                  <a:ext uri="{FF2B5EF4-FFF2-40B4-BE49-F238E27FC236}">
                    <a16:creationId xmlns:a16="http://schemas.microsoft.com/office/drawing/2014/main" id="{3EAA121E-53DB-D630-131E-F4A9E1179536}"/>
                  </a:ext>
                </a:extLst>
              </p:cNvPr>
              <p:cNvSpPr/>
              <p:nvPr/>
            </p:nvSpPr>
            <p:spPr>
              <a:xfrm>
                <a:off x="3133187" y="256937"/>
                <a:ext cx="629587" cy="612775"/>
              </a:xfrm>
              <a:prstGeom prst="parallelogram">
                <a:avLst/>
              </a:prstGeom>
              <a:noFill/>
              <a:ln w="25400" cap="flat" cmpd="sng" algn="ctr">
                <a:solidFill>
                  <a:srgbClr val="6B026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cxnSp>
          <p:nvCxnSpPr>
            <p:cNvPr id="22" name="直接连接符 21">
              <a:extLst>
                <a:ext uri="{FF2B5EF4-FFF2-40B4-BE49-F238E27FC236}">
                  <a16:creationId xmlns:a16="http://schemas.microsoft.com/office/drawing/2014/main" id="{68B63CF8-1343-0D00-7702-B6664EBAD0B9}"/>
                </a:ext>
              </a:extLst>
            </p:cNvPr>
            <p:cNvCxnSpPr>
              <a:cxnSpLocks/>
            </p:cNvCxnSpPr>
            <p:nvPr/>
          </p:nvCxnSpPr>
          <p:spPr>
            <a:xfrm>
              <a:off x="367840" y="809674"/>
              <a:ext cx="11488800" cy="0"/>
            </a:xfrm>
            <a:prstGeom prst="line">
              <a:avLst/>
            </a:prstGeom>
            <a:noFill/>
            <a:ln w="9525" cap="flat" cmpd="sng" algn="ctr">
              <a:solidFill>
                <a:srgbClr val="6B0261"/>
              </a:solidFill>
              <a:prstDash val="solid"/>
            </a:ln>
            <a:effectLst/>
          </p:spPr>
        </p:cxnSp>
        <p:sp>
          <p:nvSpPr>
            <p:cNvPr id="23" name="文本占位符 5">
              <a:extLst>
                <a:ext uri="{FF2B5EF4-FFF2-40B4-BE49-F238E27FC236}">
                  <a16:creationId xmlns:a16="http://schemas.microsoft.com/office/drawing/2014/main" id="{25456393-9CBA-E404-D4F4-8F15847C8B4B}"/>
                </a:ext>
              </a:extLst>
            </p:cNvPr>
            <p:cNvSpPr txBox="1">
              <a:spLocks/>
            </p:cNvSpPr>
            <p:nvPr/>
          </p:nvSpPr>
          <p:spPr>
            <a:xfrm>
              <a:off x="1075777" y="214065"/>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rgbClr val="6B0261"/>
                  </a:solidFill>
                </a:rPr>
                <a:t>研究内容</a:t>
              </a:r>
            </a:p>
          </p:txBody>
        </p:sp>
        <p:sp>
          <p:nvSpPr>
            <p:cNvPr id="24" name="文本框 23">
              <a:extLst>
                <a:ext uri="{FF2B5EF4-FFF2-40B4-BE49-F238E27FC236}">
                  <a16:creationId xmlns:a16="http://schemas.microsoft.com/office/drawing/2014/main" id="{BB4A7561-32F4-5452-6143-78953E59F1DF}"/>
                </a:ext>
              </a:extLst>
            </p:cNvPr>
            <p:cNvSpPr txBox="1"/>
            <p:nvPr/>
          </p:nvSpPr>
          <p:spPr>
            <a:xfrm>
              <a:off x="10805366" y="642867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25" name="图片 24">
              <a:extLst>
                <a:ext uri="{FF2B5EF4-FFF2-40B4-BE49-F238E27FC236}">
                  <a16:creationId xmlns:a16="http://schemas.microsoft.com/office/drawing/2014/main" id="{703815D8-FF6F-1864-C636-76FE5EDBA193}"/>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a:stretch/>
          </p:blipFill>
          <p:spPr>
            <a:xfrm>
              <a:off x="286653" y="6425619"/>
              <a:ext cx="2520534" cy="369332"/>
            </a:xfrm>
            <a:prstGeom prst="rect">
              <a:avLst/>
            </a:prstGeom>
          </p:spPr>
        </p:pic>
      </p:grpSp>
      <p:grpSp>
        <p:nvGrpSpPr>
          <p:cNvPr id="51" name="组合 50">
            <a:extLst>
              <a:ext uri="{FF2B5EF4-FFF2-40B4-BE49-F238E27FC236}">
                <a16:creationId xmlns:a16="http://schemas.microsoft.com/office/drawing/2014/main" id="{2E7E2749-2DDF-F490-F506-3E5E92FA7F0F}"/>
              </a:ext>
            </a:extLst>
          </p:cNvPr>
          <p:cNvGrpSpPr/>
          <p:nvPr/>
        </p:nvGrpSpPr>
        <p:grpSpPr>
          <a:xfrm>
            <a:off x="9938479" y="77827"/>
            <a:ext cx="2017490" cy="675447"/>
            <a:chOff x="995884" y="398899"/>
            <a:chExt cx="3658781" cy="1224944"/>
          </a:xfrm>
        </p:grpSpPr>
        <p:pic>
          <p:nvPicPr>
            <p:cNvPr id="52" name="图片 51">
              <a:extLst>
                <a:ext uri="{FF2B5EF4-FFF2-40B4-BE49-F238E27FC236}">
                  <a16:creationId xmlns:a16="http://schemas.microsoft.com/office/drawing/2014/main" id="{BBD98DE5-48B9-248B-8CCC-0271448E80D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95884" y="398899"/>
              <a:ext cx="977348" cy="1224944"/>
            </a:xfrm>
            <a:prstGeom prst="rect">
              <a:avLst/>
            </a:prstGeom>
          </p:spPr>
        </p:pic>
        <p:pic>
          <p:nvPicPr>
            <p:cNvPr id="53" name="图片 52">
              <a:extLst>
                <a:ext uri="{FF2B5EF4-FFF2-40B4-BE49-F238E27FC236}">
                  <a16:creationId xmlns:a16="http://schemas.microsoft.com/office/drawing/2014/main" id="{15047751-86AD-399B-0A81-FA4973AA23A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173707" y="405382"/>
              <a:ext cx="2384890" cy="796233"/>
            </a:xfrm>
            <a:prstGeom prst="rect">
              <a:avLst/>
            </a:prstGeom>
          </p:spPr>
        </p:pic>
        <p:sp>
          <p:nvSpPr>
            <p:cNvPr id="54" name="矩形 53">
              <a:extLst>
                <a:ext uri="{FF2B5EF4-FFF2-40B4-BE49-F238E27FC236}">
                  <a16:creationId xmlns:a16="http://schemas.microsoft.com/office/drawing/2014/main" id="{98842BC2-4D6D-1EAE-A2F5-909D172EA6A0}"/>
                </a:ext>
              </a:extLst>
            </p:cNvPr>
            <p:cNvSpPr/>
            <p:nvPr/>
          </p:nvSpPr>
          <p:spPr>
            <a:xfrm>
              <a:off x="2069306" y="1138524"/>
              <a:ext cx="2585359" cy="46048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rPr>
                <a:t>NANJING UNIVERSITY</a:t>
              </a:r>
              <a:endParaRPr kumimoji="0" lang="zh-CN" altLang="en-US" sz="105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endParaRPr>
            </a:p>
          </p:txBody>
        </p:sp>
      </p:grpSp>
      <p:sp>
        <p:nvSpPr>
          <p:cNvPr id="31" name="íŝḷïḓè">
            <a:extLst>
              <a:ext uri="{FF2B5EF4-FFF2-40B4-BE49-F238E27FC236}">
                <a16:creationId xmlns:a16="http://schemas.microsoft.com/office/drawing/2014/main" id="{3A81FB57-545F-0D13-BB6A-E35320AED45A}"/>
              </a:ext>
            </a:extLst>
          </p:cNvPr>
          <p:cNvSpPr/>
          <p:nvPr/>
        </p:nvSpPr>
        <p:spPr bwMode="auto">
          <a:xfrm>
            <a:off x="5828824" y="4147130"/>
            <a:ext cx="338337" cy="366161"/>
          </a:xfrm>
          <a:custGeom>
            <a:avLst/>
            <a:gdLst>
              <a:gd name="connsiteX0" fmla="*/ 327780 w 561933"/>
              <a:gd name="connsiteY0" fmla="*/ 406780 h 608145"/>
              <a:gd name="connsiteX1" fmla="*/ 285069 w 561933"/>
              <a:gd name="connsiteY1" fmla="*/ 449434 h 608145"/>
              <a:gd name="connsiteX2" fmla="*/ 327780 w 561933"/>
              <a:gd name="connsiteY2" fmla="*/ 492088 h 608145"/>
              <a:gd name="connsiteX3" fmla="*/ 370490 w 561933"/>
              <a:gd name="connsiteY3" fmla="*/ 449434 h 608145"/>
              <a:gd name="connsiteX4" fmla="*/ 327780 w 561933"/>
              <a:gd name="connsiteY4" fmla="*/ 406780 h 608145"/>
              <a:gd name="connsiteX5" fmla="*/ 91381 w 561933"/>
              <a:gd name="connsiteY5" fmla="*/ 406780 h 608145"/>
              <a:gd name="connsiteX6" fmla="*/ 49664 w 561933"/>
              <a:gd name="connsiteY6" fmla="*/ 449434 h 608145"/>
              <a:gd name="connsiteX7" fmla="*/ 91381 w 561933"/>
              <a:gd name="connsiteY7" fmla="*/ 492088 h 608145"/>
              <a:gd name="connsiteX8" fmla="*/ 134092 w 561933"/>
              <a:gd name="connsiteY8" fmla="*/ 449434 h 608145"/>
              <a:gd name="connsiteX9" fmla="*/ 91381 w 561933"/>
              <a:gd name="connsiteY9" fmla="*/ 406780 h 608145"/>
              <a:gd name="connsiteX10" fmla="*/ 130119 w 561933"/>
              <a:gd name="connsiteY10" fmla="*/ 162762 h 608145"/>
              <a:gd name="connsiteX11" fmla="*/ 50657 w 561933"/>
              <a:gd name="connsiteY11" fmla="*/ 243110 h 608145"/>
              <a:gd name="connsiteX12" fmla="*/ 50657 w 561933"/>
              <a:gd name="connsiteY12" fmla="*/ 312546 h 608145"/>
              <a:gd name="connsiteX13" fmla="*/ 78468 w 561933"/>
              <a:gd name="connsiteY13" fmla="*/ 341312 h 608145"/>
              <a:gd name="connsiteX14" fmla="*/ 340692 w 561933"/>
              <a:gd name="connsiteY14" fmla="*/ 341312 h 608145"/>
              <a:gd name="connsiteX15" fmla="*/ 369497 w 561933"/>
              <a:gd name="connsiteY15" fmla="*/ 312546 h 608145"/>
              <a:gd name="connsiteX16" fmla="*/ 369497 w 561933"/>
              <a:gd name="connsiteY16" fmla="*/ 243110 h 608145"/>
              <a:gd name="connsiteX17" fmla="*/ 289042 w 561933"/>
              <a:gd name="connsiteY17" fmla="*/ 162762 h 608145"/>
              <a:gd name="connsiteX18" fmla="*/ 127139 w 561933"/>
              <a:gd name="connsiteY18" fmla="*/ 99278 h 608145"/>
              <a:gd name="connsiteX19" fmla="*/ 293015 w 561933"/>
              <a:gd name="connsiteY19" fmla="*/ 99278 h 608145"/>
              <a:gd name="connsiteX20" fmla="*/ 420154 w 561933"/>
              <a:gd name="connsiteY20" fmla="*/ 226247 h 608145"/>
              <a:gd name="connsiteX21" fmla="*/ 420154 w 561933"/>
              <a:gd name="connsiteY21" fmla="*/ 486136 h 608145"/>
              <a:gd name="connsiteX22" fmla="*/ 382410 w 561933"/>
              <a:gd name="connsiteY22" fmla="*/ 541685 h 608145"/>
              <a:gd name="connsiteX23" fmla="*/ 382410 w 561933"/>
              <a:gd name="connsiteY23" fmla="*/ 561524 h 608145"/>
              <a:gd name="connsiteX24" fmla="*/ 334733 w 561933"/>
              <a:gd name="connsiteY24" fmla="*/ 608145 h 608145"/>
              <a:gd name="connsiteX25" fmla="*/ 326786 w 561933"/>
              <a:gd name="connsiteY25" fmla="*/ 608145 h 608145"/>
              <a:gd name="connsiteX26" fmla="*/ 280103 w 561933"/>
              <a:gd name="connsiteY26" fmla="*/ 561524 h 608145"/>
              <a:gd name="connsiteX27" fmla="*/ 280103 w 561933"/>
              <a:gd name="connsiteY27" fmla="*/ 544661 h 608145"/>
              <a:gd name="connsiteX28" fmla="*/ 140051 w 561933"/>
              <a:gd name="connsiteY28" fmla="*/ 544661 h 608145"/>
              <a:gd name="connsiteX29" fmla="*/ 140051 w 561933"/>
              <a:gd name="connsiteY29" fmla="*/ 561524 h 608145"/>
              <a:gd name="connsiteX30" fmla="*/ 92374 w 561933"/>
              <a:gd name="connsiteY30" fmla="*/ 608145 h 608145"/>
              <a:gd name="connsiteX31" fmla="*/ 84428 w 561933"/>
              <a:gd name="connsiteY31" fmla="*/ 608145 h 608145"/>
              <a:gd name="connsiteX32" fmla="*/ 37744 w 561933"/>
              <a:gd name="connsiteY32" fmla="*/ 561524 h 608145"/>
              <a:gd name="connsiteX33" fmla="*/ 37744 w 561933"/>
              <a:gd name="connsiteY33" fmla="*/ 541685 h 608145"/>
              <a:gd name="connsiteX34" fmla="*/ 0 w 561933"/>
              <a:gd name="connsiteY34" fmla="*/ 486136 h 608145"/>
              <a:gd name="connsiteX35" fmla="*/ 0 w 561933"/>
              <a:gd name="connsiteY35" fmla="*/ 226247 h 608145"/>
              <a:gd name="connsiteX36" fmla="*/ 127139 w 561933"/>
              <a:gd name="connsiteY36" fmla="*/ 99278 h 608145"/>
              <a:gd name="connsiteX37" fmla="*/ 408232 w 561933"/>
              <a:gd name="connsiteY37" fmla="*/ 74504 h 608145"/>
              <a:gd name="connsiteX38" fmla="*/ 424139 w 561933"/>
              <a:gd name="connsiteY38" fmla="*/ 75495 h 608145"/>
              <a:gd name="connsiteX39" fmla="*/ 486772 w 561933"/>
              <a:gd name="connsiteY39" fmla="*/ 185587 h 608145"/>
              <a:gd name="connsiteX40" fmla="*/ 479813 w 561933"/>
              <a:gd name="connsiteY40" fmla="*/ 199473 h 608145"/>
              <a:gd name="connsiteX41" fmla="*/ 464901 w 561933"/>
              <a:gd name="connsiteY41" fmla="*/ 202448 h 608145"/>
              <a:gd name="connsiteX42" fmla="*/ 462912 w 561933"/>
              <a:gd name="connsiteY42" fmla="*/ 201456 h 608145"/>
              <a:gd name="connsiteX43" fmla="*/ 448994 w 561933"/>
              <a:gd name="connsiteY43" fmla="*/ 183604 h 608145"/>
              <a:gd name="connsiteX44" fmla="*/ 406244 w 561933"/>
              <a:gd name="connsiteY44" fmla="*/ 109217 h 608145"/>
              <a:gd name="connsiteX45" fmla="*/ 397296 w 561933"/>
              <a:gd name="connsiteY45" fmla="*/ 89381 h 608145"/>
              <a:gd name="connsiteX46" fmla="*/ 398291 w 561933"/>
              <a:gd name="connsiteY46" fmla="*/ 87397 h 608145"/>
              <a:gd name="connsiteX47" fmla="*/ 408232 w 561933"/>
              <a:gd name="connsiteY47" fmla="*/ 74504 h 608145"/>
              <a:gd name="connsiteX48" fmla="*/ 439969 w 561933"/>
              <a:gd name="connsiteY48" fmla="*/ 1081 h 608145"/>
              <a:gd name="connsiteX49" fmla="*/ 560176 w 561933"/>
              <a:gd name="connsiteY49" fmla="*/ 205408 h 608145"/>
              <a:gd name="connsiteX50" fmla="*/ 552228 w 561933"/>
              <a:gd name="connsiteY50" fmla="*/ 217311 h 608145"/>
              <a:gd name="connsiteX51" fmla="*/ 537326 w 561933"/>
              <a:gd name="connsiteY51" fmla="*/ 220286 h 608145"/>
              <a:gd name="connsiteX52" fmla="*/ 535340 w 561933"/>
              <a:gd name="connsiteY52" fmla="*/ 219294 h 608145"/>
              <a:gd name="connsiteX53" fmla="*/ 522425 w 561933"/>
              <a:gd name="connsiteY53" fmla="*/ 199457 h 608145"/>
              <a:gd name="connsiteX54" fmla="*/ 426061 w 561933"/>
              <a:gd name="connsiteY54" fmla="*/ 36788 h 608145"/>
              <a:gd name="connsiteX55" fmla="*/ 416126 w 561933"/>
              <a:gd name="connsiteY55" fmla="*/ 15959 h 608145"/>
              <a:gd name="connsiteX56" fmla="*/ 416126 w 561933"/>
              <a:gd name="connsiteY56" fmla="*/ 13975 h 608145"/>
              <a:gd name="connsiteX57" fmla="*/ 425067 w 561933"/>
              <a:gd name="connsiteY57" fmla="*/ 2073 h 608145"/>
              <a:gd name="connsiteX58" fmla="*/ 439969 w 561933"/>
              <a:gd name="connsiteY58" fmla="*/ 1081 h 608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61933" h="608145">
                <a:moveTo>
                  <a:pt x="327780" y="406780"/>
                </a:moveTo>
                <a:cubicBezTo>
                  <a:pt x="303941" y="406780"/>
                  <a:pt x="285069" y="425627"/>
                  <a:pt x="285069" y="449434"/>
                </a:cubicBezTo>
                <a:cubicBezTo>
                  <a:pt x="285069" y="473241"/>
                  <a:pt x="303941" y="492088"/>
                  <a:pt x="327780" y="492088"/>
                </a:cubicBezTo>
                <a:cubicBezTo>
                  <a:pt x="350625" y="492088"/>
                  <a:pt x="370490" y="473241"/>
                  <a:pt x="370490" y="449434"/>
                </a:cubicBezTo>
                <a:cubicBezTo>
                  <a:pt x="370490" y="425627"/>
                  <a:pt x="350625" y="406780"/>
                  <a:pt x="327780" y="406780"/>
                </a:cubicBezTo>
                <a:close/>
                <a:moveTo>
                  <a:pt x="91381" y="406780"/>
                </a:moveTo>
                <a:cubicBezTo>
                  <a:pt x="68536" y="406780"/>
                  <a:pt x="49664" y="425627"/>
                  <a:pt x="49664" y="449434"/>
                </a:cubicBezTo>
                <a:cubicBezTo>
                  <a:pt x="49664" y="473241"/>
                  <a:pt x="68536" y="492088"/>
                  <a:pt x="91381" y="492088"/>
                </a:cubicBezTo>
                <a:cubicBezTo>
                  <a:pt x="115220" y="492088"/>
                  <a:pt x="134092" y="473241"/>
                  <a:pt x="134092" y="449434"/>
                </a:cubicBezTo>
                <a:cubicBezTo>
                  <a:pt x="134092" y="425627"/>
                  <a:pt x="115220" y="406780"/>
                  <a:pt x="91381" y="406780"/>
                </a:cubicBezTo>
                <a:close/>
                <a:moveTo>
                  <a:pt x="130119" y="162762"/>
                </a:moveTo>
                <a:cubicBezTo>
                  <a:pt x="86415" y="162762"/>
                  <a:pt x="50657" y="198472"/>
                  <a:pt x="50657" y="243110"/>
                </a:cubicBezTo>
                <a:lnTo>
                  <a:pt x="50657" y="312546"/>
                </a:lnTo>
                <a:cubicBezTo>
                  <a:pt x="50657" y="328417"/>
                  <a:pt x="62576" y="341312"/>
                  <a:pt x="78468" y="341312"/>
                </a:cubicBezTo>
                <a:lnTo>
                  <a:pt x="340692" y="341312"/>
                </a:lnTo>
                <a:cubicBezTo>
                  <a:pt x="356585" y="341312"/>
                  <a:pt x="369497" y="328417"/>
                  <a:pt x="369497" y="312546"/>
                </a:cubicBezTo>
                <a:lnTo>
                  <a:pt x="369497" y="243110"/>
                </a:lnTo>
                <a:cubicBezTo>
                  <a:pt x="369497" y="198472"/>
                  <a:pt x="332746" y="162762"/>
                  <a:pt x="289042" y="162762"/>
                </a:cubicBezTo>
                <a:close/>
                <a:moveTo>
                  <a:pt x="127139" y="99278"/>
                </a:moveTo>
                <a:lnTo>
                  <a:pt x="293015" y="99278"/>
                </a:lnTo>
                <a:cubicBezTo>
                  <a:pt x="363538" y="99278"/>
                  <a:pt x="420154" y="155819"/>
                  <a:pt x="420154" y="226247"/>
                </a:cubicBezTo>
                <a:lnTo>
                  <a:pt x="420154" y="486136"/>
                </a:lnTo>
                <a:cubicBezTo>
                  <a:pt x="420154" y="511926"/>
                  <a:pt x="404262" y="532757"/>
                  <a:pt x="382410" y="541685"/>
                </a:cubicBezTo>
                <a:lnTo>
                  <a:pt x="382410" y="561524"/>
                </a:lnTo>
                <a:cubicBezTo>
                  <a:pt x="382410" y="587314"/>
                  <a:pt x="360558" y="608145"/>
                  <a:pt x="334733" y="608145"/>
                </a:cubicBezTo>
                <a:lnTo>
                  <a:pt x="326786" y="608145"/>
                </a:lnTo>
                <a:cubicBezTo>
                  <a:pt x="300961" y="608145"/>
                  <a:pt x="280103" y="587314"/>
                  <a:pt x="280103" y="561524"/>
                </a:cubicBezTo>
                <a:lnTo>
                  <a:pt x="280103" y="544661"/>
                </a:lnTo>
                <a:lnTo>
                  <a:pt x="140051" y="544661"/>
                </a:lnTo>
                <a:lnTo>
                  <a:pt x="140051" y="561524"/>
                </a:lnTo>
                <a:cubicBezTo>
                  <a:pt x="140051" y="587314"/>
                  <a:pt x="118199" y="608145"/>
                  <a:pt x="92374" y="608145"/>
                </a:cubicBezTo>
                <a:lnTo>
                  <a:pt x="84428" y="608145"/>
                </a:lnTo>
                <a:cubicBezTo>
                  <a:pt x="58603" y="608145"/>
                  <a:pt x="37744" y="587314"/>
                  <a:pt x="37744" y="561524"/>
                </a:cubicBezTo>
                <a:lnTo>
                  <a:pt x="37744" y="541685"/>
                </a:lnTo>
                <a:cubicBezTo>
                  <a:pt x="14899" y="532757"/>
                  <a:pt x="0" y="511926"/>
                  <a:pt x="0" y="486136"/>
                </a:cubicBezTo>
                <a:lnTo>
                  <a:pt x="0" y="226247"/>
                </a:lnTo>
                <a:cubicBezTo>
                  <a:pt x="0" y="155819"/>
                  <a:pt x="56616" y="99278"/>
                  <a:pt x="127139" y="99278"/>
                </a:cubicBezTo>
                <a:close/>
                <a:moveTo>
                  <a:pt x="408232" y="74504"/>
                </a:moveTo>
                <a:cubicBezTo>
                  <a:pt x="413203" y="72520"/>
                  <a:pt x="419168" y="72520"/>
                  <a:pt x="424139" y="75495"/>
                </a:cubicBezTo>
                <a:cubicBezTo>
                  <a:pt x="464901" y="96324"/>
                  <a:pt x="489755" y="139964"/>
                  <a:pt x="486772" y="185587"/>
                </a:cubicBezTo>
                <a:cubicBezTo>
                  <a:pt x="486772" y="190546"/>
                  <a:pt x="483790" y="195505"/>
                  <a:pt x="479813" y="199473"/>
                </a:cubicBezTo>
                <a:cubicBezTo>
                  <a:pt x="475836" y="202448"/>
                  <a:pt x="469871" y="203440"/>
                  <a:pt x="464901" y="202448"/>
                </a:cubicBezTo>
                <a:lnTo>
                  <a:pt x="462912" y="201456"/>
                </a:lnTo>
                <a:cubicBezTo>
                  <a:pt x="453965" y="199473"/>
                  <a:pt x="448994" y="191538"/>
                  <a:pt x="448994" y="183604"/>
                </a:cubicBezTo>
                <a:cubicBezTo>
                  <a:pt x="450982" y="152857"/>
                  <a:pt x="434081" y="123103"/>
                  <a:pt x="406244" y="109217"/>
                </a:cubicBezTo>
                <a:cubicBezTo>
                  <a:pt x="399285" y="105250"/>
                  <a:pt x="395308" y="97315"/>
                  <a:pt x="397296" y="89381"/>
                </a:cubicBezTo>
                <a:lnTo>
                  <a:pt x="398291" y="87397"/>
                </a:lnTo>
                <a:cubicBezTo>
                  <a:pt x="399285" y="81446"/>
                  <a:pt x="403261" y="77479"/>
                  <a:pt x="408232" y="74504"/>
                </a:cubicBezTo>
                <a:close/>
                <a:moveTo>
                  <a:pt x="439969" y="1081"/>
                </a:moveTo>
                <a:cubicBezTo>
                  <a:pt x="522425" y="32821"/>
                  <a:pt x="572097" y="118123"/>
                  <a:pt x="560176" y="205408"/>
                </a:cubicBezTo>
                <a:cubicBezTo>
                  <a:pt x="559182" y="210367"/>
                  <a:pt x="556202" y="214335"/>
                  <a:pt x="552228" y="217311"/>
                </a:cubicBezTo>
                <a:cubicBezTo>
                  <a:pt x="548254" y="220286"/>
                  <a:pt x="542294" y="221278"/>
                  <a:pt x="537326" y="220286"/>
                </a:cubicBezTo>
                <a:lnTo>
                  <a:pt x="535340" y="219294"/>
                </a:lnTo>
                <a:cubicBezTo>
                  <a:pt x="526399" y="217311"/>
                  <a:pt x="520438" y="208384"/>
                  <a:pt x="522425" y="199457"/>
                </a:cubicBezTo>
                <a:cubicBezTo>
                  <a:pt x="531366" y="130025"/>
                  <a:pt x="491628" y="62577"/>
                  <a:pt x="426061" y="36788"/>
                </a:cubicBezTo>
                <a:cubicBezTo>
                  <a:pt x="418113" y="33813"/>
                  <a:pt x="413146" y="24886"/>
                  <a:pt x="416126" y="15959"/>
                </a:cubicBezTo>
                <a:lnTo>
                  <a:pt x="416126" y="13975"/>
                </a:lnTo>
                <a:cubicBezTo>
                  <a:pt x="417120" y="9016"/>
                  <a:pt x="421094" y="4056"/>
                  <a:pt x="425067" y="2073"/>
                </a:cubicBezTo>
                <a:cubicBezTo>
                  <a:pt x="430035" y="89"/>
                  <a:pt x="435002" y="-903"/>
                  <a:pt x="439969" y="1081"/>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endParaRPr lang="zh-CN" altLang="en-US">
              <a:solidFill>
                <a:srgbClr val="000000"/>
              </a:solidFill>
              <a:latin typeface="Arial" panose="020F0502020204030204"/>
              <a:ea typeface="微软雅黑"/>
              <a:cs typeface="+mn-ea"/>
              <a:sym typeface="+mn-lt"/>
            </a:endParaRPr>
          </a:p>
        </p:txBody>
      </p:sp>
      <p:sp>
        <p:nvSpPr>
          <p:cNvPr id="42" name="ïslíḓé">
            <a:extLst>
              <a:ext uri="{FF2B5EF4-FFF2-40B4-BE49-F238E27FC236}">
                <a16:creationId xmlns:a16="http://schemas.microsoft.com/office/drawing/2014/main" id="{3FE7BEA2-AA43-30E3-CC5A-C3F9088A58AF}"/>
              </a:ext>
            </a:extLst>
          </p:cNvPr>
          <p:cNvSpPr/>
          <p:nvPr/>
        </p:nvSpPr>
        <p:spPr bwMode="auto">
          <a:xfrm>
            <a:off x="5815461" y="5339493"/>
            <a:ext cx="363264" cy="320996"/>
          </a:xfrm>
          <a:custGeom>
            <a:avLst/>
            <a:gdLst>
              <a:gd name="connsiteX0" fmla="*/ 494452 w 603405"/>
              <a:gd name="connsiteY0" fmla="*/ 356003 h 533193"/>
              <a:gd name="connsiteX1" fmla="*/ 585270 w 603405"/>
              <a:gd name="connsiteY1" fmla="*/ 356003 h 533193"/>
              <a:gd name="connsiteX2" fmla="*/ 601782 w 603405"/>
              <a:gd name="connsiteY2" fmla="*/ 372480 h 533193"/>
              <a:gd name="connsiteX3" fmla="*/ 585270 w 603405"/>
              <a:gd name="connsiteY3" fmla="*/ 388957 h 533193"/>
              <a:gd name="connsiteX4" fmla="*/ 494452 w 603405"/>
              <a:gd name="connsiteY4" fmla="*/ 388957 h 533193"/>
              <a:gd name="connsiteX5" fmla="*/ 367511 w 603405"/>
              <a:gd name="connsiteY5" fmla="*/ 244227 h 533193"/>
              <a:gd name="connsiteX6" fmla="*/ 443780 w 603405"/>
              <a:gd name="connsiteY6" fmla="*/ 244227 h 533193"/>
              <a:gd name="connsiteX7" fmla="*/ 477411 w 603405"/>
              <a:gd name="connsiteY7" fmla="*/ 277633 h 533193"/>
              <a:gd name="connsiteX8" fmla="*/ 477861 w 603405"/>
              <a:gd name="connsiteY8" fmla="*/ 381744 h 533193"/>
              <a:gd name="connsiteX9" fmla="*/ 463748 w 603405"/>
              <a:gd name="connsiteY9" fmla="*/ 395975 h 533193"/>
              <a:gd name="connsiteX10" fmla="*/ 449486 w 603405"/>
              <a:gd name="connsiteY10" fmla="*/ 381894 h 533193"/>
              <a:gd name="connsiteX11" fmla="*/ 449035 w 603405"/>
              <a:gd name="connsiteY11" fmla="*/ 277782 h 533193"/>
              <a:gd name="connsiteX12" fmla="*/ 446033 w 603405"/>
              <a:gd name="connsiteY12" fmla="*/ 274786 h 533193"/>
              <a:gd name="connsiteX13" fmla="*/ 443030 w 603405"/>
              <a:gd name="connsiteY13" fmla="*/ 277782 h 533193"/>
              <a:gd name="connsiteX14" fmla="*/ 443330 w 603405"/>
              <a:gd name="connsiteY14" fmla="*/ 516116 h 533193"/>
              <a:gd name="connsiteX15" fmla="*/ 426215 w 603405"/>
              <a:gd name="connsiteY15" fmla="*/ 533193 h 533193"/>
              <a:gd name="connsiteX16" fmla="*/ 409249 w 603405"/>
              <a:gd name="connsiteY16" fmla="*/ 516116 h 533193"/>
              <a:gd name="connsiteX17" fmla="*/ 409249 w 603405"/>
              <a:gd name="connsiteY17" fmla="*/ 380096 h 533193"/>
              <a:gd name="connsiteX18" fmla="*/ 401893 w 603405"/>
              <a:gd name="connsiteY18" fmla="*/ 380096 h 533193"/>
              <a:gd name="connsiteX19" fmla="*/ 401893 w 603405"/>
              <a:gd name="connsiteY19" fmla="*/ 516116 h 533193"/>
              <a:gd name="connsiteX20" fmla="*/ 384778 w 603405"/>
              <a:gd name="connsiteY20" fmla="*/ 533193 h 533193"/>
              <a:gd name="connsiteX21" fmla="*/ 367812 w 603405"/>
              <a:gd name="connsiteY21" fmla="*/ 516116 h 533193"/>
              <a:gd name="connsiteX22" fmla="*/ 367812 w 603405"/>
              <a:gd name="connsiteY22" fmla="*/ 380096 h 533193"/>
              <a:gd name="connsiteX23" fmla="*/ 367812 w 603405"/>
              <a:gd name="connsiteY23" fmla="*/ 277782 h 533193"/>
              <a:gd name="connsiteX24" fmla="*/ 364959 w 603405"/>
              <a:gd name="connsiteY24" fmla="*/ 274936 h 533193"/>
              <a:gd name="connsiteX25" fmla="*/ 362257 w 603405"/>
              <a:gd name="connsiteY25" fmla="*/ 277782 h 533193"/>
              <a:gd name="connsiteX26" fmla="*/ 361656 w 603405"/>
              <a:gd name="connsiteY26" fmla="*/ 381894 h 533193"/>
              <a:gd name="connsiteX27" fmla="*/ 347544 w 603405"/>
              <a:gd name="connsiteY27" fmla="*/ 395975 h 533193"/>
              <a:gd name="connsiteX28" fmla="*/ 347393 w 603405"/>
              <a:gd name="connsiteY28" fmla="*/ 395975 h 533193"/>
              <a:gd name="connsiteX29" fmla="*/ 333281 w 603405"/>
              <a:gd name="connsiteY29" fmla="*/ 381744 h 533193"/>
              <a:gd name="connsiteX30" fmla="*/ 333881 w 603405"/>
              <a:gd name="connsiteY30" fmla="*/ 277633 h 533193"/>
              <a:gd name="connsiteX31" fmla="*/ 367511 w 603405"/>
              <a:gd name="connsiteY31" fmla="*/ 244227 h 533193"/>
              <a:gd name="connsiteX32" fmla="*/ 201525 w 603405"/>
              <a:gd name="connsiteY32" fmla="*/ 244227 h 533193"/>
              <a:gd name="connsiteX33" fmla="*/ 277906 w 603405"/>
              <a:gd name="connsiteY33" fmla="*/ 244227 h 533193"/>
              <a:gd name="connsiteX34" fmla="*/ 311520 w 603405"/>
              <a:gd name="connsiteY34" fmla="*/ 277633 h 533193"/>
              <a:gd name="connsiteX35" fmla="*/ 311970 w 603405"/>
              <a:gd name="connsiteY35" fmla="*/ 381744 h 533193"/>
              <a:gd name="connsiteX36" fmla="*/ 297864 w 603405"/>
              <a:gd name="connsiteY36" fmla="*/ 395975 h 533193"/>
              <a:gd name="connsiteX37" fmla="*/ 297714 w 603405"/>
              <a:gd name="connsiteY37" fmla="*/ 395975 h 533193"/>
              <a:gd name="connsiteX38" fmla="*/ 283608 w 603405"/>
              <a:gd name="connsiteY38" fmla="*/ 381894 h 533193"/>
              <a:gd name="connsiteX39" fmla="*/ 283008 w 603405"/>
              <a:gd name="connsiteY39" fmla="*/ 277782 h 533193"/>
              <a:gd name="connsiteX40" fmla="*/ 280007 w 603405"/>
              <a:gd name="connsiteY40" fmla="*/ 274786 h 533193"/>
              <a:gd name="connsiteX41" fmla="*/ 277156 w 603405"/>
              <a:gd name="connsiteY41" fmla="*/ 277782 h 533193"/>
              <a:gd name="connsiteX42" fmla="*/ 277456 w 603405"/>
              <a:gd name="connsiteY42" fmla="*/ 516116 h 533193"/>
              <a:gd name="connsiteX43" fmla="*/ 260349 w 603405"/>
              <a:gd name="connsiteY43" fmla="*/ 533193 h 533193"/>
              <a:gd name="connsiteX44" fmla="*/ 243242 w 603405"/>
              <a:gd name="connsiteY44" fmla="*/ 516116 h 533193"/>
              <a:gd name="connsiteX45" fmla="*/ 243242 w 603405"/>
              <a:gd name="connsiteY45" fmla="*/ 380096 h 533193"/>
              <a:gd name="connsiteX46" fmla="*/ 235889 w 603405"/>
              <a:gd name="connsiteY46" fmla="*/ 380096 h 533193"/>
              <a:gd name="connsiteX47" fmla="*/ 235889 w 603405"/>
              <a:gd name="connsiteY47" fmla="*/ 516116 h 533193"/>
              <a:gd name="connsiteX48" fmla="*/ 218932 w 603405"/>
              <a:gd name="connsiteY48" fmla="*/ 533193 h 533193"/>
              <a:gd name="connsiteX49" fmla="*/ 201825 w 603405"/>
              <a:gd name="connsiteY49" fmla="*/ 516116 h 533193"/>
              <a:gd name="connsiteX50" fmla="*/ 201825 w 603405"/>
              <a:gd name="connsiteY50" fmla="*/ 380096 h 533193"/>
              <a:gd name="connsiteX51" fmla="*/ 201825 w 603405"/>
              <a:gd name="connsiteY51" fmla="*/ 277782 h 533193"/>
              <a:gd name="connsiteX52" fmla="*/ 199124 w 603405"/>
              <a:gd name="connsiteY52" fmla="*/ 274936 h 533193"/>
              <a:gd name="connsiteX53" fmla="*/ 196423 w 603405"/>
              <a:gd name="connsiteY53" fmla="*/ 277782 h 533193"/>
              <a:gd name="connsiteX54" fmla="*/ 195822 w 603405"/>
              <a:gd name="connsiteY54" fmla="*/ 381894 h 533193"/>
              <a:gd name="connsiteX55" fmla="*/ 181567 w 603405"/>
              <a:gd name="connsiteY55" fmla="*/ 395975 h 533193"/>
              <a:gd name="connsiteX56" fmla="*/ 167461 w 603405"/>
              <a:gd name="connsiteY56" fmla="*/ 381744 h 533193"/>
              <a:gd name="connsiteX57" fmla="*/ 167911 w 603405"/>
              <a:gd name="connsiteY57" fmla="*/ 277633 h 533193"/>
              <a:gd name="connsiteX58" fmla="*/ 201525 w 603405"/>
              <a:gd name="connsiteY58" fmla="*/ 244227 h 533193"/>
              <a:gd name="connsiteX59" fmla="*/ 34214 w 603405"/>
              <a:gd name="connsiteY59" fmla="*/ 244227 h 533193"/>
              <a:gd name="connsiteX60" fmla="*/ 110445 w 603405"/>
              <a:gd name="connsiteY60" fmla="*/ 244227 h 533193"/>
              <a:gd name="connsiteX61" fmla="*/ 144059 w 603405"/>
              <a:gd name="connsiteY61" fmla="*/ 277633 h 533193"/>
              <a:gd name="connsiteX62" fmla="*/ 144509 w 603405"/>
              <a:gd name="connsiteY62" fmla="*/ 381744 h 533193"/>
              <a:gd name="connsiteX63" fmla="*/ 130403 w 603405"/>
              <a:gd name="connsiteY63" fmla="*/ 395975 h 533193"/>
              <a:gd name="connsiteX64" fmla="*/ 116147 w 603405"/>
              <a:gd name="connsiteY64" fmla="*/ 381894 h 533193"/>
              <a:gd name="connsiteX65" fmla="*/ 115697 w 603405"/>
              <a:gd name="connsiteY65" fmla="*/ 277782 h 533193"/>
              <a:gd name="connsiteX66" fmla="*/ 112696 w 603405"/>
              <a:gd name="connsiteY66" fmla="*/ 274786 h 533193"/>
              <a:gd name="connsiteX67" fmla="*/ 109694 w 603405"/>
              <a:gd name="connsiteY67" fmla="*/ 277782 h 533193"/>
              <a:gd name="connsiteX68" fmla="*/ 109995 w 603405"/>
              <a:gd name="connsiteY68" fmla="*/ 516116 h 533193"/>
              <a:gd name="connsiteX69" fmla="*/ 92888 w 603405"/>
              <a:gd name="connsiteY69" fmla="*/ 533193 h 533193"/>
              <a:gd name="connsiteX70" fmla="*/ 75931 w 603405"/>
              <a:gd name="connsiteY70" fmla="*/ 516116 h 533193"/>
              <a:gd name="connsiteX71" fmla="*/ 75931 w 603405"/>
              <a:gd name="connsiteY71" fmla="*/ 380096 h 533193"/>
              <a:gd name="connsiteX72" fmla="*/ 68578 w 603405"/>
              <a:gd name="connsiteY72" fmla="*/ 380096 h 533193"/>
              <a:gd name="connsiteX73" fmla="*/ 68578 w 603405"/>
              <a:gd name="connsiteY73" fmla="*/ 516116 h 533193"/>
              <a:gd name="connsiteX74" fmla="*/ 51471 w 603405"/>
              <a:gd name="connsiteY74" fmla="*/ 533193 h 533193"/>
              <a:gd name="connsiteX75" fmla="*/ 34364 w 603405"/>
              <a:gd name="connsiteY75" fmla="*/ 516116 h 533193"/>
              <a:gd name="connsiteX76" fmla="*/ 34364 w 603405"/>
              <a:gd name="connsiteY76" fmla="*/ 380096 h 533193"/>
              <a:gd name="connsiteX77" fmla="*/ 34364 w 603405"/>
              <a:gd name="connsiteY77" fmla="*/ 277782 h 533193"/>
              <a:gd name="connsiteX78" fmla="*/ 31663 w 603405"/>
              <a:gd name="connsiteY78" fmla="*/ 275086 h 533193"/>
              <a:gd name="connsiteX79" fmla="*/ 28962 w 603405"/>
              <a:gd name="connsiteY79" fmla="*/ 277782 h 533193"/>
              <a:gd name="connsiteX80" fmla="*/ 28361 w 603405"/>
              <a:gd name="connsiteY80" fmla="*/ 381894 h 533193"/>
              <a:gd name="connsiteX81" fmla="*/ 14256 w 603405"/>
              <a:gd name="connsiteY81" fmla="*/ 395975 h 533193"/>
              <a:gd name="connsiteX82" fmla="*/ 14106 w 603405"/>
              <a:gd name="connsiteY82" fmla="*/ 395975 h 533193"/>
              <a:gd name="connsiteX83" fmla="*/ 0 w 603405"/>
              <a:gd name="connsiteY83" fmla="*/ 381744 h 533193"/>
              <a:gd name="connsiteX84" fmla="*/ 600 w 603405"/>
              <a:gd name="connsiteY84" fmla="*/ 277633 h 533193"/>
              <a:gd name="connsiteX85" fmla="*/ 34214 w 603405"/>
              <a:gd name="connsiteY85" fmla="*/ 244227 h 533193"/>
              <a:gd name="connsiteX86" fmla="*/ 298774 w 603405"/>
              <a:gd name="connsiteY86" fmla="*/ 232090 h 533193"/>
              <a:gd name="connsiteX87" fmla="*/ 346547 w 603405"/>
              <a:gd name="connsiteY87" fmla="*/ 232090 h 533193"/>
              <a:gd name="connsiteX88" fmla="*/ 322660 w 603405"/>
              <a:gd name="connsiteY88" fmla="*/ 254883 h 533193"/>
              <a:gd name="connsiteX89" fmla="*/ 298774 w 603405"/>
              <a:gd name="connsiteY89" fmla="*/ 232090 h 533193"/>
              <a:gd name="connsiteX90" fmla="*/ 405716 w 603405"/>
              <a:gd name="connsiteY90" fmla="*/ 176061 h 533193"/>
              <a:gd name="connsiteX91" fmla="*/ 435177 w 603405"/>
              <a:gd name="connsiteY91" fmla="*/ 205417 h 533193"/>
              <a:gd name="connsiteX92" fmla="*/ 405716 w 603405"/>
              <a:gd name="connsiteY92" fmla="*/ 234773 h 533193"/>
              <a:gd name="connsiteX93" fmla="*/ 376255 w 603405"/>
              <a:gd name="connsiteY93" fmla="*/ 205417 h 533193"/>
              <a:gd name="connsiteX94" fmla="*/ 405716 w 603405"/>
              <a:gd name="connsiteY94" fmla="*/ 176061 h 533193"/>
              <a:gd name="connsiteX95" fmla="*/ 239817 w 603405"/>
              <a:gd name="connsiteY95" fmla="*/ 176061 h 533193"/>
              <a:gd name="connsiteX96" fmla="*/ 269208 w 603405"/>
              <a:gd name="connsiteY96" fmla="*/ 205417 h 533193"/>
              <a:gd name="connsiteX97" fmla="*/ 239817 w 603405"/>
              <a:gd name="connsiteY97" fmla="*/ 234773 h 533193"/>
              <a:gd name="connsiteX98" fmla="*/ 210426 w 603405"/>
              <a:gd name="connsiteY98" fmla="*/ 205417 h 533193"/>
              <a:gd name="connsiteX99" fmla="*/ 239817 w 603405"/>
              <a:gd name="connsiteY99" fmla="*/ 176061 h 533193"/>
              <a:gd name="connsiteX100" fmla="*/ 72325 w 603405"/>
              <a:gd name="connsiteY100" fmla="*/ 176061 h 533193"/>
              <a:gd name="connsiteX101" fmla="*/ 101897 w 603405"/>
              <a:gd name="connsiteY101" fmla="*/ 205416 h 533193"/>
              <a:gd name="connsiteX102" fmla="*/ 72325 w 603405"/>
              <a:gd name="connsiteY102" fmla="*/ 234772 h 533193"/>
              <a:gd name="connsiteX103" fmla="*/ 42904 w 603405"/>
              <a:gd name="connsiteY103" fmla="*/ 205416 h 533193"/>
              <a:gd name="connsiteX104" fmla="*/ 72325 w 603405"/>
              <a:gd name="connsiteY104" fmla="*/ 176061 h 533193"/>
              <a:gd name="connsiteX105" fmla="*/ 1200 w 603405"/>
              <a:gd name="connsiteY105" fmla="*/ 56241 h 533193"/>
              <a:gd name="connsiteX106" fmla="*/ 384613 w 603405"/>
              <a:gd name="connsiteY106" fmla="*/ 56241 h 533193"/>
              <a:gd name="connsiteX107" fmla="*/ 603405 w 603405"/>
              <a:gd name="connsiteY107" fmla="*/ 274494 h 533193"/>
              <a:gd name="connsiteX108" fmla="*/ 540979 w 603405"/>
              <a:gd name="connsiteY108" fmla="*/ 336809 h 533193"/>
              <a:gd name="connsiteX109" fmla="*/ 494459 w 603405"/>
              <a:gd name="connsiteY109" fmla="*/ 336809 h 533193"/>
              <a:gd name="connsiteX110" fmla="*/ 494159 w 603405"/>
              <a:gd name="connsiteY110" fmla="*/ 277490 h 533193"/>
              <a:gd name="connsiteX111" fmla="*/ 464747 w 603405"/>
              <a:gd name="connsiteY111" fmla="*/ 232102 h 533193"/>
              <a:gd name="connsiteX112" fmla="*/ 551333 w 603405"/>
              <a:gd name="connsiteY112" fmla="*/ 232102 h 533193"/>
              <a:gd name="connsiteX113" fmla="*/ 551483 w 603405"/>
              <a:gd name="connsiteY113" fmla="*/ 232102 h 533193"/>
              <a:gd name="connsiteX114" fmla="*/ 557636 w 603405"/>
              <a:gd name="connsiteY114" fmla="*/ 228806 h 533193"/>
              <a:gd name="connsiteX115" fmla="*/ 558236 w 603405"/>
              <a:gd name="connsiteY115" fmla="*/ 221766 h 533193"/>
              <a:gd name="connsiteX116" fmla="*/ 504663 w 603405"/>
              <a:gd name="connsiteY116" fmla="*/ 136532 h 533193"/>
              <a:gd name="connsiteX117" fmla="*/ 415676 w 603405"/>
              <a:gd name="connsiteY117" fmla="*/ 97585 h 533193"/>
              <a:gd name="connsiteX118" fmla="*/ 397968 w 603405"/>
              <a:gd name="connsiteY118" fmla="*/ 97585 h 533193"/>
              <a:gd name="connsiteX119" fmla="*/ 397968 w 603405"/>
              <a:gd name="connsiteY119" fmla="*/ 159900 h 533193"/>
              <a:gd name="connsiteX120" fmla="*/ 364954 w 603405"/>
              <a:gd name="connsiteY120" fmla="*/ 183568 h 533193"/>
              <a:gd name="connsiteX121" fmla="*/ 364954 w 603405"/>
              <a:gd name="connsiteY121" fmla="*/ 97585 h 533193"/>
              <a:gd name="connsiteX122" fmla="*/ 174223 w 603405"/>
              <a:gd name="connsiteY122" fmla="*/ 97585 h 533193"/>
              <a:gd name="connsiteX123" fmla="*/ 174223 w 603405"/>
              <a:gd name="connsiteY123" fmla="*/ 232102 h 533193"/>
              <a:gd name="connsiteX124" fmla="*/ 180526 w 603405"/>
              <a:gd name="connsiteY124" fmla="*/ 232102 h 533193"/>
              <a:gd name="connsiteX125" fmla="*/ 174223 w 603405"/>
              <a:gd name="connsiteY125" fmla="*/ 235547 h 533193"/>
              <a:gd name="connsiteX126" fmla="*/ 156065 w 603405"/>
              <a:gd name="connsiteY126" fmla="*/ 256369 h 533193"/>
              <a:gd name="connsiteX127" fmla="*/ 141209 w 603405"/>
              <a:gd name="connsiteY127" fmla="*/ 238093 h 533193"/>
              <a:gd name="connsiteX128" fmla="*/ 131455 w 603405"/>
              <a:gd name="connsiteY128" fmla="*/ 232102 h 533193"/>
              <a:gd name="connsiteX129" fmla="*/ 141209 w 603405"/>
              <a:gd name="connsiteY129" fmla="*/ 232102 h 533193"/>
              <a:gd name="connsiteX130" fmla="*/ 141209 w 603405"/>
              <a:gd name="connsiteY130" fmla="*/ 97585 h 533193"/>
              <a:gd name="connsiteX131" fmla="*/ 1200 w 603405"/>
              <a:gd name="connsiteY131" fmla="*/ 97585 h 533193"/>
              <a:gd name="connsiteX132" fmla="*/ 30337 w 603405"/>
              <a:gd name="connsiteY132" fmla="*/ 0 h 533193"/>
              <a:gd name="connsiteX133" fmla="*/ 450496 w 603405"/>
              <a:gd name="connsiteY133" fmla="*/ 0 h 533193"/>
              <a:gd name="connsiteX134" fmla="*/ 467002 w 603405"/>
              <a:gd name="connsiteY134" fmla="*/ 16512 h 533193"/>
              <a:gd name="connsiteX135" fmla="*/ 450496 w 603405"/>
              <a:gd name="connsiteY135" fmla="*/ 33025 h 533193"/>
              <a:gd name="connsiteX136" fmla="*/ 30337 w 603405"/>
              <a:gd name="connsiteY136" fmla="*/ 33025 h 533193"/>
              <a:gd name="connsiteX137" fmla="*/ 13831 w 603405"/>
              <a:gd name="connsiteY137" fmla="*/ 16512 h 533193"/>
              <a:gd name="connsiteX138" fmla="*/ 30337 w 603405"/>
              <a:gd name="connsiteY138" fmla="*/ 0 h 533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603405" h="533193">
                <a:moveTo>
                  <a:pt x="494452" y="356003"/>
                </a:moveTo>
                <a:lnTo>
                  <a:pt x="585270" y="356003"/>
                </a:lnTo>
                <a:cubicBezTo>
                  <a:pt x="594277" y="356003"/>
                  <a:pt x="601782" y="363343"/>
                  <a:pt x="601782" y="372480"/>
                </a:cubicBezTo>
                <a:cubicBezTo>
                  <a:pt x="601782" y="381617"/>
                  <a:pt x="594277" y="388957"/>
                  <a:pt x="585270" y="388957"/>
                </a:cubicBezTo>
                <a:lnTo>
                  <a:pt x="494452" y="388957"/>
                </a:lnTo>
                <a:close/>
                <a:moveTo>
                  <a:pt x="367511" y="244227"/>
                </a:moveTo>
                <a:lnTo>
                  <a:pt x="443780" y="244227"/>
                </a:lnTo>
                <a:cubicBezTo>
                  <a:pt x="462247" y="244227"/>
                  <a:pt x="477261" y="259207"/>
                  <a:pt x="477411" y="277633"/>
                </a:cubicBezTo>
                <a:lnTo>
                  <a:pt x="477861" y="381744"/>
                </a:lnTo>
                <a:cubicBezTo>
                  <a:pt x="478011" y="389534"/>
                  <a:pt x="471706" y="395975"/>
                  <a:pt x="463748" y="395975"/>
                </a:cubicBezTo>
                <a:cubicBezTo>
                  <a:pt x="455941" y="395975"/>
                  <a:pt x="449486" y="389684"/>
                  <a:pt x="449486" y="381894"/>
                </a:cubicBezTo>
                <a:lnTo>
                  <a:pt x="449035" y="277782"/>
                </a:lnTo>
                <a:cubicBezTo>
                  <a:pt x="449035" y="276135"/>
                  <a:pt x="447684" y="274786"/>
                  <a:pt x="446033" y="274786"/>
                </a:cubicBezTo>
                <a:cubicBezTo>
                  <a:pt x="444381" y="274786"/>
                  <a:pt x="443030" y="276135"/>
                  <a:pt x="443030" y="277782"/>
                </a:cubicBezTo>
                <a:cubicBezTo>
                  <a:pt x="443030" y="419944"/>
                  <a:pt x="443330" y="291115"/>
                  <a:pt x="443330" y="516116"/>
                </a:cubicBezTo>
                <a:cubicBezTo>
                  <a:pt x="443330" y="525553"/>
                  <a:pt x="435673" y="533193"/>
                  <a:pt x="426215" y="533193"/>
                </a:cubicBezTo>
                <a:cubicBezTo>
                  <a:pt x="416906" y="533193"/>
                  <a:pt x="409249" y="525553"/>
                  <a:pt x="409249" y="516116"/>
                </a:cubicBezTo>
                <a:lnTo>
                  <a:pt x="409249" y="380096"/>
                </a:lnTo>
                <a:lnTo>
                  <a:pt x="401893" y="380096"/>
                </a:lnTo>
                <a:lnTo>
                  <a:pt x="401893" y="516116"/>
                </a:lnTo>
                <a:cubicBezTo>
                  <a:pt x="401893" y="525553"/>
                  <a:pt x="394236" y="533193"/>
                  <a:pt x="384778" y="533193"/>
                </a:cubicBezTo>
                <a:cubicBezTo>
                  <a:pt x="375319" y="533193"/>
                  <a:pt x="367812" y="525553"/>
                  <a:pt x="367812" y="516116"/>
                </a:cubicBezTo>
                <a:lnTo>
                  <a:pt x="367812" y="380096"/>
                </a:lnTo>
                <a:lnTo>
                  <a:pt x="367812" y="277782"/>
                </a:lnTo>
                <a:cubicBezTo>
                  <a:pt x="367812" y="276284"/>
                  <a:pt x="366461" y="274936"/>
                  <a:pt x="364959" y="274936"/>
                </a:cubicBezTo>
                <a:cubicBezTo>
                  <a:pt x="363458" y="274936"/>
                  <a:pt x="362257" y="276284"/>
                  <a:pt x="362257" y="277782"/>
                </a:cubicBezTo>
                <a:lnTo>
                  <a:pt x="361656" y="381894"/>
                </a:lnTo>
                <a:cubicBezTo>
                  <a:pt x="361656" y="389684"/>
                  <a:pt x="355351" y="395975"/>
                  <a:pt x="347544" y="395975"/>
                </a:cubicBezTo>
                <a:lnTo>
                  <a:pt x="347393" y="395975"/>
                </a:lnTo>
                <a:cubicBezTo>
                  <a:pt x="339586" y="395975"/>
                  <a:pt x="333281" y="389534"/>
                  <a:pt x="333281" y="381744"/>
                </a:cubicBezTo>
                <a:lnTo>
                  <a:pt x="333881" y="277633"/>
                </a:lnTo>
                <a:cubicBezTo>
                  <a:pt x="333881" y="259207"/>
                  <a:pt x="349045" y="244227"/>
                  <a:pt x="367511" y="244227"/>
                </a:cubicBezTo>
                <a:close/>
                <a:moveTo>
                  <a:pt x="201525" y="244227"/>
                </a:moveTo>
                <a:lnTo>
                  <a:pt x="277906" y="244227"/>
                </a:lnTo>
                <a:cubicBezTo>
                  <a:pt x="296213" y="244227"/>
                  <a:pt x="311370" y="259207"/>
                  <a:pt x="311520" y="277633"/>
                </a:cubicBezTo>
                <a:lnTo>
                  <a:pt x="311970" y="381744"/>
                </a:lnTo>
                <a:cubicBezTo>
                  <a:pt x="311970" y="389534"/>
                  <a:pt x="305667" y="395975"/>
                  <a:pt x="297864" y="395975"/>
                </a:cubicBezTo>
                <a:lnTo>
                  <a:pt x="297714" y="395975"/>
                </a:lnTo>
                <a:cubicBezTo>
                  <a:pt x="289911" y="395975"/>
                  <a:pt x="283608" y="389684"/>
                  <a:pt x="283608" y="381894"/>
                </a:cubicBezTo>
                <a:lnTo>
                  <a:pt x="283008" y="277782"/>
                </a:lnTo>
                <a:cubicBezTo>
                  <a:pt x="283008" y="276135"/>
                  <a:pt x="281657" y="274786"/>
                  <a:pt x="280007" y="274786"/>
                </a:cubicBezTo>
                <a:cubicBezTo>
                  <a:pt x="278356" y="274786"/>
                  <a:pt x="277156" y="276135"/>
                  <a:pt x="277156" y="277782"/>
                </a:cubicBezTo>
                <a:cubicBezTo>
                  <a:pt x="277156" y="419944"/>
                  <a:pt x="277456" y="291115"/>
                  <a:pt x="277456" y="516116"/>
                </a:cubicBezTo>
                <a:cubicBezTo>
                  <a:pt x="277456" y="525553"/>
                  <a:pt x="269803" y="533193"/>
                  <a:pt x="260349" y="533193"/>
                </a:cubicBezTo>
                <a:cubicBezTo>
                  <a:pt x="250895" y="533193"/>
                  <a:pt x="243242" y="525553"/>
                  <a:pt x="243242" y="516116"/>
                </a:cubicBezTo>
                <a:lnTo>
                  <a:pt x="243242" y="380096"/>
                </a:lnTo>
                <a:lnTo>
                  <a:pt x="235889" y="380096"/>
                </a:lnTo>
                <a:lnTo>
                  <a:pt x="235889" y="516116"/>
                </a:lnTo>
                <a:cubicBezTo>
                  <a:pt x="235889" y="525553"/>
                  <a:pt x="228386" y="533193"/>
                  <a:pt x="218932" y="533193"/>
                </a:cubicBezTo>
                <a:cubicBezTo>
                  <a:pt x="209478" y="533193"/>
                  <a:pt x="201825" y="525553"/>
                  <a:pt x="201825" y="516116"/>
                </a:cubicBezTo>
                <a:lnTo>
                  <a:pt x="201825" y="380096"/>
                </a:lnTo>
                <a:lnTo>
                  <a:pt x="201825" y="277782"/>
                </a:lnTo>
                <a:cubicBezTo>
                  <a:pt x="201825" y="276284"/>
                  <a:pt x="200624" y="274936"/>
                  <a:pt x="199124" y="274936"/>
                </a:cubicBezTo>
                <a:cubicBezTo>
                  <a:pt x="197623" y="274936"/>
                  <a:pt x="196423" y="276284"/>
                  <a:pt x="196423" y="277782"/>
                </a:cubicBezTo>
                <a:lnTo>
                  <a:pt x="195822" y="381894"/>
                </a:lnTo>
                <a:cubicBezTo>
                  <a:pt x="195822" y="389684"/>
                  <a:pt x="189370" y="395975"/>
                  <a:pt x="181567" y="395975"/>
                </a:cubicBezTo>
                <a:cubicBezTo>
                  <a:pt x="173763" y="395975"/>
                  <a:pt x="167311" y="389534"/>
                  <a:pt x="167461" y="381744"/>
                </a:cubicBezTo>
                <a:lnTo>
                  <a:pt x="167911" y="277633"/>
                </a:lnTo>
                <a:cubicBezTo>
                  <a:pt x="168061" y="259207"/>
                  <a:pt x="183067" y="244227"/>
                  <a:pt x="201525" y="244227"/>
                </a:cubicBezTo>
                <a:close/>
                <a:moveTo>
                  <a:pt x="34214" y="244227"/>
                </a:moveTo>
                <a:lnTo>
                  <a:pt x="110445" y="244227"/>
                </a:lnTo>
                <a:cubicBezTo>
                  <a:pt x="128902" y="244227"/>
                  <a:pt x="143908" y="259207"/>
                  <a:pt x="144059" y="277633"/>
                </a:cubicBezTo>
                <a:lnTo>
                  <a:pt x="144509" y="381744"/>
                </a:lnTo>
                <a:cubicBezTo>
                  <a:pt x="144659" y="389534"/>
                  <a:pt x="138206" y="395975"/>
                  <a:pt x="130403" y="395975"/>
                </a:cubicBezTo>
                <a:cubicBezTo>
                  <a:pt x="122600" y="395975"/>
                  <a:pt x="116147" y="389684"/>
                  <a:pt x="116147" y="381894"/>
                </a:cubicBezTo>
                <a:lnTo>
                  <a:pt x="115697" y="277782"/>
                </a:lnTo>
                <a:cubicBezTo>
                  <a:pt x="115547" y="276135"/>
                  <a:pt x="114346" y="274786"/>
                  <a:pt x="112696" y="274786"/>
                </a:cubicBezTo>
                <a:cubicBezTo>
                  <a:pt x="111045" y="274786"/>
                  <a:pt x="109694" y="276135"/>
                  <a:pt x="109694" y="277782"/>
                </a:cubicBezTo>
                <a:cubicBezTo>
                  <a:pt x="109694" y="343695"/>
                  <a:pt x="109995" y="452450"/>
                  <a:pt x="109995" y="516116"/>
                </a:cubicBezTo>
                <a:cubicBezTo>
                  <a:pt x="109995" y="525553"/>
                  <a:pt x="102341" y="533193"/>
                  <a:pt x="92888" y="533193"/>
                </a:cubicBezTo>
                <a:cubicBezTo>
                  <a:pt x="83584" y="533193"/>
                  <a:pt x="75931" y="525553"/>
                  <a:pt x="75931" y="516116"/>
                </a:cubicBezTo>
                <a:lnTo>
                  <a:pt x="75931" y="380096"/>
                </a:lnTo>
                <a:lnTo>
                  <a:pt x="68578" y="380096"/>
                </a:lnTo>
                <a:lnTo>
                  <a:pt x="68578" y="516116"/>
                </a:lnTo>
                <a:cubicBezTo>
                  <a:pt x="68578" y="525553"/>
                  <a:pt x="60925" y="533193"/>
                  <a:pt x="51471" y="533193"/>
                </a:cubicBezTo>
                <a:cubicBezTo>
                  <a:pt x="42017" y="533193"/>
                  <a:pt x="34364" y="525553"/>
                  <a:pt x="34364" y="516116"/>
                </a:cubicBezTo>
                <a:lnTo>
                  <a:pt x="34364" y="380096"/>
                </a:lnTo>
                <a:lnTo>
                  <a:pt x="34364" y="277782"/>
                </a:lnTo>
                <a:cubicBezTo>
                  <a:pt x="34364" y="276284"/>
                  <a:pt x="33163" y="275086"/>
                  <a:pt x="31663" y="275086"/>
                </a:cubicBezTo>
                <a:cubicBezTo>
                  <a:pt x="30162" y="274936"/>
                  <a:pt x="28962" y="276284"/>
                  <a:pt x="28962" y="277782"/>
                </a:cubicBezTo>
                <a:lnTo>
                  <a:pt x="28361" y="381894"/>
                </a:lnTo>
                <a:cubicBezTo>
                  <a:pt x="28361" y="389684"/>
                  <a:pt x="22059" y="395975"/>
                  <a:pt x="14256" y="395975"/>
                </a:cubicBezTo>
                <a:lnTo>
                  <a:pt x="14106" y="395975"/>
                </a:lnTo>
                <a:cubicBezTo>
                  <a:pt x="6302" y="395975"/>
                  <a:pt x="0" y="389534"/>
                  <a:pt x="0" y="381744"/>
                </a:cubicBezTo>
                <a:lnTo>
                  <a:pt x="600" y="277633"/>
                </a:lnTo>
                <a:cubicBezTo>
                  <a:pt x="600" y="259207"/>
                  <a:pt x="15756" y="244227"/>
                  <a:pt x="34214" y="244227"/>
                </a:cubicBezTo>
                <a:close/>
                <a:moveTo>
                  <a:pt x="298774" y="232090"/>
                </a:moveTo>
                <a:lnTo>
                  <a:pt x="346547" y="232090"/>
                </a:lnTo>
                <a:cubicBezTo>
                  <a:pt x="336331" y="236739"/>
                  <a:pt x="327768" y="244836"/>
                  <a:pt x="322660" y="254883"/>
                </a:cubicBezTo>
                <a:cubicBezTo>
                  <a:pt x="317552" y="244836"/>
                  <a:pt x="309140" y="236739"/>
                  <a:pt x="298774" y="232090"/>
                </a:cubicBezTo>
                <a:close/>
                <a:moveTo>
                  <a:pt x="405716" y="176061"/>
                </a:moveTo>
                <a:cubicBezTo>
                  <a:pt x="421987" y="176061"/>
                  <a:pt x="435177" y="189204"/>
                  <a:pt x="435177" y="205417"/>
                </a:cubicBezTo>
                <a:cubicBezTo>
                  <a:pt x="435177" y="221630"/>
                  <a:pt x="421987" y="234773"/>
                  <a:pt x="405716" y="234773"/>
                </a:cubicBezTo>
                <a:cubicBezTo>
                  <a:pt x="389445" y="234773"/>
                  <a:pt x="376255" y="221630"/>
                  <a:pt x="376255" y="205417"/>
                </a:cubicBezTo>
                <a:cubicBezTo>
                  <a:pt x="376255" y="189204"/>
                  <a:pt x="389445" y="176061"/>
                  <a:pt x="405716" y="176061"/>
                </a:cubicBezTo>
                <a:close/>
                <a:moveTo>
                  <a:pt x="239817" y="176061"/>
                </a:moveTo>
                <a:cubicBezTo>
                  <a:pt x="256049" y="176061"/>
                  <a:pt x="269208" y="189204"/>
                  <a:pt x="269208" y="205417"/>
                </a:cubicBezTo>
                <a:cubicBezTo>
                  <a:pt x="269208" y="221630"/>
                  <a:pt x="256049" y="234773"/>
                  <a:pt x="239817" y="234773"/>
                </a:cubicBezTo>
                <a:cubicBezTo>
                  <a:pt x="223585" y="234773"/>
                  <a:pt x="210426" y="221630"/>
                  <a:pt x="210426" y="205417"/>
                </a:cubicBezTo>
                <a:cubicBezTo>
                  <a:pt x="210426" y="189204"/>
                  <a:pt x="223585" y="176061"/>
                  <a:pt x="239817" y="176061"/>
                </a:cubicBezTo>
                <a:close/>
                <a:moveTo>
                  <a:pt x="72325" y="176061"/>
                </a:moveTo>
                <a:cubicBezTo>
                  <a:pt x="88687" y="176061"/>
                  <a:pt x="101897" y="189241"/>
                  <a:pt x="101897" y="205416"/>
                </a:cubicBezTo>
                <a:cubicBezTo>
                  <a:pt x="101897" y="221592"/>
                  <a:pt x="88687" y="234772"/>
                  <a:pt x="72325" y="234772"/>
                </a:cubicBezTo>
                <a:cubicBezTo>
                  <a:pt x="56113" y="234772"/>
                  <a:pt x="42904" y="221592"/>
                  <a:pt x="42904" y="205416"/>
                </a:cubicBezTo>
                <a:cubicBezTo>
                  <a:pt x="42904" y="189241"/>
                  <a:pt x="55963" y="176061"/>
                  <a:pt x="72325" y="176061"/>
                </a:cubicBezTo>
                <a:close/>
                <a:moveTo>
                  <a:pt x="1200" y="56241"/>
                </a:moveTo>
                <a:lnTo>
                  <a:pt x="384613" y="56241"/>
                </a:lnTo>
                <a:cubicBezTo>
                  <a:pt x="505414" y="56241"/>
                  <a:pt x="603405" y="154058"/>
                  <a:pt x="603405" y="274494"/>
                </a:cubicBezTo>
                <a:cubicBezTo>
                  <a:pt x="603405" y="308947"/>
                  <a:pt x="575493" y="336809"/>
                  <a:pt x="540979" y="336809"/>
                </a:cubicBezTo>
                <a:lnTo>
                  <a:pt x="494459" y="336809"/>
                </a:lnTo>
                <a:lnTo>
                  <a:pt x="494159" y="277490"/>
                </a:lnTo>
                <a:cubicBezTo>
                  <a:pt x="494009" y="257417"/>
                  <a:pt x="482004" y="240041"/>
                  <a:pt x="464747" y="232102"/>
                </a:cubicBezTo>
                <a:lnTo>
                  <a:pt x="551333" y="232102"/>
                </a:lnTo>
                <a:lnTo>
                  <a:pt x="551483" y="232102"/>
                </a:lnTo>
                <a:cubicBezTo>
                  <a:pt x="553884" y="232102"/>
                  <a:pt x="556285" y="230753"/>
                  <a:pt x="557636" y="228806"/>
                </a:cubicBezTo>
                <a:cubicBezTo>
                  <a:pt x="558986" y="226709"/>
                  <a:pt x="559136" y="224013"/>
                  <a:pt x="558236" y="221766"/>
                </a:cubicBezTo>
                <a:cubicBezTo>
                  <a:pt x="550283" y="203790"/>
                  <a:pt x="531825" y="165892"/>
                  <a:pt x="504663" y="136532"/>
                </a:cubicBezTo>
                <a:cubicBezTo>
                  <a:pt x="481704" y="111666"/>
                  <a:pt x="449440" y="97585"/>
                  <a:pt x="415676" y="97585"/>
                </a:cubicBezTo>
                <a:lnTo>
                  <a:pt x="397968" y="97585"/>
                </a:lnTo>
                <a:lnTo>
                  <a:pt x="397968" y="159900"/>
                </a:lnTo>
                <a:cubicBezTo>
                  <a:pt x="383712" y="162297"/>
                  <a:pt x="371707" y="171284"/>
                  <a:pt x="364954" y="183568"/>
                </a:cubicBezTo>
                <a:lnTo>
                  <a:pt x="364954" y="97585"/>
                </a:lnTo>
                <a:lnTo>
                  <a:pt x="174223" y="97585"/>
                </a:lnTo>
                <a:lnTo>
                  <a:pt x="174223" y="232102"/>
                </a:lnTo>
                <a:lnTo>
                  <a:pt x="180526" y="232102"/>
                </a:lnTo>
                <a:cubicBezTo>
                  <a:pt x="178425" y="233150"/>
                  <a:pt x="176324" y="234199"/>
                  <a:pt x="174223" y="235547"/>
                </a:cubicBezTo>
                <a:cubicBezTo>
                  <a:pt x="166420" y="240640"/>
                  <a:pt x="159967" y="247830"/>
                  <a:pt x="156065" y="256369"/>
                </a:cubicBezTo>
                <a:cubicBezTo>
                  <a:pt x="152614" y="249178"/>
                  <a:pt x="147512" y="242887"/>
                  <a:pt x="141209" y="238093"/>
                </a:cubicBezTo>
                <a:cubicBezTo>
                  <a:pt x="138208" y="235697"/>
                  <a:pt x="134906" y="233749"/>
                  <a:pt x="131455" y="232102"/>
                </a:cubicBezTo>
                <a:lnTo>
                  <a:pt x="141209" y="232102"/>
                </a:lnTo>
                <a:lnTo>
                  <a:pt x="141209" y="97585"/>
                </a:lnTo>
                <a:lnTo>
                  <a:pt x="1200" y="97585"/>
                </a:lnTo>
                <a:close/>
                <a:moveTo>
                  <a:pt x="30337" y="0"/>
                </a:moveTo>
                <a:lnTo>
                  <a:pt x="450496" y="0"/>
                </a:lnTo>
                <a:cubicBezTo>
                  <a:pt x="459649" y="0"/>
                  <a:pt x="467002" y="7356"/>
                  <a:pt x="467002" y="16512"/>
                </a:cubicBezTo>
                <a:cubicBezTo>
                  <a:pt x="467002" y="25669"/>
                  <a:pt x="459649" y="33025"/>
                  <a:pt x="450496" y="33025"/>
                </a:cubicBezTo>
                <a:lnTo>
                  <a:pt x="30337" y="33025"/>
                </a:lnTo>
                <a:cubicBezTo>
                  <a:pt x="21184" y="33025"/>
                  <a:pt x="13831" y="25669"/>
                  <a:pt x="13831" y="16512"/>
                </a:cubicBezTo>
                <a:cubicBezTo>
                  <a:pt x="13831" y="7356"/>
                  <a:pt x="21184" y="0"/>
                  <a:pt x="30337" y="0"/>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endParaRPr lang="zh-CN" altLang="en-US">
              <a:solidFill>
                <a:srgbClr val="000000"/>
              </a:solidFill>
              <a:latin typeface="Arial" panose="020F0502020204030204"/>
              <a:ea typeface="微软雅黑"/>
              <a:cs typeface="+mn-ea"/>
              <a:sym typeface="+mn-lt"/>
            </a:endParaRPr>
          </a:p>
        </p:txBody>
      </p:sp>
      <p:pic>
        <p:nvPicPr>
          <p:cNvPr id="3" name="图片 2">
            <a:extLst>
              <a:ext uri="{FF2B5EF4-FFF2-40B4-BE49-F238E27FC236}">
                <a16:creationId xmlns:a16="http://schemas.microsoft.com/office/drawing/2014/main" id="{C641815D-B57B-8F63-EC32-A0E507E5B395}"/>
              </a:ext>
            </a:extLst>
          </p:cNvPr>
          <p:cNvPicPr>
            <a:picLocks noChangeAspect="1"/>
          </p:cNvPicPr>
          <p:nvPr/>
        </p:nvPicPr>
        <p:blipFill>
          <a:blip r:embed="rId6"/>
          <a:srcRect b="2959"/>
          <a:stretch>
            <a:fillRect/>
          </a:stretch>
        </p:blipFill>
        <p:spPr>
          <a:xfrm>
            <a:off x="0" y="962159"/>
            <a:ext cx="12192000" cy="4418141"/>
          </a:xfrm>
          <a:prstGeom prst="rect">
            <a:avLst/>
          </a:prstGeom>
        </p:spPr>
      </p:pic>
      <p:sp>
        <p:nvSpPr>
          <p:cNvPr id="4" name="文本框 3">
            <a:extLst>
              <a:ext uri="{FF2B5EF4-FFF2-40B4-BE49-F238E27FC236}">
                <a16:creationId xmlns:a16="http://schemas.microsoft.com/office/drawing/2014/main" id="{0600F37E-230D-A82A-1A59-542C35C91FCA}"/>
              </a:ext>
            </a:extLst>
          </p:cNvPr>
          <p:cNvSpPr txBox="1"/>
          <p:nvPr/>
        </p:nvSpPr>
        <p:spPr>
          <a:xfrm>
            <a:off x="2767314" y="5560171"/>
            <a:ext cx="6799693" cy="646331"/>
          </a:xfrm>
          <a:prstGeom prst="rect">
            <a:avLst/>
          </a:prstGeom>
          <a:noFill/>
        </p:spPr>
        <p:txBody>
          <a:bodyPr wrap="square" rtlCol="0">
            <a:spAutoFit/>
          </a:bodyPr>
          <a:lstStyle/>
          <a:p>
            <a:r>
              <a:rPr lang="en-US" altLang="zh-CN" dirty="0"/>
              <a:t>RMSF-net </a:t>
            </a:r>
            <a:r>
              <a:rPr lang="zh-CN" altLang="en-US" dirty="0"/>
              <a:t>与真实的 </a:t>
            </a:r>
            <a:r>
              <a:rPr lang="en-US" altLang="zh-CN" dirty="0"/>
              <a:t>MD </a:t>
            </a:r>
            <a:r>
              <a:rPr lang="zh-CN" altLang="en-US" dirty="0"/>
              <a:t>模拟结果高度相关（体素级别的相关系数为 </a:t>
            </a:r>
            <a:r>
              <a:rPr lang="en-US" altLang="zh-CN" dirty="0"/>
              <a:t>0.746</a:t>
            </a:r>
            <a:r>
              <a:rPr lang="zh-CN" altLang="en-US" dirty="0"/>
              <a:t>，残基级别为 </a:t>
            </a:r>
            <a:r>
              <a:rPr lang="en-US" altLang="zh-CN" dirty="0"/>
              <a:t>0.765</a:t>
            </a:r>
            <a:r>
              <a:rPr lang="zh-CN" altLang="en-US" dirty="0"/>
              <a:t>），表明真的学到了物理运动的规律。</a:t>
            </a:r>
          </a:p>
        </p:txBody>
      </p:sp>
    </p:spTree>
    <p:extLst>
      <p:ext uri="{BB962C8B-B14F-4D97-AF65-F5344CB8AC3E}">
        <p14:creationId xmlns:p14="http://schemas.microsoft.com/office/powerpoint/2010/main" val="20791883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92F9A-8C9D-F069-88BC-3B71B516AD75}"/>
            </a:ext>
          </a:extLst>
        </p:cNvPr>
        <p:cNvGrpSpPr/>
        <p:nvPr/>
      </p:nvGrpSpPr>
      <p:grpSpPr>
        <a:xfrm>
          <a:off x="0" y="0"/>
          <a:ext cx="0" cy="0"/>
          <a:chOff x="0" y="0"/>
          <a:chExt cx="0" cy="0"/>
        </a:xfrm>
      </p:grpSpPr>
      <p:grpSp>
        <p:nvGrpSpPr>
          <p:cNvPr id="20" name="组合 19">
            <a:extLst>
              <a:ext uri="{FF2B5EF4-FFF2-40B4-BE49-F238E27FC236}">
                <a16:creationId xmlns:a16="http://schemas.microsoft.com/office/drawing/2014/main" id="{198502AF-B8E6-2F2E-DEE4-EA0B1E62658D}"/>
              </a:ext>
            </a:extLst>
          </p:cNvPr>
          <p:cNvGrpSpPr/>
          <p:nvPr/>
        </p:nvGrpSpPr>
        <p:grpSpPr>
          <a:xfrm>
            <a:off x="286653" y="116633"/>
            <a:ext cx="11618694" cy="6681374"/>
            <a:chOff x="286653" y="116633"/>
            <a:chExt cx="11618694" cy="6681374"/>
          </a:xfrm>
        </p:grpSpPr>
        <p:grpSp>
          <p:nvGrpSpPr>
            <p:cNvPr id="21" name="组合 20">
              <a:extLst>
                <a:ext uri="{FF2B5EF4-FFF2-40B4-BE49-F238E27FC236}">
                  <a16:creationId xmlns:a16="http://schemas.microsoft.com/office/drawing/2014/main" id="{709EE68B-947B-2586-2986-1C7DCCB005F8}"/>
                </a:ext>
              </a:extLst>
            </p:cNvPr>
            <p:cNvGrpSpPr/>
            <p:nvPr/>
          </p:nvGrpSpPr>
          <p:grpSpPr>
            <a:xfrm>
              <a:off x="335361" y="116633"/>
              <a:ext cx="629872" cy="612768"/>
              <a:chOff x="3070727" y="196457"/>
              <a:chExt cx="692047" cy="673255"/>
            </a:xfrm>
          </p:grpSpPr>
          <p:sp>
            <p:nvSpPr>
              <p:cNvPr id="26" name="平行四边形 25">
                <a:extLst>
                  <a:ext uri="{FF2B5EF4-FFF2-40B4-BE49-F238E27FC236}">
                    <a16:creationId xmlns:a16="http://schemas.microsoft.com/office/drawing/2014/main" id="{8F55264C-FC21-25CD-95F3-701A23A47E83}"/>
                  </a:ext>
                </a:extLst>
              </p:cNvPr>
              <p:cNvSpPr/>
              <p:nvPr/>
            </p:nvSpPr>
            <p:spPr>
              <a:xfrm>
                <a:off x="3070727" y="196457"/>
                <a:ext cx="629587" cy="612775"/>
              </a:xfrm>
              <a:prstGeom prst="parallelogram">
                <a:avLst/>
              </a:prstGeom>
              <a:solidFill>
                <a:srgbClr val="6B0261"/>
              </a:solidFill>
              <a:ln w="25400" cap="flat" cmpd="sng" algn="ctr">
                <a:solidFill>
                  <a:srgbClr val="6B026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27" name="平行四边形 26">
                <a:extLst>
                  <a:ext uri="{FF2B5EF4-FFF2-40B4-BE49-F238E27FC236}">
                    <a16:creationId xmlns:a16="http://schemas.microsoft.com/office/drawing/2014/main" id="{9FB493D9-F7A0-ABD8-1522-B7BC488A4A68}"/>
                  </a:ext>
                </a:extLst>
              </p:cNvPr>
              <p:cNvSpPr/>
              <p:nvPr/>
            </p:nvSpPr>
            <p:spPr>
              <a:xfrm>
                <a:off x="3133187" y="256937"/>
                <a:ext cx="629587" cy="612775"/>
              </a:xfrm>
              <a:prstGeom prst="parallelogram">
                <a:avLst/>
              </a:prstGeom>
              <a:noFill/>
              <a:ln w="25400" cap="flat" cmpd="sng" algn="ctr">
                <a:solidFill>
                  <a:srgbClr val="6B026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cxnSp>
          <p:nvCxnSpPr>
            <p:cNvPr id="22" name="直接连接符 21">
              <a:extLst>
                <a:ext uri="{FF2B5EF4-FFF2-40B4-BE49-F238E27FC236}">
                  <a16:creationId xmlns:a16="http://schemas.microsoft.com/office/drawing/2014/main" id="{3E4BC8F4-55D4-AAF4-FEAF-90CEA44706E3}"/>
                </a:ext>
              </a:extLst>
            </p:cNvPr>
            <p:cNvCxnSpPr>
              <a:cxnSpLocks/>
            </p:cNvCxnSpPr>
            <p:nvPr/>
          </p:nvCxnSpPr>
          <p:spPr>
            <a:xfrm>
              <a:off x="367840" y="809674"/>
              <a:ext cx="11488800" cy="0"/>
            </a:xfrm>
            <a:prstGeom prst="line">
              <a:avLst/>
            </a:prstGeom>
            <a:noFill/>
            <a:ln w="9525" cap="flat" cmpd="sng" algn="ctr">
              <a:solidFill>
                <a:srgbClr val="6B0261"/>
              </a:solidFill>
              <a:prstDash val="solid"/>
            </a:ln>
            <a:effectLst/>
          </p:spPr>
        </p:cxnSp>
        <p:sp>
          <p:nvSpPr>
            <p:cNvPr id="23" name="文本占位符 5">
              <a:extLst>
                <a:ext uri="{FF2B5EF4-FFF2-40B4-BE49-F238E27FC236}">
                  <a16:creationId xmlns:a16="http://schemas.microsoft.com/office/drawing/2014/main" id="{FC4EA2B0-C042-4A02-D8E9-A978F2E2432F}"/>
                </a:ext>
              </a:extLst>
            </p:cNvPr>
            <p:cNvSpPr txBox="1">
              <a:spLocks/>
            </p:cNvSpPr>
            <p:nvPr/>
          </p:nvSpPr>
          <p:spPr>
            <a:xfrm>
              <a:off x="1075777" y="214065"/>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rgbClr val="6B0261"/>
                  </a:solidFill>
                </a:rPr>
                <a:t>反思思考</a:t>
              </a:r>
            </a:p>
          </p:txBody>
        </p:sp>
        <p:sp>
          <p:nvSpPr>
            <p:cNvPr id="24" name="文本框 23">
              <a:extLst>
                <a:ext uri="{FF2B5EF4-FFF2-40B4-BE49-F238E27FC236}">
                  <a16:creationId xmlns:a16="http://schemas.microsoft.com/office/drawing/2014/main" id="{51A188EE-6287-2630-5B0A-81E2384E600C}"/>
                </a:ext>
              </a:extLst>
            </p:cNvPr>
            <p:cNvSpPr txBox="1"/>
            <p:nvPr/>
          </p:nvSpPr>
          <p:spPr>
            <a:xfrm>
              <a:off x="10805366" y="642867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25" name="图片 24">
              <a:extLst>
                <a:ext uri="{FF2B5EF4-FFF2-40B4-BE49-F238E27FC236}">
                  <a16:creationId xmlns:a16="http://schemas.microsoft.com/office/drawing/2014/main" id="{87B7595B-AE43-ABBF-84F6-D7A0F2152FAD}"/>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a:stretch/>
          </p:blipFill>
          <p:spPr>
            <a:xfrm>
              <a:off x="286653" y="6425619"/>
              <a:ext cx="2520534" cy="369332"/>
            </a:xfrm>
            <a:prstGeom prst="rect">
              <a:avLst/>
            </a:prstGeom>
          </p:spPr>
        </p:pic>
      </p:grpSp>
      <p:grpSp>
        <p:nvGrpSpPr>
          <p:cNvPr id="51" name="组合 50">
            <a:extLst>
              <a:ext uri="{FF2B5EF4-FFF2-40B4-BE49-F238E27FC236}">
                <a16:creationId xmlns:a16="http://schemas.microsoft.com/office/drawing/2014/main" id="{9FA0E2F0-D5D7-DB54-449B-25344A98300E}"/>
              </a:ext>
            </a:extLst>
          </p:cNvPr>
          <p:cNvGrpSpPr/>
          <p:nvPr/>
        </p:nvGrpSpPr>
        <p:grpSpPr>
          <a:xfrm>
            <a:off x="9938479" y="77827"/>
            <a:ext cx="2017490" cy="675447"/>
            <a:chOff x="995884" y="398899"/>
            <a:chExt cx="3658781" cy="1224944"/>
          </a:xfrm>
        </p:grpSpPr>
        <p:pic>
          <p:nvPicPr>
            <p:cNvPr id="52" name="图片 51">
              <a:extLst>
                <a:ext uri="{FF2B5EF4-FFF2-40B4-BE49-F238E27FC236}">
                  <a16:creationId xmlns:a16="http://schemas.microsoft.com/office/drawing/2014/main" id="{1490C282-25F4-F22F-A0E2-BBDC69C77DD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95884" y="398899"/>
              <a:ext cx="977348" cy="1224944"/>
            </a:xfrm>
            <a:prstGeom prst="rect">
              <a:avLst/>
            </a:prstGeom>
          </p:spPr>
        </p:pic>
        <p:pic>
          <p:nvPicPr>
            <p:cNvPr id="53" name="图片 52">
              <a:extLst>
                <a:ext uri="{FF2B5EF4-FFF2-40B4-BE49-F238E27FC236}">
                  <a16:creationId xmlns:a16="http://schemas.microsoft.com/office/drawing/2014/main" id="{F7F6968C-E7E9-0C8F-D9CE-13DF64602FBB}"/>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173707" y="405382"/>
              <a:ext cx="2384890" cy="796233"/>
            </a:xfrm>
            <a:prstGeom prst="rect">
              <a:avLst/>
            </a:prstGeom>
          </p:spPr>
        </p:pic>
        <p:sp>
          <p:nvSpPr>
            <p:cNvPr id="54" name="矩形 53">
              <a:extLst>
                <a:ext uri="{FF2B5EF4-FFF2-40B4-BE49-F238E27FC236}">
                  <a16:creationId xmlns:a16="http://schemas.microsoft.com/office/drawing/2014/main" id="{6E039DCB-0D5E-2F97-877F-AE0D9630C620}"/>
                </a:ext>
              </a:extLst>
            </p:cNvPr>
            <p:cNvSpPr/>
            <p:nvPr/>
          </p:nvSpPr>
          <p:spPr>
            <a:xfrm>
              <a:off x="2069306" y="1138524"/>
              <a:ext cx="2585359" cy="46048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rPr>
                <a:t>NANJING UNIVERSITY</a:t>
              </a:r>
              <a:endParaRPr kumimoji="0" lang="zh-CN" altLang="en-US" sz="105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endParaRPr>
            </a:p>
          </p:txBody>
        </p:sp>
      </p:grpSp>
      <p:sp>
        <p:nvSpPr>
          <p:cNvPr id="31" name="íŝḷïḓè">
            <a:extLst>
              <a:ext uri="{FF2B5EF4-FFF2-40B4-BE49-F238E27FC236}">
                <a16:creationId xmlns:a16="http://schemas.microsoft.com/office/drawing/2014/main" id="{62490DE2-1CEB-0BD4-7F08-97AD7F6E99BE}"/>
              </a:ext>
            </a:extLst>
          </p:cNvPr>
          <p:cNvSpPr/>
          <p:nvPr/>
        </p:nvSpPr>
        <p:spPr bwMode="auto">
          <a:xfrm>
            <a:off x="5828824" y="4147130"/>
            <a:ext cx="338337" cy="366161"/>
          </a:xfrm>
          <a:custGeom>
            <a:avLst/>
            <a:gdLst>
              <a:gd name="connsiteX0" fmla="*/ 327780 w 561933"/>
              <a:gd name="connsiteY0" fmla="*/ 406780 h 608145"/>
              <a:gd name="connsiteX1" fmla="*/ 285069 w 561933"/>
              <a:gd name="connsiteY1" fmla="*/ 449434 h 608145"/>
              <a:gd name="connsiteX2" fmla="*/ 327780 w 561933"/>
              <a:gd name="connsiteY2" fmla="*/ 492088 h 608145"/>
              <a:gd name="connsiteX3" fmla="*/ 370490 w 561933"/>
              <a:gd name="connsiteY3" fmla="*/ 449434 h 608145"/>
              <a:gd name="connsiteX4" fmla="*/ 327780 w 561933"/>
              <a:gd name="connsiteY4" fmla="*/ 406780 h 608145"/>
              <a:gd name="connsiteX5" fmla="*/ 91381 w 561933"/>
              <a:gd name="connsiteY5" fmla="*/ 406780 h 608145"/>
              <a:gd name="connsiteX6" fmla="*/ 49664 w 561933"/>
              <a:gd name="connsiteY6" fmla="*/ 449434 h 608145"/>
              <a:gd name="connsiteX7" fmla="*/ 91381 w 561933"/>
              <a:gd name="connsiteY7" fmla="*/ 492088 h 608145"/>
              <a:gd name="connsiteX8" fmla="*/ 134092 w 561933"/>
              <a:gd name="connsiteY8" fmla="*/ 449434 h 608145"/>
              <a:gd name="connsiteX9" fmla="*/ 91381 w 561933"/>
              <a:gd name="connsiteY9" fmla="*/ 406780 h 608145"/>
              <a:gd name="connsiteX10" fmla="*/ 130119 w 561933"/>
              <a:gd name="connsiteY10" fmla="*/ 162762 h 608145"/>
              <a:gd name="connsiteX11" fmla="*/ 50657 w 561933"/>
              <a:gd name="connsiteY11" fmla="*/ 243110 h 608145"/>
              <a:gd name="connsiteX12" fmla="*/ 50657 w 561933"/>
              <a:gd name="connsiteY12" fmla="*/ 312546 h 608145"/>
              <a:gd name="connsiteX13" fmla="*/ 78468 w 561933"/>
              <a:gd name="connsiteY13" fmla="*/ 341312 h 608145"/>
              <a:gd name="connsiteX14" fmla="*/ 340692 w 561933"/>
              <a:gd name="connsiteY14" fmla="*/ 341312 h 608145"/>
              <a:gd name="connsiteX15" fmla="*/ 369497 w 561933"/>
              <a:gd name="connsiteY15" fmla="*/ 312546 h 608145"/>
              <a:gd name="connsiteX16" fmla="*/ 369497 w 561933"/>
              <a:gd name="connsiteY16" fmla="*/ 243110 h 608145"/>
              <a:gd name="connsiteX17" fmla="*/ 289042 w 561933"/>
              <a:gd name="connsiteY17" fmla="*/ 162762 h 608145"/>
              <a:gd name="connsiteX18" fmla="*/ 127139 w 561933"/>
              <a:gd name="connsiteY18" fmla="*/ 99278 h 608145"/>
              <a:gd name="connsiteX19" fmla="*/ 293015 w 561933"/>
              <a:gd name="connsiteY19" fmla="*/ 99278 h 608145"/>
              <a:gd name="connsiteX20" fmla="*/ 420154 w 561933"/>
              <a:gd name="connsiteY20" fmla="*/ 226247 h 608145"/>
              <a:gd name="connsiteX21" fmla="*/ 420154 w 561933"/>
              <a:gd name="connsiteY21" fmla="*/ 486136 h 608145"/>
              <a:gd name="connsiteX22" fmla="*/ 382410 w 561933"/>
              <a:gd name="connsiteY22" fmla="*/ 541685 h 608145"/>
              <a:gd name="connsiteX23" fmla="*/ 382410 w 561933"/>
              <a:gd name="connsiteY23" fmla="*/ 561524 h 608145"/>
              <a:gd name="connsiteX24" fmla="*/ 334733 w 561933"/>
              <a:gd name="connsiteY24" fmla="*/ 608145 h 608145"/>
              <a:gd name="connsiteX25" fmla="*/ 326786 w 561933"/>
              <a:gd name="connsiteY25" fmla="*/ 608145 h 608145"/>
              <a:gd name="connsiteX26" fmla="*/ 280103 w 561933"/>
              <a:gd name="connsiteY26" fmla="*/ 561524 h 608145"/>
              <a:gd name="connsiteX27" fmla="*/ 280103 w 561933"/>
              <a:gd name="connsiteY27" fmla="*/ 544661 h 608145"/>
              <a:gd name="connsiteX28" fmla="*/ 140051 w 561933"/>
              <a:gd name="connsiteY28" fmla="*/ 544661 h 608145"/>
              <a:gd name="connsiteX29" fmla="*/ 140051 w 561933"/>
              <a:gd name="connsiteY29" fmla="*/ 561524 h 608145"/>
              <a:gd name="connsiteX30" fmla="*/ 92374 w 561933"/>
              <a:gd name="connsiteY30" fmla="*/ 608145 h 608145"/>
              <a:gd name="connsiteX31" fmla="*/ 84428 w 561933"/>
              <a:gd name="connsiteY31" fmla="*/ 608145 h 608145"/>
              <a:gd name="connsiteX32" fmla="*/ 37744 w 561933"/>
              <a:gd name="connsiteY32" fmla="*/ 561524 h 608145"/>
              <a:gd name="connsiteX33" fmla="*/ 37744 w 561933"/>
              <a:gd name="connsiteY33" fmla="*/ 541685 h 608145"/>
              <a:gd name="connsiteX34" fmla="*/ 0 w 561933"/>
              <a:gd name="connsiteY34" fmla="*/ 486136 h 608145"/>
              <a:gd name="connsiteX35" fmla="*/ 0 w 561933"/>
              <a:gd name="connsiteY35" fmla="*/ 226247 h 608145"/>
              <a:gd name="connsiteX36" fmla="*/ 127139 w 561933"/>
              <a:gd name="connsiteY36" fmla="*/ 99278 h 608145"/>
              <a:gd name="connsiteX37" fmla="*/ 408232 w 561933"/>
              <a:gd name="connsiteY37" fmla="*/ 74504 h 608145"/>
              <a:gd name="connsiteX38" fmla="*/ 424139 w 561933"/>
              <a:gd name="connsiteY38" fmla="*/ 75495 h 608145"/>
              <a:gd name="connsiteX39" fmla="*/ 486772 w 561933"/>
              <a:gd name="connsiteY39" fmla="*/ 185587 h 608145"/>
              <a:gd name="connsiteX40" fmla="*/ 479813 w 561933"/>
              <a:gd name="connsiteY40" fmla="*/ 199473 h 608145"/>
              <a:gd name="connsiteX41" fmla="*/ 464901 w 561933"/>
              <a:gd name="connsiteY41" fmla="*/ 202448 h 608145"/>
              <a:gd name="connsiteX42" fmla="*/ 462912 w 561933"/>
              <a:gd name="connsiteY42" fmla="*/ 201456 h 608145"/>
              <a:gd name="connsiteX43" fmla="*/ 448994 w 561933"/>
              <a:gd name="connsiteY43" fmla="*/ 183604 h 608145"/>
              <a:gd name="connsiteX44" fmla="*/ 406244 w 561933"/>
              <a:gd name="connsiteY44" fmla="*/ 109217 h 608145"/>
              <a:gd name="connsiteX45" fmla="*/ 397296 w 561933"/>
              <a:gd name="connsiteY45" fmla="*/ 89381 h 608145"/>
              <a:gd name="connsiteX46" fmla="*/ 398291 w 561933"/>
              <a:gd name="connsiteY46" fmla="*/ 87397 h 608145"/>
              <a:gd name="connsiteX47" fmla="*/ 408232 w 561933"/>
              <a:gd name="connsiteY47" fmla="*/ 74504 h 608145"/>
              <a:gd name="connsiteX48" fmla="*/ 439969 w 561933"/>
              <a:gd name="connsiteY48" fmla="*/ 1081 h 608145"/>
              <a:gd name="connsiteX49" fmla="*/ 560176 w 561933"/>
              <a:gd name="connsiteY49" fmla="*/ 205408 h 608145"/>
              <a:gd name="connsiteX50" fmla="*/ 552228 w 561933"/>
              <a:gd name="connsiteY50" fmla="*/ 217311 h 608145"/>
              <a:gd name="connsiteX51" fmla="*/ 537326 w 561933"/>
              <a:gd name="connsiteY51" fmla="*/ 220286 h 608145"/>
              <a:gd name="connsiteX52" fmla="*/ 535340 w 561933"/>
              <a:gd name="connsiteY52" fmla="*/ 219294 h 608145"/>
              <a:gd name="connsiteX53" fmla="*/ 522425 w 561933"/>
              <a:gd name="connsiteY53" fmla="*/ 199457 h 608145"/>
              <a:gd name="connsiteX54" fmla="*/ 426061 w 561933"/>
              <a:gd name="connsiteY54" fmla="*/ 36788 h 608145"/>
              <a:gd name="connsiteX55" fmla="*/ 416126 w 561933"/>
              <a:gd name="connsiteY55" fmla="*/ 15959 h 608145"/>
              <a:gd name="connsiteX56" fmla="*/ 416126 w 561933"/>
              <a:gd name="connsiteY56" fmla="*/ 13975 h 608145"/>
              <a:gd name="connsiteX57" fmla="*/ 425067 w 561933"/>
              <a:gd name="connsiteY57" fmla="*/ 2073 h 608145"/>
              <a:gd name="connsiteX58" fmla="*/ 439969 w 561933"/>
              <a:gd name="connsiteY58" fmla="*/ 1081 h 608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61933" h="608145">
                <a:moveTo>
                  <a:pt x="327780" y="406780"/>
                </a:moveTo>
                <a:cubicBezTo>
                  <a:pt x="303941" y="406780"/>
                  <a:pt x="285069" y="425627"/>
                  <a:pt x="285069" y="449434"/>
                </a:cubicBezTo>
                <a:cubicBezTo>
                  <a:pt x="285069" y="473241"/>
                  <a:pt x="303941" y="492088"/>
                  <a:pt x="327780" y="492088"/>
                </a:cubicBezTo>
                <a:cubicBezTo>
                  <a:pt x="350625" y="492088"/>
                  <a:pt x="370490" y="473241"/>
                  <a:pt x="370490" y="449434"/>
                </a:cubicBezTo>
                <a:cubicBezTo>
                  <a:pt x="370490" y="425627"/>
                  <a:pt x="350625" y="406780"/>
                  <a:pt x="327780" y="406780"/>
                </a:cubicBezTo>
                <a:close/>
                <a:moveTo>
                  <a:pt x="91381" y="406780"/>
                </a:moveTo>
                <a:cubicBezTo>
                  <a:pt x="68536" y="406780"/>
                  <a:pt x="49664" y="425627"/>
                  <a:pt x="49664" y="449434"/>
                </a:cubicBezTo>
                <a:cubicBezTo>
                  <a:pt x="49664" y="473241"/>
                  <a:pt x="68536" y="492088"/>
                  <a:pt x="91381" y="492088"/>
                </a:cubicBezTo>
                <a:cubicBezTo>
                  <a:pt x="115220" y="492088"/>
                  <a:pt x="134092" y="473241"/>
                  <a:pt x="134092" y="449434"/>
                </a:cubicBezTo>
                <a:cubicBezTo>
                  <a:pt x="134092" y="425627"/>
                  <a:pt x="115220" y="406780"/>
                  <a:pt x="91381" y="406780"/>
                </a:cubicBezTo>
                <a:close/>
                <a:moveTo>
                  <a:pt x="130119" y="162762"/>
                </a:moveTo>
                <a:cubicBezTo>
                  <a:pt x="86415" y="162762"/>
                  <a:pt x="50657" y="198472"/>
                  <a:pt x="50657" y="243110"/>
                </a:cubicBezTo>
                <a:lnTo>
                  <a:pt x="50657" y="312546"/>
                </a:lnTo>
                <a:cubicBezTo>
                  <a:pt x="50657" y="328417"/>
                  <a:pt x="62576" y="341312"/>
                  <a:pt x="78468" y="341312"/>
                </a:cubicBezTo>
                <a:lnTo>
                  <a:pt x="340692" y="341312"/>
                </a:lnTo>
                <a:cubicBezTo>
                  <a:pt x="356585" y="341312"/>
                  <a:pt x="369497" y="328417"/>
                  <a:pt x="369497" y="312546"/>
                </a:cubicBezTo>
                <a:lnTo>
                  <a:pt x="369497" y="243110"/>
                </a:lnTo>
                <a:cubicBezTo>
                  <a:pt x="369497" y="198472"/>
                  <a:pt x="332746" y="162762"/>
                  <a:pt x="289042" y="162762"/>
                </a:cubicBezTo>
                <a:close/>
                <a:moveTo>
                  <a:pt x="127139" y="99278"/>
                </a:moveTo>
                <a:lnTo>
                  <a:pt x="293015" y="99278"/>
                </a:lnTo>
                <a:cubicBezTo>
                  <a:pt x="363538" y="99278"/>
                  <a:pt x="420154" y="155819"/>
                  <a:pt x="420154" y="226247"/>
                </a:cubicBezTo>
                <a:lnTo>
                  <a:pt x="420154" y="486136"/>
                </a:lnTo>
                <a:cubicBezTo>
                  <a:pt x="420154" y="511926"/>
                  <a:pt x="404262" y="532757"/>
                  <a:pt x="382410" y="541685"/>
                </a:cubicBezTo>
                <a:lnTo>
                  <a:pt x="382410" y="561524"/>
                </a:lnTo>
                <a:cubicBezTo>
                  <a:pt x="382410" y="587314"/>
                  <a:pt x="360558" y="608145"/>
                  <a:pt x="334733" y="608145"/>
                </a:cubicBezTo>
                <a:lnTo>
                  <a:pt x="326786" y="608145"/>
                </a:lnTo>
                <a:cubicBezTo>
                  <a:pt x="300961" y="608145"/>
                  <a:pt x="280103" y="587314"/>
                  <a:pt x="280103" y="561524"/>
                </a:cubicBezTo>
                <a:lnTo>
                  <a:pt x="280103" y="544661"/>
                </a:lnTo>
                <a:lnTo>
                  <a:pt x="140051" y="544661"/>
                </a:lnTo>
                <a:lnTo>
                  <a:pt x="140051" y="561524"/>
                </a:lnTo>
                <a:cubicBezTo>
                  <a:pt x="140051" y="587314"/>
                  <a:pt x="118199" y="608145"/>
                  <a:pt x="92374" y="608145"/>
                </a:cubicBezTo>
                <a:lnTo>
                  <a:pt x="84428" y="608145"/>
                </a:lnTo>
                <a:cubicBezTo>
                  <a:pt x="58603" y="608145"/>
                  <a:pt x="37744" y="587314"/>
                  <a:pt x="37744" y="561524"/>
                </a:cubicBezTo>
                <a:lnTo>
                  <a:pt x="37744" y="541685"/>
                </a:lnTo>
                <a:cubicBezTo>
                  <a:pt x="14899" y="532757"/>
                  <a:pt x="0" y="511926"/>
                  <a:pt x="0" y="486136"/>
                </a:cubicBezTo>
                <a:lnTo>
                  <a:pt x="0" y="226247"/>
                </a:lnTo>
                <a:cubicBezTo>
                  <a:pt x="0" y="155819"/>
                  <a:pt x="56616" y="99278"/>
                  <a:pt x="127139" y="99278"/>
                </a:cubicBezTo>
                <a:close/>
                <a:moveTo>
                  <a:pt x="408232" y="74504"/>
                </a:moveTo>
                <a:cubicBezTo>
                  <a:pt x="413203" y="72520"/>
                  <a:pt x="419168" y="72520"/>
                  <a:pt x="424139" y="75495"/>
                </a:cubicBezTo>
                <a:cubicBezTo>
                  <a:pt x="464901" y="96324"/>
                  <a:pt x="489755" y="139964"/>
                  <a:pt x="486772" y="185587"/>
                </a:cubicBezTo>
                <a:cubicBezTo>
                  <a:pt x="486772" y="190546"/>
                  <a:pt x="483790" y="195505"/>
                  <a:pt x="479813" y="199473"/>
                </a:cubicBezTo>
                <a:cubicBezTo>
                  <a:pt x="475836" y="202448"/>
                  <a:pt x="469871" y="203440"/>
                  <a:pt x="464901" y="202448"/>
                </a:cubicBezTo>
                <a:lnTo>
                  <a:pt x="462912" y="201456"/>
                </a:lnTo>
                <a:cubicBezTo>
                  <a:pt x="453965" y="199473"/>
                  <a:pt x="448994" y="191538"/>
                  <a:pt x="448994" y="183604"/>
                </a:cubicBezTo>
                <a:cubicBezTo>
                  <a:pt x="450982" y="152857"/>
                  <a:pt x="434081" y="123103"/>
                  <a:pt x="406244" y="109217"/>
                </a:cubicBezTo>
                <a:cubicBezTo>
                  <a:pt x="399285" y="105250"/>
                  <a:pt x="395308" y="97315"/>
                  <a:pt x="397296" y="89381"/>
                </a:cubicBezTo>
                <a:lnTo>
                  <a:pt x="398291" y="87397"/>
                </a:lnTo>
                <a:cubicBezTo>
                  <a:pt x="399285" y="81446"/>
                  <a:pt x="403261" y="77479"/>
                  <a:pt x="408232" y="74504"/>
                </a:cubicBezTo>
                <a:close/>
                <a:moveTo>
                  <a:pt x="439969" y="1081"/>
                </a:moveTo>
                <a:cubicBezTo>
                  <a:pt x="522425" y="32821"/>
                  <a:pt x="572097" y="118123"/>
                  <a:pt x="560176" y="205408"/>
                </a:cubicBezTo>
                <a:cubicBezTo>
                  <a:pt x="559182" y="210367"/>
                  <a:pt x="556202" y="214335"/>
                  <a:pt x="552228" y="217311"/>
                </a:cubicBezTo>
                <a:cubicBezTo>
                  <a:pt x="548254" y="220286"/>
                  <a:pt x="542294" y="221278"/>
                  <a:pt x="537326" y="220286"/>
                </a:cubicBezTo>
                <a:lnTo>
                  <a:pt x="535340" y="219294"/>
                </a:lnTo>
                <a:cubicBezTo>
                  <a:pt x="526399" y="217311"/>
                  <a:pt x="520438" y="208384"/>
                  <a:pt x="522425" y="199457"/>
                </a:cubicBezTo>
                <a:cubicBezTo>
                  <a:pt x="531366" y="130025"/>
                  <a:pt x="491628" y="62577"/>
                  <a:pt x="426061" y="36788"/>
                </a:cubicBezTo>
                <a:cubicBezTo>
                  <a:pt x="418113" y="33813"/>
                  <a:pt x="413146" y="24886"/>
                  <a:pt x="416126" y="15959"/>
                </a:cubicBezTo>
                <a:lnTo>
                  <a:pt x="416126" y="13975"/>
                </a:lnTo>
                <a:cubicBezTo>
                  <a:pt x="417120" y="9016"/>
                  <a:pt x="421094" y="4056"/>
                  <a:pt x="425067" y="2073"/>
                </a:cubicBezTo>
                <a:cubicBezTo>
                  <a:pt x="430035" y="89"/>
                  <a:pt x="435002" y="-903"/>
                  <a:pt x="439969" y="1081"/>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endParaRPr lang="zh-CN" altLang="en-US">
              <a:solidFill>
                <a:srgbClr val="000000"/>
              </a:solidFill>
              <a:latin typeface="Arial" panose="020F0502020204030204"/>
              <a:ea typeface="微软雅黑"/>
              <a:cs typeface="+mn-ea"/>
              <a:sym typeface="+mn-lt"/>
            </a:endParaRPr>
          </a:p>
        </p:txBody>
      </p:sp>
      <p:sp>
        <p:nvSpPr>
          <p:cNvPr id="42" name="ïslíḓé">
            <a:extLst>
              <a:ext uri="{FF2B5EF4-FFF2-40B4-BE49-F238E27FC236}">
                <a16:creationId xmlns:a16="http://schemas.microsoft.com/office/drawing/2014/main" id="{105B3999-E2E2-E88E-1823-C5B5ADC2C4E1}"/>
              </a:ext>
            </a:extLst>
          </p:cNvPr>
          <p:cNvSpPr/>
          <p:nvPr/>
        </p:nvSpPr>
        <p:spPr bwMode="auto">
          <a:xfrm>
            <a:off x="5815461" y="5339493"/>
            <a:ext cx="363264" cy="320996"/>
          </a:xfrm>
          <a:custGeom>
            <a:avLst/>
            <a:gdLst>
              <a:gd name="connsiteX0" fmla="*/ 494452 w 603405"/>
              <a:gd name="connsiteY0" fmla="*/ 356003 h 533193"/>
              <a:gd name="connsiteX1" fmla="*/ 585270 w 603405"/>
              <a:gd name="connsiteY1" fmla="*/ 356003 h 533193"/>
              <a:gd name="connsiteX2" fmla="*/ 601782 w 603405"/>
              <a:gd name="connsiteY2" fmla="*/ 372480 h 533193"/>
              <a:gd name="connsiteX3" fmla="*/ 585270 w 603405"/>
              <a:gd name="connsiteY3" fmla="*/ 388957 h 533193"/>
              <a:gd name="connsiteX4" fmla="*/ 494452 w 603405"/>
              <a:gd name="connsiteY4" fmla="*/ 388957 h 533193"/>
              <a:gd name="connsiteX5" fmla="*/ 367511 w 603405"/>
              <a:gd name="connsiteY5" fmla="*/ 244227 h 533193"/>
              <a:gd name="connsiteX6" fmla="*/ 443780 w 603405"/>
              <a:gd name="connsiteY6" fmla="*/ 244227 h 533193"/>
              <a:gd name="connsiteX7" fmla="*/ 477411 w 603405"/>
              <a:gd name="connsiteY7" fmla="*/ 277633 h 533193"/>
              <a:gd name="connsiteX8" fmla="*/ 477861 w 603405"/>
              <a:gd name="connsiteY8" fmla="*/ 381744 h 533193"/>
              <a:gd name="connsiteX9" fmla="*/ 463748 w 603405"/>
              <a:gd name="connsiteY9" fmla="*/ 395975 h 533193"/>
              <a:gd name="connsiteX10" fmla="*/ 449486 w 603405"/>
              <a:gd name="connsiteY10" fmla="*/ 381894 h 533193"/>
              <a:gd name="connsiteX11" fmla="*/ 449035 w 603405"/>
              <a:gd name="connsiteY11" fmla="*/ 277782 h 533193"/>
              <a:gd name="connsiteX12" fmla="*/ 446033 w 603405"/>
              <a:gd name="connsiteY12" fmla="*/ 274786 h 533193"/>
              <a:gd name="connsiteX13" fmla="*/ 443030 w 603405"/>
              <a:gd name="connsiteY13" fmla="*/ 277782 h 533193"/>
              <a:gd name="connsiteX14" fmla="*/ 443330 w 603405"/>
              <a:gd name="connsiteY14" fmla="*/ 516116 h 533193"/>
              <a:gd name="connsiteX15" fmla="*/ 426215 w 603405"/>
              <a:gd name="connsiteY15" fmla="*/ 533193 h 533193"/>
              <a:gd name="connsiteX16" fmla="*/ 409249 w 603405"/>
              <a:gd name="connsiteY16" fmla="*/ 516116 h 533193"/>
              <a:gd name="connsiteX17" fmla="*/ 409249 w 603405"/>
              <a:gd name="connsiteY17" fmla="*/ 380096 h 533193"/>
              <a:gd name="connsiteX18" fmla="*/ 401893 w 603405"/>
              <a:gd name="connsiteY18" fmla="*/ 380096 h 533193"/>
              <a:gd name="connsiteX19" fmla="*/ 401893 w 603405"/>
              <a:gd name="connsiteY19" fmla="*/ 516116 h 533193"/>
              <a:gd name="connsiteX20" fmla="*/ 384778 w 603405"/>
              <a:gd name="connsiteY20" fmla="*/ 533193 h 533193"/>
              <a:gd name="connsiteX21" fmla="*/ 367812 w 603405"/>
              <a:gd name="connsiteY21" fmla="*/ 516116 h 533193"/>
              <a:gd name="connsiteX22" fmla="*/ 367812 w 603405"/>
              <a:gd name="connsiteY22" fmla="*/ 380096 h 533193"/>
              <a:gd name="connsiteX23" fmla="*/ 367812 w 603405"/>
              <a:gd name="connsiteY23" fmla="*/ 277782 h 533193"/>
              <a:gd name="connsiteX24" fmla="*/ 364959 w 603405"/>
              <a:gd name="connsiteY24" fmla="*/ 274936 h 533193"/>
              <a:gd name="connsiteX25" fmla="*/ 362257 w 603405"/>
              <a:gd name="connsiteY25" fmla="*/ 277782 h 533193"/>
              <a:gd name="connsiteX26" fmla="*/ 361656 w 603405"/>
              <a:gd name="connsiteY26" fmla="*/ 381894 h 533193"/>
              <a:gd name="connsiteX27" fmla="*/ 347544 w 603405"/>
              <a:gd name="connsiteY27" fmla="*/ 395975 h 533193"/>
              <a:gd name="connsiteX28" fmla="*/ 347393 w 603405"/>
              <a:gd name="connsiteY28" fmla="*/ 395975 h 533193"/>
              <a:gd name="connsiteX29" fmla="*/ 333281 w 603405"/>
              <a:gd name="connsiteY29" fmla="*/ 381744 h 533193"/>
              <a:gd name="connsiteX30" fmla="*/ 333881 w 603405"/>
              <a:gd name="connsiteY30" fmla="*/ 277633 h 533193"/>
              <a:gd name="connsiteX31" fmla="*/ 367511 w 603405"/>
              <a:gd name="connsiteY31" fmla="*/ 244227 h 533193"/>
              <a:gd name="connsiteX32" fmla="*/ 201525 w 603405"/>
              <a:gd name="connsiteY32" fmla="*/ 244227 h 533193"/>
              <a:gd name="connsiteX33" fmla="*/ 277906 w 603405"/>
              <a:gd name="connsiteY33" fmla="*/ 244227 h 533193"/>
              <a:gd name="connsiteX34" fmla="*/ 311520 w 603405"/>
              <a:gd name="connsiteY34" fmla="*/ 277633 h 533193"/>
              <a:gd name="connsiteX35" fmla="*/ 311970 w 603405"/>
              <a:gd name="connsiteY35" fmla="*/ 381744 h 533193"/>
              <a:gd name="connsiteX36" fmla="*/ 297864 w 603405"/>
              <a:gd name="connsiteY36" fmla="*/ 395975 h 533193"/>
              <a:gd name="connsiteX37" fmla="*/ 297714 w 603405"/>
              <a:gd name="connsiteY37" fmla="*/ 395975 h 533193"/>
              <a:gd name="connsiteX38" fmla="*/ 283608 w 603405"/>
              <a:gd name="connsiteY38" fmla="*/ 381894 h 533193"/>
              <a:gd name="connsiteX39" fmla="*/ 283008 w 603405"/>
              <a:gd name="connsiteY39" fmla="*/ 277782 h 533193"/>
              <a:gd name="connsiteX40" fmla="*/ 280007 w 603405"/>
              <a:gd name="connsiteY40" fmla="*/ 274786 h 533193"/>
              <a:gd name="connsiteX41" fmla="*/ 277156 w 603405"/>
              <a:gd name="connsiteY41" fmla="*/ 277782 h 533193"/>
              <a:gd name="connsiteX42" fmla="*/ 277456 w 603405"/>
              <a:gd name="connsiteY42" fmla="*/ 516116 h 533193"/>
              <a:gd name="connsiteX43" fmla="*/ 260349 w 603405"/>
              <a:gd name="connsiteY43" fmla="*/ 533193 h 533193"/>
              <a:gd name="connsiteX44" fmla="*/ 243242 w 603405"/>
              <a:gd name="connsiteY44" fmla="*/ 516116 h 533193"/>
              <a:gd name="connsiteX45" fmla="*/ 243242 w 603405"/>
              <a:gd name="connsiteY45" fmla="*/ 380096 h 533193"/>
              <a:gd name="connsiteX46" fmla="*/ 235889 w 603405"/>
              <a:gd name="connsiteY46" fmla="*/ 380096 h 533193"/>
              <a:gd name="connsiteX47" fmla="*/ 235889 w 603405"/>
              <a:gd name="connsiteY47" fmla="*/ 516116 h 533193"/>
              <a:gd name="connsiteX48" fmla="*/ 218932 w 603405"/>
              <a:gd name="connsiteY48" fmla="*/ 533193 h 533193"/>
              <a:gd name="connsiteX49" fmla="*/ 201825 w 603405"/>
              <a:gd name="connsiteY49" fmla="*/ 516116 h 533193"/>
              <a:gd name="connsiteX50" fmla="*/ 201825 w 603405"/>
              <a:gd name="connsiteY50" fmla="*/ 380096 h 533193"/>
              <a:gd name="connsiteX51" fmla="*/ 201825 w 603405"/>
              <a:gd name="connsiteY51" fmla="*/ 277782 h 533193"/>
              <a:gd name="connsiteX52" fmla="*/ 199124 w 603405"/>
              <a:gd name="connsiteY52" fmla="*/ 274936 h 533193"/>
              <a:gd name="connsiteX53" fmla="*/ 196423 w 603405"/>
              <a:gd name="connsiteY53" fmla="*/ 277782 h 533193"/>
              <a:gd name="connsiteX54" fmla="*/ 195822 w 603405"/>
              <a:gd name="connsiteY54" fmla="*/ 381894 h 533193"/>
              <a:gd name="connsiteX55" fmla="*/ 181567 w 603405"/>
              <a:gd name="connsiteY55" fmla="*/ 395975 h 533193"/>
              <a:gd name="connsiteX56" fmla="*/ 167461 w 603405"/>
              <a:gd name="connsiteY56" fmla="*/ 381744 h 533193"/>
              <a:gd name="connsiteX57" fmla="*/ 167911 w 603405"/>
              <a:gd name="connsiteY57" fmla="*/ 277633 h 533193"/>
              <a:gd name="connsiteX58" fmla="*/ 201525 w 603405"/>
              <a:gd name="connsiteY58" fmla="*/ 244227 h 533193"/>
              <a:gd name="connsiteX59" fmla="*/ 34214 w 603405"/>
              <a:gd name="connsiteY59" fmla="*/ 244227 h 533193"/>
              <a:gd name="connsiteX60" fmla="*/ 110445 w 603405"/>
              <a:gd name="connsiteY60" fmla="*/ 244227 h 533193"/>
              <a:gd name="connsiteX61" fmla="*/ 144059 w 603405"/>
              <a:gd name="connsiteY61" fmla="*/ 277633 h 533193"/>
              <a:gd name="connsiteX62" fmla="*/ 144509 w 603405"/>
              <a:gd name="connsiteY62" fmla="*/ 381744 h 533193"/>
              <a:gd name="connsiteX63" fmla="*/ 130403 w 603405"/>
              <a:gd name="connsiteY63" fmla="*/ 395975 h 533193"/>
              <a:gd name="connsiteX64" fmla="*/ 116147 w 603405"/>
              <a:gd name="connsiteY64" fmla="*/ 381894 h 533193"/>
              <a:gd name="connsiteX65" fmla="*/ 115697 w 603405"/>
              <a:gd name="connsiteY65" fmla="*/ 277782 h 533193"/>
              <a:gd name="connsiteX66" fmla="*/ 112696 w 603405"/>
              <a:gd name="connsiteY66" fmla="*/ 274786 h 533193"/>
              <a:gd name="connsiteX67" fmla="*/ 109694 w 603405"/>
              <a:gd name="connsiteY67" fmla="*/ 277782 h 533193"/>
              <a:gd name="connsiteX68" fmla="*/ 109995 w 603405"/>
              <a:gd name="connsiteY68" fmla="*/ 516116 h 533193"/>
              <a:gd name="connsiteX69" fmla="*/ 92888 w 603405"/>
              <a:gd name="connsiteY69" fmla="*/ 533193 h 533193"/>
              <a:gd name="connsiteX70" fmla="*/ 75931 w 603405"/>
              <a:gd name="connsiteY70" fmla="*/ 516116 h 533193"/>
              <a:gd name="connsiteX71" fmla="*/ 75931 w 603405"/>
              <a:gd name="connsiteY71" fmla="*/ 380096 h 533193"/>
              <a:gd name="connsiteX72" fmla="*/ 68578 w 603405"/>
              <a:gd name="connsiteY72" fmla="*/ 380096 h 533193"/>
              <a:gd name="connsiteX73" fmla="*/ 68578 w 603405"/>
              <a:gd name="connsiteY73" fmla="*/ 516116 h 533193"/>
              <a:gd name="connsiteX74" fmla="*/ 51471 w 603405"/>
              <a:gd name="connsiteY74" fmla="*/ 533193 h 533193"/>
              <a:gd name="connsiteX75" fmla="*/ 34364 w 603405"/>
              <a:gd name="connsiteY75" fmla="*/ 516116 h 533193"/>
              <a:gd name="connsiteX76" fmla="*/ 34364 w 603405"/>
              <a:gd name="connsiteY76" fmla="*/ 380096 h 533193"/>
              <a:gd name="connsiteX77" fmla="*/ 34364 w 603405"/>
              <a:gd name="connsiteY77" fmla="*/ 277782 h 533193"/>
              <a:gd name="connsiteX78" fmla="*/ 31663 w 603405"/>
              <a:gd name="connsiteY78" fmla="*/ 275086 h 533193"/>
              <a:gd name="connsiteX79" fmla="*/ 28962 w 603405"/>
              <a:gd name="connsiteY79" fmla="*/ 277782 h 533193"/>
              <a:gd name="connsiteX80" fmla="*/ 28361 w 603405"/>
              <a:gd name="connsiteY80" fmla="*/ 381894 h 533193"/>
              <a:gd name="connsiteX81" fmla="*/ 14256 w 603405"/>
              <a:gd name="connsiteY81" fmla="*/ 395975 h 533193"/>
              <a:gd name="connsiteX82" fmla="*/ 14106 w 603405"/>
              <a:gd name="connsiteY82" fmla="*/ 395975 h 533193"/>
              <a:gd name="connsiteX83" fmla="*/ 0 w 603405"/>
              <a:gd name="connsiteY83" fmla="*/ 381744 h 533193"/>
              <a:gd name="connsiteX84" fmla="*/ 600 w 603405"/>
              <a:gd name="connsiteY84" fmla="*/ 277633 h 533193"/>
              <a:gd name="connsiteX85" fmla="*/ 34214 w 603405"/>
              <a:gd name="connsiteY85" fmla="*/ 244227 h 533193"/>
              <a:gd name="connsiteX86" fmla="*/ 298774 w 603405"/>
              <a:gd name="connsiteY86" fmla="*/ 232090 h 533193"/>
              <a:gd name="connsiteX87" fmla="*/ 346547 w 603405"/>
              <a:gd name="connsiteY87" fmla="*/ 232090 h 533193"/>
              <a:gd name="connsiteX88" fmla="*/ 322660 w 603405"/>
              <a:gd name="connsiteY88" fmla="*/ 254883 h 533193"/>
              <a:gd name="connsiteX89" fmla="*/ 298774 w 603405"/>
              <a:gd name="connsiteY89" fmla="*/ 232090 h 533193"/>
              <a:gd name="connsiteX90" fmla="*/ 405716 w 603405"/>
              <a:gd name="connsiteY90" fmla="*/ 176061 h 533193"/>
              <a:gd name="connsiteX91" fmla="*/ 435177 w 603405"/>
              <a:gd name="connsiteY91" fmla="*/ 205417 h 533193"/>
              <a:gd name="connsiteX92" fmla="*/ 405716 w 603405"/>
              <a:gd name="connsiteY92" fmla="*/ 234773 h 533193"/>
              <a:gd name="connsiteX93" fmla="*/ 376255 w 603405"/>
              <a:gd name="connsiteY93" fmla="*/ 205417 h 533193"/>
              <a:gd name="connsiteX94" fmla="*/ 405716 w 603405"/>
              <a:gd name="connsiteY94" fmla="*/ 176061 h 533193"/>
              <a:gd name="connsiteX95" fmla="*/ 239817 w 603405"/>
              <a:gd name="connsiteY95" fmla="*/ 176061 h 533193"/>
              <a:gd name="connsiteX96" fmla="*/ 269208 w 603405"/>
              <a:gd name="connsiteY96" fmla="*/ 205417 h 533193"/>
              <a:gd name="connsiteX97" fmla="*/ 239817 w 603405"/>
              <a:gd name="connsiteY97" fmla="*/ 234773 h 533193"/>
              <a:gd name="connsiteX98" fmla="*/ 210426 w 603405"/>
              <a:gd name="connsiteY98" fmla="*/ 205417 h 533193"/>
              <a:gd name="connsiteX99" fmla="*/ 239817 w 603405"/>
              <a:gd name="connsiteY99" fmla="*/ 176061 h 533193"/>
              <a:gd name="connsiteX100" fmla="*/ 72325 w 603405"/>
              <a:gd name="connsiteY100" fmla="*/ 176061 h 533193"/>
              <a:gd name="connsiteX101" fmla="*/ 101897 w 603405"/>
              <a:gd name="connsiteY101" fmla="*/ 205416 h 533193"/>
              <a:gd name="connsiteX102" fmla="*/ 72325 w 603405"/>
              <a:gd name="connsiteY102" fmla="*/ 234772 h 533193"/>
              <a:gd name="connsiteX103" fmla="*/ 42904 w 603405"/>
              <a:gd name="connsiteY103" fmla="*/ 205416 h 533193"/>
              <a:gd name="connsiteX104" fmla="*/ 72325 w 603405"/>
              <a:gd name="connsiteY104" fmla="*/ 176061 h 533193"/>
              <a:gd name="connsiteX105" fmla="*/ 1200 w 603405"/>
              <a:gd name="connsiteY105" fmla="*/ 56241 h 533193"/>
              <a:gd name="connsiteX106" fmla="*/ 384613 w 603405"/>
              <a:gd name="connsiteY106" fmla="*/ 56241 h 533193"/>
              <a:gd name="connsiteX107" fmla="*/ 603405 w 603405"/>
              <a:gd name="connsiteY107" fmla="*/ 274494 h 533193"/>
              <a:gd name="connsiteX108" fmla="*/ 540979 w 603405"/>
              <a:gd name="connsiteY108" fmla="*/ 336809 h 533193"/>
              <a:gd name="connsiteX109" fmla="*/ 494459 w 603405"/>
              <a:gd name="connsiteY109" fmla="*/ 336809 h 533193"/>
              <a:gd name="connsiteX110" fmla="*/ 494159 w 603405"/>
              <a:gd name="connsiteY110" fmla="*/ 277490 h 533193"/>
              <a:gd name="connsiteX111" fmla="*/ 464747 w 603405"/>
              <a:gd name="connsiteY111" fmla="*/ 232102 h 533193"/>
              <a:gd name="connsiteX112" fmla="*/ 551333 w 603405"/>
              <a:gd name="connsiteY112" fmla="*/ 232102 h 533193"/>
              <a:gd name="connsiteX113" fmla="*/ 551483 w 603405"/>
              <a:gd name="connsiteY113" fmla="*/ 232102 h 533193"/>
              <a:gd name="connsiteX114" fmla="*/ 557636 w 603405"/>
              <a:gd name="connsiteY114" fmla="*/ 228806 h 533193"/>
              <a:gd name="connsiteX115" fmla="*/ 558236 w 603405"/>
              <a:gd name="connsiteY115" fmla="*/ 221766 h 533193"/>
              <a:gd name="connsiteX116" fmla="*/ 504663 w 603405"/>
              <a:gd name="connsiteY116" fmla="*/ 136532 h 533193"/>
              <a:gd name="connsiteX117" fmla="*/ 415676 w 603405"/>
              <a:gd name="connsiteY117" fmla="*/ 97585 h 533193"/>
              <a:gd name="connsiteX118" fmla="*/ 397968 w 603405"/>
              <a:gd name="connsiteY118" fmla="*/ 97585 h 533193"/>
              <a:gd name="connsiteX119" fmla="*/ 397968 w 603405"/>
              <a:gd name="connsiteY119" fmla="*/ 159900 h 533193"/>
              <a:gd name="connsiteX120" fmla="*/ 364954 w 603405"/>
              <a:gd name="connsiteY120" fmla="*/ 183568 h 533193"/>
              <a:gd name="connsiteX121" fmla="*/ 364954 w 603405"/>
              <a:gd name="connsiteY121" fmla="*/ 97585 h 533193"/>
              <a:gd name="connsiteX122" fmla="*/ 174223 w 603405"/>
              <a:gd name="connsiteY122" fmla="*/ 97585 h 533193"/>
              <a:gd name="connsiteX123" fmla="*/ 174223 w 603405"/>
              <a:gd name="connsiteY123" fmla="*/ 232102 h 533193"/>
              <a:gd name="connsiteX124" fmla="*/ 180526 w 603405"/>
              <a:gd name="connsiteY124" fmla="*/ 232102 h 533193"/>
              <a:gd name="connsiteX125" fmla="*/ 174223 w 603405"/>
              <a:gd name="connsiteY125" fmla="*/ 235547 h 533193"/>
              <a:gd name="connsiteX126" fmla="*/ 156065 w 603405"/>
              <a:gd name="connsiteY126" fmla="*/ 256369 h 533193"/>
              <a:gd name="connsiteX127" fmla="*/ 141209 w 603405"/>
              <a:gd name="connsiteY127" fmla="*/ 238093 h 533193"/>
              <a:gd name="connsiteX128" fmla="*/ 131455 w 603405"/>
              <a:gd name="connsiteY128" fmla="*/ 232102 h 533193"/>
              <a:gd name="connsiteX129" fmla="*/ 141209 w 603405"/>
              <a:gd name="connsiteY129" fmla="*/ 232102 h 533193"/>
              <a:gd name="connsiteX130" fmla="*/ 141209 w 603405"/>
              <a:gd name="connsiteY130" fmla="*/ 97585 h 533193"/>
              <a:gd name="connsiteX131" fmla="*/ 1200 w 603405"/>
              <a:gd name="connsiteY131" fmla="*/ 97585 h 533193"/>
              <a:gd name="connsiteX132" fmla="*/ 30337 w 603405"/>
              <a:gd name="connsiteY132" fmla="*/ 0 h 533193"/>
              <a:gd name="connsiteX133" fmla="*/ 450496 w 603405"/>
              <a:gd name="connsiteY133" fmla="*/ 0 h 533193"/>
              <a:gd name="connsiteX134" fmla="*/ 467002 w 603405"/>
              <a:gd name="connsiteY134" fmla="*/ 16512 h 533193"/>
              <a:gd name="connsiteX135" fmla="*/ 450496 w 603405"/>
              <a:gd name="connsiteY135" fmla="*/ 33025 h 533193"/>
              <a:gd name="connsiteX136" fmla="*/ 30337 w 603405"/>
              <a:gd name="connsiteY136" fmla="*/ 33025 h 533193"/>
              <a:gd name="connsiteX137" fmla="*/ 13831 w 603405"/>
              <a:gd name="connsiteY137" fmla="*/ 16512 h 533193"/>
              <a:gd name="connsiteX138" fmla="*/ 30337 w 603405"/>
              <a:gd name="connsiteY138" fmla="*/ 0 h 533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603405" h="533193">
                <a:moveTo>
                  <a:pt x="494452" y="356003"/>
                </a:moveTo>
                <a:lnTo>
                  <a:pt x="585270" y="356003"/>
                </a:lnTo>
                <a:cubicBezTo>
                  <a:pt x="594277" y="356003"/>
                  <a:pt x="601782" y="363343"/>
                  <a:pt x="601782" y="372480"/>
                </a:cubicBezTo>
                <a:cubicBezTo>
                  <a:pt x="601782" y="381617"/>
                  <a:pt x="594277" y="388957"/>
                  <a:pt x="585270" y="388957"/>
                </a:cubicBezTo>
                <a:lnTo>
                  <a:pt x="494452" y="388957"/>
                </a:lnTo>
                <a:close/>
                <a:moveTo>
                  <a:pt x="367511" y="244227"/>
                </a:moveTo>
                <a:lnTo>
                  <a:pt x="443780" y="244227"/>
                </a:lnTo>
                <a:cubicBezTo>
                  <a:pt x="462247" y="244227"/>
                  <a:pt x="477261" y="259207"/>
                  <a:pt x="477411" y="277633"/>
                </a:cubicBezTo>
                <a:lnTo>
                  <a:pt x="477861" y="381744"/>
                </a:lnTo>
                <a:cubicBezTo>
                  <a:pt x="478011" y="389534"/>
                  <a:pt x="471706" y="395975"/>
                  <a:pt x="463748" y="395975"/>
                </a:cubicBezTo>
                <a:cubicBezTo>
                  <a:pt x="455941" y="395975"/>
                  <a:pt x="449486" y="389684"/>
                  <a:pt x="449486" y="381894"/>
                </a:cubicBezTo>
                <a:lnTo>
                  <a:pt x="449035" y="277782"/>
                </a:lnTo>
                <a:cubicBezTo>
                  <a:pt x="449035" y="276135"/>
                  <a:pt x="447684" y="274786"/>
                  <a:pt x="446033" y="274786"/>
                </a:cubicBezTo>
                <a:cubicBezTo>
                  <a:pt x="444381" y="274786"/>
                  <a:pt x="443030" y="276135"/>
                  <a:pt x="443030" y="277782"/>
                </a:cubicBezTo>
                <a:cubicBezTo>
                  <a:pt x="443030" y="419944"/>
                  <a:pt x="443330" y="291115"/>
                  <a:pt x="443330" y="516116"/>
                </a:cubicBezTo>
                <a:cubicBezTo>
                  <a:pt x="443330" y="525553"/>
                  <a:pt x="435673" y="533193"/>
                  <a:pt x="426215" y="533193"/>
                </a:cubicBezTo>
                <a:cubicBezTo>
                  <a:pt x="416906" y="533193"/>
                  <a:pt x="409249" y="525553"/>
                  <a:pt x="409249" y="516116"/>
                </a:cubicBezTo>
                <a:lnTo>
                  <a:pt x="409249" y="380096"/>
                </a:lnTo>
                <a:lnTo>
                  <a:pt x="401893" y="380096"/>
                </a:lnTo>
                <a:lnTo>
                  <a:pt x="401893" y="516116"/>
                </a:lnTo>
                <a:cubicBezTo>
                  <a:pt x="401893" y="525553"/>
                  <a:pt x="394236" y="533193"/>
                  <a:pt x="384778" y="533193"/>
                </a:cubicBezTo>
                <a:cubicBezTo>
                  <a:pt x="375319" y="533193"/>
                  <a:pt x="367812" y="525553"/>
                  <a:pt x="367812" y="516116"/>
                </a:cubicBezTo>
                <a:lnTo>
                  <a:pt x="367812" y="380096"/>
                </a:lnTo>
                <a:lnTo>
                  <a:pt x="367812" y="277782"/>
                </a:lnTo>
                <a:cubicBezTo>
                  <a:pt x="367812" y="276284"/>
                  <a:pt x="366461" y="274936"/>
                  <a:pt x="364959" y="274936"/>
                </a:cubicBezTo>
                <a:cubicBezTo>
                  <a:pt x="363458" y="274936"/>
                  <a:pt x="362257" y="276284"/>
                  <a:pt x="362257" y="277782"/>
                </a:cubicBezTo>
                <a:lnTo>
                  <a:pt x="361656" y="381894"/>
                </a:lnTo>
                <a:cubicBezTo>
                  <a:pt x="361656" y="389684"/>
                  <a:pt x="355351" y="395975"/>
                  <a:pt x="347544" y="395975"/>
                </a:cubicBezTo>
                <a:lnTo>
                  <a:pt x="347393" y="395975"/>
                </a:lnTo>
                <a:cubicBezTo>
                  <a:pt x="339586" y="395975"/>
                  <a:pt x="333281" y="389534"/>
                  <a:pt x="333281" y="381744"/>
                </a:cubicBezTo>
                <a:lnTo>
                  <a:pt x="333881" y="277633"/>
                </a:lnTo>
                <a:cubicBezTo>
                  <a:pt x="333881" y="259207"/>
                  <a:pt x="349045" y="244227"/>
                  <a:pt x="367511" y="244227"/>
                </a:cubicBezTo>
                <a:close/>
                <a:moveTo>
                  <a:pt x="201525" y="244227"/>
                </a:moveTo>
                <a:lnTo>
                  <a:pt x="277906" y="244227"/>
                </a:lnTo>
                <a:cubicBezTo>
                  <a:pt x="296213" y="244227"/>
                  <a:pt x="311370" y="259207"/>
                  <a:pt x="311520" y="277633"/>
                </a:cubicBezTo>
                <a:lnTo>
                  <a:pt x="311970" y="381744"/>
                </a:lnTo>
                <a:cubicBezTo>
                  <a:pt x="311970" y="389534"/>
                  <a:pt x="305667" y="395975"/>
                  <a:pt x="297864" y="395975"/>
                </a:cubicBezTo>
                <a:lnTo>
                  <a:pt x="297714" y="395975"/>
                </a:lnTo>
                <a:cubicBezTo>
                  <a:pt x="289911" y="395975"/>
                  <a:pt x="283608" y="389684"/>
                  <a:pt x="283608" y="381894"/>
                </a:cubicBezTo>
                <a:lnTo>
                  <a:pt x="283008" y="277782"/>
                </a:lnTo>
                <a:cubicBezTo>
                  <a:pt x="283008" y="276135"/>
                  <a:pt x="281657" y="274786"/>
                  <a:pt x="280007" y="274786"/>
                </a:cubicBezTo>
                <a:cubicBezTo>
                  <a:pt x="278356" y="274786"/>
                  <a:pt x="277156" y="276135"/>
                  <a:pt x="277156" y="277782"/>
                </a:cubicBezTo>
                <a:cubicBezTo>
                  <a:pt x="277156" y="419944"/>
                  <a:pt x="277456" y="291115"/>
                  <a:pt x="277456" y="516116"/>
                </a:cubicBezTo>
                <a:cubicBezTo>
                  <a:pt x="277456" y="525553"/>
                  <a:pt x="269803" y="533193"/>
                  <a:pt x="260349" y="533193"/>
                </a:cubicBezTo>
                <a:cubicBezTo>
                  <a:pt x="250895" y="533193"/>
                  <a:pt x="243242" y="525553"/>
                  <a:pt x="243242" y="516116"/>
                </a:cubicBezTo>
                <a:lnTo>
                  <a:pt x="243242" y="380096"/>
                </a:lnTo>
                <a:lnTo>
                  <a:pt x="235889" y="380096"/>
                </a:lnTo>
                <a:lnTo>
                  <a:pt x="235889" y="516116"/>
                </a:lnTo>
                <a:cubicBezTo>
                  <a:pt x="235889" y="525553"/>
                  <a:pt x="228386" y="533193"/>
                  <a:pt x="218932" y="533193"/>
                </a:cubicBezTo>
                <a:cubicBezTo>
                  <a:pt x="209478" y="533193"/>
                  <a:pt x="201825" y="525553"/>
                  <a:pt x="201825" y="516116"/>
                </a:cubicBezTo>
                <a:lnTo>
                  <a:pt x="201825" y="380096"/>
                </a:lnTo>
                <a:lnTo>
                  <a:pt x="201825" y="277782"/>
                </a:lnTo>
                <a:cubicBezTo>
                  <a:pt x="201825" y="276284"/>
                  <a:pt x="200624" y="274936"/>
                  <a:pt x="199124" y="274936"/>
                </a:cubicBezTo>
                <a:cubicBezTo>
                  <a:pt x="197623" y="274936"/>
                  <a:pt x="196423" y="276284"/>
                  <a:pt x="196423" y="277782"/>
                </a:cubicBezTo>
                <a:lnTo>
                  <a:pt x="195822" y="381894"/>
                </a:lnTo>
                <a:cubicBezTo>
                  <a:pt x="195822" y="389684"/>
                  <a:pt x="189370" y="395975"/>
                  <a:pt x="181567" y="395975"/>
                </a:cubicBezTo>
                <a:cubicBezTo>
                  <a:pt x="173763" y="395975"/>
                  <a:pt x="167311" y="389534"/>
                  <a:pt x="167461" y="381744"/>
                </a:cubicBezTo>
                <a:lnTo>
                  <a:pt x="167911" y="277633"/>
                </a:lnTo>
                <a:cubicBezTo>
                  <a:pt x="168061" y="259207"/>
                  <a:pt x="183067" y="244227"/>
                  <a:pt x="201525" y="244227"/>
                </a:cubicBezTo>
                <a:close/>
                <a:moveTo>
                  <a:pt x="34214" y="244227"/>
                </a:moveTo>
                <a:lnTo>
                  <a:pt x="110445" y="244227"/>
                </a:lnTo>
                <a:cubicBezTo>
                  <a:pt x="128902" y="244227"/>
                  <a:pt x="143908" y="259207"/>
                  <a:pt x="144059" y="277633"/>
                </a:cubicBezTo>
                <a:lnTo>
                  <a:pt x="144509" y="381744"/>
                </a:lnTo>
                <a:cubicBezTo>
                  <a:pt x="144659" y="389534"/>
                  <a:pt x="138206" y="395975"/>
                  <a:pt x="130403" y="395975"/>
                </a:cubicBezTo>
                <a:cubicBezTo>
                  <a:pt x="122600" y="395975"/>
                  <a:pt x="116147" y="389684"/>
                  <a:pt x="116147" y="381894"/>
                </a:cubicBezTo>
                <a:lnTo>
                  <a:pt x="115697" y="277782"/>
                </a:lnTo>
                <a:cubicBezTo>
                  <a:pt x="115547" y="276135"/>
                  <a:pt x="114346" y="274786"/>
                  <a:pt x="112696" y="274786"/>
                </a:cubicBezTo>
                <a:cubicBezTo>
                  <a:pt x="111045" y="274786"/>
                  <a:pt x="109694" y="276135"/>
                  <a:pt x="109694" y="277782"/>
                </a:cubicBezTo>
                <a:cubicBezTo>
                  <a:pt x="109694" y="343695"/>
                  <a:pt x="109995" y="452450"/>
                  <a:pt x="109995" y="516116"/>
                </a:cubicBezTo>
                <a:cubicBezTo>
                  <a:pt x="109995" y="525553"/>
                  <a:pt x="102341" y="533193"/>
                  <a:pt x="92888" y="533193"/>
                </a:cubicBezTo>
                <a:cubicBezTo>
                  <a:pt x="83584" y="533193"/>
                  <a:pt x="75931" y="525553"/>
                  <a:pt x="75931" y="516116"/>
                </a:cubicBezTo>
                <a:lnTo>
                  <a:pt x="75931" y="380096"/>
                </a:lnTo>
                <a:lnTo>
                  <a:pt x="68578" y="380096"/>
                </a:lnTo>
                <a:lnTo>
                  <a:pt x="68578" y="516116"/>
                </a:lnTo>
                <a:cubicBezTo>
                  <a:pt x="68578" y="525553"/>
                  <a:pt x="60925" y="533193"/>
                  <a:pt x="51471" y="533193"/>
                </a:cubicBezTo>
                <a:cubicBezTo>
                  <a:pt x="42017" y="533193"/>
                  <a:pt x="34364" y="525553"/>
                  <a:pt x="34364" y="516116"/>
                </a:cubicBezTo>
                <a:lnTo>
                  <a:pt x="34364" y="380096"/>
                </a:lnTo>
                <a:lnTo>
                  <a:pt x="34364" y="277782"/>
                </a:lnTo>
                <a:cubicBezTo>
                  <a:pt x="34364" y="276284"/>
                  <a:pt x="33163" y="275086"/>
                  <a:pt x="31663" y="275086"/>
                </a:cubicBezTo>
                <a:cubicBezTo>
                  <a:pt x="30162" y="274936"/>
                  <a:pt x="28962" y="276284"/>
                  <a:pt x="28962" y="277782"/>
                </a:cubicBezTo>
                <a:lnTo>
                  <a:pt x="28361" y="381894"/>
                </a:lnTo>
                <a:cubicBezTo>
                  <a:pt x="28361" y="389684"/>
                  <a:pt x="22059" y="395975"/>
                  <a:pt x="14256" y="395975"/>
                </a:cubicBezTo>
                <a:lnTo>
                  <a:pt x="14106" y="395975"/>
                </a:lnTo>
                <a:cubicBezTo>
                  <a:pt x="6302" y="395975"/>
                  <a:pt x="0" y="389534"/>
                  <a:pt x="0" y="381744"/>
                </a:cubicBezTo>
                <a:lnTo>
                  <a:pt x="600" y="277633"/>
                </a:lnTo>
                <a:cubicBezTo>
                  <a:pt x="600" y="259207"/>
                  <a:pt x="15756" y="244227"/>
                  <a:pt x="34214" y="244227"/>
                </a:cubicBezTo>
                <a:close/>
                <a:moveTo>
                  <a:pt x="298774" y="232090"/>
                </a:moveTo>
                <a:lnTo>
                  <a:pt x="346547" y="232090"/>
                </a:lnTo>
                <a:cubicBezTo>
                  <a:pt x="336331" y="236739"/>
                  <a:pt x="327768" y="244836"/>
                  <a:pt x="322660" y="254883"/>
                </a:cubicBezTo>
                <a:cubicBezTo>
                  <a:pt x="317552" y="244836"/>
                  <a:pt x="309140" y="236739"/>
                  <a:pt x="298774" y="232090"/>
                </a:cubicBezTo>
                <a:close/>
                <a:moveTo>
                  <a:pt x="405716" y="176061"/>
                </a:moveTo>
                <a:cubicBezTo>
                  <a:pt x="421987" y="176061"/>
                  <a:pt x="435177" y="189204"/>
                  <a:pt x="435177" y="205417"/>
                </a:cubicBezTo>
                <a:cubicBezTo>
                  <a:pt x="435177" y="221630"/>
                  <a:pt x="421987" y="234773"/>
                  <a:pt x="405716" y="234773"/>
                </a:cubicBezTo>
                <a:cubicBezTo>
                  <a:pt x="389445" y="234773"/>
                  <a:pt x="376255" y="221630"/>
                  <a:pt x="376255" y="205417"/>
                </a:cubicBezTo>
                <a:cubicBezTo>
                  <a:pt x="376255" y="189204"/>
                  <a:pt x="389445" y="176061"/>
                  <a:pt x="405716" y="176061"/>
                </a:cubicBezTo>
                <a:close/>
                <a:moveTo>
                  <a:pt x="239817" y="176061"/>
                </a:moveTo>
                <a:cubicBezTo>
                  <a:pt x="256049" y="176061"/>
                  <a:pt x="269208" y="189204"/>
                  <a:pt x="269208" y="205417"/>
                </a:cubicBezTo>
                <a:cubicBezTo>
                  <a:pt x="269208" y="221630"/>
                  <a:pt x="256049" y="234773"/>
                  <a:pt x="239817" y="234773"/>
                </a:cubicBezTo>
                <a:cubicBezTo>
                  <a:pt x="223585" y="234773"/>
                  <a:pt x="210426" y="221630"/>
                  <a:pt x="210426" y="205417"/>
                </a:cubicBezTo>
                <a:cubicBezTo>
                  <a:pt x="210426" y="189204"/>
                  <a:pt x="223585" y="176061"/>
                  <a:pt x="239817" y="176061"/>
                </a:cubicBezTo>
                <a:close/>
                <a:moveTo>
                  <a:pt x="72325" y="176061"/>
                </a:moveTo>
                <a:cubicBezTo>
                  <a:pt x="88687" y="176061"/>
                  <a:pt x="101897" y="189241"/>
                  <a:pt x="101897" y="205416"/>
                </a:cubicBezTo>
                <a:cubicBezTo>
                  <a:pt x="101897" y="221592"/>
                  <a:pt x="88687" y="234772"/>
                  <a:pt x="72325" y="234772"/>
                </a:cubicBezTo>
                <a:cubicBezTo>
                  <a:pt x="56113" y="234772"/>
                  <a:pt x="42904" y="221592"/>
                  <a:pt x="42904" y="205416"/>
                </a:cubicBezTo>
                <a:cubicBezTo>
                  <a:pt x="42904" y="189241"/>
                  <a:pt x="55963" y="176061"/>
                  <a:pt x="72325" y="176061"/>
                </a:cubicBezTo>
                <a:close/>
                <a:moveTo>
                  <a:pt x="1200" y="56241"/>
                </a:moveTo>
                <a:lnTo>
                  <a:pt x="384613" y="56241"/>
                </a:lnTo>
                <a:cubicBezTo>
                  <a:pt x="505414" y="56241"/>
                  <a:pt x="603405" y="154058"/>
                  <a:pt x="603405" y="274494"/>
                </a:cubicBezTo>
                <a:cubicBezTo>
                  <a:pt x="603405" y="308947"/>
                  <a:pt x="575493" y="336809"/>
                  <a:pt x="540979" y="336809"/>
                </a:cubicBezTo>
                <a:lnTo>
                  <a:pt x="494459" y="336809"/>
                </a:lnTo>
                <a:lnTo>
                  <a:pt x="494159" y="277490"/>
                </a:lnTo>
                <a:cubicBezTo>
                  <a:pt x="494009" y="257417"/>
                  <a:pt x="482004" y="240041"/>
                  <a:pt x="464747" y="232102"/>
                </a:cubicBezTo>
                <a:lnTo>
                  <a:pt x="551333" y="232102"/>
                </a:lnTo>
                <a:lnTo>
                  <a:pt x="551483" y="232102"/>
                </a:lnTo>
                <a:cubicBezTo>
                  <a:pt x="553884" y="232102"/>
                  <a:pt x="556285" y="230753"/>
                  <a:pt x="557636" y="228806"/>
                </a:cubicBezTo>
                <a:cubicBezTo>
                  <a:pt x="558986" y="226709"/>
                  <a:pt x="559136" y="224013"/>
                  <a:pt x="558236" y="221766"/>
                </a:cubicBezTo>
                <a:cubicBezTo>
                  <a:pt x="550283" y="203790"/>
                  <a:pt x="531825" y="165892"/>
                  <a:pt x="504663" y="136532"/>
                </a:cubicBezTo>
                <a:cubicBezTo>
                  <a:pt x="481704" y="111666"/>
                  <a:pt x="449440" y="97585"/>
                  <a:pt x="415676" y="97585"/>
                </a:cubicBezTo>
                <a:lnTo>
                  <a:pt x="397968" y="97585"/>
                </a:lnTo>
                <a:lnTo>
                  <a:pt x="397968" y="159900"/>
                </a:lnTo>
                <a:cubicBezTo>
                  <a:pt x="383712" y="162297"/>
                  <a:pt x="371707" y="171284"/>
                  <a:pt x="364954" y="183568"/>
                </a:cubicBezTo>
                <a:lnTo>
                  <a:pt x="364954" y="97585"/>
                </a:lnTo>
                <a:lnTo>
                  <a:pt x="174223" y="97585"/>
                </a:lnTo>
                <a:lnTo>
                  <a:pt x="174223" y="232102"/>
                </a:lnTo>
                <a:lnTo>
                  <a:pt x="180526" y="232102"/>
                </a:lnTo>
                <a:cubicBezTo>
                  <a:pt x="178425" y="233150"/>
                  <a:pt x="176324" y="234199"/>
                  <a:pt x="174223" y="235547"/>
                </a:cubicBezTo>
                <a:cubicBezTo>
                  <a:pt x="166420" y="240640"/>
                  <a:pt x="159967" y="247830"/>
                  <a:pt x="156065" y="256369"/>
                </a:cubicBezTo>
                <a:cubicBezTo>
                  <a:pt x="152614" y="249178"/>
                  <a:pt x="147512" y="242887"/>
                  <a:pt x="141209" y="238093"/>
                </a:cubicBezTo>
                <a:cubicBezTo>
                  <a:pt x="138208" y="235697"/>
                  <a:pt x="134906" y="233749"/>
                  <a:pt x="131455" y="232102"/>
                </a:cubicBezTo>
                <a:lnTo>
                  <a:pt x="141209" y="232102"/>
                </a:lnTo>
                <a:lnTo>
                  <a:pt x="141209" y="97585"/>
                </a:lnTo>
                <a:lnTo>
                  <a:pt x="1200" y="97585"/>
                </a:lnTo>
                <a:close/>
                <a:moveTo>
                  <a:pt x="30337" y="0"/>
                </a:moveTo>
                <a:lnTo>
                  <a:pt x="450496" y="0"/>
                </a:lnTo>
                <a:cubicBezTo>
                  <a:pt x="459649" y="0"/>
                  <a:pt x="467002" y="7356"/>
                  <a:pt x="467002" y="16512"/>
                </a:cubicBezTo>
                <a:cubicBezTo>
                  <a:pt x="467002" y="25669"/>
                  <a:pt x="459649" y="33025"/>
                  <a:pt x="450496" y="33025"/>
                </a:cubicBezTo>
                <a:lnTo>
                  <a:pt x="30337" y="33025"/>
                </a:lnTo>
                <a:cubicBezTo>
                  <a:pt x="21184" y="33025"/>
                  <a:pt x="13831" y="25669"/>
                  <a:pt x="13831" y="16512"/>
                </a:cubicBezTo>
                <a:cubicBezTo>
                  <a:pt x="13831" y="7356"/>
                  <a:pt x="21184" y="0"/>
                  <a:pt x="30337" y="0"/>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endParaRPr lang="zh-CN" altLang="en-US">
              <a:solidFill>
                <a:srgbClr val="000000"/>
              </a:solidFill>
              <a:latin typeface="Arial" panose="020F0502020204030204"/>
              <a:ea typeface="微软雅黑"/>
              <a:cs typeface="+mn-ea"/>
              <a:sym typeface="+mn-lt"/>
            </a:endParaRPr>
          </a:p>
        </p:txBody>
      </p:sp>
      <p:sp>
        <p:nvSpPr>
          <p:cNvPr id="4" name="文本框 3">
            <a:extLst>
              <a:ext uri="{FF2B5EF4-FFF2-40B4-BE49-F238E27FC236}">
                <a16:creationId xmlns:a16="http://schemas.microsoft.com/office/drawing/2014/main" id="{EFE6C204-E131-0AB4-1EA0-975539F84FC3}"/>
              </a:ext>
            </a:extLst>
          </p:cNvPr>
          <p:cNvSpPr txBox="1"/>
          <p:nvPr/>
        </p:nvSpPr>
        <p:spPr>
          <a:xfrm>
            <a:off x="558728" y="1210083"/>
            <a:ext cx="2653159" cy="424732"/>
          </a:xfrm>
          <a:prstGeom prst="rect">
            <a:avLst/>
          </a:prstGeom>
          <a:noFill/>
        </p:spPr>
        <p:txBody>
          <a:bodyPr wrap="square" rtlCol="0">
            <a:spAutoFit/>
          </a:bodyPr>
          <a:lstStyle/>
          <a:p>
            <a:pPr>
              <a:lnSpc>
                <a:spcPct val="90000"/>
              </a:lnSpc>
              <a:spcBef>
                <a:spcPts val="1000"/>
              </a:spcBef>
            </a:pPr>
            <a:r>
              <a:rPr lang="zh-CN" altLang="en-US" sz="2400" b="1" dirty="0">
                <a:solidFill>
                  <a:srgbClr val="6B0261"/>
                </a:solidFill>
                <a:latin typeface="黑体" panose="02010609060101010101" pitchFamily="49" charset="-122"/>
                <a:ea typeface="黑体" panose="02010609060101010101" pitchFamily="49" charset="-122"/>
              </a:rPr>
              <a:t>值得借鉴的地方</a:t>
            </a:r>
          </a:p>
        </p:txBody>
      </p:sp>
      <p:sp>
        <p:nvSpPr>
          <p:cNvPr id="5" name="文本框 4">
            <a:extLst>
              <a:ext uri="{FF2B5EF4-FFF2-40B4-BE49-F238E27FC236}">
                <a16:creationId xmlns:a16="http://schemas.microsoft.com/office/drawing/2014/main" id="{B4634FC9-B015-0644-D335-D34B5C16FEF4}"/>
              </a:ext>
            </a:extLst>
          </p:cNvPr>
          <p:cNvSpPr txBox="1"/>
          <p:nvPr/>
        </p:nvSpPr>
        <p:spPr>
          <a:xfrm>
            <a:off x="3298457" y="1297018"/>
            <a:ext cx="8334815" cy="369332"/>
          </a:xfrm>
          <a:prstGeom prst="rect">
            <a:avLst/>
          </a:prstGeom>
          <a:noFill/>
        </p:spPr>
        <p:txBody>
          <a:bodyPr wrap="square" rtlCol="0">
            <a:spAutoFit/>
          </a:bodyPr>
          <a:lstStyle/>
          <a:p>
            <a:r>
              <a:rPr lang="zh-CN" altLang="en-US" dirty="0"/>
              <a:t>做了不同输入数据的多模态融合，并且使用了电镜密度图这个鲜为人知的数据</a:t>
            </a:r>
          </a:p>
        </p:txBody>
      </p:sp>
      <p:sp>
        <p:nvSpPr>
          <p:cNvPr id="6" name="文本框 5">
            <a:extLst>
              <a:ext uri="{FF2B5EF4-FFF2-40B4-BE49-F238E27FC236}">
                <a16:creationId xmlns:a16="http://schemas.microsoft.com/office/drawing/2014/main" id="{235D5994-681B-9EBF-3EF3-68B6652507DB}"/>
              </a:ext>
            </a:extLst>
          </p:cNvPr>
          <p:cNvSpPr txBox="1"/>
          <p:nvPr/>
        </p:nvSpPr>
        <p:spPr>
          <a:xfrm>
            <a:off x="558728" y="2091488"/>
            <a:ext cx="2653159" cy="424732"/>
          </a:xfrm>
          <a:prstGeom prst="rect">
            <a:avLst/>
          </a:prstGeom>
          <a:noFill/>
        </p:spPr>
        <p:txBody>
          <a:bodyPr wrap="square" rtlCol="0">
            <a:spAutoFit/>
          </a:bodyPr>
          <a:lstStyle/>
          <a:p>
            <a:pPr>
              <a:lnSpc>
                <a:spcPct val="90000"/>
              </a:lnSpc>
              <a:spcBef>
                <a:spcPts val="1000"/>
              </a:spcBef>
            </a:pPr>
            <a:r>
              <a:rPr lang="zh-CN" altLang="en-US" sz="2400" b="1" dirty="0">
                <a:solidFill>
                  <a:srgbClr val="6B0261"/>
                </a:solidFill>
                <a:latin typeface="黑体" panose="02010609060101010101" pitchFamily="49" charset="-122"/>
                <a:ea typeface="黑体" panose="02010609060101010101" pitchFamily="49" charset="-122"/>
              </a:rPr>
              <a:t>一些问题与不足</a:t>
            </a:r>
          </a:p>
        </p:txBody>
      </p:sp>
      <p:sp>
        <p:nvSpPr>
          <p:cNvPr id="8" name="文本框 7">
            <a:extLst>
              <a:ext uri="{FF2B5EF4-FFF2-40B4-BE49-F238E27FC236}">
                <a16:creationId xmlns:a16="http://schemas.microsoft.com/office/drawing/2014/main" id="{CD1995DC-BBE6-5D0F-9698-CFA91CED4DEC}"/>
              </a:ext>
            </a:extLst>
          </p:cNvPr>
          <p:cNvSpPr txBox="1"/>
          <p:nvPr/>
        </p:nvSpPr>
        <p:spPr>
          <a:xfrm>
            <a:off x="3298457" y="2104993"/>
            <a:ext cx="7116624" cy="2031325"/>
          </a:xfrm>
          <a:prstGeom prst="rect">
            <a:avLst/>
          </a:prstGeom>
          <a:noFill/>
        </p:spPr>
        <p:txBody>
          <a:bodyPr wrap="square" rtlCol="0">
            <a:spAutoFit/>
          </a:bodyPr>
          <a:lstStyle/>
          <a:p>
            <a:r>
              <a:rPr lang="en-US" altLang="zh-CN" dirty="0"/>
              <a:t>1</a:t>
            </a:r>
            <a:r>
              <a:rPr lang="zh-CN" altLang="en-US" dirty="0"/>
              <a:t>、在</a:t>
            </a:r>
            <a:r>
              <a:rPr lang="en-US" altLang="zh-CN" dirty="0"/>
              <a:t>MD</a:t>
            </a:r>
            <a:r>
              <a:rPr lang="zh-CN" altLang="en-US" dirty="0"/>
              <a:t>模拟产生数据的部分，使用的是</a:t>
            </a:r>
            <a:r>
              <a:rPr lang="en-US" altLang="zh-CN" dirty="0"/>
              <a:t>Amber14sb</a:t>
            </a:r>
            <a:r>
              <a:rPr lang="zh-CN" altLang="en-US" dirty="0"/>
              <a:t>力场这个上个版本的力场，不算准确</a:t>
            </a:r>
            <a:endParaRPr lang="en-US" altLang="zh-CN" dirty="0"/>
          </a:p>
          <a:p>
            <a:r>
              <a:rPr lang="en-US" altLang="zh-CN" dirty="0"/>
              <a:t>2</a:t>
            </a:r>
            <a:r>
              <a:rPr lang="zh-CN" altLang="en-US" dirty="0"/>
              <a:t>、使用的训练模型很落后，而且也没有做多模型的比对，仅仅使用</a:t>
            </a:r>
            <a:r>
              <a:rPr lang="en-US" altLang="zh-CN" dirty="0"/>
              <a:t>CNN</a:t>
            </a:r>
            <a:r>
              <a:rPr lang="zh-CN" altLang="en-US" dirty="0"/>
              <a:t>提取三维信息，甚至都没有使用注入</a:t>
            </a:r>
            <a:r>
              <a:rPr lang="en-US" altLang="zh-CN" dirty="0"/>
              <a:t>LSTM</a:t>
            </a:r>
            <a:r>
              <a:rPr lang="zh-CN" altLang="en-US" dirty="0"/>
              <a:t>等</a:t>
            </a:r>
            <a:r>
              <a:rPr lang="en-US" altLang="zh-CN" dirty="0"/>
              <a:t>RNN</a:t>
            </a:r>
            <a:r>
              <a:rPr lang="zh-CN" altLang="en-US" dirty="0"/>
              <a:t>模型提取蛋白质序列信息，更别提哪怕是</a:t>
            </a:r>
            <a:r>
              <a:rPr lang="en-US" altLang="zh-CN" dirty="0"/>
              <a:t>2024</a:t>
            </a:r>
            <a:r>
              <a:rPr lang="zh-CN" altLang="en-US" dirty="0"/>
              <a:t>年同期发表在正刊的文献都在使用</a:t>
            </a:r>
            <a:r>
              <a:rPr lang="en-US" altLang="zh-CN" dirty="0"/>
              <a:t>ESM-1b</a:t>
            </a:r>
            <a:r>
              <a:rPr lang="zh-CN" altLang="en-US" dirty="0"/>
              <a:t>做嵌入</a:t>
            </a:r>
          </a:p>
          <a:p>
            <a:r>
              <a:rPr lang="en-US" altLang="zh-CN" dirty="0"/>
              <a:t>3</a:t>
            </a:r>
            <a:r>
              <a:rPr lang="zh-CN" altLang="en-US" dirty="0"/>
              <a:t>、模型使用的数据量太小了，只有短短</a:t>
            </a:r>
            <a:r>
              <a:rPr lang="en-US" altLang="zh-CN" dirty="0"/>
              <a:t>300+</a:t>
            </a:r>
            <a:r>
              <a:rPr lang="zh-CN" altLang="en-US" dirty="0"/>
              <a:t>个</a:t>
            </a:r>
          </a:p>
        </p:txBody>
      </p:sp>
      <p:sp>
        <p:nvSpPr>
          <p:cNvPr id="11" name="文本框 10">
            <a:extLst>
              <a:ext uri="{FF2B5EF4-FFF2-40B4-BE49-F238E27FC236}">
                <a16:creationId xmlns:a16="http://schemas.microsoft.com/office/drawing/2014/main" id="{BB15AECC-2AEF-378B-2114-F49A71B0B71A}"/>
              </a:ext>
            </a:extLst>
          </p:cNvPr>
          <p:cNvSpPr txBox="1"/>
          <p:nvPr/>
        </p:nvSpPr>
        <p:spPr>
          <a:xfrm>
            <a:off x="558728" y="4300925"/>
            <a:ext cx="2653159" cy="424732"/>
          </a:xfrm>
          <a:prstGeom prst="rect">
            <a:avLst/>
          </a:prstGeom>
          <a:noFill/>
        </p:spPr>
        <p:txBody>
          <a:bodyPr wrap="square" rtlCol="0">
            <a:spAutoFit/>
          </a:bodyPr>
          <a:lstStyle/>
          <a:p>
            <a:pPr>
              <a:lnSpc>
                <a:spcPct val="90000"/>
              </a:lnSpc>
              <a:spcBef>
                <a:spcPts val="1000"/>
              </a:spcBef>
            </a:pPr>
            <a:r>
              <a:rPr lang="zh-CN" altLang="en-US" sz="2400" b="1" dirty="0">
                <a:solidFill>
                  <a:srgbClr val="6B0261"/>
                </a:solidFill>
                <a:latin typeface="黑体" panose="02010609060101010101" pitchFamily="49" charset="-122"/>
                <a:ea typeface="黑体" panose="02010609060101010101" pitchFamily="49" charset="-122"/>
              </a:rPr>
              <a:t>思考反思</a:t>
            </a:r>
          </a:p>
        </p:txBody>
      </p:sp>
      <p:sp>
        <p:nvSpPr>
          <p:cNvPr id="13" name="文本框 12">
            <a:extLst>
              <a:ext uri="{FF2B5EF4-FFF2-40B4-BE49-F238E27FC236}">
                <a16:creationId xmlns:a16="http://schemas.microsoft.com/office/drawing/2014/main" id="{B7EEB084-B2FA-EAD3-1E4C-12B5971A78B5}"/>
              </a:ext>
            </a:extLst>
          </p:cNvPr>
          <p:cNvSpPr txBox="1"/>
          <p:nvPr/>
        </p:nvSpPr>
        <p:spPr>
          <a:xfrm>
            <a:off x="3298457" y="4258553"/>
            <a:ext cx="8186666" cy="1754326"/>
          </a:xfrm>
          <a:prstGeom prst="rect">
            <a:avLst/>
          </a:prstGeom>
          <a:noFill/>
        </p:spPr>
        <p:txBody>
          <a:bodyPr wrap="square" rtlCol="0">
            <a:spAutoFit/>
          </a:bodyPr>
          <a:lstStyle/>
          <a:p>
            <a:r>
              <a:rPr lang="zh-CN" altLang="en-US" dirty="0"/>
              <a:t>能否再添加我上次讲的那篇描述蛋白柔韧性数据库的一些指标</a:t>
            </a:r>
            <a:r>
              <a:rPr lang="en-US" altLang="zh-CN" dirty="0"/>
              <a:t>(Phi </a:t>
            </a:r>
            <a:r>
              <a:rPr lang="zh-CN" altLang="en-US" dirty="0"/>
              <a:t>和 </a:t>
            </a:r>
            <a:r>
              <a:rPr lang="en-US" altLang="zh-CN" dirty="0"/>
              <a:t>Psi </a:t>
            </a:r>
            <a:r>
              <a:rPr lang="zh-CN" altLang="en-US" dirty="0"/>
              <a:t>角、基于熵的指标 </a:t>
            </a:r>
            <a:r>
              <a:rPr lang="en-US" altLang="zh-CN" dirty="0" err="1"/>
              <a:t>Neq</a:t>
            </a:r>
            <a:r>
              <a:rPr lang="zh-CN" altLang="en-US" dirty="0"/>
              <a:t>、</a:t>
            </a:r>
            <a:r>
              <a:rPr lang="en-US" altLang="zh-CN" dirty="0"/>
              <a:t>DSSP</a:t>
            </a:r>
            <a:r>
              <a:rPr lang="zh-CN" altLang="en-US" dirty="0"/>
              <a:t>、</a:t>
            </a:r>
            <a:r>
              <a:rPr lang="en-US" altLang="zh-CN" dirty="0"/>
              <a:t>B</a:t>
            </a:r>
            <a:r>
              <a:rPr lang="zh-CN" altLang="en-US" dirty="0"/>
              <a:t>因子）以及斌师兄说的压力相关参数，再结合</a:t>
            </a:r>
            <a:r>
              <a:rPr lang="en-US" altLang="zh-CN" dirty="0"/>
              <a:t>ESM-2</a:t>
            </a:r>
            <a:r>
              <a:rPr lang="zh-CN" altLang="en-US" dirty="0"/>
              <a:t>等大模型提取序列信息用之前两篇文献使用的方法做多模态数据的融合，训练更为强大的</a:t>
            </a:r>
            <a:r>
              <a:rPr lang="en-US" altLang="zh-CN" dirty="0"/>
              <a:t>RMSF-Net(</a:t>
            </a:r>
            <a:r>
              <a:rPr lang="zh-CN" altLang="en-US" dirty="0"/>
              <a:t>不过其实已经部分包含在了压力预测的课题中，因为如果能使用</a:t>
            </a:r>
            <a:r>
              <a:rPr lang="en-US" altLang="zh-CN" dirty="0" err="1"/>
              <a:t>ThermalFold</a:t>
            </a:r>
            <a:r>
              <a:rPr lang="zh-CN" altLang="en-US" dirty="0"/>
              <a:t>的架构生成不同压力下残基的响应，那必然也能得到残基的</a:t>
            </a:r>
            <a:r>
              <a:rPr lang="en-US" altLang="zh-CN" dirty="0"/>
              <a:t>RMSF</a:t>
            </a:r>
            <a:r>
              <a:rPr lang="zh-CN" altLang="en-US" dirty="0"/>
              <a:t>）</a:t>
            </a:r>
          </a:p>
        </p:txBody>
      </p:sp>
    </p:spTree>
    <p:extLst>
      <p:ext uri="{BB962C8B-B14F-4D97-AF65-F5344CB8AC3E}">
        <p14:creationId xmlns:p14="http://schemas.microsoft.com/office/powerpoint/2010/main" val="14236197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524B9B08-525E-4593-83AF-53DA25173B9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30449"/>
          <a:stretch/>
        </p:blipFill>
        <p:spPr bwMode="auto">
          <a:xfrm>
            <a:off x="-2" y="2107757"/>
            <a:ext cx="12215446" cy="3023423"/>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a:extLst>
              <a:ext uri="{FF2B5EF4-FFF2-40B4-BE49-F238E27FC236}">
                <a16:creationId xmlns:a16="http://schemas.microsoft.com/office/drawing/2014/main" id="{0434C585-F3AF-45FC-B71B-A5784C81255C}"/>
              </a:ext>
            </a:extLst>
          </p:cNvPr>
          <p:cNvSpPr/>
          <p:nvPr/>
        </p:nvSpPr>
        <p:spPr>
          <a:xfrm>
            <a:off x="1" y="2107758"/>
            <a:ext cx="12215444" cy="3023423"/>
          </a:xfrm>
          <a:prstGeom prst="rect">
            <a:avLst/>
          </a:prstGeom>
          <a:solidFill>
            <a:srgbClr val="6B0261">
              <a:alpha val="82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Arial" panose="020F0502020204030204"/>
              <a:ea typeface="微软雅黑"/>
              <a:cs typeface="+mn-ea"/>
              <a:sym typeface="+mn-lt"/>
            </a:endParaRPr>
          </a:p>
        </p:txBody>
      </p:sp>
      <p:grpSp>
        <p:nvGrpSpPr>
          <p:cNvPr id="6" name="组合 5">
            <a:extLst>
              <a:ext uri="{FF2B5EF4-FFF2-40B4-BE49-F238E27FC236}">
                <a16:creationId xmlns:a16="http://schemas.microsoft.com/office/drawing/2014/main" id="{547FAAD6-7E56-438A-BCA7-68E80C4BECF6}"/>
              </a:ext>
            </a:extLst>
          </p:cNvPr>
          <p:cNvGrpSpPr/>
          <p:nvPr/>
        </p:nvGrpSpPr>
        <p:grpSpPr>
          <a:xfrm>
            <a:off x="4242621" y="6116425"/>
            <a:ext cx="3888898" cy="338554"/>
            <a:chOff x="415917" y="6056049"/>
            <a:chExt cx="11319101" cy="338554"/>
          </a:xfrm>
        </p:grpSpPr>
        <p:sp>
          <p:nvSpPr>
            <p:cNvPr id="7" name="TextBox 14">
              <a:extLst>
                <a:ext uri="{FF2B5EF4-FFF2-40B4-BE49-F238E27FC236}">
                  <a16:creationId xmlns:a16="http://schemas.microsoft.com/office/drawing/2014/main" id="{752E09F2-2668-4CC0-B557-1022892FC197}"/>
                </a:ext>
              </a:extLst>
            </p:cNvPr>
            <p:cNvSpPr txBox="1"/>
            <p:nvPr/>
          </p:nvSpPr>
          <p:spPr>
            <a:xfrm>
              <a:off x="415917" y="6056049"/>
              <a:ext cx="800219"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b="1" dirty="0">
                  <a:solidFill>
                    <a:srgbClr val="6B0261"/>
                  </a:solidFill>
                  <a:latin typeface="Arial" panose="020F0502020204030204"/>
                  <a:ea typeface="微软雅黑"/>
                  <a:cs typeface="+mn-ea"/>
                </a:rPr>
                <a:t>刘鸿嘉</a:t>
              </a:r>
              <a:endParaRPr kumimoji="0" lang="zh-CN" altLang="en-US" sz="1600" b="1" i="0" u="none" strike="noStrike" kern="1200" cap="none" spc="0" normalizeH="0" baseline="0" noProof="0" dirty="0">
                <a:ln>
                  <a:noFill/>
                </a:ln>
                <a:solidFill>
                  <a:srgbClr val="6B0261"/>
                </a:solidFill>
                <a:effectLst/>
                <a:uLnTx/>
                <a:uFillTx/>
                <a:latin typeface="Arial" panose="020F0502020204030204"/>
                <a:ea typeface="微软雅黑"/>
                <a:cs typeface="+mn-ea"/>
              </a:endParaRPr>
            </a:p>
          </p:txBody>
        </p:sp>
        <p:sp>
          <p:nvSpPr>
            <p:cNvPr id="8" name="TextBox 28">
              <a:extLst>
                <a:ext uri="{FF2B5EF4-FFF2-40B4-BE49-F238E27FC236}">
                  <a16:creationId xmlns:a16="http://schemas.microsoft.com/office/drawing/2014/main" id="{9A0D49AD-6C82-475C-89E0-C51BEFEF4834}"/>
                </a:ext>
              </a:extLst>
            </p:cNvPr>
            <p:cNvSpPr txBox="1"/>
            <p:nvPr/>
          </p:nvSpPr>
          <p:spPr>
            <a:xfrm>
              <a:off x="2741384" y="6056049"/>
              <a:ext cx="184731"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1200" cap="none" spc="0" normalizeH="0" baseline="0" noProof="0" dirty="0">
                <a:ln>
                  <a:noFill/>
                </a:ln>
                <a:solidFill>
                  <a:srgbClr val="6B0261"/>
                </a:solidFill>
                <a:effectLst/>
                <a:uLnTx/>
                <a:uFillTx/>
                <a:latin typeface="Arial" panose="020F0502020204030204"/>
                <a:ea typeface="微软雅黑"/>
                <a:cs typeface="+mn-ea"/>
              </a:endParaRPr>
            </a:p>
          </p:txBody>
        </p:sp>
        <p:sp>
          <p:nvSpPr>
            <p:cNvPr id="9" name="TextBox 90">
              <a:extLst>
                <a:ext uri="{FF2B5EF4-FFF2-40B4-BE49-F238E27FC236}">
                  <a16:creationId xmlns:a16="http://schemas.microsoft.com/office/drawing/2014/main" id="{93D15416-BB42-475C-8AA9-35DB98F09064}"/>
                </a:ext>
              </a:extLst>
            </p:cNvPr>
            <p:cNvSpPr txBox="1"/>
            <p:nvPr/>
          </p:nvSpPr>
          <p:spPr>
            <a:xfrm>
              <a:off x="5295375" y="6056049"/>
              <a:ext cx="6439643"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6B0261"/>
                  </a:solidFill>
                  <a:effectLst/>
                  <a:uLnTx/>
                  <a:uFillTx/>
                  <a:latin typeface="Arial" panose="020F0502020204030204"/>
                  <a:ea typeface="微软雅黑"/>
                  <a:cs typeface="+mn-ea"/>
                </a:rPr>
                <a:t>日期：</a:t>
              </a:r>
              <a:r>
                <a:rPr kumimoji="0" lang="en-US" altLang="zh-CN" sz="1600" b="1" i="0" u="none" strike="noStrike" kern="1200" cap="none" spc="0" normalizeH="0" baseline="0" noProof="0" dirty="0">
                  <a:ln>
                    <a:noFill/>
                  </a:ln>
                  <a:solidFill>
                    <a:srgbClr val="6B0261"/>
                  </a:solidFill>
                  <a:effectLst/>
                  <a:uLnTx/>
                  <a:uFillTx/>
                  <a:latin typeface="Arial" panose="020F0502020204030204"/>
                  <a:ea typeface="微软雅黑"/>
                  <a:cs typeface="+mn-ea"/>
                </a:rPr>
                <a:t>2026</a:t>
              </a:r>
              <a:r>
                <a:rPr kumimoji="0" lang="zh-CN" altLang="en-US" sz="1600" b="1" i="0" u="none" strike="noStrike" kern="1200" cap="none" spc="0" normalizeH="0" baseline="0" noProof="0" dirty="0">
                  <a:ln>
                    <a:noFill/>
                  </a:ln>
                  <a:solidFill>
                    <a:srgbClr val="6B0261"/>
                  </a:solidFill>
                  <a:effectLst/>
                  <a:uLnTx/>
                  <a:uFillTx/>
                  <a:latin typeface="Arial" panose="020F0502020204030204"/>
                  <a:ea typeface="微软雅黑"/>
                  <a:cs typeface="+mn-ea"/>
                </a:rPr>
                <a:t>年</a:t>
              </a:r>
              <a:r>
                <a:rPr lang="en-US" altLang="zh-CN" sz="1600" b="1" dirty="0">
                  <a:solidFill>
                    <a:srgbClr val="6B0261"/>
                  </a:solidFill>
                  <a:latin typeface="Arial" panose="020F0502020204030204"/>
                  <a:ea typeface="微软雅黑"/>
                  <a:cs typeface="+mn-ea"/>
                </a:rPr>
                <a:t>3</a:t>
              </a:r>
              <a:r>
                <a:rPr kumimoji="0" lang="zh-CN" altLang="en-US" sz="1600" b="1" i="0" u="none" strike="noStrike" kern="1200" cap="none" spc="0" normalizeH="0" baseline="0" noProof="0" dirty="0">
                  <a:ln>
                    <a:noFill/>
                  </a:ln>
                  <a:solidFill>
                    <a:srgbClr val="6B0261"/>
                  </a:solidFill>
                  <a:effectLst/>
                  <a:uLnTx/>
                  <a:uFillTx/>
                  <a:latin typeface="Arial" panose="020F0502020204030204"/>
                  <a:ea typeface="微软雅黑"/>
                  <a:cs typeface="+mn-ea"/>
                </a:rPr>
                <a:t>月</a:t>
              </a:r>
              <a:r>
                <a:rPr lang="en-US" altLang="zh-CN" sz="1600" b="1" dirty="0">
                  <a:solidFill>
                    <a:srgbClr val="6B0261"/>
                  </a:solidFill>
                  <a:latin typeface="Arial" panose="020F0502020204030204"/>
                  <a:ea typeface="微软雅黑"/>
                  <a:cs typeface="+mn-ea"/>
                </a:rPr>
                <a:t>28</a:t>
              </a:r>
              <a:r>
                <a:rPr kumimoji="0" lang="zh-CN" altLang="en-US" sz="1600" b="1" i="0" u="none" strike="noStrike" kern="1200" cap="none" spc="0" normalizeH="0" baseline="0" noProof="0" dirty="0">
                  <a:ln>
                    <a:noFill/>
                  </a:ln>
                  <a:solidFill>
                    <a:srgbClr val="6B0261"/>
                  </a:solidFill>
                  <a:effectLst/>
                  <a:uLnTx/>
                  <a:uFillTx/>
                  <a:latin typeface="Arial" panose="020F0502020204030204"/>
                  <a:ea typeface="微软雅黑"/>
                  <a:cs typeface="+mn-ea"/>
                </a:rPr>
                <a:t>日</a:t>
              </a:r>
            </a:p>
          </p:txBody>
        </p:sp>
      </p:grpSp>
      <p:cxnSp>
        <p:nvCxnSpPr>
          <p:cNvPr id="13" name="直接连接符 12">
            <a:extLst>
              <a:ext uri="{FF2B5EF4-FFF2-40B4-BE49-F238E27FC236}">
                <a16:creationId xmlns:a16="http://schemas.microsoft.com/office/drawing/2014/main" id="{B93D35FD-1B53-4D13-A877-C03163FC7ABB}"/>
              </a:ext>
            </a:extLst>
          </p:cNvPr>
          <p:cNvCxnSpPr>
            <a:cxnSpLocks/>
            <a:endCxn id="23" idx="1"/>
          </p:cNvCxnSpPr>
          <p:nvPr/>
        </p:nvCxnSpPr>
        <p:spPr>
          <a:xfrm flipV="1">
            <a:off x="-614597" y="5492316"/>
            <a:ext cx="5049649" cy="17338"/>
          </a:xfrm>
          <a:prstGeom prst="line">
            <a:avLst/>
          </a:prstGeom>
          <a:noFill/>
          <a:ln w="38100" cap="flat" cmpd="sng" algn="ctr">
            <a:solidFill>
              <a:srgbClr val="6B0261"/>
            </a:solidFill>
            <a:prstDash val="solid"/>
            <a:miter lim="800000"/>
          </a:ln>
          <a:effectLst/>
        </p:spPr>
      </p:cxnSp>
      <p:cxnSp>
        <p:nvCxnSpPr>
          <p:cNvPr id="14" name="直接连接符 13">
            <a:extLst>
              <a:ext uri="{FF2B5EF4-FFF2-40B4-BE49-F238E27FC236}">
                <a16:creationId xmlns:a16="http://schemas.microsoft.com/office/drawing/2014/main" id="{C2198AD3-76CE-4527-B926-D9049F9832C0}"/>
              </a:ext>
            </a:extLst>
          </p:cNvPr>
          <p:cNvCxnSpPr>
            <a:cxnSpLocks/>
            <a:stCxn id="25" idx="3"/>
          </p:cNvCxnSpPr>
          <p:nvPr/>
        </p:nvCxnSpPr>
        <p:spPr>
          <a:xfrm flipV="1">
            <a:off x="7789874" y="5417744"/>
            <a:ext cx="5326519" cy="91910"/>
          </a:xfrm>
          <a:prstGeom prst="line">
            <a:avLst/>
          </a:prstGeom>
          <a:noFill/>
          <a:ln w="38100" cap="flat" cmpd="sng" algn="ctr">
            <a:solidFill>
              <a:srgbClr val="6B0261"/>
            </a:solidFill>
            <a:prstDash val="solid"/>
            <a:miter lim="800000"/>
          </a:ln>
          <a:effectLst/>
        </p:spPr>
      </p:cxnSp>
      <p:grpSp>
        <p:nvGrpSpPr>
          <p:cNvPr id="16" name="组合 15">
            <a:extLst>
              <a:ext uri="{FF2B5EF4-FFF2-40B4-BE49-F238E27FC236}">
                <a16:creationId xmlns:a16="http://schemas.microsoft.com/office/drawing/2014/main" id="{FD16C131-0AC0-4E09-96E2-E9B22DA3F0DB}"/>
              </a:ext>
            </a:extLst>
          </p:cNvPr>
          <p:cNvGrpSpPr/>
          <p:nvPr/>
        </p:nvGrpSpPr>
        <p:grpSpPr>
          <a:xfrm>
            <a:off x="4326653" y="649501"/>
            <a:ext cx="3538691" cy="1224944"/>
            <a:chOff x="995884" y="398899"/>
            <a:chExt cx="3538691" cy="1224944"/>
          </a:xfrm>
        </p:grpSpPr>
        <p:pic>
          <p:nvPicPr>
            <p:cNvPr id="17" name="图片 16">
              <a:extLst>
                <a:ext uri="{FF2B5EF4-FFF2-40B4-BE49-F238E27FC236}">
                  <a16:creationId xmlns:a16="http://schemas.microsoft.com/office/drawing/2014/main" id="{72F80924-4CAA-497E-AAE0-E0DF03D8818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95884" y="398899"/>
              <a:ext cx="977348" cy="1224944"/>
            </a:xfrm>
            <a:prstGeom prst="rect">
              <a:avLst/>
            </a:prstGeom>
          </p:spPr>
        </p:pic>
        <p:pic>
          <p:nvPicPr>
            <p:cNvPr id="18" name="图片 17">
              <a:extLst>
                <a:ext uri="{FF2B5EF4-FFF2-40B4-BE49-F238E27FC236}">
                  <a16:creationId xmlns:a16="http://schemas.microsoft.com/office/drawing/2014/main" id="{9DCC9613-A27E-488C-9DDC-C88F3A721B0D}"/>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149688" y="451192"/>
              <a:ext cx="2384886" cy="796231"/>
            </a:xfrm>
            <a:prstGeom prst="rect">
              <a:avLst/>
            </a:prstGeom>
          </p:spPr>
        </p:pic>
        <p:sp>
          <p:nvSpPr>
            <p:cNvPr id="19" name="矩形 18">
              <a:extLst>
                <a:ext uri="{FF2B5EF4-FFF2-40B4-BE49-F238E27FC236}">
                  <a16:creationId xmlns:a16="http://schemas.microsoft.com/office/drawing/2014/main" id="{1BF2F5EB-A53B-405A-8B4C-39722EF9FC03}"/>
                </a:ext>
              </a:extLst>
            </p:cNvPr>
            <p:cNvSpPr/>
            <p:nvPr/>
          </p:nvSpPr>
          <p:spPr>
            <a:xfrm>
              <a:off x="2104655" y="1232371"/>
              <a:ext cx="2429920" cy="307777"/>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rPr>
                <a:t>NANJING UNIVERSITY</a:t>
              </a:r>
              <a:endParaRPr kumimoji="0" lang="zh-CN" altLang="en-US" sz="1400" b="1"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endParaRPr>
            </a:p>
          </p:txBody>
        </p:sp>
      </p:grpSp>
      <p:sp>
        <p:nvSpPr>
          <p:cNvPr id="2" name="Rectangle 9">
            <a:extLst>
              <a:ext uri="{FF2B5EF4-FFF2-40B4-BE49-F238E27FC236}">
                <a16:creationId xmlns:a16="http://schemas.microsoft.com/office/drawing/2014/main" id="{693B0DE7-9FA1-4EFD-9F4A-1E7A257C1C7A}"/>
              </a:ext>
            </a:extLst>
          </p:cNvPr>
          <p:cNvSpPr/>
          <p:nvPr/>
        </p:nvSpPr>
        <p:spPr>
          <a:xfrm>
            <a:off x="8640" y="2723679"/>
            <a:ext cx="12208343" cy="1200329"/>
          </a:xfrm>
          <a:prstGeom prst="rect">
            <a:avLst/>
          </a:prstGeom>
        </p:spPr>
        <p:txBody>
          <a:bodyPr wrap="square">
            <a:spAutoFit/>
          </a:bodyPr>
          <a:lstStyle/>
          <a:p>
            <a:pPr algn="ctr"/>
            <a:r>
              <a:rPr lang="zh-CN" altLang="en-US" sz="7200" b="1" dirty="0">
                <a:solidFill>
                  <a:prstClr val="white"/>
                </a:solidFill>
                <a:latin typeface="微软雅黑" panose="020B0503020204020204" pitchFamily="34" charset="-122"/>
                <a:ea typeface="微软雅黑" panose="020B0503020204020204" pitchFamily="34" charset="-122"/>
                <a:cs typeface="阿里巴巴普惠体 B" panose="00020600040101010101" pitchFamily="18" charset="-122"/>
              </a:rPr>
              <a:t>  感谢观看</a:t>
            </a:r>
            <a:endParaRPr lang="zh-CN" altLang="en-US" sz="7200" b="1" i="1" dirty="0">
              <a:solidFill>
                <a:prstClr val="white"/>
              </a:solidFill>
              <a:latin typeface="微软雅黑" panose="020B0503020204020204" pitchFamily="34" charset="-122"/>
              <a:ea typeface="微软雅黑" panose="020B0503020204020204" pitchFamily="34" charset="-122"/>
              <a:cs typeface="阿里巴巴普惠体 B" panose="00020600040101010101" pitchFamily="18" charset="-122"/>
            </a:endParaRPr>
          </a:p>
        </p:txBody>
      </p:sp>
      <p:sp>
        <p:nvSpPr>
          <p:cNvPr id="3" name="文本框 2">
            <a:extLst>
              <a:ext uri="{FF2B5EF4-FFF2-40B4-BE49-F238E27FC236}">
                <a16:creationId xmlns:a16="http://schemas.microsoft.com/office/drawing/2014/main" id="{9E98C43B-2F9E-4F85-A403-16BEF1E064A8}"/>
              </a:ext>
            </a:extLst>
          </p:cNvPr>
          <p:cNvSpPr txBox="1"/>
          <p:nvPr/>
        </p:nvSpPr>
        <p:spPr>
          <a:xfrm>
            <a:off x="3319507" y="4210572"/>
            <a:ext cx="5576428" cy="3693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chemeClr val="bg1"/>
                </a:solidFill>
                <a:effectLst/>
                <a:uLnTx/>
                <a:uFillTx/>
                <a:latin typeface="Arial"/>
                <a:ea typeface="等线" panose="02010600030101010101" pitchFamily="2" charset="-122"/>
                <a:cs typeface="+mn-cs"/>
              </a:rPr>
              <a:t>THANKS FOR YOUR LISTENING</a:t>
            </a:r>
            <a:r>
              <a:rPr kumimoji="0" lang="en-US" altLang="zh-CN" sz="1800" b="0" i="1" u="none" strike="noStrike" kern="1200" cap="none" spc="0" normalizeH="0" baseline="0" noProof="0" dirty="0">
                <a:ln>
                  <a:noFill/>
                </a:ln>
                <a:solidFill>
                  <a:schemeClr val="bg1"/>
                </a:solidFill>
                <a:effectLst/>
                <a:uLnTx/>
                <a:uFillTx/>
                <a:latin typeface="Arial"/>
                <a:ea typeface="等线" panose="02010600030101010101" pitchFamily="2" charset="-122"/>
                <a:cs typeface="+mn-cs"/>
              </a:rPr>
              <a:t>!</a:t>
            </a:r>
          </a:p>
        </p:txBody>
      </p:sp>
      <p:grpSp>
        <p:nvGrpSpPr>
          <p:cNvPr id="26" name="组合 25">
            <a:extLst>
              <a:ext uri="{FF2B5EF4-FFF2-40B4-BE49-F238E27FC236}">
                <a16:creationId xmlns:a16="http://schemas.microsoft.com/office/drawing/2014/main" id="{68F8234E-1C20-409A-B6D7-8194C475ED59}"/>
              </a:ext>
            </a:extLst>
          </p:cNvPr>
          <p:cNvGrpSpPr/>
          <p:nvPr/>
        </p:nvGrpSpPr>
        <p:grpSpPr>
          <a:xfrm>
            <a:off x="4435052" y="5278067"/>
            <a:ext cx="3354822" cy="463174"/>
            <a:chOff x="2637334" y="4920597"/>
            <a:chExt cx="10255337" cy="1415873"/>
          </a:xfrm>
        </p:grpSpPr>
        <p:pic>
          <p:nvPicPr>
            <p:cNvPr id="23" name="图片 22">
              <a:extLst>
                <a:ext uri="{FF2B5EF4-FFF2-40B4-BE49-F238E27FC236}">
                  <a16:creationId xmlns:a16="http://schemas.microsoft.com/office/drawing/2014/main" id="{95E4CCC8-16CB-4D26-A4F8-9D515DA7F3B6}"/>
                </a:ext>
              </a:extLst>
            </p:cNvPr>
            <p:cNvPicPr>
              <a:picLocks noChangeAspect="1"/>
            </p:cNvPicPr>
            <p:nvPr/>
          </p:nvPicPr>
          <p:blipFill rotWithShape="1">
            <a:blip r:embed="rId6">
              <a:extLst>
                <a:ext uri="{28A0092B-C50C-407E-A947-70E740481C1C}">
                  <a14:useLocalDpi xmlns:a14="http://schemas.microsoft.com/office/drawing/2010/main" val="0"/>
                </a:ext>
              </a:extLst>
            </a:blip>
            <a:srcRect b="53743"/>
            <a:stretch/>
          </p:blipFill>
          <p:spPr>
            <a:xfrm>
              <a:off x="2637334" y="4920598"/>
              <a:ext cx="5333333" cy="1309872"/>
            </a:xfrm>
            <a:prstGeom prst="rect">
              <a:avLst/>
            </a:prstGeom>
          </p:spPr>
        </p:pic>
        <p:pic>
          <p:nvPicPr>
            <p:cNvPr id="25" name="图片 24">
              <a:extLst>
                <a:ext uri="{FF2B5EF4-FFF2-40B4-BE49-F238E27FC236}">
                  <a16:creationId xmlns:a16="http://schemas.microsoft.com/office/drawing/2014/main" id="{EE6B3209-8672-46F1-8437-84A96F265A72}"/>
                </a:ext>
              </a:extLst>
            </p:cNvPr>
            <p:cNvPicPr>
              <a:picLocks noChangeAspect="1"/>
            </p:cNvPicPr>
            <p:nvPr/>
          </p:nvPicPr>
          <p:blipFill rotWithShape="1">
            <a:blip r:embed="rId6">
              <a:extLst>
                <a:ext uri="{28A0092B-C50C-407E-A947-70E740481C1C}">
                  <a14:useLocalDpi xmlns:a14="http://schemas.microsoft.com/office/drawing/2010/main" val="0"/>
                </a:ext>
              </a:extLst>
            </a:blip>
            <a:srcRect t="50000"/>
            <a:stretch/>
          </p:blipFill>
          <p:spPr>
            <a:xfrm>
              <a:off x="7559338" y="4920597"/>
              <a:ext cx="5333333" cy="1415873"/>
            </a:xfrm>
            <a:prstGeom prst="rect">
              <a:avLst/>
            </a:prstGeom>
          </p:spPr>
        </p:pic>
      </p:grpSp>
    </p:spTree>
    <p:extLst>
      <p:ext uri="{BB962C8B-B14F-4D97-AF65-F5344CB8AC3E}">
        <p14:creationId xmlns:p14="http://schemas.microsoft.com/office/powerpoint/2010/main" val="1929283603"/>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4501</TotalTime>
  <Words>2016</Words>
  <Application>Microsoft Office PowerPoint</Application>
  <PresentationFormat>宽屏</PresentationFormat>
  <Paragraphs>144</Paragraphs>
  <Slides>24</Slides>
  <Notes>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24</vt:i4>
      </vt:variant>
    </vt:vector>
  </HeadingPairs>
  <TitlesOfParts>
    <vt:vector size="37" baseType="lpstr">
      <vt:lpstr>-apple-system</vt:lpstr>
      <vt:lpstr>Harding</vt:lpstr>
      <vt:lpstr>等线</vt:lpstr>
      <vt:lpstr>等线 Light</vt:lpstr>
      <vt:lpstr>黑体</vt:lpstr>
      <vt:lpstr>微软雅黑</vt:lpstr>
      <vt:lpstr>微软雅黑 Light</vt:lpstr>
      <vt:lpstr>Arial</vt:lpstr>
      <vt:lpstr>Arial Black</vt:lpstr>
      <vt:lpstr>Calibri</vt:lpstr>
      <vt:lpstr>Cambria Math</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ASUS</dc:creator>
  <cp:lastModifiedBy>鸿嘉 刘</cp:lastModifiedBy>
  <cp:revision>90</cp:revision>
  <dcterms:created xsi:type="dcterms:W3CDTF">2020-08-12T02:12:59Z</dcterms:created>
  <dcterms:modified xsi:type="dcterms:W3CDTF">2026-03-28T04:58:53Z</dcterms:modified>
</cp:coreProperties>
</file>